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aedd7fcd33b4124" /><Relationship Type="http://schemas.openxmlformats.org/officeDocument/2006/relationships/extended-properties" Target="/docProps/app.xml" Id="R091e171c38ce44d0" /><Relationship Type="http://schemas.openxmlformats.org/officeDocument/2006/relationships/officeDocument" Target="/ppt/presentation.xml" Id="Re411446f67524fea" /></Relationships>
</file>

<file path=ppt/presentation.xml><?xml version="1.0" encoding="utf-8"?>
<p:presentation xmlns:p="http://schemas.openxmlformats.org/presentationml/2006/main">
  <p:sldMasterIdLst>
    <p:sldMasterId xmlns:r="http://schemas.openxmlformats.org/officeDocument/2006/relationships" id="2147483648" r:id="Rb1e262c4da674324"/>
  </p:sldMasterIdLst>
  <p:notesMasterIdLst>
    <p:notesMasterId xmlns:r="http://schemas.openxmlformats.org/officeDocument/2006/relationships" r:id="R7fdc38a1a5194db0"/>
  </p:notesMasterIdLst>
  <p:sldIdLst>
    <p:sldId xmlns:r="http://schemas.openxmlformats.org/officeDocument/2006/relationships" id="256" r:id="Rd0e097984e144de6"/>
    <p:sldId xmlns:r="http://schemas.openxmlformats.org/officeDocument/2006/relationships" id="257" r:id="R27a863a184a04f24"/>
    <p:sldId xmlns:r="http://schemas.openxmlformats.org/officeDocument/2006/relationships" id="258" r:id="R8119ef294d2148fe"/>
    <p:sldId xmlns:r="http://schemas.openxmlformats.org/officeDocument/2006/relationships" id="259" r:id="Rc7736f30409b4a04"/>
    <p:sldId xmlns:r="http://schemas.openxmlformats.org/officeDocument/2006/relationships" id="260" r:id="R44af5264d3d14eb3"/>
    <p:sldId xmlns:r="http://schemas.openxmlformats.org/officeDocument/2006/relationships" id="261" r:id="R8893bcfffb2347f2"/>
    <p:sldId xmlns:r="http://schemas.openxmlformats.org/officeDocument/2006/relationships" id="262" r:id="R24b7fb3c7cdc40d7"/>
    <p:sldId xmlns:r="http://schemas.openxmlformats.org/officeDocument/2006/relationships" id="263" r:id="Rabef6844159548ba"/>
    <p:sldId xmlns:r="http://schemas.openxmlformats.org/officeDocument/2006/relationships" id="264" r:id="R6352a770cfb64497"/>
    <p:sldId xmlns:r="http://schemas.openxmlformats.org/officeDocument/2006/relationships" id="265" r:id="R2c14bce3f78e483f"/>
    <p:sldId xmlns:r="http://schemas.openxmlformats.org/officeDocument/2006/relationships" id="266" r:id="R641d05b5b0414ec9"/>
    <p:sldId xmlns:r="http://schemas.openxmlformats.org/officeDocument/2006/relationships" id="267" r:id="R331018d384a74c01"/>
    <p:sldId xmlns:r="http://schemas.openxmlformats.org/officeDocument/2006/relationships" id="268" r:id="R48a09c82f6f347ae"/>
    <p:sldId xmlns:r="http://schemas.openxmlformats.org/officeDocument/2006/relationships" id="269" r:id="Rd72e88103990475e"/>
    <p:sldId xmlns:r="http://schemas.openxmlformats.org/officeDocument/2006/relationships" id="270" r:id="R4d21f94e2c6e4120"/>
    <p:sldId xmlns:r="http://schemas.openxmlformats.org/officeDocument/2006/relationships" id="271" r:id="Ra2a13db87528435a"/>
    <p:sldId xmlns:r="http://schemas.openxmlformats.org/officeDocument/2006/relationships" id="272" r:id="Rbfcfd0c1a884436c"/>
    <p:sldId xmlns:r="http://schemas.openxmlformats.org/officeDocument/2006/relationships" id="273" r:id="R1e02933d9cb94c7f"/>
  </p:sldIdLst>
  <p:sldSz cx="216789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09a00ea3fd64e3e" /><Relationship Type="http://schemas.openxmlformats.org/officeDocument/2006/relationships/slideMaster" Target="/ppt/slideMasters/slideMaster1.xml" Id="Rb1e262c4da674324" /><Relationship Type="http://schemas.openxmlformats.org/officeDocument/2006/relationships/notesMaster" Target="/ppt/notesMasters/notesMaster1.xml" Id="R7fdc38a1a5194db0" /><Relationship Type="http://schemas.openxmlformats.org/officeDocument/2006/relationships/presProps" Target="/ppt/presProps.xml" Id="R347cc1d7edf842d9" /><Relationship Type="http://schemas.openxmlformats.org/officeDocument/2006/relationships/viewProps" Target="/ppt/viewProps.xml" Id="R14b9a9b742c44458" /><Relationship Type="http://schemas.openxmlformats.org/officeDocument/2006/relationships/tableStyles" Target="/ppt/tableStyles.xml" Id="R3cd8e650a505496e" /><Relationship Type="http://schemas.openxmlformats.org/officeDocument/2006/relationships/slide" Target="/ppt/slides/slide1.xml" Id="Rd0e097984e144de6" /><Relationship Type="http://schemas.openxmlformats.org/officeDocument/2006/relationships/slide" Target="/ppt/slides/slide2.xml" Id="R27a863a184a04f24" /><Relationship Type="http://schemas.openxmlformats.org/officeDocument/2006/relationships/slide" Target="/ppt/slides/slide3.xml" Id="R8119ef294d2148fe" /><Relationship Type="http://schemas.openxmlformats.org/officeDocument/2006/relationships/slide" Target="/ppt/slides/slide4.xml" Id="Rc7736f30409b4a04" /><Relationship Type="http://schemas.openxmlformats.org/officeDocument/2006/relationships/slide" Target="/ppt/slides/slide5.xml" Id="R44af5264d3d14eb3" /><Relationship Type="http://schemas.openxmlformats.org/officeDocument/2006/relationships/slide" Target="/ppt/slides/slide6.xml" Id="R8893bcfffb2347f2" /><Relationship Type="http://schemas.openxmlformats.org/officeDocument/2006/relationships/slide" Target="/ppt/slides/slide7.xml" Id="R24b7fb3c7cdc40d7" /><Relationship Type="http://schemas.openxmlformats.org/officeDocument/2006/relationships/slide" Target="/ppt/slides/slide8.xml" Id="Rabef6844159548ba" /><Relationship Type="http://schemas.openxmlformats.org/officeDocument/2006/relationships/slide" Target="/ppt/slides/slide9.xml" Id="R6352a770cfb64497" /><Relationship Type="http://schemas.openxmlformats.org/officeDocument/2006/relationships/slide" Target="/ppt/slides/slide10.xml" Id="R2c14bce3f78e483f" /><Relationship Type="http://schemas.openxmlformats.org/officeDocument/2006/relationships/slide" Target="/ppt/slides/slide11.xml" Id="R641d05b5b0414ec9" /><Relationship Type="http://schemas.openxmlformats.org/officeDocument/2006/relationships/slide" Target="/ppt/slides/slide12.xml" Id="R331018d384a74c01" /><Relationship Type="http://schemas.openxmlformats.org/officeDocument/2006/relationships/slide" Target="/ppt/slides/slide13.xml" Id="R48a09c82f6f347ae" /><Relationship Type="http://schemas.openxmlformats.org/officeDocument/2006/relationships/slide" Target="/ppt/slides/slide14.xml" Id="Rd72e88103990475e" /><Relationship Type="http://schemas.openxmlformats.org/officeDocument/2006/relationships/slide" Target="/ppt/slides/slide15.xml" Id="R4d21f94e2c6e4120" /><Relationship Type="http://schemas.openxmlformats.org/officeDocument/2006/relationships/slide" Target="/ppt/slides/slide16.xml" Id="Ra2a13db87528435a" /><Relationship Type="http://schemas.openxmlformats.org/officeDocument/2006/relationships/slide" Target="/ppt/slides/slide17.xml" Id="Rbfcfd0c1a884436c" /><Relationship Type="http://schemas.openxmlformats.org/officeDocument/2006/relationships/slide" Target="/ppt/slides/slide18.xml" Id="R1e02933d9cb94c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54a3769e3046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inorFont>
    </a:fontScheme>
    <a:fmtScheme name="Custo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172a6446264d3f" /><Relationship Type="http://schemas.openxmlformats.org/officeDocument/2006/relationships/notesMaster" Target="/ppt/notesMasters/notesMaster1.xml" Id="R60a8af34b5034e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413d5f6a964d6b" /><Relationship Type="http://schemas.openxmlformats.org/officeDocument/2006/relationships/notesMaster" Target="/ppt/notesMasters/notesMaster1.xml" Id="R0697fd8be1f64e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bb9f72b20449b6" /><Relationship Type="http://schemas.openxmlformats.org/officeDocument/2006/relationships/notesMaster" Target="/ppt/notesMasters/notesMaster1.xml" Id="R961dc5a1e61f4a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c1e78c7c4e4def" /><Relationship Type="http://schemas.openxmlformats.org/officeDocument/2006/relationships/notesMaster" Target="/ppt/notesMasters/notesMaster1.xml" Id="Ra6baf39f8c5e48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ba98f37641415d" /><Relationship Type="http://schemas.openxmlformats.org/officeDocument/2006/relationships/notesMaster" Target="/ppt/notesMasters/notesMaster1.xml" Id="Rcc144ba7356a4e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50d208990d4b41" /><Relationship Type="http://schemas.openxmlformats.org/officeDocument/2006/relationships/notesMaster" Target="/ppt/notesMasters/notesMaster1.xml" Id="R21e51b9703be48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a700f6f23e452f" /><Relationship Type="http://schemas.openxmlformats.org/officeDocument/2006/relationships/notesMaster" Target="/ppt/notesMasters/notesMaster1.xml" Id="R8f5b507f439c4f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d59427448e44f1" /><Relationship Type="http://schemas.openxmlformats.org/officeDocument/2006/relationships/notesMaster" Target="/ppt/notesMasters/notesMaster1.xml" Id="Rdb72711af8ea41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4fced4457e4cb9" /><Relationship Type="http://schemas.openxmlformats.org/officeDocument/2006/relationships/notesMaster" Target="/ppt/notesMasters/notesMaster1.xml" Id="R4bc6ada657564a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018381e9224b8d" /><Relationship Type="http://schemas.openxmlformats.org/officeDocument/2006/relationships/notesMaster" Target="/ppt/notesMasters/notesMaster1.xml" Id="Rabb945e5e23744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8641eb623a4715" /><Relationship Type="http://schemas.openxmlformats.org/officeDocument/2006/relationships/notesMaster" Target="/ppt/notesMasters/notesMaster1.xml" Id="Rce6197fa31ce41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efd89538ed4e7f" /><Relationship Type="http://schemas.openxmlformats.org/officeDocument/2006/relationships/notesMaster" Target="/ppt/notesMasters/notesMaster1.xml" Id="Ra321a95e43304c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2826a4396e42e9" /><Relationship Type="http://schemas.openxmlformats.org/officeDocument/2006/relationships/notesMaster" Target="/ppt/notesMasters/notesMaster1.xml" Id="R2ac3069f69c9452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3efc346e564311" /><Relationship Type="http://schemas.openxmlformats.org/officeDocument/2006/relationships/notesMaster" Target="/ppt/notesMasters/notesMaster1.xml" Id="Rfe9a2a7f8ef848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771f9821744e3d" /><Relationship Type="http://schemas.openxmlformats.org/officeDocument/2006/relationships/notesMaster" Target="/ppt/notesMasters/notesMaster1.xml" Id="R16f13c0e381a4f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9a8eb65a8044b1" /><Relationship Type="http://schemas.openxmlformats.org/officeDocument/2006/relationships/notesMaster" Target="/ppt/notesMasters/notesMaster1.xml" Id="R52e9eb4d59a144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c3b29bf07c4146" /><Relationship Type="http://schemas.openxmlformats.org/officeDocument/2006/relationships/notesMaster" Target="/ppt/notesMasters/notesMaster1.xml" Id="R75a582c5ead346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78810c819747cd" /><Relationship Type="http://schemas.openxmlformats.org/officeDocument/2006/relationships/notesMaster" Target="/ppt/notesMasters/notesMaster1.xml" Id="R602686be801843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thưa Thầy và các bạn, nhóm 11 trình bày đồ án xây dựng hệ thống giao dịch tiền mã hóa với tầng meta-labeling bằng CatBoost. Trọng tâm là ảnh hưởng của phương pháp chia dữ liệu đến độ tin cậy của kiểm định. Bài trình bày gồm hệ thống, thiết kế thực nghiệm, kết quả và giới hạn.</a:t>
            </a:r>
          </a:p>
          <a:p xmlns:a="http://schemas.openxmlformats.org/drawingml/2006/main">
            <a:r>
              <a:t/>
            </a:r>
            <a:endParaRPr/>
          </a:p>
          <a:p xmlns:a="http://schemas.openxmlformats.org/drawingml/2006/main">
            <a:r>
              <a:t>Nguồn: notebooks/Do_An_Meta_Labeling_BTCUSD.ipynb; danh sách nhóm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tín hiệu giao dịch tạo ra một mẫu, nhưng các mẫu không độc lập. Khi lệnh mở gần nhau, nhãn có thể dựa trên cùng đoạn giá tương lai. Nhóm giữ cấu hình CatBoost nhất quán để quan sát điểm kiểm định thay đổi theo cách chia dữ liệu. Mục tiêu không chỉ là có điểm cao mà là đánh giá khả năng khái quát sang giai đoạn sau.</a:t>
            </a:r>
          </a:p>
          <a:p xmlns:a="http://schemas.openxmlformats.org/drawingml/2006/main">
            <a:r>
              <a:t/>
            </a:r>
            <a:endParaRPr/>
          </a:p>
          <a:p xmlns:a="http://schemas.openxmlformats.org/drawingml/2006/main">
            <a:r>
              <a:t>Nguồn: README_VI.md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nguồn trải từ tháng 1/2018 tới tháng 8/2026. Mốc holdout là 08/02/2025 15:30. Mẫu holdout đầu tiên thực tế có entry_time 09/02/2025 16:00, cuối cùng 21/08/2026 04:30. 199.968 nến M15 là phần trước mốc holdout, không phải toàn bộ lịch sử. Tập phát triển có 6.542 nhãn 1 trên 25.008 mẫu; holdout có 1.410 nhãn 1 trên 5.028 mẫu. Bốn lệnh biên được xác định bằng so khớp khóa, không thuộc hai tập đánh giá.</a:t>
            </a:r>
          </a:p>
          <a:p xmlns:a="http://schemas.openxmlformats.org/drawingml/2006/main">
            <a:r>
              <a:t/>
            </a:r>
            <a:endParaRPr/>
          </a:p>
          <a:p xmlns:a="http://schemas.openxmlformats.org/drawingml/2006/main">
            <a:r>
              <a:t>Nguồn: outputs/holdout/stage1/stage1_validation_report.json; outputs/holdout/stage3/stage3_report.json; data/processed/dataset_catboost.csv; outputs/holdout/stage1/dataset_catboost_holdout.csv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Chiến lược chỉ Long. Một tín hiệu sinh một lệnh gốc và ba lệnh nhồi vô điều kiện tại ba nến tiếp theo. CatBoost chấm điểm các lệnh ứng viên. Backtest giữ một chiến lược nền chạy như baseline, do vậy bỏ một lệnh không làm thay đổi các tín hiệu tương lai của vũ trụ ứng viên. Kết quả là đánh giá bộ lọc trên vũ trụ cố định, chưa phải mô phỏng chiến lược chỉ có các vị thế được chấp nhận.</a:t>
            </a:r>
          </a:p>
          <a:p xmlns:a="http://schemas.openxmlformats.org/drawingml/2006/main">
            <a:r>
              <a:t/>
            </a:r>
            <a:endParaRPr/>
          </a:p>
          <a:p xmlns:a="http://schemas.openxmlformats.org/drawingml/2006/main">
            <a:r>
              <a:t>Nguồn: src/citd_ml/strategy/pyramid_strategy.py; src/citd_ml/backtest/backtest_pyramid_local.py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Rào trên dùng ATR(90) cố định riêng cho từng lệnh; rào dưới là 0,6% giá vào. Mã quét từng nến M1 trong nến M15. Nếu gặp rào trên thì vẫn quét hết nến M15 đó; rào dưới xuất hiện trong cùng nến M15 được ưu tiên và cho nhãn 0. Hết 50 nến chưa đạt rào trên thì nhãn 0. Nhãn không đồng nhất với lời lỗ thực tế: chiến lược có trailing stop, mục tiêu giá 33,7% và thoát cuối tuần. Không dùng nhãn 1 thay cho win rate trong báo cáo tài chính.</a:t>
            </a:r>
          </a:p>
          <a:p xmlns:a="http://schemas.openxmlformats.org/drawingml/2006/main">
            <a:r>
              <a:t/>
            </a:r>
            <a:endParaRPr/>
          </a:p>
          <a:p xmlns:a="http://schemas.openxmlformats.org/drawingml/2006/main">
            <a:r>
              <a:t>Nguồn: src/citd_ml/labeling/triple_barrier.py; src/citd_ml/features/build_features.py; src/citd_ml/strategy/pyramid_strategy.py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đầu vào có đúng 23 feature, lấy trực tiếp từ FEATURES. Các nhóm trên chỉ liệt kê ví dụ. Feature thị trường được tính từ các nến trước entry; gap_open_atr dùng giá mở cửa hiện biết. origin_bar và leg là metadata, không phải feature. Việc loại giá tuyệt đối và cột nhận dạng nhằm hạn chế dấu vết gia đình lệnh. Không khẳng định các đặc trưng hoàn toàn không tương quan.</a:t>
            </a:r>
          </a:p>
          <a:p xmlns:a="http://schemas.openxmlformats.org/drawingml/2006/main">
            <a:r>
              <a:t/>
            </a:r>
            <a:endParaRPr/>
          </a:p>
          <a:p xmlns:a="http://schemas.openxmlformats.org/drawingml/2006/main">
            <a:r>
              <a:t>Nguồn: src/citd_ml/features/build_features.py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Gia đình lệnh và chồng lấn nhãn là hai nguồn phụ thuộc cần phân biệt. Grouped K-Fold giải quyết việc chia tách cùng origin_bar nhưng còn trộn thời gian. Walk-forward bỏ việc huấn luyện trên các khúc tương lai; purge và vùng đệm tiếp tục làm sạch vùng biên. Đây là các kiểm soát khác nhau, không bảo đảm loại bỏ mọi dạng phụ thuộc.</a:t>
            </a:r>
          </a:p>
          <a:p xmlns:a="http://schemas.openxmlformats.org/drawingml/2006/main">
            <a:r>
              <a:t/>
            </a:r>
            <a:endParaRPr/>
          </a:p>
          <a:p xmlns:a="http://schemas.openxmlformats.org/drawingml/2006/main">
            <a:r>
              <a:t>Nguồn: README_VI.md; src/citd_ml/training/split_data.py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 và Grouped đều có 5 folds, shuffle và random_state=0. Walk-forward chia dữ liệu thành 5 khúc, dùng 4 lượt kiểm thử từ khúc 2 đến 5. Để công bằng, bảng phân loại và tài chính chính đều chỉ đánh giá khúc 2–5 của cả bốn nhánh. Các xác suất là out-of-fold, tức mỗi mẫu được chấm bởi mô hình không huấn luyện trên chính dòng đó; OOF vẫn có thể chịu ảnh hưởng từ những dòng liên quan.</a:t>
            </a:r>
          </a:p>
          <a:p xmlns:a="http://schemas.openxmlformats.org/drawingml/2006/main">
            <a:r>
              <a:t/>
            </a:r>
            <a:endParaRPr/>
          </a:p>
          <a:p xmlns:a="http://schemas.openxmlformats.org/drawingml/2006/main">
            <a:r>
              <a:t>Nguồn: src/citd_ml/training/split_data.py; outputs/step4_thread1/catboost_training/metrics_chunk2_5.csv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Mẫu train chỉ được giữ khi đồng thời thỏa hai điều kiện. Purge kiểm thời điểm kết thúc nhãn. Embargo trong triển khai này là vùng đệm 50 nến trước test, không phải sau test. Chỉ xóa train và giữ nguyên test. Tại mốc holdout, chạy cả hai điều kiện nhưng số dòng loại là 0, nên model cuối vẫn dùng 25.008 mẫu.</a:t>
            </a:r>
          </a:p>
          <a:p xmlns:a="http://schemas.openxmlformats.org/drawingml/2006/main">
            <a:r>
              <a:t/>
            </a:r>
            <a:endParaRPr/>
          </a:p>
          <a:p xmlns:a="http://schemas.openxmlformats.org/drawingml/2006/main">
            <a:r>
              <a:t>Nguồn: src/citd_ml/training/split_data.py; outputs/holdout/stage1/stage1_validation_report.json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CatBoost dùng 1.000 iterations, learning_rate=0.05, depth=6, l2_leaf_reg=3, auto_class_weights=Balanced, random_seed=42, thread_count=1. F1 dùng p&gt;=0.5. Backtest giữ ceil(n*50/100) dòng đứng đầu theo probability, phá hòa theo row_id. Ngưỡng top 50% sử dụng thứ hạng của toàn giai đoạn, nên là đánh giá hồi cứu chứ chưa phải quy tắc trực tuyến. Notebook có bổ sung Logistic Regression và Random Forest, nhưng phần CatBoost chấm lại khúc 5 bằng model cuối đã học toàn bộ train nên không dùng bảng đó để kết luận ưu thế giữa mô hình.</a:t>
            </a:r>
          </a:p>
          <a:p xmlns:a="http://schemas.openxmlformats.org/drawingml/2006/main">
            <a:r>
              <a:t/>
            </a:r>
            <a:endParaRPr/>
          </a:p>
          <a:p xmlns:a="http://schemas.openxmlformats.org/drawingml/2006/main">
            <a:r>
              <a:t>Nguồn: src/citd_ml/training/train_catboost.py; src/citd_ml/backtest/backtest_pyramid_local.py; notebooks/Do_An_Meta_Labeling_BTCUSD.ipynb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khối kết quả chính thức thread_count=1, không trộn với bảng bàn giao trước khi ghim số luồng. Random AUC 0.8582 so với holdout 0.6046, chênh 0.2536. Grouped giảm về 0.7454. Walk-forward và Purged Walk-forward lần lượt 0.5875 và 0.5895, gần holdout hơn. Không thể quy toàn bộ độ chênh cho một loại leakage vì lượng train và giai đoạn thị trường cũng khác; chưa có khoảng tin cậy để khẳng định chênh 0.0020 có ý nghĩa thống kê.</a:t>
            </a:r>
          </a:p>
          <a:p xmlns:a="http://schemas.openxmlformats.org/drawingml/2006/main">
            <a:r>
              <a:t/>
            </a:r>
            <a:endParaRPr/>
          </a:p>
          <a:p xmlns:a="http://schemas.openxmlformats.org/drawingml/2006/main">
            <a:r>
              <a:t>Nguồn: outputs/holdout/stage4/table1_classification_metrics.csv; README_VI.md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Tất cả nhánh lọc giữ 10.004 trong 20.007 lệnh của khúc 2–5. R được tính theo khoảng stop ban đầu 0.6% giá vào. MaxDD lấy từ R cộng dồn theo thời điểm đóng lệnh, không phải tỷ lệ sụt giảm tài khoản phần trăm. Phép giảm 39.7% là (236.13-142.36)/236.13. Lợi nhuận giảm 36.9% so với baseline. Mã hiện tại chưa mô hình hóa riêng phí, spread và trượt giá, nên tên net profit R trong bảng không có nghĩa đã trừ đầy đủ chi phí thực thi.</a:t>
            </a:r>
          </a:p>
          <a:p xmlns:a="http://schemas.openxmlformats.org/drawingml/2006/main">
            <a:r>
              <a:t/>
            </a:r>
            <a:endParaRPr/>
          </a:p>
          <a:p xmlns:a="http://schemas.openxmlformats.org/drawingml/2006/main">
            <a:r>
              <a:t>Nguồn: outputs/holdout/stage4/table2_financial_metrics_top50.csv; src/citd_ml/backtest/backtest_pyramid_local.py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gốc trong báo cáo cho thấy Random K-Fold có đường vốn cao hơn nhiều, trong khi hai nhánh theo thời gian thấp hơn. Đường vốn là dạng bậc thang, chỉ thay đổi khi đóng lệnh. Những lệnh có cùng close_time được gộp trước khi cộng dồn. Hình minh họa kết quả trên tập phát triển, không thể dùng thay cho kết quả holdout.</a:t>
            </a:r>
          </a:p>
          <a:p xmlns:a="http://schemas.openxmlformats.org/drawingml/2006/main">
            <a:r>
              <a:t/>
            </a:r>
            <a:endParaRPr/>
          </a:p>
          <a:p xmlns:a="http://schemas.openxmlformats.org/drawingml/2006/main">
            <a:r>
              <a:t>Nguồn: outputs/holdout/stage4/equity-curve-chunk2-5-top50.png; outputs/holdout/stage4/implementation_decisions.md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Trên holdout, baseline dương 245.93 R trong khi Top 50% âm 36.55 R và PF dưới 1. Mức giảm MaxDD là (305.32-263.25)/305.32, khoảng 13.8%. F1 và AUC đo chất lượng phân loại nhãn; chiến lược thoát lệnh và phân bố lãi lỗ quyết định PnL. Không diễn giải việc giữ một nửa số lệnh là đã loại bỏ một nửa lệnh rủi ro.</a:t>
            </a:r>
          </a:p>
          <a:p xmlns:a="http://schemas.openxmlformats.org/drawingml/2006/main">
            <a:r>
              <a:t/>
            </a:r>
            <a:endParaRPr/>
          </a:p>
          <a:p xmlns:a="http://schemas.openxmlformats.org/drawingml/2006/main">
            <a:r>
              <a:t>Nguồn: outputs/holdout/stage3/stage3_report.json; outputs/holdout/stage4/equity-curve-holdout-top50.png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mức giữ 20–50% cho lợi nhuận âm; 60–80% cho lợi nhuận dương trong holdout đã quan sát. Top 80% đạt 259.91 R so với baseline 245.93 R. Sweep này cho thấy độ nhạy của quyết định giữ lệnh. Nếu chọn 80% sau khi nhìn bảng, cần coi đó là quyết định phát triển mới và kiểm định trên dữ liệu chưa dùng; không gọi kết quả này là lợi nhuận tương lai đã xác nhận.</a:t>
            </a:r>
          </a:p>
          <a:p xmlns:a="http://schemas.openxmlformats.org/drawingml/2006/main">
            <a:r>
              <a:t/>
            </a:r>
            <a:endParaRPr/>
          </a:p>
          <a:p xmlns:a="http://schemas.openxmlformats.org/drawingml/2006/main">
            <a:r>
              <a:t>Nguồn: outputs/holdout/stage4/holdout_sweep_20_80.csv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lượt cùng thread_count=1 cho xác suất giống hệt trong môi trường đã kiểm chứng. Đổi số luồng train làm xác suất và tập Top 50% thay đổi trên máy thử nghiệm. Chấm lại cùng một model đã fit với số luồng dự đoán khác nhau không làm thay đổi xác suất. Hash model nhị phân có thể khác do metadata, vì thế dùng xác suất và kết quả làm tiêu chí chính. Bằng chứng liên máy hiện còn hạn chế; không khẳng định tái lập 100% trên mọi môi trường.</a:t>
            </a:r>
          </a:p>
          <a:p xmlns:a="http://schemas.openxmlformats.org/drawingml/2006/main">
            <a:r>
              <a:t/>
            </a:r>
            <a:endParaRPr/>
          </a:p>
          <a:p xmlns:a="http://schemas.openxmlformats.org/drawingml/2006/main">
            <a:r>
              <a:t>Nguồn: outputs/thread_count_sensitivity/thread_count_sensitivity.json; outputs/holdout/repro/stage5_repro_report.json; docs/BAO_CAO_KET_QUA_HOLDOUT.md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Đồ án hoàn thiện pipeline và chỉ ra cách chia dữ liệu có thể tạo ra các kết luận rất khác nhau. Kết luận vững nhất là các nhánh theo thời gian gần holdout hơn trong thí nghiệm này, và Top 50% chưa cải thiện lợi nhuận holdout. Lịch sử Git ghi ba phiên bản holdout cùng các lượt kiểm chứng, nên không gọi đây là holdout chưa từng xem hoặc chỉ mở đúng một lần. Hướng tiếp theo là tập tương lai mới, nhiều tài sản và giai đoạn, chi phí thực thi, ngưỡng chọn bằng validation quá khứ, và so sánh nhiều mô hình trên cùng các folds hợp lệ.</a:t>
            </a:r>
          </a:p>
          <a:p xmlns:a="http://schemas.openxmlformats.org/drawingml/2006/main">
            <a:r>
              <a:t/>
            </a:r>
            <a:endParaRPr/>
          </a:p>
          <a:p xmlns:a="http://schemas.openxmlformats.org/drawingml/2006/main">
            <a:r>
              <a:t>Nguồn: README_VI.md; outputs/verification/holdout_run_history.md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xin cảm ơn Thầy và các bạn. Nhóm sẵn sàng trao đổi về gán nhãn, chia dữ liệu và lý do điểm phân loại chưa bảo đảm lợi nhuận holdout.</a:t>
            </a:r>
          </a:p>
          <a:p xmlns:a="http://schemas.openxmlformats.org/drawingml/2006/main">
            <a:r>
              <a:t/>
            </a:r>
            <a:endParaRPr/>
          </a:p>
          <a:p xmlns:a="http://schemas.openxmlformats.org/drawingml/2006/main">
            <a:r>
              <a:t>Nguồn: Danh sách nhóm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f80d655cbb4e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498525cc0b4f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c181ffd82948fe" /><Relationship Type="http://schemas.openxmlformats.org/officeDocument/2006/relationships/image" Target="/ppt/media/image.jpeg" Id="Rd702473c7b85430a" /><Relationship Type="http://schemas.openxmlformats.org/officeDocument/2006/relationships/image" Target="/ppt/media/image.png" Id="R2b6be2e6fae44ac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PPTIST_MASTER">
    <p:bg>
      <p:bgPr>
        <a:solidFill xmlns:a="http://schemas.openxmlformats.org/drawingml/2006/main">
          <a:srgbClr val="FFFFFF"/>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userDrawn="1">
  <p:cSld name="Tiêu đề">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454F319A-62FB-D9AB-91DD-E1478E7A521A}"/>
              </a:ext>
            </a:extLst>
          </p:cNvPr>
          <p:cNvSpPr>
            <a:spLocks xmlns:a="http://schemas.openxmlformats.org/drawingml/2006/main" noGrp="1"/>
          </p:cNvSpPr>
          <p:nvPr>
            <p:ph type="ftr" idx="11"/>
          </p:nvPr>
        </p:nvSpPr>
        <p:spPr>
          <a:xfrm xmlns:a="http://schemas.openxmlformats.org/drawingml/2006/main">
            <a:off x="4185139" y="11521119"/>
            <a:ext cx="7624784" cy="420924"/>
          </a:xfrm>
        </p:spPr>
        <p:txBody>
          <a:bodyPr xmlns:a="http://schemas.openxmlformats.org/drawingml/2006/main"/>
          <a:lstStyle xmlns:a="http://schemas.openxmlformats.org/drawingml/2006/main">
            <a:lvl1pPr algn="l">
              <a:buNone/>
              <a:defRPr sz="1956">
                <a:latin typeface="Times New Roman"/>
                <a:ea typeface="Times New Roman"/>
                <a:cs typeface="Times New Roman"/>
              </a:defRPr>
            </a:lvl1pPr>
          </a:lstStyle>
          <a:p xmlns:a="http://schemas.openxmlformats.org/drawingml/2006/main">
            <a:r>
              <a:t>DIMENSIONALITY REDUCTION - Nhóm 13</a:t>
            </a:r>
          </a:p>
        </p:txBody>
      </p:sp>
      <p:sp>
        <p:nvSpPr>
          <p:cNvPr id="7" name="Freeform 6">
            <a:extLst xmlns:a="http://schemas.openxmlformats.org/drawingml/2006/main">
              <a:ext uri="{FF2B5EF4-FFF2-40B4-BE49-F238E27FC236}">
                <a16:creationId xmlns:a16="http://schemas.microsoft.com/office/drawing/2014/main" id="{88E55FBA-E532-BB1F-9AD4-40205F001925}"/>
              </a:ext>
            </a:extLst>
          </p:cNvPr>
          <p:cNvSpPr>
            <a:spLocks xmlns:a="http://schemas.openxmlformats.org/drawingml/2006/main" noGrp="1"/>
          </p:cNvSpPr>
          <p:nvPr/>
        </p:nvSpPr>
        <p:spPr>
          <a:xfrm xmlns:a="http://schemas.openxmlformats.org/drawingml/2006/main" rot="10800000">
            <a:off x="-1" y="0"/>
            <a:ext cx="21678900" cy="12192000"/>
          </a:xfrm>
          <a:custGeom xmlns:a="http://schemas.openxmlformats.org/drawingml/2006/main">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xmlns:a="http://schemas.openxmlformats.org/drawingml/2006/main">
            <a:blip xmlns:r="http://schemas.openxmlformats.org/officeDocument/2006/relationships" r:embed="Rd702473c7b85430a"/>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3200"/>
          </a:p>
        </p:txBody>
      </p:sp>
      <p:sp>
        <p:nvSpPr>
          <p:cNvPr id="8" name="Isosceles Triangle 12">
            <a:extLst xmlns:a="http://schemas.openxmlformats.org/drawingml/2006/main">
              <a:ext uri="{FF2B5EF4-FFF2-40B4-BE49-F238E27FC236}">
                <a16:creationId xmlns:a16="http://schemas.microsoft.com/office/drawing/2014/main" id="{BF14C68C-3577-C657-9E87-056612AF8E42}"/>
              </a:ext>
            </a:extLst>
          </p:cNvPr>
          <p:cNvSpPr>
            <a:spLocks xmlns:a="http://schemas.openxmlformats.org/drawingml/2006/main" noGrp="1"/>
          </p:cNvSpPr>
          <p:nvPr/>
        </p:nvSpPr>
        <p:spPr>
          <a:xfrm xmlns:a="http://schemas.openxmlformats.org/drawingml/2006/main" rot="10800000">
            <a:off x="2" y="1"/>
            <a:ext cx="1272456" cy="1096731"/>
          </a:xfrm>
          <a:prstGeom xmlns:a="http://schemas.openxmlformats.org/drawingml/2006/main" prst="triangle">
            <a:avLst>
              <a:gd name="adj" fmla="val 100000"/>
            </a:avLst>
          </a:prstGeom>
          <a:solidFill xmlns:a="http://schemas.openxmlformats.org/drawingml/2006/main">
            <a:srgbClr val="0072FF">
              <a:alpha val="8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a:p>
        </p:txBody>
      </p:sp>
      <p:sp>
        <p:nvSpPr>
          <p:cNvPr id="10" name="Straight Connector 9">
            <a:extLst xmlns:a="http://schemas.openxmlformats.org/drawingml/2006/main">
              <a:ext uri="{FF2B5EF4-FFF2-40B4-BE49-F238E27FC236}">
                <a16:creationId xmlns:a16="http://schemas.microsoft.com/office/drawing/2014/main" id="{E5A902CB-97CE-431F-8D8F-032440FFD642}"/>
              </a:ext>
            </a:extLst>
          </p:cNvPr>
          <p:cNvSpPr>
            <a:spLocks xmlns:a="http://schemas.openxmlformats.org/drawingml/2006/main" noGrp="1"/>
          </p:cNvSpPr>
          <p:nvPr/>
        </p:nvSpPr>
        <p:spPr>
          <a:xfrm xmlns:a="http://schemas.openxmlformats.org/drawingml/2006/main" flipH="1">
            <a:off x="1386937" y="85831"/>
            <a:ext cx="3819943" cy="0"/>
          </a:xfrm>
          <a:prstGeom xmlns:a="http://schemas.openxmlformats.org/drawingml/2006/main" prst="line">
            <a:avLst/>
          </a:prstGeom>
          <a:solidFill xmlns:a="http://schemas.openxmlformats.org/drawingml/2006/main">
            <a:srgbClr val="0072FF"/>
          </a:solidFill>
          <a:ln xmlns:a="http://schemas.openxmlformats.org/drawingml/2006/main" w="38100">
            <a:solidFill>
              <a:srgbClr val="00C6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376AAEFE-4495-423F-A308-B261C32BE115}"/>
              </a:ext>
            </a:extLst>
          </p:cNvPr>
          <p:cNvSpPr>
            <a:spLocks xmlns:a="http://schemas.openxmlformats.org/drawingml/2006/main" noGrp="1"/>
          </p:cNvSpPr>
          <p:nvPr/>
        </p:nvSpPr>
        <p:spPr>
          <a:xfrm xmlns:a="http://schemas.openxmlformats.org/drawingml/2006/main" flipH="1">
            <a:off x="104070" y="72791"/>
            <a:ext cx="1311358" cy="1145262"/>
          </a:xfrm>
          <a:prstGeom xmlns:a="http://schemas.openxmlformats.org/drawingml/2006/main" prst="line">
            <a:avLst/>
          </a:prstGeom>
          <a:solidFill xmlns:a="http://schemas.openxmlformats.org/drawingml/2006/main">
            <a:srgbClr val="0072FF"/>
          </a:solidFill>
          <a:ln xmlns:a="http://schemas.openxmlformats.org/drawingml/2006/main" w="38100">
            <a:solidFill>
              <a:srgbClr val="00C6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Straight Connector 11">
            <a:extLst xmlns:a="http://schemas.openxmlformats.org/drawingml/2006/main">
              <a:ext uri="{FF2B5EF4-FFF2-40B4-BE49-F238E27FC236}">
                <a16:creationId xmlns:a16="http://schemas.microsoft.com/office/drawing/2014/main" id="{334F5217-07BA-42D3-9B82-55D0CB2728AD}"/>
              </a:ext>
            </a:extLst>
          </p:cNvPr>
          <p:cNvSpPr>
            <a:spLocks xmlns:a="http://schemas.openxmlformats.org/drawingml/2006/main" noGrp="1"/>
          </p:cNvSpPr>
          <p:nvPr/>
        </p:nvSpPr>
        <p:spPr>
          <a:xfrm xmlns:a="http://schemas.openxmlformats.org/drawingml/2006/main" flipV="1">
            <a:off x="117113" y="1187159"/>
            <a:ext cx="0" cy="1664972"/>
          </a:xfrm>
          <a:prstGeom xmlns:a="http://schemas.openxmlformats.org/drawingml/2006/main" prst="line">
            <a:avLst/>
          </a:prstGeom>
          <a:solidFill xmlns:a="http://schemas.openxmlformats.org/drawingml/2006/main">
            <a:srgbClr val="0072FF"/>
          </a:solidFill>
          <a:ln xmlns:a="http://schemas.openxmlformats.org/drawingml/2006/main" w="38100">
            <a:solidFill>
              <a:srgbClr val="00C6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Isosceles Triangle 12">
            <a:extLst xmlns:a="http://schemas.openxmlformats.org/drawingml/2006/main">
              <a:ext uri="{FF2B5EF4-FFF2-40B4-BE49-F238E27FC236}">
                <a16:creationId xmlns:a16="http://schemas.microsoft.com/office/drawing/2014/main" id="{1DA43496-358A-E9F0-8CFC-6A952BD4F3E7}"/>
              </a:ext>
            </a:extLst>
          </p:cNvPr>
          <p:cNvSpPr>
            <a:spLocks xmlns:a="http://schemas.openxmlformats.org/drawingml/2006/main" noGrp="1"/>
          </p:cNvSpPr>
          <p:nvPr/>
        </p:nvSpPr>
        <p:spPr>
          <a:xfrm xmlns:a="http://schemas.openxmlformats.org/drawingml/2006/main" rot="10800000" flipH="1" flipV="1">
            <a:off x="20406445" y="11095271"/>
            <a:ext cx="1272456" cy="1096731"/>
          </a:xfrm>
          <a:prstGeom xmlns:a="http://schemas.openxmlformats.org/drawingml/2006/main" prst="triangle">
            <a:avLst>
              <a:gd name="adj" fmla="val 100000"/>
            </a:avLst>
          </a:prstGeom>
          <a:solidFill xmlns:a="http://schemas.openxmlformats.org/drawingml/2006/main">
            <a:srgbClr val="0072FF">
              <a:alpha val="8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a:p>
        </p:txBody>
      </p:sp>
      <p:sp>
        <p:nvSpPr>
          <p:cNvPr id="15" name="Straight Connector 14">
            <a:extLst xmlns:a="http://schemas.openxmlformats.org/drawingml/2006/main">
              <a:ext uri="{FF2B5EF4-FFF2-40B4-BE49-F238E27FC236}">
                <a16:creationId xmlns:a16="http://schemas.microsoft.com/office/drawing/2014/main" id="{1DFAFC82-1C1F-4A41-B50F-5E58ABF4B8CE}"/>
              </a:ext>
            </a:extLst>
          </p:cNvPr>
          <p:cNvSpPr>
            <a:spLocks xmlns:a="http://schemas.openxmlformats.org/drawingml/2006/main" noGrp="1"/>
          </p:cNvSpPr>
          <p:nvPr/>
        </p:nvSpPr>
        <p:spPr>
          <a:xfrm xmlns:a="http://schemas.openxmlformats.org/drawingml/2006/main" flipV="1">
            <a:off x="15029556" y="9229781"/>
            <a:ext cx="3819943" cy="0"/>
          </a:xfrm>
          <a:prstGeom xmlns:a="http://schemas.openxmlformats.org/drawingml/2006/main" prst="line">
            <a:avLst/>
          </a:prstGeom>
          <a:solidFill xmlns:a="http://schemas.openxmlformats.org/drawingml/2006/main">
            <a:srgbClr val="0072FF"/>
          </a:solidFill>
          <a:ln xmlns:a="http://schemas.openxmlformats.org/drawingml/2006/main" w="38100">
            <a:solidFill>
              <a:srgbClr val="00C6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3B8ACA5D-3A08-4808-81AE-9A6BC7FF482A}"/>
              </a:ext>
            </a:extLst>
          </p:cNvPr>
          <p:cNvSpPr>
            <a:spLocks xmlns:a="http://schemas.openxmlformats.org/drawingml/2006/main" noGrp="1"/>
          </p:cNvSpPr>
          <p:nvPr/>
        </p:nvSpPr>
        <p:spPr>
          <a:xfrm xmlns:a="http://schemas.openxmlformats.org/drawingml/2006/main" flipV="1">
            <a:off x="16312423" y="9242821"/>
            <a:ext cx="1311358" cy="1145262"/>
          </a:xfrm>
          <a:prstGeom xmlns:a="http://schemas.openxmlformats.org/drawingml/2006/main" prst="line">
            <a:avLst/>
          </a:prstGeom>
          <a:solidFill xmlns:a="http://schemas.openxmlformats.org/drawingml/2006/main">
            <a:srgbClr val="0072FF"/>
          </a:solidFill>
          <a:ln xmlns:a="http://schemas.openxmlformats.org/drawingml/2006/main" w="38100">
            <a:solidFill>
              <a:srgbClr val="00C6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5AF98ACF-45A3-4157-9C4E-3BE247EE05E3}"/>
              </a:ext>
            </a:extLst>
          </p:cNvPr>
          <p:cNvSpPr>
            <a:spLocks xmlns:a="http://schemas.openxmlformats.org/drawingml/2006/main" noGrp="1"/>
          </p:cNvSpPr>
          <p:nvPr/>
        </p:nvSpPr>
        <p:spPr>
          <a:xfrm xmlns:a="http://schemas.openxmlformats.org/drawingml/2006/main" flipH="1">
            <a:off x="16299380" y="8128453"/>
            <a:ext cx="0" cy="1664972"/>
          </a:xfrm>
          <a:prstGeom xmlns:a="http://schemas.openxmlformats.org/drawingml/2006/main" prst="line">
            <a:avLst/>
          </a:prstGeom>
          <a:solidFill xmlns:a="http://schemas.openxmlformats.org/drawingml/2006/main">
            <a:srgbClr val="0072FF"/>
          </a:solidFill>
          <a:ln xmlns:a="http://schemas.openxmlformats.org/drawingml/2006/main" w="38100">
            <a:solidFill>
              <a:srgbClr val="00C6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Freeform 17">
            <a:extLst xmlns:a="http://schemas.openxmlformats.org/drawingml/2006/main">
              <a:ext uri="{FF2B5EF4-FFF2-40B4-BE49-F238E27FC236}">
                <a16:creationId xmlns:a16="http://schemas.microsoft.com/office/drawing/2014/main" id="{3366D05A-8A62-ADE1-F4B2-73F9CA085276}"/>
              </a:ext>
            </a:extLst>
          </p:cNvPr>
          <p:cNvSpPr>
            <a:spLocks xmlns:a="http://schemas.openxmlformats.org/drawingml/2006/main" noGrp="1"/>
          </p:cNvSpPr>
          <p:nvPr/>
        </p:nvSpPr>
        <p:spPr>
          <a:xfrm xmlns:a="http://schemas.openxmlformats.org/drawingml/2006/main" flipH="1">
            <a:off x="9674797" y="0"/>
            <a:ext cx="12004105" cy="541867"/>
          </a:xfrm>
          <a:custGeom xmlns:a="http://schemas.openxmlformats.org/drawingml/2006/main">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rect l="l" t="t" r="r" b="b"/>
            <a:pathLst>
              <a:path w="6750991" h="304800">
                <a:moveTo>
                  <a:pt x="0" y="0"/>
                </a:moveTo>
                <a:lnTo>
                  <a:pt x="6750991" y="0"/>
                </a:lnTo>
                <a:lnTo>
                  <a:pt x="6574501" y="152400"/>
                </a:lnTo>
                <a:lnTo>
                  <a:pt x="2459211" y="152400"/>
                </a:lnTo>
                <a:lnTo>
                  <a:pt x="2282721" y="304800"/>
                </a:lnTo>
                <a:lnTo>
                  <a:pt x="0" y="304800"/>
                </a:lnTo>
                <a:close/>
              </a:path>
            </a:pathLst>
          </a:custGeom>
          <a:gradFill xmlns:a="http://schemas.openxmlformats.org/drawingml/2006/main" rotWithShape="1">
            <a:gsLst>
              <a:gs pos="0">
                <a:srgbClr val="0072FF">
                  <a:alpha val="80000"/>
                </a:srgbClr>
              </a:gs>
              <a:gs pos="100000">
                <a:srgbClr val="00C6FF">
                  <a:alpha val="85000"/>
                </a:srgbClr>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3200"/>
          </a:p>
        </p:txBody>
      </p:sp>
      <p:sp>
        <p:nvSpPr>
          <p:cNvPr id="19" name="Freeform 18">
            <a:extLst xmlns:a="http://schemas.openxmlformats.org/drawingml/2006/main">
              <a:ext uri="{FF2B5EF4-FFF2-40B4-BE49-F238E27FC236}">
                <a16:creationId xmlns:a16="http://schemas.microsoft.com/office/drawing/2014/main" id="{E7E6E6A9-35CE-D953-F678-DB52C8ED6EC1}"/>
              </a:ext>
            </a:extLst>
          </p:cNvPr>
          <p:cNvSpPr>
            <a:spLocks xmlns:a="http://schemas.openxmlformats.org/drawingml/2006/main" noGrp="1"/>
          </p:cNvSpPr>
          <p:nvPr/>
        </p:nvSpPr>
        <p:spPr>
          <a:xfrm xmlns:a="http://schemas.openxmlformats.org/drawingml/2006/main" flipV="1">
            <a:off x="2" y="11650133"/>
            <a:ext cx="12004105" cy="541867"/>
          </a:xfrm>
          <a:custGeom xmlns:a="http://schemas.openxmlformats.org/drawingml/2006/main">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rect l="l" t="t" r="r" b="b"/>
            <a:pathLst>
              <a:path w="6750991" h="304800">
                <a:moveTo>
                  <a:pt x="0" y="0"/>
                </a:moveTo>
                <a:lnTo>
                  <a:pt x="6750991" y="0"/>
                </a:lnTo>
                <a:lnTo>
                  <a:pt x="6574501" y="152400"/>
                </a:lnTo>
                <a:lnTo>
                  <a:pt x="2459211" y="152400"/>
                </a:lnTo>
                <a:lnTo>
                  <a:pt x="2282721" y="304800"/>
                </a:lnTo>
                <a:lnTo>
                  <a:pt x="0" y="304800"/>
                </a:lnTo>
                <a:close/>
              </a:path>
            </a:pathLst>
          </a:custGeom>
          <a:gradFill xmlns:a="http://schemas.openxmlformats.org/drawingml/2006/main" rotWithShape="1">
            <a:gsLst>
              <a:gs pos="0">
                <a:srgbClr val="0072FF">
                  <a:alpha val="80000"/>
                </a:srgbClr>
              </a:gs>
              <a:gs pos="100000">
                <a:srgbClr val="00C6FF">
                  <a:alpha val="85000"/>
                </a:srgbClr>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3200"/>
          </a:p>
        </p:txBody>
      </p:sp>
      <p:pic>
        <p:nvPicPr>
          <p:cNvPr id="60" name="Picture 22"/>
          <p:cNvPicPr>
            <a:picLocks xmlns:a="http://schemas.openxmlformats.org/drawingml/2006/main" noChangeAspect="1"/>
          </p:cNvPicPr>
          <p:nvPr/>
        </p:nvPicPr>
        <p:blipFill>
          <a:blip xmlns:r="http://schemas.openxmlformats.org/officeDocument/2006/relationships" xmlns:a="http://schemas.openxmlformats.org/drawingml/2006/main" r:embed="R2b6be2e6fae44acf"/>
          <a:stretch xmlns:a="http://schemas.openxmlformats.org/drawingml/2006/main">
            <a:fillRect l="0" t="0" r="0" b="0"/>
          </a:stretch>
        </p:blipFill>
        <p:spPr>
          <a:xfrm xmlns:a="http://schemas.openxmlformats.org/drawingml/2006/main">
            <a:off x="733722" y="644689"/>
            <a:ext cx="967812" cy="800379"/>
          </a:xfrm>
          <a:prstGeom xmlns:a="http://schemas.openxmlformats.org/drawingml/2006/main" prst="rect">
            <a:avLst/>
          </a:prstGeom>
        </p:spPr>
      </p:pic>
      <p:sp>
        <p:nvSpPr>
          <p:cNvPr id="24" name="TextBox 23">
            <a:extLst xmlns:a="http://schemas.openxmlformats.org/drawingml/2006/main">
              <a:ext uri="{FF2B5EF4-FFF2-40B4-BE49-F238E27FC236}">
                <a16:creationId xmlns:a16="http://schemas.microsoft.com/office/drawing/2014/main" id="{3272C38A-5DF7-B873-F169-2EA590FF1122}"/>
              </a:ext>
            </a:extLst>
          </p:cNvPr>
          <p:cNvSpPr>
            <a:spLocks xmlns:a="http://schemas.openxmlformats.org/drawingml/2006/main" noGrp="1"/>
          </p:cNvSpPr>
          <p:nvPr/>
        </p:nvSpPr>
        <p:spPr>
          <a:xfrm xmlns:a="http://schemas.openxmlformats.org/drawingml/2006/main">
            <a:off x="1701535" y="615658"/>
            <a:ext cx="6966972" cy="8584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r>
              <a:rPr sz="2489">
                <a:gradFill rotWithShape="1">
                  <a:gsLst>
                    <a:gs pos="0">
                      <a:srgbClr val="000046"/>
                    </a:gs>
                    <a:gs pos="100000">
                      <a:srgbClr val="1CB5E0"/>
                    </a:gs>
                  </a:gsLst>
                  <a:lin ang="2700000" scaled="1"/>
                  <a:tileRect/>
                </a:gradFill>
                <a:latin typeface="Times New Roman"/>
                <a:ea typeface="Times New Roman"/>
                <a:cs typeface="Times New Roman"/>
              </a:rPr>
              <a:t>ĐẠI HỌC QUỐC GIA TP. HỒ CHÍ MINH</a:t>
            </a:r>
          </a:p>
          <a:p xmlns:a="http://schemas.openxmlformats.org/drawingml/2006/main">
            <a:r>
              <a:rPr sz="2489" b="1">
                <a:gradFill rotWithShape="1">
                  <a:gsLst>
                    <a:gs pos="0">
                      <a:srgbClr val="000046"/>
                    </a:gs>
                    <a:gs pos="100000">
                      <a:srgbClr val="1CB5E0"/>
                    </a:gs>
                  </a:gsLst>
                  <a:lin ang="2700000" scaled="1"/>
                  <a:tileRect/>
                </a:gradFill>
                <a:latin typeface="Times New Roman"/>
                <a:ea typeface="Times New Roman"/>
                <a:cs typeface="Times New Roman"/>
              </a:rPr>
              <a:t>TRƯỜNG ĐẠI HỌC CÔNG NGHỆ THÔNG TIN</a:t>
            </a:r>
          </a:p>
        </p:txBody>
      </p:sp>
      <p:sp>
        <p:nvSpPr>
          <p:cNvPr id="26" name="Oval 25">
            <a:extLst xmlns:a="http://schemas.openxmlformats.org/drawingml/2006/main">
              <a:ext uri="{FF2B5EF4-FFF2-40B4-BE49-F238E27FC236}">
                <a16:creationId xmlns:a16="http://schemas.microsoft.com/office/drawing/2014/main" id="{390A5A10-F9AF-733C-8C7D-94D87B311EF5}"/>
              </a:ext>
            </a:extLst>
          </p:cNvPr>
          <p:cNvSpPr>
            <a:spLocks xmlns:a="http://schemas.openxmlformats.org/drawingml/2006/main" noGrp="1"/>
          </p:cNvSpPr>
          <p:nvPr/>
        </p:nvSpPr>
        <p:spPr>
          <a:xfrm xmlns:a="http://schemas.openxmlformats.org/drawingml/2006/main">
            <a:off x="21203414" y="11703360"/>
            <a:ext cx="415932" cy="415851"/>
          </a:xfrm>
          <a:prstGeom xmlns:a="http://schemas.openxmlformats.org/drawingml/2006/main" prst="ellipse">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777">
              <a:latin typeface="Times New Roman"/>
              <a:ea typeface="Times New Roman"/>
              <a:cs typeface="Times New Roman"/>
            </a:endParaRPr>
          </a:p>
        </p:txBody>
      </p:sp>
      <p:sp>
        <p:nvSpPr>
          <p:cNvPr id="6" name="Slide Number Placeholder 5">
            <a:extLst xmlns:a="http://schemas.openxmlformats.org/drawingml/2006/main">
              <a:ext uri="{FF2B5EF4-FFF2-40B4-BE49-F238E27FC236}">
                <a16:creationId xmlns:a16="http://schemas.microsoft.com/office/drawing/2014/main" id="{2E21DEB9-E93C-A8E4-074F-F195EB1D8ABF}"/>
              </a:ext>
            </a:extLst>
          </p:cNvPr>
          <p:cNvSpPr>
            <a:spLocks xmlns:a="http://schemas.openxmlformats.org/drawingml/2006/main" noGrp="1"/>
          </p:cNvSpPr>
          <p:nvPr>
            <p:ph type="sldNum" idx="12"/>
          </p:nvPr>
        </p:nvSpPr>
        <p:spPr>
          <a:xfrm xmlns:a="http://schemas.openxmlformats.org/drawingml/2006/main">
            <a:off x="21149657" y="11673601"/>
            <a:ext cx="518501" cy="5184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buNone/>
              <a:defRPr sz="1244">
                <a:solidFill>
                  <a:schemeClr val="tx1"/>
                </a:solidFill>
                <a:latin typeface="Times New Roman"/>
                <a:ea typeface="Times New Roman"/>
                <a:cs typeface="Times New Roman"/>
              </a:defRPr>
            </a:lvl1pPr>
          </a:lstStyle>
          <a:p xmlns:a="http://schemas.openxmlformats.org/drawingml/2006/main">
            <a:pPr algn="ctr">
              <a:buNone/>
            </a:pPr>
            <a:fld id="{D8B0B3AC-44A8-D142-AAF6-9A453466E1A4}" type="slidenum">
              <a:t>‹#›</a:t>
            </a:fld>
            <a:endParaRPr/>
          </a:p>
        </p:txBody>
      </p:sp>
      <p:sp>
        <p:nvSpPr>
          <p:cNvPr id="34" name="Text Placeholder 33">
            <a:extLst xmlns:a="http://schemas.openxmlformats.org/drawingml/2006/main">
              <a:ext uri="{FF2B5EF4-FFF2-40B4-BE49-F238E27FC236}">
                <a16:creationId xmlns:a16="http://schemas.microsoft.com/office/drawing/2014/main" id="{C4981174-E1E5-D0CF-F74E-4BBA287A5C73}"/>
              </a:ext>
            </a:extLst>
          </p:cNvPr>
          <p:cNvSpPr>
            <a:spLocks xmlns:a="http://schemas.openxmlformats.org/drawingml/2006/main" noGrp="1"/>
          </p:cNvSpPr>
          <p:nvPr>
            <p:ph type="body" idx="13" hasCustomPrompt="1"/>
          </p:nvPr>
        </p:nvSpPr>
        <p:spPr>
          <a:xfrm xmlns:a="http://schemas.openxmlformats.org/drawingml/2006/main">
            <a:off x="3290967" y="3925615"/>
            <a:ext cx="15096969" cy="1237627"/>
          </a:xfrm>
        </p:spPr>
        <p:txBody>
          <a:bodyPr xmlns:a="http://schemas.openxmlformats.org/drawingml/2006/main" anchor="ctr">
            <a:normAutofit/>
          </a:bodyPr>
          <a:lstStyle xmlns:a="http://schemas.openxmlformats.org/drawingml/2006/main">
            <a:lvl1pPr marL="0" indent="0" algn="ctr" defTabSz="1625519">
              <a:buNone/>
              <a:defRPr sz="7822" b="1" kern="1200">
                <a:ln>
                  <a:gradFill>
                    <a:gsLst>
                      <a:gs pos="0">
                        <a:srgbClr val="000046"/>
                      </a:gs>
                      <a:gs pos="100000">
                        <a:srgbClr val="1CB5E0"/>
                      </a:gs>
                    </a:gsLst>
                    <a:lin ang="5400000" scaled="1"/>
                  </a:gradFill>
                </a:ln>
                <a:noFill/>
                <a:latin typeface="Times New Roman"/>
                <a:ea typeface="Times New Roman"/>
                <a:cs typeface="Times New Roman"/>
              </a:defRPr>
            </a:lvl1pPr>
          </a:lstStyle>
          <a:p xmlns:a="http://schemas.openxmlformats.org/drawingml/2006/main">
            <a:pPr lvl="0">
              <a:buNone/>
            </a:pPr>
            <a:r>
              <a:t>TÊN MÔN HỌC</a:t>
            </a:r>
          </a:p>
        </p:txBody>
      </p:sp>
      <p:sp>
        <p:nvSpPr>
          <p:cNvPr id="36" name="Text Placeholder 35">
            <a:extLst xmlns:a="http://schemas.openxmlformats.org/drawingml/2006/main">
              <a:ext uri="{FF2B5EF4-FFF2-40B4-BE49-F238E27FC236}">
                <a16:creationId xmlns:a16="http://schemas.microsoft.com/office/drawing/2014/main" id="{F1F814F0-EAC8-84E1-83C4-B5C359387C5C}"/>
              </a:ext>
            </a:extLst>
          </p:cNvPr>
          <p:cNvSpPr>
            <a:spLocks xmlns:a="http://schemas.openxmlformats.org/drawingml/2006/main" noGrp="1"/>
          </p:cNvSpPr>
          <p:nvPr>
            <p:ph type="body" idx="14" hasCustomPrompt="1"/>
          </p:nvPr>
        </p:nvSpPr>
        <p:spPr>
          <a:xfrm xmlns:a="http://schemas.openxmlformats.org/drawingml/2006/main">
            <a:off x="1559401" y="5403476"/>
            <a:ext cx="18560103" cy="816795"/>
          </a:xfrm>
        </p:spPr>
        <p:txBody>
          <a:bodyPr xmlns:a="http://schemas.openxmlformats.org/drawingml/2006/main" anchor="ctr">
            <a:normAutofit/>
          </a:bodyPr>
          <a:lstStyle xmlns:a="http://schemas.openxmlformats.org/drawingml/2006/main">
            <a:lvl1pPr marL="0" indent="0" algn="ctr" defTabSz="1625519">
              <a:buNone/>
              <a:defRPr sz="3556" b="1" kern="1200">
                <a:gradFill>
                  <a:gsLst>
                    <a:gs pos="0">
                      <a:srgbClr val="000046"/>
                    </a:gs>
                    <a:gs pos="100000">
                      <a:srgbClr val="1CB5E0"/>
                    </a:gs>
                  </a:gsLst>
                  <a:lin ang="2700000" scaled="1"/>
                </a:gradFill>
                <a:latin typeface="Times New Roman"/>
                <a:ea typeface="Times New Roman"/>
                <a:cs typeface="Times New Roman"/>
              </a:defRPr>
            </a:lvl1pPr>
          </a:lstStyle>
          <a:p xmlns:a="http://schemas.openxmlformats.org/drawingml/2006/main">
            <a:pPr lvl="0">
              <a:buNone/>
            </a:pPr>
            <a:r>
              <a:t>CHƯƠNG X: TÊN CHƯƠNG</a:t>
            </a:r>
          </a:p>
        </p:txBody>
      </p:sp>
      <p:sp>
        <p:nvSpPr>
          <p:cNvPr id="42" name="Text Placeholder 41">
            <a:extLst xmlns:a="http://schemas.openxmlformats.org/drawingml/2006/main">
              <a:ext uri="{FF2B5EF4-FFF2-40B4-BE49-F238E27FC236}">
                <a16:creationId xmlns:a16="http://schemas.microsoft.com/office/drawing/2014/main" id="{2B8543E7-0085-7DF3-5351-E097219BEE40}"/>
              </a:ext>
            </a:extLst>
          </p:cNvPr>
          <p:cNvSpPr>
            <a:spLocks xmlns:a="http://schemas.openxmlformats.org/drawingml/2006/main" noGrp="1"/>
          </p:cNvSpPr>
          <p:nvPr>
            <p:ph type="body" idx="15" hasCustomPrompt="1"/>
          </p:nvPr>
        </p:nvSpPr>
        <p:spPr>
          <a:xfrm xmlns:a="http://schemas.openxmlformats.org/drawingml/2006/main">
            <a:off x="8323350" y="8823198"/>
            <a:ext cx="5032197" cy="613343"/>
          </a:xfrm>
          <a:prstGeom xmlns:a="http://schemas.openxmlformats.org/drawingml/2006/main" prst="rect">
            <a:avLst/>
          </a:prstGeom>
          <a:gradFill xmlns:a="http://schemas.openxmlformats.org/drawingml/2006/main">
            <a:gsLst>
              <a:gs pos="0">
                <a:srgbClr val="0072FF"/>
              </a:gs>
              <a:gs pos="100000">
                <a:srgbClr val="00C6FF"/>
              </a:gs>
            </a:gsLst>
            <a:lin ang="2700000" scaled="1"/>
          </a:gradFill>
        </p:spPr>
        <p:txBody>
          <a:bodyPr xmlns:a="http://schemas.openxmlformats.org/drawingml/2006/main" anchor="ctr">
            <a:normAutofit/>
          </a:bodyPr>
          <a:lstStyle xmlns:a="http://schemas.openxmlformats.org/drawingml/2006/main">
            <a:lvl1pPr marL="0" indent="0" algn="ctr">
              <a:buNone/>
              <a:defRPr sz="2489" b="1" i="0">
                <a:solidFill>
                  <a:schemeClr val="bg1"/>
                </a:solidFill>
                <a:latin typeface="Times New Roman"/>
                <a:ea typeface="Times New Roman"/>
                <a:cs typeface="Times New Roman"/>
              </a:defRPr>
            </a:lvl1pPr>
          </a:lstStyle>
          <a:p xmlns:a="http://schemas.openxmlformats.org/drawingml/2006/main">
            <a:pPr lvl="0">
              <a:buNone/>
            </a:pPr>
            <a:r>
              <a:t>Trình bày: Tên Giảng viên</a:t>
            </a:r>
          </a:p>
        </p:txBody>
      </p:sp>
      <p:sp>
        <p:nvSpPr>
          <p:cNvPr id="46" name="Text Placeholder 45">
            <a:extLst xmlns:a="http://schemas.openxmlformats.org/drawingml/2006/main">
              <a:ext uri="{FF2B5EF4-FFF2-40B4-BE49-F238E27FC236}">
                <a16:creationId xmlns:a16="http://schemas.microsoft.com/office/drawing/2014/main" id="{18BC0B81-9708-34C0-3CBB-EA50270B9105}"/>
              </a:ext>
            </a:extLst>
          </p:cNvPr>
          <p:cNvSpPr>
            <a:spLocks xmlns:a="http://schemas.openxmlformats.org/drawingml/2006/main" noGrp="1"/>
          </p:cNvSpPr>
          <p:nvPr>
            <p:ph type="body" idx="16" hasCustomPrompt="1"/>
          </p:nvPr>
        </p:nvSpPr>
        <p:spPr>
          <a:xfrm xmlns:a="http://schemas.openxmlformats.org/drawingml/2006/main">
            <a:off x="3290967" y="6454775"/>
            <a:ext cx="15096969" cy="1145263"/>
          </a:xfrm>
        </p:spPr>
        <p:txBody>
          <a:bodyPr xmlns:a="http://schemas.openxmlformats.org/drawingml/2006/main" anchor="ctr">
            <a:normAutofit/>
          </a:bodyPr>
          <a:lstStyle xmlns:a="http://schemas.openxmlformats.org/drawingml/2006/main">
            <a:lvl1pPr marL="0" indent="0" algn="ctr">
              <a:buNone/>
              <a:defRPr sz="2133" spc="267" baseline="0">
                <a:solidFill>
                  <a:schemeClr val="bg1">
                    <a:lumMod val="75000"/>
                  </a:schemeClr>
                </a:solidFill>
                <a:latin typeface="Times New Roman"/>
                <a:ea typeface="Times New Roman"/>
                <a:cs typeface="Times New Roman"/>
              </a:defRPr>
            </a:lvl1pPr>
          </a:lstStyle>
          <a:p xmlns:a="http://schemas.openxmlformats.org/drawingml/2006/main">
            <a:pPr lvl="0">
              <a:buNone/>
            </a:pPr>
            <a:r>
              <a:t>(Tóm tắt nếu có): Lorem ipsum dolor sit amet, consectetuer adipiscing elit. Maecenas porttitor congue massa. Fusce posuere, magna sed pulvinar ultricies, purus lectus malesuada libero, sit amet commodo magna eros quis urna.</a:t>
            </a:r>
          </a:p>
        </p:txBody>
      </p:sp>
      <p:sp>
        <p:nvSpPr>
          <p:cNvPr id="2" name="Date Placeholder 1">
            <a:extLst xmlns:a="http://schemas.openxmlformats.org/drawingml/2006/main">
              <a:ext uri="{FF2B5EF4-FFF2-40B4-BE49-F238E27FC236}">
                <a16:creationId xmlns:a16="http://schemas.microsoft.com/office/drawing/2014/main" id="{98B28119-6BAB-C115-873B-3333E0D709F1}"/>
              </a:ext>
            </a:extLst>
          </p:cNvPr>
          <p:cNvSpPr>
            <a:spLocks xmlns:a="http://schemas.openxmlformats.org/drawingml/2006/main" noGrp="1"/>
          </p:cNvSpPr>
          <p:nvPr>
            <p:ph type="dt" idx="17"/>
          </p:nvPr>
        </p:nvSpPr>
        <p:spPr>
          <a:xfrm xmlns:a="http://schemas.openxmlformats.org/drawingml/2006/main">
            <a:off x="12034006" y="11514665"/>
            <a:ext cx="4438015" cy="420912"/>
          </a:xfrm>
        </p:spPr>
        <p:txBody>
          <a:bodyPr xmlns:a="http://schemas.openxmlformats.org/drawingml/2006/main"/>
          <a:lstStyle xmlns:a="http://schemas.openxmlformats.org/drawingml/2006/main">
            <a:lvl1pPr marL="0" algn="ctr" defTabSz="1625519">
              <a:buNone/>
              <a:defRPr sz="1956" kern="1200">
                <a:solidFill>
                  <a:schemeClr val="tx1">
                    <a:tint val="75000"/>
                  </a:schemeClr>
                </a:solidFill>
                <a:latin typeface="Times New Roman"/>
                <a:ea typeface="Times New Roman"/>
                <a:cs typeface="Times New Roman"/>
              </a:defRPr>
            </a:lvl1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5ea3ff2d60477d" /><Relationship Type="http://schemas.openxmlformats.org/officeDocument/2006/relationships/slideLayout" Target="/ppt/slideLayouts/slideLayout1.xml" Id="Rcfce5ba7e92a431f" /><Relationship Type="http://schemas.openxmlformats.org/officeDocument/2006/relationships/slideLayout" Target="/ppt/slideLayouts/slideLayout2.xml" Id="Rb4310126daf74e64" /><Relationship Type="http://schemas.openxmlformats.org/officeDocument/2006/relationships/slideLayout" Target="/ppt/slideLayouts/slideLayout3.xml" Id="R696698c5c1b444d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ce5ba7e92a431f"/>
    <p:sldLayoutId xmlns:r="http://schemas.openxmlformats.org/officeDocument/2006/relationships" id="2147483650" r:id="Rb4310126daf74e64"/>
    <p:sldLayoutId xmlns:r="http://schemas.openxmlformats.org/officeDocument/2006/relationships" id="2147483651" r:id="R696698c5c1b444d7"/>
  </p:sldLayoutIdLst>
  <p:hf sldNum="0" hdr="0" dt="0"/>
  <p:txStyles>
    <p:titleStyle>
      <a:lvl1pPr xmlns:a="http://schemas.openxmlformats.org/drawingml/2006/main" algn="ctr" defTabSz="914400">
        <a:spcBef>
          <a:spcPct val="0"/>
        </a:spcBef>
        <a:buNone/>
        <a:defRPr sz="4400" kern="1200">
          <a:solidFill>
            <a:schemeClr val="tx1"/>
          </a:solidFill>
          <a:latin typeface="Times New Roman"/>
          <a:ea typeface="Times New Roman"/>
          <a:cs typeface="Times New Roman"/>
        </a:defRPr>
      </a:lvl1pPr>
    </p:titleStyle>
    <p:bodyStyle>
      <a:lvl1pPr xmlns:a="http://schemas.openxmlformats.org/drawingml/2006/main" marL="342900" indent="-342900" algn="l" defTabSz="914400">
        <a:spcBef>
          <a:spcPct val="20000"/>
        </a:spcBef>
        <a:buFont typeface="Times New Roman"/>
        <a:buChar char="•"/>
        <a:defRPr sz="3200" kern="1200">
          <a:solidFill>
            <a:schemeClr val="tx1"/>
          </a:solidFill>
          <a:latin typeface="Times New Roman"/>
          <a:ea typeface="Times New Roman"/>
          <a:cs typeface="Times New Roman"/>
        </a:defRPr>
      </a:lvl1pPr>
      <a:lvl2pPr xmlns:a="http://schemas.openxmlformats.org/drawingml/2006/main" marL="742950" indent="-285750" algn="l" defTabSz="914400">
        <a:spcBef>
          <a:spcPct val="20000"/>
        </a:spcBef>
        <a:buFont typeface="Times New Roman"/>
        <a:buChar char="–"/>
        <a:defRPr sz="2800" kern="1200">
          <a:solidFill>
            <a:schemeClr val="tx1"/>
          </a:solidFill>
          <a:latin typeface="Times New Roman"/>
          <a:ea typeface="Times New Roman"/>
          <a:cs typeface="Times New Roman"/>
        </a:defRPr>
      </a:lvl2pPr>
      <a:lvl3pPr xmlns:a="http://schemas.openxmlformats.org/drawingml/2006/main" marL="1143000" indent="-228600" algn="l" defTabSz="914400">
        <a:spcBef>
          <a:spcPct val="20000"/>
        </a:spcBef>
        <a:buFont typeface="Times New Roman"/>
        <a:buChar char="•"/>
        <a:defRPr sz="2400" kern="1200">
          <a:solidFill>
            <a:schemeClr val="tx1"/>
          </a:solidFill>
          <a:latin typeface="Times New Roman"/>
          <a:ea typeface="Times New Roman"/>
          <a:cs typeface="Times New Roman"/>
        </a:defRPr>
      </a:lvl3pPr>
      <a:lvl4pPr xmlns:a="http://schemas.openxmlformats.org/drawingml/2006/main" marL="1600200" indent="-228600" algn="l" defTabSz="914400">
        <a:spcBef>
          <a:spcPct val="20000"/>
        </a:spcBef>
        <a:buFont typeface="Times New Roman"/>
        <a:buChar char="–"/>
        <a:defRPr sz="2000" kern="1200">
          <a:solidFill>
            <a:schemeClr val="tx1"/>
          </a:solidFill>
          <a:latin typeface="Times New Roman"/>
          <a:ea typeface="Times New Roman"/>
          <a:cs typeface="Times New Roman"/>
        </a:defRPr>
      </a:lvl4pPr>
      <a:lvl5pPr xmlns:a="http://schemas.openxmlformats.org/drawingml/2006/main" marL="2057400" indent="-228600" algn="l" defTabSz="914400">
        <a:spcBef>
          <a:spcPct val="20000"/>
        </a:spcBef>
        <a:buFont typeface="Times New Roman"/>
        <a:buChar char="»"/>
        <a:defRPr sz="2000" kern="1200">
          <a:solidFill>
            <a:schemeClr val="tx1"/>
          </a:solidFill>
          <a:latin typeface="Times New Roman"/>
          <a:ea typeface="Times New Roman"/>
          <a:cs typeface="Times New Roman"/>
        </a:defRPr>
      </a:lvl5pPr>
      <a:lvl6pPr xmlns:a="http://schemas.openxmlformats.org/drawingml/2006/main" marL="2514600" indent="-228600" algn="l" defTabSz="914400">
        <a:spcBef>
          <a:spcPct val="20000"/>
        </a:spcBef>
        <a:buFont typeface="Times New Roman"/>
        <a:buChar char="•"/>
        <a:defRPr sz="2000" kern="1200">
          <a:solidFill>
            <a:schemeClr val="tx1"/>
          </a:solidFill>
          <a:latin typeface="Times New Roman"/>
          <a:ea typeface="Times New Roman"/>
          <a:cs typeface="Times New Roman"/>
        </a:defRPr>
      </a:lvl6pPr>
      <a:lvl7pPr xmlns:a="http://schemas.openxmlformats.org/drawingml/2006/main" marL="2971800" indent="-228600" algn="l" defTabSz="914400">
        <a:spcBef>
          <a:spcPct val="20000"/>
        </a:spcBef>
        <a:buFont typeface="Times New Roman"/>
        <a:buChar char="•"/>
        <a:defRPr sz="2000" kern="1200">
          <a:solidFill>
            <a:schemeClr val="tx1"/>
          </a:solidFill>
          <a:latin typeface="Times New Roman"/>
          <a:ea typeface="Times New Roman"/>
          <a:cs typeface="Times New Roman"/>
        </a:defRPr>
      </a:lvl7pPr>
      <a:lvl8pPr xmlns:a="http://schemas.openxmlformats.org/drawingml/2006/main" marL="3429000" indent="-228600" algn="l" defTabSz="914400">
        <a:spcBef>
          <a:spcPct val="20000"/>
        </a:spcBef>
        <a:buFont typeface="Times New Roman"/>
        <a:buChar char="•"/>
        <a:defRPr sz="2000" kern="1200">
          <a:solidFill>
            <a:schemeClr val="tx1"/>
          </a:solidFill>
          <a:latin typeface="Times New Roman"/>
          <a:ea typeface="Times New Roman"/>
          <a:cs typeface="Times New Roman"/>
        </a:defRPr>
      </a:lvl8pPr>
      <a:lvl9pPr xmlns:a="http://schemas.openxmlformats.org/drawingml/2006/main" marL="3886200" indent="-228600" algn="l" defTabSz="914400">
        <a:spcBef>
          <a:spcPct val="20000"/>
        </a:spcBef>
        <a:buFont typeface="Times New Roman"/>
        <a:buChar char="•"/>
        <a:defRPr sz="2000" kern="1200">
          <a:solidFill>
            <a:schemeClr val="tx1"/>
          </a:solidFill>
          <a:latin typeface="Times New Roman"/>
          <a:ea typeface="Times New Roman"/>
          <a:cs typeface="Times New Roman"/>
        </a:defRPr>
      </a:lvl9pPr>
    </p:bodyStyle>
    <p:otherStyle>
      <a:lvl1pPr xmlns:a="http://schemas.openxmlformats.org/drawingml/2006/main" marL="0" algn="l" defTabSz="914400">
        <a:buNone/>
        <a:defRPr sz="1800" kern="1200">
          <a:solidFill>
            <a:schemeClr val="tx1"/>
          </a:solidFill>
          <a:latin typeface="Times New Roman"/>
          <a:ea typeface="Times New Roman"/>
          <a:cs typeface="Times New Roman"/>
        </a:defRPr>
      </a:lvl1pPr>
      <a:lvl2pPr xmlns:a="http://schemas.openxmlformats.org/drawingml/2006/main" marL="457200" algn="l" defTabSz="914400">
        <a:buNone/>
        <a:defRPr sz="1800" kern="1200">
          <a:solidFill>
            <a:schemeClr val="tx1"/>
          </a:solidFill>
          <a:latin typeface="Times New Roman"/>
          <a:ea typeface="Times New Roman"/>
          <a:cs typeface="Times New Roman"/>
        </a:defRPr>
      </a:lvl2pPr>
      <a:lvl3pPr xmlns:a="http://schemas.openxmlformats.org/drawingml/2006/main" marL="914400" algn="l" defTabSz="914400">
        <a:buNone/>
        <a:defRPr sz="1800" kern="1200">
          <a:solidFill>
            <a:schemeClr val="tx1"/>
          </a:solidFill>
          <a:latin typeface="Times New Roman"/>
          <a:ea typeface="Times New Roman"/>
          <a:cs typeface="Times New Roman"/>
        </a:defRPr>
      </a:lvl3pPr>
      <a:lvl4pPr xmlns:a="http://schemas.openxmlformats.org/drawingml/2006/main" marL="1371600" algn="l" defTabSz="914400">
        <a:buNone/>
        <a:defRPr sz="1800" kern="1200">
          <a:solidFill>
            <a:schemeClr val="tx1"/>
          </a:solidFill>
          <a:latin typeface="Times New Roman"/>
          <a:ea typeface="Times New Roman"/>
          <a:cs typeface="Times New Roman"/>
        </a:defRPr>
      </a:lvl4pPr>
      <a:lvl5pPr xmlns:a="http://schemas.openxmlformats.org/drawingml/2006/main" marL="1828800" algn="l" defTabSz="914400">
        <a:buNone/>
        <a:defRPr sz="1800" kern="1200">
          <a:solidFill>
            <a:schemeClr val="tx1"/>
          </a:solidFill>
          <a:latin typeface="Times New Roman"/>
          <a:ea typeface="Times New Roman"/>
          <a:cs typeface="Times New Roman"/>
        </a:defRPr>
      </a:lvl5pPr>
      <a:lvl6pPr xmlns:a="http://schemas.openxmlformats.org/drawingml/2006/main" marL="2286000" algn="l" defTabSz="914400">
        <a:buNone/>
        <a:defRPr sz="1800" kern="1200">
          <a:solidFill>
            <a:schemeClr val="tx1"/>
          </a:solidFill>
          <a:latin typeface="Times New Roman"/>
          <a:ea typeface="Times New Roman"/>
          <a:cs typeface="Times New Roman"/>
        </a:defRPr>
      </a:lvl6pPr>
      <a:lvl7pPr xmlns:a="http://schemas.openxmlformats.org/drawingml/2006/main" marL="2743200" algn="l" defTabSz="914400">
        <a:buNone/>
        <a:defRPr sz="1800" kern="1200">
          <a:solidFill>
            <a:schemeClr val="tx1"/>
          </a:solidFill>
          <a:latin typeface="Times New Roman"/>
          <a:ea typeface="Times New Roman"/>
          <a:cs typeface="Times New Roman"/>
        </a:defRPr>
      </a:lvl7pPr>
      <a:lvl8pPr xmlns:a="http://schemas.openxmlformats.org/drawingml/2006/main" marL="3200400" algn="l" defTabSz="914400">
        <a:buNone/>
        <a:defRPr sz="1800" kern="1200">
          <a:solidFill>
            <a:schemeClr val="tx1"/>
          </a:solidFill>
          <a:latin typeface="Times New Roman"/>
          <a:ea typeface="Times New Roman"/>
          <a:cs typeface="Times New Roman"/>
        </a:defRPr>
      </a:lvl8pPr>
      <a:lvl9pPr xmlns:a="http://schemas.openxmlformats.org/drawingml/2006/main" marL="3657600" algn="l" defTabSz="914400">
        <a:buNone/>
        <a:defRPr sz="1800" kern="1200">
          <a:solidFill>
            <a:schemeClr val="tx1"/>
          </a:solidFill>
          <a:latin typeface="Times New Roman"/>
          <a:ea typeface="Times New Roman"/>
          <a:cs typeface="Times New Roman"/>
        </a:defRPr>
      </a:lvl9pPr>
    </p:otherStyle>
  </p:txStyles>
</p:sldMaster>
</file>

<file path=ppt/slideMasters/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inorFont>
    </a:fontScheme>
    <a:fmtScheme name="Custo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9c724bfd4e9a44b6" /><Relationship Type="http://schemas.openxmlformats.org/officeDocument/2006/relationships/notesSlide" Target="/ppt/notesSlides/notesSlide1.xml" Id="R4ab42b475ca745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2b6a892518474d" /><Relationship Type="http://schemas.openxmlformats.org/officeDocument/2006/relationships/notesSlide" Target="/ppt/notesSlides/notesSlide2.xml" Id="R37aaed6ad3714c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e4bcff653d4677" /><Relationship Type="http://schemas.openxmlformats.org/officeDocument/2006/relationships/notesSlide" Target="/ppt/notesSlides/notesSlide3.xml" Id="R46fb261db00944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02a477c18d43f0" /><Relationship Type="http://schemas.openxmlformats.org/officeDocument/2006/relationships/notesSlide" Target="/ppt/notesSlides/notesSlide4.xml" Id="R2409d12d405a42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3eaf6a7f904eda" /><Relationship Type="http://schemas.openxmlformats.org/officeDocument/2006/relationships/notesSlide" Target="/ppt/notesSlides/notesSlide5.xml" Id="R26f3e283ad0142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d7269fb4c44396" /><Relationship Type="http://schemas.openxmlformats.org/officeDocument/2006/relationships/notesSlide" Target="/ppt/notesSlides/notesSlide6.xml" Id="R5d245efabcc949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82ed06849540ec" /><Relationship Type="http://schemas.openxmlformats.org/officeDocument/2006/relationships/notesSlide" Target="/ppt/notesSlides/notesSlide7.xml" Id="R38de6f010ffa45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ab7f0b30344f79" /><Relationship Type="http://schemas.openxmlformats.org/officeDocument/2006/relationships/notesSlide" Target="/ppt/notesSlides/notesSlide8.xml" Id="Rb4d1458809f94f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051401d4644b25" /><Relationship Type="http://schemas.openxmlformats.org/officeDocument/2006/relationships/notesSlide" Target="/ppt/notesSlides/notesSlide9.xml" Id="Reaa5ccf506d342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631cd88678c40e6" /><Relationship Type="http://schemas.openxmlformats.org/officeDocument/2006/relationships/notesSlide" Target="/ppt/notesSlides/notesSlide10.xml" Id="R06aaa68e06d245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9eb7fa84534ecf" /><Relationship Type="http://schemas.openxmlformats.org/officeDocument/2006/relationships/notesSlide" Target="/ppt/notesSlides/notesSlide11.xml" Id="Rd344cdfabf4148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07f2680b1a48ae" /><Relationship Type="http://schemas.openxmlformats.org/officeDocument/2006/relationships/notesSlide" Target="/ppt/notesSlides/notesSlide12.xml" Id="R29cc071c56fe4d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37f8996a0b1409c" /><Relationship Type="http://schemas.openxmlformats.org/officeDocument/2006/relationships/image" Target="/ppt/media/image2.png" Id="R3f1d77640e644de6" /><Relationship Type="http://schemas.openxmlformats.org/officeDocument/2006/relationships/notesSlide" Target="/ppt/notesSlides/notesSlide13.xml" Id="Rac085bf884d148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a66b8d444e46e2" /><Relationship Type="http://schemas.openxmlformats.org/officeDocument/2006/relationships/image" Target="/ppt/media/image3.png" Id="R4ccc5c4ed2414c72" /><Relationship Type="http://schemas.openxmlformats.org/officeDocument/2006/relationships/notesSlide" Target="/ppt/notesSlides/notesSlide14.xml" Id="Rda1391c4aea449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85f64247124854" /><Relationship Type="http://schemas.openxmlformats.org/officeDocument/2006/relationships/chart" Target="/ppt/slides/charts/chart1.xml" Id="R120a74cc8c28457e" /><Relationship Type="http://schemas.openxmlformats.org/officeDocument/2006/relationships/notesSlide" Target="/ppt/notesSlides/notesSlide15.xml" Id="R07bd3daa879b46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3e3a24453314313" /><Relationship Type="http://schemas.openxmlformats.org/officeDocument/2006/relationships/notesSlide" Target="/ppt/notesSlides/notesSlide16.xml" Id="Ra965d20fbb894c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ff8e5c2e8c4742" /><Relationship Type="http://schemas.openxmlformats.org/officeDocument/2006/relationships/notesSlide" Target="/ppt/notesSlides/notesSlide17.xml" Id="Rb57f12c8a1cc45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d52918e2c9964892" /><Relationship Type="http://schemas.openxmlformats.org/officeDocument/2006/relationships/notesSlide" Target="/ppt/notesSlides/notesSlide18.xml" Id="R2137eea1296c4bb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Lợi nhuận holdout (R)</c:v>
          </c:tx>
          <c:spPr>
            <a:solidFill xmlns:a="http://schemas.openxmlformats.org/drawingml/2006/main">
              <a:srgbClr val="1565C0"/>
            </a:solidFill>
          </c:spPr>
          <c:invertIfNegative val="0"/>
          <c:dPt>
            <c:idx val="0"/>
            <c:invertIfNegative val="0"/>
            <c:spPr>
              <a:solidFill xmlns:a="http://schemas.openxmlformats.org/drawingml/2006/main">
                <a:srgbClr val="E48756"/>
              </a:solidFill>
            </c:spPr>
          </c:dPt>
          <c:dPt>
            <c:idx val="1"/>
            <c:invertIfNegative val="0"/>
            <c:spPr>
              <a:solidFill xmlns:a="http://schemas.openxmlformats.org/drawingml/2006/main">
                <a:srgbClr val="E48756"/>
              </a:solidFill>
            </c:spPr>
          </c:dPt>
          <c:dPt>
            <c:idx val="2"/>
            <c:invertIfNegative val="0"/>
            <c:spPr>
              <a:solidFill xmlns:a="http://schemas.openxmlformats.org/drawingml/2006/main">
                <a:srgbClr val="E48756"/>
              </a:solidFill>
            </c:spPr>
          </c:dPt>
          <c:dPt>
            <c:idx val="3"/>
            <c:invertIfNegative val="0"/>
            <c:spPr>
              <a:solidFill xmlns:a="http://schemas.openxmlformats.org/drawingml/2006/main">
                <a:srgbClr val="E48756"/>
              </a:solidFill>
            </c:spPr>
          </c:dPt>
          <c:cat>
            <c:strRef>
              <c:f>'Chart Data'!$A$2:$A$8</c:f>
              <c:strCache>
                <c:ptCount val="7"/>
                <c:pt idx="0">
                  <c:v>20%</c:v>
                </c:pt>
                <c:pt idx="1">
                  <c:v>30%</c:v>
                </c:pt>
                <c:pt idx="2">
                  <c:v>40%</c:v>
                </c:pt>
                <c:pt idx="3">
                  <c:v>50%</c:v>
                </c:pt>
                <c:pt idx="4">
                  <c:v>60%</c:v>
                </c:pt>
                <c:pt idx="5">
                  <c:v>70%</c:v>
                </c:pt>
                <c:pt idx="6">
                  <c:v>80%</c:v>
                </c:pt>
              </c:strCache>
            </c:strRef>
          </c:cat>
          <c:val>
            <c:numRef>
              <c:f>'Chart Data'!$B$2:$B$8</c:f>
              <c:numCache>
                <c:formatCode>0.00</c:formatCode>
                <c:ptCount val="7"/>
                <c:pt idx="0">
                  <c:v>-30.01</c:v>
                </c:pt>
                <c:pt idx="1">
                  <c:v>-50.01</c:v>
                </c:pt>
                <c:pt idx="2">
                  <c:v>-53.17</c:v>
                </c:pt>
                <c:pt idx="3">
                  <c:v>-36.55</c:v>
                </c:pt>
                <c:pt idx="4">
                  <c:v>73.16</c:v>
                </c:pt>
                <c:pt idx="5">
                  <c:v>186.92</c:v>
                </c:pt>
                <c:pt idx="6">
                  <c:v>259.91</c:v>
                </c:pt>
              </c:numCache>
            </c:numRef>
          </c:val>
        </c:ser>
        <c:dLbls>
          <c:txPr>
            <a:bodyPr xmlns:a="http://schemas.openxmlformats.org/drawingml/2006/main" anchorCtr="1"/>
            <a:lstStyle xmlns:a="http://schemas.openxmlformats.org/drawingml/2006/main"/>
            <a:p xmlns:a="http://schemas.openxmlformats.org/drawingml/2006/main">
              <a:pPr>
                <a:defRPr sz="2250">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750">
                <a:solidFill>
                  <a:srgbClr val="666666"/>
                </a:solidFill>
                <a:latin typeface="Times New Roman"/>
                <a:ea typeface="Times New Roman"/>
                <a:cs typeface="Times New Roman"/>
              </a:defRPr>
            </a:pPr>
          </a:p>
        </c:txPr>
        <c:crossAx val="48672768"/>
      </c:catAx>
      <c:valAx>
        <c:axId val="48672768"/>
        <c:scaling>
          <c:orientation val="minMax"/>
          <c:max val="300"/>
          <c:min val="-100"/>
        </c:scaling>
        <c:delete val="0"/>
        <c:axPos val="l"/>
        <c:majorGridlines>
          <c:spPr>
            <a:ln xmlns:a="http://schemas.openxmlformats.org/drawingml/2006/main" w="9525">
              <a:solidFill>
                <a:srgbClr val="D9E0E6"/>
              </a:solidFill>
            </a:ln>
          </c:spPr>
        </c:majorGridlines>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Lợi nhuận (R)</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625">
                <a:solidFill>
                  <a:srgbClr val="666666"/>
                </a:solidFill>
                <a:latin typeface="Times New Roman"/>
                <a:ea typeface="Times New Roman"/>
                <a:cs typeface="Times New Roman"/>
              </a:defRPr>
            </a:pPr>
          </a:p>
        </c:txPr>
        <c:crossAx val="48650112"/>
        <c:crossBetween val="between"/>
        <c:majorUnit val="100"/>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BÁO CÁO ĐỒ ÁN MÔN TRÍ TUỆ NHÂN TẠO">
            <a:extLst xmlns:a="http://schemas.openxmlformats.org/drawingml/2006/main">
              <a:ext uri="{FF2B5EF4-FFF2-40B4-BE49-F238E27FC236}">
                <a16:creationId xmlns:a16="http://schemas.microsoft.com/office/drawing/2014/main" id="{CF251627-2187-4269-AD4E-6FFEE8AC8332}"/>
              </a:ext>
            </a:extLst>
          </p:cNvPr>
          <p:cNvSpPr>
            <a:spLocks xmlns:a="http://schemas.openxmlformats.org/drawingml/2006/main" noGrp="1"/>
          </p:cNvSpPr>
          <p:nvPr/>
        </p:nvSpPr>
        <p:spPr>
          <a:xfrm xmlns:a="http://schemas.openxmlformats.org/drawingml/2006/main">
            <a:off x="2460625" y="2174875"/>
            <a:ext cx="1676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50" b="1">
                <a:solidFill>
                  <a:srgbClr val="1565C0"/>
                </a:solidFill>
                <a:latin typeface="Times New Roman"/>
                <a:ea typeface="Times New Roman"/>
                <a:cs typeface="Times New Roman"/>
              </a:defRPr>
            </a:pPr>
            <a:r>
              <a:rPr sz="4250" b="1">
                <a:solidFill>
                  <a:srgbClr val="1565C0"/>
                </a:solidFill>
                <a:latin typeface="Times New Roman"/>
                <a:ea typeface="Times New Roman"/>
                <a:cs typeface="Times New Roman"/>
              </a:rPr>
              <a:t>BÁO CÁO ĐỒ ÁN MÔN TRÍ TUỆ NHÂN TẠO</a:t>
            </a:r>
          </a:p>
        </p:txBody>
      </p:sp>
      <p:sp>
        <p:nvSpPr>
          <p:cNvPr id="2" name="Xây dựng hệ thống giao dịch tiền mã hóa&#10;với tầng meta-labeli">
            <a:extLst xmlns:a="http://schemas.openxmlformats.org/drawingml/2006/main">
              <a:ext uri="{FF2B5EF4-FFF2-40B4-BE49-F238E27FC236}">
                <a16:creationId xmlns:a16="http://schemas.microsoft.com/office/drawing/2014/main" id="{D1FEE029-BF70-455D-BD6A-58408ED51889}"/>
              </a:ext>
            </a:extLst>
          </p:cNvPr>
          <p:cNvSpPr>
            <a:spLocks xmlns:a="http://schemas.openxmlformats.org/drawingml/2006/main" noGrp="1"/>
          </p:cNvSpPr>
          <p:nvPr/>
        </p:nvSpPr>
        <p:spPr>
          <a:xfrm xmlns:a="http://schemas.openxmlformats.org/drawingml/2006/main">
            <a:off x="1905000" y="3111500"/>
            <a:ext cx="17875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375" b="1">
                <a:solidFill>
                  <a:srgbClr val="151515"/>
                </a:solidFill>
                <a:latin typeface="Times New Roman"/>
                <a:ea typeface="Times New Roman"/>
                <a:cs typeface="Times New Roman"/>
              </a:defRPr>
            </a:pPr>
            <a:r>
              <a:rPr sz="4375" b="1">
                <a:solidFill>
                  <a:srgbClr val="151515"/>
                </a:solidFill>
                <a:latin typeface="Times New Roman"/>
                <a:ea typeface="Times New Roman"/>
                <a:cs typeface="Times New Roman"/>
              </a:rPr>
              <a:t>Xây dựng hệ thống giao dịch tiền mã hóa</a:t>
            </a:r>
          </a:p>
          <a:p xmlns:a="http://schemas.openxmlformats.org/drawingml/2006/main">
            <a:pPr algn="ctr">
              <a:defRPr sz="4375" b="1">
                <a:solidFill>
                  <a:srgbClr val="151515"/>
                </a:solidFill>
                <a:latin typeface="Times New Roman"/>
                <a:ea typeface="Times New Roman"/>
                <a:cs typeface="Times New Roman"/>
              </a:defRPr>
            </a:pPr>
            <a:r>
              <a:rPr sz="4375" b="1">
                <a:solidFill>
                  <a:srgbClr val="151515"/>
                </a:solidFill>
                <a:latin typeface="Times New Roman"/>
                <a:ea typeface="Times New Roman"/>
                <a:cs typeface="Times New Roman"/>
              </a:rPr>
              <a:t>với tầng meta-labeling bằng CatBoost</a:t>
            </a:r>
          </a:p>
        </p:txBody>
      </p:sp>
      <p:sp>
        <p:nvSpPr>
          <p:cNvPr id="3" name="Thông qua đó đánh giá ảnh hưởng của phương pháp chia dữ liệu">
            <a:extLst xmlns:a="http://schemas.openxmlformats.org/drawingml/2006/main">
              <a:ext uri="{FF2B5EF4-FFF2-40B4-BE49-F238E27FC236}">
                <a16:creationId xmlns:a16="http://schemas.microsoft.com/office/drawing/2014/main" id="{1E4220A7-9EE3-457E-85CB-B257B8E9E38A}"/>
              </a:ext>
            </a:extLst>
          </p:cNvPr>
          <p:cNvSpPr>
            <a:spLocks xmlns:a="http://schemas.openxmlformats.org/drawingml/2006/main" noGrp="1"/>
          </p:cNvSpPr>
          <p:nvPr/>
        </p:nvSpPr>
        <p:spPr>
          <a:xfrm xmlns:a="http://schemas.openxmlformats.org/drawingml/2006/main">
            <a:off x="2381250" y="4556125"/>
            <a:ext cx="1692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75" b="0">
                <a:solidFill>
                  <a:srgbClr val="151515"/>
                </a:solidFill>
                <a:latin typeface="Times New Roman"/>
                <a:ea typeface="Times New Roman"/>
                <a:cs typeface="Times New Roman"/>
              </a:defRPr>
            </a:pPr>
            <a:r>
              <a:rPr sz="3375" b="0">
                <a:solidFill>
                  <a:srgbClr val="151515"/>
                </a:solidFill>
                <a:latin typeface="Times New Roman"/>
                <a:ea typeface="Times New Roman"/>
                <a:cs typeface="Times New Roman"/>
              </a:rPr>
              <a:t>Thông qua đó đánh giá ảnh hưởng của phương pháp chia dữ liệu</a:t>
            </a:r>
          </a:p>
          <a:p xmlns:a="http://schemas.openxmlformats.org/drawingml/2006/main">
            <a:pPr algn="ctr">
              <a:defRPr sz="3375" b="0">
                <a:solidFill>
                  <a:srgbClr val="151515"/>
                </a:solidFill>
                <a:latin typeface="Times New Roman"/>
                <a:ea typeface="Times New Roman"/>
                <a:cs typeface="Times New Roman"/>
              </a:defRPr>
            </a:pPr>
            <a:r>
              <a:rPr sz="3375" b="0">
                <a:solidFill>
                  <a:srgbClr val="151515"/>
                </a:solidFill>
                <a:latin typeface="Times New Roman"/>
                <a:ea typeface="Times New Roman"/>
                <a:cs typeface="Times New Roman"/>
              </a:rPr>
              <a:t>đến độ tin cậy của kết quả kiểm định</a:t>
            </a:r>
          </a:p>
        </p:txBody>
      </p:sp>
      <p:sp>
        <p:nvSpPr>
          <p:cNvPr id="4" name="GVHD: TS. Nguyễn Đình Hiển                 Nhóm 11">
            <a:extLst xmlns:a="http://schemas.openxmlformats.org/drawingml/2006/main">
              <a:ext uri="{FF2B5EF4-FFF2-40B4-BE49-F238E27FC236}">
                <a16:creationId xmlns:a16="http://schemas.microsoft.com/office/drawing/2014/main" id="{FEA19064-9C36-4A1C-B165-F8A4F91D7537}"/>
              </a:ext>
            </a:extLst>
          </p:cNvPr>
          <p:cNvSpPr>
            <a:spLocks xmlns:a="http://schemas.openxmlformats.org/drawingml/2006/main" noGrp="1"/>
          </p:cNvSpPr>
          <p:nvPr/>
        </p:nvSpPr>
        <p:spPr>
          <a:xfrm xmlns:a="http://schemas.openxmlformats.org/drawingml/2006/main">
            <a:off x="3730625" y="5794375"/>
            <a:ext cx="1422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GVHD: TS. Nguyễn Đình Hiển                 Nhóm 11</a:t>
            </a:r>
          </a:p>
        </p:txBody>
      </p:sp>
      <p:graphicFrame>
        <p:nvGraphicFramePr>
          <p:cNvPr id="11" name=""/>
          <p:cNvGraphicFramePr/>
          <p:nvPr/>
        </p:nvGraphicFramePr>
        <p:xfrm>
          <a:off xmlns:a="http://schemas.openxmlformats.org/drawingml/2006/main" x="5794375" y="6604000"/>
          <a:ext xmlns:a="http://schemas.openxmlformats.org/drawingml/2006/main" cx="10080625" cy="4429125"/>
        </p:xfrm>
        <a:graphic xmlns:a="http://schemas.openxmlformats.org/drawingml/2006/main">
          <a:graphicData uri="http://schemas.openxmlformats.org/drawingml/2006/table">
            <a:tbl>
              <a:tblPr/>
              <a:tblGrid>
                <a:gridCol w="3016250"/>
                <a:gridCol w="7064375"/>
              </a:tblGrid>
              <a:tr h="553641">
                <a:tc>
                  <a:txBody>
                    <a:bodyPr>
                      <a:noAutofit/>
                    </a:bodyPr>
                    <a:lstStyle/>
                    <a:p>
                      <a:r>
                        <a:rPr sz="2625" b="1">
                          <a:solidFill>
                            <a:srgbClr val="FFFFFF"/>
                          </a:solidFill>
                          <a:latin typeface="Times New Roman"/>
                          <a:ea typeface="Times New Roman"/>
                          <a:cs typeface="Times New Roman"/>
                        </a:rPr>
                        <a:t>MSSV</a:t>
                      </a:r>
                    </a:p>
                  </a:txBody>
                  <a:tcPr marL="158750" marR="158750" marT="47625" marB="47625" anchor="ctr">
                    <a:solidFill>
                      <a:srgbClr val="1565C0"/>
                    </a:solidFill>
                  </a:tcPr>
                </a:tc>
                <a:tc>
                  <a:txBody>
                    <a:bodyPr>
                      <a:noAutofit/>
                    </a:bodyPr>
                    <a:lstStyle/>
                    <a:p>
                      <a:r>
                        <a:rPr sz="2625" b="1">
                          <a:solidFill>
                            <a:srgbClr val="FFFFFF"/>
                          </a:solidFill>
                          <a:latin typeface="Times New Roman"/>
                          <a:ea typeface="Times New Roman"/>
                          <a:cs typeface="Times New Roman"/>
                        </a:rPr>
                        <a:t>HỌ VÀ TÊN</a:t>
                      </a:r>
                    </a:p>
                  </a:txBody>
                  <a:tcPr marL="158750" marR="158750" marT="47625" marB="47625" anchor="ctr">
                    <a:solidFill>
                      <a:srgbClr val="1565C0"/>
                    </a:solidFill>
                  </a:tcPr>
                </a:tc>
              </a:tr>
              <a:tr h="553641">
                <a:tc>
                  <a:txBody>
                    <a:bodyPr>
                      <a:noAutofit/>
                    </a:bodyPr>
                    <a:lstStyle/>
                    <a:p>
                      <a:r>
                        <a:rPr sz="2625" b="0">
                          <a:solidFill>
                            <a:srgbClr val="151515"/>
                          </a:solidFill>
                          <a:latin typeface="Times New Roman"/>
                          <a:ea typeface="Times New Roman"/>
                          <a:cs typeface="Times New Roman"/>
                        </a:rPr>
                        <a:t>26410127</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Dương Quốc Thương</a:t>
                      </a:r>
                    </a:p>
                  </a:txBody>
                  <a:tcPr marL="158750" marR="158750" marT="47625" marB="47625" anchor="ctr">
                    <a:solidFill>
                      <a:srgbClr val="FFFFFF"/>
                    </a:solidFill>
                  </a:tcPr>
                </a:tc>
              </a:tr>
              <a:tr h="553641">
                <a:tc>
                  <a:txBody>
                    <a:bodyPr>
                      <a:noAutofit/>
                    </a:bodyPr>
                    <a:lstStyle/>
                    <a:p>
                      <a:r>
                        <a:rPr sz="2625" b="0">
                          <a:solidFill>
                            <a:srgbClr val="151515"/>
                          </a:solidFill>
                          <a:latin typeface="Times New Roman"/>
                          <a:ea typeface="Times New Roman"/>
                          <a:cs typeface="Times New Roman"/>
                        </a:rPr>
                        <a:t>26410115</a:t>
                      </a:r>
                    </a:p>
                  </a:txBody>
                  <a:tcPr marL="158750" marR="158750" marT="47625" marB="47625" anchor="ctr">
                    <a:solidFill>
                      <a:srgbClr val="E3F2FD"/>
                    </a:solidFill>
                  </a:tcPr>
                </a:tc>
                <a:tc>
                  <a:txBody>
                    <a:bodyPr>
                      <a:noAutofit/>
                    </a:bodyPr>
                    <a:lstStyle/>
                    <a:p>
                      <a:r>
                        <a:rPr sz="2625" b="0">
                          <a:solidFill>
                            <a:srgbClr val="151515"/>
                          </a:solidFill>
                          <a:latin typeface="Times New Roman"/>
                          <a:ea typeface="Times New Roman"/>
                          <a:cs typeface="Times New Roman"/>
                        </a:rPr>
                        <a:t>Nông Nguyễn Thành</a:t>
                      </a:r>
                    </a:p>
                  </a:txBody>
                  <a:tcPr marL="158750" marR="158750" marT="47625" marB="47625" anchor="ctr">
                    <a:solidFill>
                      <a:srgbClr val="E3F2FD"/>
                    </a:solidFill>
                  </a:tcPr>
                </a:tc>
              </a:tr>
              <a:tr h="553641">
                <a:tc>
                  <a:txBody>
                    <a:bodyPr>
                      <a:noAutofit/>
                    </a:bodyPr>
                    <a:lstStyle/>
                    <a:p>
                      <a:r>
                        <a:rPr sz="2625" b="0">
                          <a:solidFill>
                            <a:srgbClr val="151515"/>
                          </a:solidFill>
                          <a:latin typeface="Times New Roman"/>
                          <a:ea typeface="Times New Roman"/>
                          <a:cs typeface="Times New Roman"/>
                        </a:rPr>
                        <a:t>26410146</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Hoàng Võ Minh Tuấn</a:t>
                      </a:r>
                    </a:p>
                  </a:txBody>
                  <a:tcPr marL="158750" marR="158750" marT="47625" marB="47625" anchor="ctr">
                    <a:solidFill>
                      <a:srgbClr val="FFFFFF"/>
                    </a:solidFill>
                  </a:tcPr>
                </a:tc>
              </a:tr>
              <a:tr h="553641">
                <a:tc>
                  <a:txBody>
                    <a:bodyPr>
                      <a:noAutofit/>
                    </a:bodyPr>
                    <a:lstStyle/>
                    <a:p>
                      <a:r>
                        <a:rPr sz="2625" b="0">
                          <a:solidFill>
                            <a:srgbClr val="151515"/>
                          </a:solidFill>
                          <a:latin typeface="Times New Roman"/>
                          <a:ea typeface="Times New Roman"/>
                          <a:cs typeface="Times New Roman"/>
                        </a:rPr>
                        <a:t>26410108</a:t>
                      </a:r>
                    </a:p>
                  </a:txBody>
                  <a:tcPr marL="158750" marR="158750" marT="47625" marB="47625" anchor="ctr">
                    <a:solidFill>
                      <a:srgbClr val="E3F2FD"/>
                    </a:solidFill>
                  </a:tcPr>
                </a:tc>
                <a:tc>
                  <a:txBody>
                    <a:bodyPr>
                      <a:noAutofit/>
                    </a:bodyPr>
                    <a:lstStyle/>
                    <a:p>
                      <a:r>
                        <a:rPr sz="2625" b="0">
                          <a:solidFill>
                            <a:srgbClr val="151515"/>
                          </a:solidFill>
                          <a:latin typeface="Times New Roman"/>
                          <a:ea typeface="Times New Roman"/>
                          <a:cs typeface="Times New Roman"/>
                        </a:rPr>
                        <a:t>Bùi Quốc Thịnh</a:t>
                      </a:r>
                    </a:p>
                  </a:txBody>
                  <a:tcPr marL="158750" marR="158750" marT="47625" marB="47625" anchor="ctr">
                    <a:solidFill>
                      <a:srgbClr val="E3F2FD"/>
                    </a:solidFill>
                  </a:tcPr>
                </a:tc>
              </a:tr>
              <a:tr h="553641">
                <a:tc>
                  <a:txBody>
                    <a:bodyPr>
                      <a:noAutofit/>
                    </a:bodyPr>
                    <a:lstStyle/>
                    <a:p>
                      <a:r>
                        <a:rPr sz="2625" b="0">
                          <a:solidFill>
                            <a:srgbClr val="151515"/>
                          </a:solidFill>
                          <a:latin typeface="Times New Roman"/>
                          <a:ea typeface="Times New Roman"/>
                          <a:cs typeface="Times New Roman"/>
                        </a:rPr>
                        <a:t>26410024</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Trần Tiến Dũng</a:t>
                      </a:r>
                    </a:p>
                  </a:txBody>
                  <a:tcPr marL="158750" marR="158750" marT="47625" marB="47625" anchor="ctr">
                    <a:solidFill>
                      <a:srgbClr val="FFFFFF"/>
                    </a:solidFill>
                  </a:tcPr>
                </a:tc>
              </a:tr>
              <a:tr h="553641">
                <a:tc>
                  <a:txBody>
                    <a:bodyPr>
                      <a:noAutofit/>
                    </a:bodyPr>
                    <a:lstStyle/>
                    <a:p>
                      <a:r>
                        <a:rPr sz="2625" b="0">
                          <a:solidFill>
                            <a:srgbClr val="151515"/>
                          </a:solidFill>
                          <a:latin typeface="Times New Roman"/>
                          <a:ea typeface="Times New Roman"/>
                          <a:cs typeface="Times New Roman"/>
                        </a:rPr>
                        <a:t>25730049</a:t>
                      </a:r>
                    </a:p>
                  </a:txBody>
                  <a:tcPr marL="158750" marR="158750" marT="47625" marB="47625" anchor="ctr">
                    <a:solidFill>
                      <a:srgbClr val="E3F2FD"/>
                    </a:solidFill>
                  </a:tcPr>
                </a:tc>
                <a:tc>
                  <a:txBody>
                    <a:bodyPr>
                      <a:noAutofit/>
                    </a:bodyPr>
                    <a:lstStyle/>
                    <a:p>
                      <a:r>
                        <a:rPr sz="2625" b="0">
                          <a:solidFill>
                            <a:srgbClr val="151515"/>
                          </a:solidFill>
                          <a:latin typeface="Times New Roman"/>
                          <a:ea typeface="Times New Roman"/>
                          <a:cs typeface="Times New Roman"/>
                        </a:rPr>
                        <a:t>Phạm Lê Yến Nhi</a:t>
                      </a:r>
                    </a:p>
                  </a:txBody>
                  <a:tcPr marL="158750" marR="158750" marT="47625" marB="47625" anchor="ctr">
                    <a:solidFill>
                      <a:srgbClr val="E3F2FD"/>
                    </a:solidFill>
                  </a:tcPr>
                </a:tc>
              </a:tr>
              <a:tr h="553641">
                <a:tc>
                  <a:txBody>
                    <a:bodyPr>
                      <a:noAutofit/>
                    </a:bodyPr>
                    <a:lstStyle/>
                    <a:p>
                      <a:r>
                        <a:rPr sz="2625" b="0">
                          <a:solidFill>
                            <a:srgbClr val="151515"/>
                          </a:solidFill>
                          <a:latin typeface="Times New Roman"/>
                          <a:ea typeface="Times New Roman"/>
                          <a:cs typeface="Times New Roman"/>
                        </a:rPr>
                        <a:t>26410019</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Trương Võ Thành Đạt</a:t>
                      </a:r>
                    </a:p>
                  </a:txBody>
                  <a:tcPr marL="158750" marR="158750" marT="47625" marB="47625" anchor="ctr">
                    <a:solidFill>
                      <a:srgbClr val="FFFFFF"/>
                    </a:solidFill>
                  </a:tcPr>
                </a:tc>
              </a:tr>
            </a:tbl>
          </a:graphicData>
        </a:graphic>
      </p:graphicFrame>
      <p:sp>
        <p:nvSpPr>
          <p:cNvPr id="6" name="BTCUSD M15 · CatBoost Meta-Labeling">
            <a:extLst xmlns:a="http://schemas.openxmlformats.org/drawingml/2006/main">
              <a:ext uri="{FF2B5EF4-FFF2-40B4-BE49-F238E27FC236}">
                <a16:creationId xmlns:a16="http://schemas.microsoft.com/office/drawing/2014/main" id="{19D87695-388D-437E-8AE0-C6608435D347}"/>
              </a:ext>
            </a:extLst>
          </p:cNvPr>
          <p:cNvSpPr>
            <a:spLocks xmlns:a="http://schemas.openxmlformats.org/drawingml/2006/main" noGrp="1"/>
          </p:cNvSpPr>
          <p:nvPr/>
        </p:nvSpPr>
        <p:spPr>
          <a:xfrm xmlns:a="http://schemas.openxmlformats.org/drawingml/2006/main">
            <a:off x="4318000" y="11588750"/>
            <a:ext cx="1206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51515"/>
                </a:solidFill>
                <a:latin typeface="Times New Roman"/>
                <a:ea typeface="Times New Roman"/>
                <a:cs typeface="Times New Roman"/>
              </a:defRPr>
            </a:pPr>
            <a:r>
              <a:rPr sz="1950" b="0">
                <a:solidFill>
                  <a:srgbClr val="151515"/>
                </a:solidFill>
                <a:latin typeface="Times New Roman"/>
                <a:ea typeface="Times New Roman"/>
                <a:cs typeface="Times New Roman"/>
              </a:rPr>
              <a:t>BTCUSD M15 · CatBoost Meta-Labeling</a:t>
            </a:r>
          </a:p>
        </p:txBody>
      </p:sp>
    </p:spTree>
    <p:extLst>
      <p:ext uri="{BB962C8B-B14F-4D97-AF65-F5344CB8AC3E}">
        <p14:creationId xmlns:p14="http://schemas.microsoft.com/office/powerpoint/2010/main" val="42723097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7555CB3-3E49-4EE0-8B0A-575E2FD52BEE}"/>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9F645BE8-41E6-479D-BA44-5832D7E67A74}"/>
              </a:ext>
            </a:extLst>
          </p:cNvPr>
          <p:cNvSpPr>
            <a:spLocks xmlns:a="http://schemas.openxmlformats.org/drawingml/2006/main" noGrp="1"/>
          </p:cNvSpPr>
          <p:nvPr/>
        </p:nvSpPr>
        <p:spPr>
          <a:xfrm xmlns:a="http://schemas.openxmlformats.org/drawingml/2006/main">
            <a:off x="169259"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2E3618FA-6D56-41B9-A8E0-7856F1724C26}"/>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4AD7AC22-316E-48CA-AA55-367E08BE2B3E}"/>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14BA2610-1115-4CA6-BD1B-FF51A4B263BD}"/>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923286B5-DEBE-444F-B17B-4C548851D401}"/>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F94C6CC1-9F2D-4486-92BD-054AEC702F00}"/>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47E876E-2426-4632-9533-FCC92C295F17}"/>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13E04589-C647-43DE-8FF2-A88D0F6A49AD}"/>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FF0D4B7A-58B4-49B2-B494-0B1091E62AC5}"/>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5FF6001E-A006-4E1C-81C8-FA91EDE6E4D1}"/>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DAA9B598-B39D-4C0E-BAD1-1B0EF639D0AF}"/>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84EF626A-F04D-4DBE-8315-0481A62E4A27}"/>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EABFF60E-09E0-4F5A-A0C1-C7A6C0FBB7FA}"/>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B76ECA16-B719-4728-A333-5119E70FC585}"/>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Bài toán và mục tiêu của đồ án">
            <a:extLst xmlns:a="http://schemas.openxmlformats.org/drawingml/2006/main">
              <a:ext uri="{FF2B5EF4-FFF2-40B4-BE49-F238E27FC236}">
                <a16:creationId xmlns:a16="http://schemas.microsoft.com/office/drawing/2014/main" id="{C978A874-228C-4274-BE23-97C4DA3CA112}"/>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Bài toán và mục tiêu của đồ án</a:t>
            </a:r>
          </a:p>
        </p:txBody>
      </p:sp>
      <p:sp>
        <p:nvSpPr>
          <p:cNvPr id="20" name="2/18">
            <a:extLst xmlns:a="http://schemas.openxmlformats.org/drawingml/2006/main">
              <a:ext uri="{FF2B5EF4-FFF2-40B4-BE49-F238E27FC236}">
                <a16:creationId xmlns:a16="http://schemas.microsoft.com/office/drawing/2014/main" id="{7D5B15BE-0346-4369-AAEF-E1E77F5956A9}"/>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2/18</a:t>
            </a:r>
          </a:p>
        </p:txBody>
      </p:sp>
      <p:sp>
        <p:nvSpPr>
          <p:cNvPr id="21" name="Vấn đề kiểm định">
            <a:extLst xmlns:a="http://schemas.openxmlformats.org/drawingml/2006/main">
              <a:ext uri="{FF2B5EF4-FFF2-40B4-BE49-F238E27FC236}">
                <a16:creationId xmlns:a16="http://schemas.microsoft.com/office/drawing/2014/main" id="{D4D70EA0-3F3D-4BF7-8B68-0F506B7C6F63}"/>
              </a:ext>
            </a:extLst>
          </p:cNvPr>
          <p:cNvSpPr>
            <a:spLocks xmlns:a="http://schemas.openxmlformats.org/drawingml/2006/main" noGrp="1"/>
          </p:cNvSpPr>
          <p:nvPr/>
        </p:nvSpPr>
        <p:spPr>
          <a:xfrm xmlns:a="http://schemas.openxmlformats.org/drawingml/2006/main">
            <a:off x="101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1565C0"/>
                </a:solidFill>
                <a:latin typeface="Times New Roman"/>
                <a:ea typeface="Times New Roman"/>
                <a:cs typeface="Times New Roman"/>
              </a:defRPr>
            </a:pPr>
            <a:r>
              <a:rPr sz="3625" b="1">
                <a:solidFill>
                  <a:srgbClr val="1565C0"/>
                </a:solidFill>
                <a:latin typeface="Times New Roman"/>
                <a:ea typeface="Times New Roman"/>
                <a:cs typeface="Times New Roman"/>
              </a:rPr>
              <a:t>Vấn đề kiểm định</a:t>
            </a:r>
          </a:p>
        </p:txBody>
      </p:sp>
      <p:sp>
        <p:nvSpPr>
          <p:cNvPr id="22" name="Các lệnh gần nhau có thể cùng sử dụng một đoạn dữ liệu tương">
            <a:extLst xmlns:a="http://schemas.openxmlformats.org/drawingml/2006/main">
              <a:ext uri="{FF2B5EF4-FFF2-40B4-BE49-F238E27FC236}">
                <a16:creationId xmlns:a16="http://schemas.microsoft.com/office/drawing/2014/main" id="{C8F93CCE-5568-4678-AE0E-941CC5672BA8}"/>
              </a:ext>
            </a:extLst>
          </p:cNvPr>
          <p:cNvSpPr>
            <a:spLocks xmlns:a="http://schemas.openxmlformats.org/drawingml/2006/main" noGrp="1"/>
          </p:cNvSpPr>
          <p:nvPr/>
        </p:nvSpPr>
        <p:spPr>
          <a:xfrm xmlns:a="http://schemas.openxmlformats.org/drawingml/2006/main">
            <a:off x="1270000" y="3032125"/>
            <a:ext cx="9048750"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Các lệnh gần nhau có thể cùng sử dụng một đoạn dữ liệu tương lai để xác định nhãn.</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Chia ngẫu nhiên có thể đưa các mẫu liên quan vào cả train và test.</a:t>
            </a:r>
          </a:p>
        </p:txBody>
      </p:sp>
      <p:sp>
        <p:nvSpPr>
          <p:cNvPr id="23" name="Mục tiêu nghiên cứu">
            <a:extLst xmlns:a="http://schemas.openxmlformats.org/drawingml/2006/main">
              <a:ext uri="{FF2B5EF4-FFF2-40B4-BE49-F238E27FC236}">
                <a16:creationId xmlns:a16="http://schemas.microsoft.com/office/drawing/2014/main" id="{C87AC610-F9DC-4FE0-9321-4566F01AD886}"/>
              </a:ext>
            </a:extLst>
          </p:cNvPr>
          <p:cNvSpPr>
            <a:spLocks xmlns:a="http://schemas.openxmlformats.org/drawingml/2006/main" noGrp="1"/>
          </p:cNvSpPr>
          <p:nvPr/>
        </p:nvSpPr>
        <p:spPr>
          <a:xfrm xmlns:a="http://schemas.openxmlformats.org/drawingml/2006/main">
            <a:off x="1117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2E7D32"/>
                </a:solidFill>
                <a:latin typeface="Times New Roman"/>
                <a:ea typeface="Times New Roman"/>
                <a:cs typeface="Times New Roman"/>
              </a:defRPr>
            </a:pPr>
            <a:r>
              <a:rPr sz="3625" b="1">
                <a:solidFill>
                  <a:srgbClr val="2E7D32"/>
                </a:solidFill>
                <a:latin typeface="Times New Roman"/>
                <a:ea typeface="Times New Roman"/>
                <a:cs typeface="Times New Roman"/>
              </a:rPr>
              <a:t>Mục tiêu nghiên cứu</a:t>
            </a:r>
          </a:p>
        </p:txBody>
      </p:sp>
      <p:sp>
        <p:nvSpPr>
          <p:cNvPr id="24" name="Xây dựng tầng CatBoost chấm điểm tín hiệu của chiến lược Pyr">
            <a:extLst xmlns:a="http://schemas.openxmlformats.org/drawingml/2006/main">
              <a:ext uri="{FF2B5EF4-FFF2-40B4-BE49-F238E27FC236}">
                <a16:creationId xmlns:a16="http://schemas.microsoft.com/office/drawing/2014/main" id="{AB951B15-15A6-4E74-B63D-8CE42718738B}"/>
              </a:ext>
            </a:extLst>
          </p:cNvPr>
          <p:cNvSpPr>
            <a:spLocks xmlns:a="http://schemas.openxmlformats.org/drawingml/2006/main" noGrp="1"/>
          </p:cNvSpPr>
          <p:nvPr/>
        </p:nvSpPr>
        <p:spPr>
          <a:xfrm xmlns:a="http://schemas.openxmlformats.org/drawingml/2006/main">
            <a:off x="11430000" y="3032125"/>
            <a:ext cx="8969375"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Xây dựng tầng CatBoost chấm điểm tín hiệu của chiến lược Pyramid.</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Đo ảnh hưởng của bốn cách chia và đối chiếu với giai đoạn holdout.</a:t>
            </a:r>
          </a:p>
        </p:txBody>
      </p:sp>
      <p:sp>
        <p:nvSpPr>
          <p:cNvPr id="25" name="">
            <a:extLst xmlns:a="http://schemas.openxmlformats.org/drawingml/2006/main">
              <a:ext uri="{FF2B5EF4-FFF2-40B4-BE49-F238E27FC236}">
                <a16:creationId xmlns:a16="http://schemas.microsoft.com/office/drawing/2014/main" id="{2D45FB00-E4DB-493C-B063-2D9C08748502}"/>
              </a:ext>
            </a:extLst>
          </p:cNvPr>
          <p:cNvSpPr>
            <a:spLocks xmlns:a="http://schemas.openxmlformats.org/drawingml/2006/main" noGrp="1"/>
          </p:cNvSpPr>
          <p:nvPr/>
        </p:nvSpPr>
        <p:spPr>
          <a:xfrm xmlns:a="http://schemas.openxmlformats.org/drawingml/2006/main">
            <a:off x="1016000" y="8890000"/>
            <a:ext cx="19653250" cy="1666875"/>
          </a:xfrm>
          <a:prstGeom xmlns:a="http://schemas.openxmlformats.org/drawingml/2006/main" prst="roundRect">
            <a:avLst>
              <a:gd name="adj" fmla="val 15238"/>
            </a:avLst>
          </a:prstGeom>
          <a:solidFill xmlns:a="http://schemas.openxmlformats.org/drawingml/2006/main">
            <a:srgbClr val="E3F2FD"/>
          </a:solidFill>
          <a:ln xmlns:a="http://schemas.openxmlformats.org/drawingml/2006/main" w="15875">
            <a:solidFill>
              <a:srgbClr val="E3F2FD"/>
            </a:solidFill>
          </a:ln>
        </p:spPr>
      </p:sp>
      <p:sp>
        <p:nvSpPr>
          <p:cNvPr id="26" name="Câu hỏi trung tâm: kết quả kiểm định cao đến từ khả năng dự ">
            <a:extLst xmlns:a="http://schemas.openxmlformats.org/drawingml/2006/main">
              <a:ext uri="{FF2B5EF4-FFF2-40B4-BE49-F238E27FC236}">
                <a16:creationId xmlns:a16="http://schemas.microsoft.com/office/drawing/2014/main" id="{551D90FA-236A-48FE-9A3C-FD3C0DF7007D}"/>
              </a:ext>
            </a:extLst>
          </p:cNvPr>
          <p:cNvSpPr>
            <a:spLocks xmlns:a="http://schemas.openxmlformats.org/drawingml/2006/main" noGrp="1"/>
          </p:cNvSpPr>
          <p:nvPr/>
        </p:nvSpPr>
        <p:spPr>
          <a:xfrm xmlns:a="http://schemas.openxmlformats.org/drawingml/2006/main">
            <a:off x="1301750" y="9159875"/>
            <a:ext cx="19050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65C0"/>
                </a:solidFill>
                <a:latin typeface="Times New Roman"/>
                <a:ea typeface="Times New Roman"/>
                <a:cs typeface="Times New Roman"/>
              </a:defRPr>
            </a:pPr>
            <a:r>
              <a:rPr sz="2875" b="0">
                <a:solidFill>
                  <a:srgbClr val="1565C0"/>
                </a:solidFill>
                <a:latin typeface="Times New Roman"/>
                <a:ea typeface="Times New Roman"/>
                <a:cs typeface="Times New Roman"/>
              </a:rPr>
              <a:t>Câu hỏi trung tâm: kết quả kiểm định cao đến từ khả năng dự báo hay từ cách chia dữ liệu?</a:t>
            </a:r>
          </a:p>
        </p:txBody>
      </p:sp>
    </p:spTree>
    <p:extLst>
      <p:ext uri="{BB962C8B-B14F-4D97-AF65-F5344CB8AC3E}">
        <p14:creationId xmlns:p14="http://schemas.microsoft.com/office/powerpoint/2010/main" val="612365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3AEFEDE-7C8E-4D58-9561-28F2DF4D6DB5}"/>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CA5BA417-3521-41A5-B1D4-1E0BB1AD3D9F}"/>
              </a:ext>
            </a:extLst>
          </p:cNvPr>
          <p:cNvSpPr>
            <a:spLocks xmlns:a="http://schemas.openxmlformats.org/drawingml/2006/main" noGrp="1"/>
          </p:cNvSpPr>
          <p:nvPr/>
        </p:nvSpPr>
        <p:spPr>
          <a:xfrm xmlns:a="http://schemas.openxmlformats.org/drawingml/2006/main">
            <a:off x="169259"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5DD6B52D-B692-4BE1-9E3E-DCC7AA5AA887}"/>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B4EB24AA-4571-484D-B684-1406B48BAEBC}"/>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C5361BC9-E9B0-44E1-A142-18BBBB1CE27B}"/>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D14D32DD-5FAF-40D4-B00B-2836130FDCF5}"/>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06681170-3BA5-45DF-AD2A-B342F5153E56}"/>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93821B4F-7F73-470A-8872-CE0784AC7868}"/>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3F1937EB-57F3-46D8-BA70-C774FC3C83BD}"/>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25FFE190-DD7D-4AE1-8FA3-E78120768606}"/>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5FAA9D72-EB59-4381-ADB4-E7F9A06E0FD2}"/>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79CE7C0D-161C-4593-B611-AFB511094E4D}"/>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295E6900-EA49-4677-9327-D039349608CE}"/>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AB31B90A-08BA-4DBB-BF61-0F5734673F20}"/>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F7F0D490-F387-4F45-82C6-210E9FDA1E91}"/>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Dữ liệu BTCUSD và mốc holdout">
            <a:extLst xmlns:a="http://schemas.openxmlformats.org/drawingml/2006/main">
              <a:ext uri="{FF2B5EF4-FFF2-40B4-BE49-F238E27FC236}">
                <a16:creationId xmlns:a16="http://schemas.microsoft.com/office/drawing/2014/main" id="{312F0A27-2B18-4C70-9609-9DA2B92CF4FB}"/>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Dữ liệu BTCUSD và mốc holdout</a:t>
            </a:r>
          </a:p>
        </p:txBody>
      </p:sp>
      <p:sp>
        <p:nvSpPr>
          <p:cNvPr id="20" name="3/18">
            <a:extLst xmlns:a="http://schemas.openxmlformats.org/drawingml/2006/main">
              <a:ext uri="{FF2B5EF4-FFF2-40B4-BE49-F238E27FC236}">
                <a16:creationId xmlns:a16="http://schemas.microsoft.com/office/drawing/2014/main" id="{EFAE8C5D-1D6F-498A-9BC9-3099C235E689}"/>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3/18</a:t>
            </a:r>
          </a:p>
        </p:txBody>
      </p:sp>
      <p:sp>
        <p:nvSpPr>
          <p:cNvPr id="21" name="Dữ liệu M1 từ 2018 đến 08/2026, tổng hợp thành nến M15">
            <a:extLst xmlns:a="http://schemas.openxmlformats.org/drawingml/2006/main">
              <a:ext uri="{FF2B5EF4-FFF2-40B4-BE49-F238E27FC236}">
                <a16:creationId xmlns:a16="http://schemas.microsoft.com/office/drawing/2014/main" id="{49154661-806C-4B9C-83CF-1BC8FCC9BA20}"/>
              </a:ext>
            </a:extLst>
          </p:cNvPr>
          <p:cNvSpPr>
            <a:spLocks xmlns:a="http://schemas.openxmlformats.org/drawingml/2006/main" noGrp="1"/>
          </p:cNvSpPr>
          <p:nvPr/>
        </p:nvSpPr>
        <p:spPr>
          <a:xfrm xmlns:a="http://schemas.openxmlformats.org/drawingml/2006/main">
            <a:off x="1031875" y="2032000"/>
            <a:ext cx="19605625"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565C0"/>
                </a:solidFill>
                <a:latin typeface="Times New Roman"/>
                <a:ea typeface="Times New Roman"/>
                <a:cs typeface="Times New Roman"/>
              </a:defRPr>
            </a:pPr>
            <a:r>
              <a:rPr sz="3375" b="1">
                <a:solidFill>
                  <a:srgbClr val="1565C0"/>
                </a:solidFill>
                <a:latin typeface="Times New Roman"/>
                <a:ea typeface="Times New Roman"/>
                <a:cs typeface="Times New Roman"/>
              </a:rPr>
              <a:t>Dữ liệu M1 từ 2018 đến 08/2026, tổng hợp thành nến M15</a:t>
            </a:r>
          </a:p>
        </p:txBody>
      </p:sp>
      <p:graphicFrame>
        <p:nvGraphicFramePr>
          <p:cNvPr id="44" name=""/>
          <p:cNvGraphicFramePr/>
          <p:nvPr/>
        </p:nvGraphicFramePr>
        <p:xfrm>
          <a:off xmlns:a="http://schemas.openxmlformats.org/drawingml/2006/main" x="1016000" y="3111500"/>
          <a:ext xmlns:a="http://schemas.openxmlformats.org/drawingml/2006/main" cx="19653250" cy="4286250"/>
        </p:xfrm>
        <a:graphic xmlns:a="http://schemas.openxmlformats.org/drawingml/2006/main">
          <a:graphicData uri="http://schemas.openxmlformats.org/drawingml/2006/table">
            <a:tbl>
              <a:tblPr/>
              <a:tblGrid>
                <a:gridCol w="3968750"/>
                <a:gridCol w="2301875"/>
                <a:gridCol w="13382625"/>
              </a:tblGrid>
              <a:tr h="1071563">
                <a:tc>
                  <a:txBody>
                    <a:bodyPr>
                      <a:noAutofit/>
                    </a:bodyPr>
                    <a:lstStyle/>
                    <a:p>
                      <a:r>
                        <a:rPr sz="3000" b="1">
                          <a:solidFill>
                            <a:srgbClr val="FFFFFF"/>
                          </a:solidFill>
                          <a:latin typeface="Times New Roman"/>
                          <a:ea typeface="Times New Roman"/>
                          <a:cs typeface="Times New Roman"/>
                        </a:rPr>
                        <a:t>Phần dữ liệu</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Số mẫu</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Phạm vi / vai trò</a:t>
                      </a:r>
                    </a:p>
                  </a:txBody>
                  <a:tcPr marL="158750" marR="158750" marT="127000" marB="127000" anchor="ctr">
                    <a:solidFill>
                      <a:srgbClr val="1565C0"/>
                    </a:solidFill>
                  </a:tcPr>
                </a:tc>
              </a:tr>
              <a:tr h="1071563">
                <a:tc>
                  <a:txBody>
                    <a:bodyPr>
                      <a:noAutofit/>
                    </a:bodyPr>
                    <a:lstStyle/>
                    <a:p>
                      <a:r>
                        <a:rPr sz="3000" b="0">
                          <a:solidFill>
                            <a:srgbClr val="151515"/>
                          </a:solidFill>
                          <a:latin typeface="Times New Roman"/>
                          <a:ea typeface="Times New Roman"/>
                          <a:cs typeface="Times New Roman"/>
                        </a:rPr>
                        <a:t>Phát triển</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25.008</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So sánh bốn cách chia, trước mốc holdout</a:t>
                      </a:r>
                    </a:p>
                  </a:txBody>
                  <a:tcPr marL="158750" marR="158750" marT="127000" marB="127000" anchor="ctr">
                    <a:solidFill>
                      <a:srgbClr val="FFFFFF"/>
                    </a:solidFill>
                  </a:tcPr>
                </a:tc>
              </a:tr>
              <a:tr h="1071563">
                <a:tc>
                  <a:txBody>
                    <a:bodyPr>
                      <a:noAutofit/>
                    </a:bodyPr>
                    <a:lstStyle/>
                    <a:p>
                      <a:r>
                        <a:rPr sz="3000" b="0">
                          <a:solidFill>
                            <a:srgbClr val="151515"/>
                          </a:solidFill>
                          <a:latin typeface="Times New Roman"/>
                          <a:ea typeface="Times New Roman"/>
                          <a:cs typeface="Times New Roman"/>
                        </a:rPr>
                        <a:t>Bốn lệnh biên</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4</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Ngoài tập phát triển đóng băng và ngoài holdout</a:t>
                      </a:r>
                    </a:p>
                  </a:txBody>
                  <a:tcPr marL="158750" marR="158750" marT="127000" marB="127000" anchor="ctr">
                    <a:solidFill>
                      <a:srgbClr val="E3F2FD"/>
                    </a:solidFill>
                  </a:tcPr>
                </a:tc>
              </a:tr>
              <a:tr h="1071563">
                <a:tc>
                  <a:txBody>
                    <a:bodyPr>
                      <a:noAutofit/>
                    </a:bodyPr>
                    <a:lstStyle/>
                    <a:p>
                      <a:r>
                        <a:rPr sz="3000" b="0">
                          <a:solidFill>
                            <a:srgbClr val="151515"/>
                          </a:solidFill>
                          <a:latin typeface="Times New Roman"/>
                          <a:ea typeface="Times New Roman"/>
                          <a:cs typeface="Times New Roman"/>
                        </a:rPr>
                        <a:t>Holdout</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5.028</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Từ mốc 08/02/2025 15:30, đánh giá dữ liệu tương lai</a:t>
                      </a:r>
                    </a:p>
                  </a:txBody>
                  <a:tcPr marL="158750" marR="158750" marT="127000" marB="127000" anchor="ctr">
                    <a:solidFill>
                      <a:srgbClr val="FFFFFF"/>
                    </a:solidFill>
                  </a:tcPr>
                </a:tc>
              </a:tr>
            </a:tbl>
          </a:graphicData>
        </a:graphic>
      </p:graphicFrame>
      <p:sp>
        <p:nvSpPr>
          <p:cNvPr id="23" name="Tỷ lệ nhãn 1: 26,16% ở tập phát triển và 28,04% ở holdout">
            <a:extLst xmlns:a="http://schemas.openxmlformats.org/drawingml/2006/main">
              <a:ext uri="{FF2B5EF4-FFF2-40B4-BE49-F238E27FC236}">
                <a16:creationId xmlns:a16="http://schemas.microsoft.com/office/drawing/2014/main" id="{BA2D4AB4-2A18-44CC-8F80-CA6A557097E9}"/>
              </a:ext>
            </a:extLst>
          </p:cNvPr>
          <p:cNvSpPr>
            <a:spLocks xmlns:a="http://schemas.openxmlformats.org/drawingml/2006/main" noGrp="1"/>
          </p:cNvSpPr>
          <p:nvPr/>
        </p:nvSpPr>
        <p:spPr>
          <a:xfrm xmlns:a="http://schemas.openxmlformats.org/drawingml/2006/main">
            <a:off x="1031875" y="7969250"/>
            <a:ext cx="1960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2E7D32"/>
                </a:solidFill>
                <a:latin typeface="Times New Roman"/>
                <a:ea typeface="Times New Roman"/>
                <a:cs typeface="Times New Roman"/>
              </a:defRPr>
            </a:pPr>
            <a:r>
              <a:rPr sz="3375" b="1">
                <a:solidFill>
                  <a:srgbClr val="2E7D32"/>
                </a:solidFill>
                <a:latin typeface="Times New Roman"/>
                <a:ea typeface="Times New Roman"/>
                <a:cs typeface="Times New Roman"/>
              </a:rPr>
              <a:t>Tỷ lệ nhãn 1: 26,16% ở tập phát triển và 28,04% ở holdout</a:t>
            </a:r>
          </a:p>
        </p:txBody>
      </p:sp>
      <p:sp>
        <p:nvSpPr>
          <p:cNvPr id="24" name="">
            <a:extLst xmlns:a="http://schemas.openxmlformats.org/drawingml/2006/main">
              <a:ext uri="{FF2B5EF4-FFF2-40B4-BE49-F238E27FC236}">
                <a16:creationId xmlns:a16="http://schemas.microsoft.com/office/drawing/2014/main" id="{0F37C552-0D17-4653-993C-91CA10D97F4A}"/>
              </a:ext>
            </a:extLst>
          </p:cNvPr>
          <p:cNvSpPr>
            <a:spLocks xmlns:a="http://schemas.openxmlformats.org/drawingml/2006/main" noGrp="1"/>
          </p:cNvSpPr>
          <p:nvPr/>
        </p:nvSpPr>
        <p:spPr>
          <a:xfrm xmlns:a="http://schemas.openxmlformats.org/drawingml/2006/main">
            <a:off x="1016000" y="9255125"/>
            <a:ext cx="19653250" cy="1666875"/>
          </a:xfrm>
          <a:prstGeom xmlns:a="http://schemas.openxmlformats.org/drawingml/2006/main" prst="roundRect">
            <a:avLst>
              <a:gd name="adj" fmla="val 15238"/>
            </a:avLst>
          </a:prstGeom>
          <a:solidFill xmlns:a="http://schemas.openxmlformats.org/drawingml/2006/main">
            <a:srgbClr val="FFF3E0"/>
          </a:solidFill>
          <a:ln xmlns:a="http://schemas.openxmlformats.org/drawingml/2006/main" w="15875">
            <a:solidFill>
              <a:srgbClr val="FFF3E0"/>
            </a:solidFill>
          </a:ln>
        </p:spPr>
      </p:sp>
      <p:sp>
        <p:nvSpPr>
          <p:cNvPr id="25" name="30.040 mẫu tái sinh = 25.008 mẫu phát triển + 4 mẫu biên + 5">
            <a:extLst xmlns:a="http://schemas.openxmlformats.org/drawingml/2006/main">
              <a:ext uri="{FF2B5EF4-FFF2-40B4-BE49-F238E27FC236}">
                <a16:creationId xmlns:a16="http://schemas.microsoft.com/office/drawing/2014/main" id="{CD8F8320-534F-4FEC-828B-5CA99888FAD3}"/>
              </a:ext>
            </a:extLst>
          </p:cNvPr>
          <p:cNvSpPr>
            <a:spLocks xmlns:a="http://schemas.openxmlformats.org/drawingml/2006/main" noGrp="1"/>
          </p:cNvSpPr>
          <p:nvPr/>
        </p:nvSpPr>
        <p:spPr>
          <a:xfrm xmlns:a="http://schemas.openxmlformats.org/drawingml/2006/main">
            <a:off x="1301750" y="9525000"/>
            <a:ext cx="19050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30.040 mẫu tái sinh = 25.008 mẫu phát triển + 4 mẫu biên + 5.028 mẫu holdout.</a:t>
            </a:r>
          </a:p>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Nhãn Triple-Barrier và tỷ lệ thắng giao dịch là hai đại lượng khác nhau.</a:t>
            </a:r>
          </a:p>
        </p:txBody>
      </p:sp>
    </p:spTree>
    <p:extLst>
      <p:ext uri="{BB962C8B-B14F-4D97-AF65-F5344CB8AC3E}">
        <p14:creationId xmlns:p14="http://schemas.microsoft.com/office/powerpoint/2010/main" val="8428043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48B0D12-21EE-40D7-BECE-78CF0B5B3D99}"/>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A5F45F08-875F-43B7-8F87-DC7C32BF0665}"/>
              </a:ext>
            </a:extLst>
          </p:cNvPr>
          <p:cNvSpPr>
            <a:spLocks xmlns:a="http://schemas.openxmlformats.org/drawingml/2006/main" noGrp="1"/>
          </p:cNvSpPr>
          <p:nvPr/>
        </p:nvSpPr>
        <p:spPr>
          <a:xfrm xmlns:a="http://schemas.openxmlformats.org/drawingml/2006/main">
            <a:off x="169259"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3E81B155-37DA-42CD-872B-E053C95C9275}"/>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74701C66-50CA-4114-8BC9-E23CC5363508}"/>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FF7DCEFD-20D9-4D10-AE8E-17B569826CB0}"/>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89E84EEE-0FDC-4EC6-B48F-9F2821576D81}"/>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38D99CB8-0975-47F2-BE00-B32359147D46}"/>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053D217E-0DF1-442C-9245-1CFB4B4A7652}"/>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E1A656DE-9003-4C55-8B36-AC74315398EB}"/>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DA3F55C0-FF74-4801-A68D-8CE95C962034}"/>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F0AD31E7-443A-423A-BE0C-02042CE8B362}"/>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90BF3388-344A-4889-B16F-8074EDAF0A90}"/>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6552146C-F7FD-4F69-AC2F-E0A941AE000A}"/>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E5882D7C-E663-49A9-83B2-981778761469}"/>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4D2DDC9C-3504-46D8-8B89-BBAF4D96F474}"/>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Hệ thống giao dịch với hai tầng">
            <a:extLst xmlns:a="http://schemas.openxmlformats.org/drawingml/2006/main">
              <a:ext uri="{FF2B5EF4-FFF2-40B4-BE49-F238E27FC236}">
                <a16:creationId xmlns:a16="http://schemas.microsoft.com/office/drawing/2014/main" id="{A2CD1CBA-2BF6-4B2D-884E-ADE510C4E2B6}"/>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Hệ thống giao dịch với hai tầng</a:t>
            </a:r>
          </a:p>
        </p:txBody>
      </p:sp>
      <p:sp>
        <p:nvSpPr>
          <p:cNvPr id="20" name="4/18">
            <a:extLst xmlns:a="http://schemas.openxmlformats.org/drawingml/2006/main">
              <a:ext uri="{FF2B5EF4-FFF2-40B4-BE49-F238E27FC236}">
                <a16:creationId xmlns:a16="http://schemas.microsoft.com/office/drawing/2014/main" id="{E2D96926-C1F6-4D4A-B352-62F71EC70CE8}"/>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4/18</a:t>
            </a:r>
          </a:p>
        </p:txBody>
      </p:sp>
      <p:sp>
        <p:nvSpPr>
          <p:cNvPr id="21" name="Tầng 1: chiến lược Pyramid">
            <a:extLst xmlns:a="http://schemas.openxmlformats.org/drawingml/2006/main">
              <a:ext uri="{FF2B5EF4-FFF2-40B4-BE49-F238E27FC236}">
                <a16:creationId xmlns:a16="http://schemas.microsoft.com/office/drawing/2014/main" id="{212E23E3-6B1C-4F25-B4B4-F264C0309C52}"/>
              </a:ext>
            </a:extLst>
          </p:cNvPr>
          <p:cNvSpPr>
            <a:spLocks xmlns:a="http://schemas.openxmlformats.org/drawingml/2006/main" noGrp="1"/>
          </p:cNvSpPr>
          <p:nvPr/>
        </p:nvSpPr>
        <p:spPr>
          <a:xfrm xmlns:a="http://schemas.openxmlformats.org/drawingml/2006/main">
            <a:off x="101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1565C0"/>
                </a:solidFill>
                <a:latin typeface="Times New Roman"/>
                <a:ea typeface="Times New Roman"/>
                <a:cs typeface="Times New Roman"/>
              </a:defRPr>
            </a:pPr>
            <a:r>
              <a:rPr sz="3625" b="1">
                <a:solidFill>
                  <a:srgbClr val="1565C0"/>
                </a:solidFill>
                <a:latin typeface="Times New Roman"/>
                <a:ea typeface="Times New Roman"/>
                <a:cs typeface="Times New Roman"/>
              </a:rPr>
              <a:t>Tầng 1: chiến lược Pyramid</a:t>
            </a:r>
          </a:p>
        </p:txBody>
      </p:sp>
      <p:sp>
        <p:nvSpPr>
          <p:cNvPr id="22" name="Chỉ mở vị thế Long trên BTCUSD.&#10;&#10;Tín hiệu dùng Momentum(14) ">
            <a:extLst xmlns:a="http://schemas.openxmlformats.org/drawingml/2006/main">
              <a:ext uri="{FF2B5EF4-FFF2-40B4-BE49-F238E27FC236}">
                <a16:creationId xmlns:a16="http://schemas.microsoft.com/office/drawing/2014/main" id="{DB4B0FFE-FE2E-4B65-BA6B-8359B97085F4}"/>
              </a:ext>
            </a:extLst>
          </p:cNvPr>
          <p:cNvSpPr>
            <a:spLocks xmlns:a="http://schemas.openxmlformats.org/drawingml/2006/main" noGrp="1"/>
          </p:cNvSpPr>
          <p:nvPr/>
        </p:nvSpPr>
        <p:spPr>
          <a:xfrm xmlns:a="http://schemas.openxmlformats.org/drawingml/2006/main">
            <a:off x="1270000" y="3032125"/>
            <a:ext cx="9048750"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Chỉ mở vị thế Long trên BTCUSD.</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Tín hiệu dùng Momentum(14) giảm và VWAP(142) tăng.</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Một lệnh gốc và ba lệnh nhồi ở các nến tiếp theo.</a:t>
            </a:r>
          </a:p>
        </p:txBody>
      </p:sp>
      <p:sp>
        <p:nvSpPr>
          <p:cNvPr id="23" name="Tầng 2: CatBoost meta-labeling">
            <a:extLst xmlns:a="http://schemas.openxmlformats.org/drawingml/2006/main">
              <a:ext uri="{FF2B5EF4-FFF2-40B4-BE49-F238E27FC236}">
                <a16:creationId xmlns:a16="http://schemas.microsoft.com/office/drawing/2014/main" id="{D2D3E966-C17C-48CA-A27B-2046834F3DC5}"/>
              </a:ext>
            </a:extLst>
          </p:cNvPr>
          <p:cNvSpPr>
            <a:spLocks xmlns:a="http://schemas.openxmlformats.org/drawingml/2006/main" noGrp="1"/>
          </p:cNvSpPr>
          <p:nvPr/>
        </p:nvSpPr>
        <p:spPr>
          <a:xfrm xmlns:a="http://schemas.openxmlformats.org/drawingml/2006/main">
            <a:off x="1117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2E7D32"/>
                </a:solidFill>
                <a:latin typeface="Times New Roman"/>
                <a:ea typeface="Times New Roman"/>
                <a:cs typeface="Times New Roman"/>
              </a:defRPr>
            </a:pPr>
            <a:r>
              <a:rPr sz="3625" b="1">
                <a:solidFill>
                  <a:srgbClr val="2E7D32"/>
                </a:solidFill>
                <a:latin typeface="Times New Roman"/>
                <a:ea typeface="Times New Roman"/>
                <a:cs typeface="Times New Roman"/>
              </a:rPr>
              <a:t>Tầng 2: CatBoost meta-labeling</a:t>
            </a:r>
          </a:p>
        </p:txBody>
      </p:sp>
      <p:sp>
        <p:nvSpPr>
          <p:cNvPr id="24" name="Nhận 23 đặc trưng tại thời điểm vào lệnh.&#10;&#10;Ước lượng xác suấ">
            <a:extLst xmlns:a="http://schemas.openxmlformats.org/drawingml/2006/main">
              <a:ext uri="{FF2B5EF4-FFF2-40B4-BE49-F238E27FC236}">
                <a16:creationId xmlns:a16="http://schemas.microsoft.com/office/drawing/2014/main" id="{209D86F0-1E04-4525-B746-20AC5685E731}"/>
              </a:ext>
            </a:extLst>
          </p:cNvPr>
          <p:cNvSpPr>
            <a:spLocks xmlns:a="http://schemas.openxmlformats.org/drawingml/2006/main" noGrp="1"/>
          </p:cNvSpPr>
          <p:nvPr/>
        </p:nvSpPr>
        <p:spPr>
          <a:xfrm xmlns:a="http://schemas.openxmlformats.org/drawingml/2006/main">
            <a:off x="11430000" y="3032125"/>
            <a:ext cx="8969375"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Nhận 23 đặc trưng tại thời điểm vào lệnh.</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Ước lượng xác suất nhãn 1 của từng tín hiệu.</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Xếp hạng để giữ Top 50% trong thí nghiệm chính.</a:t>
            </a:r>
          </a:p>
        </p:txBody>
      </p:sp>
      <p:sp>
        <p:nvSpPr>
          <p:cNvPr id="25" name="">
            <a:extLst xmlns:a="http://schemas.openxmlformats.org/drawingml/2006/main">
              <a:ext uri="{FF2B5EF4-FFF2-40B4-BE49-F238E27FC236}">
                <a16:creationId xmlns:a16="http://schemas.microsoft.com/office/drawing/2014/main" id="{77BD152B-B6C5-44CE-BB8F-6C15DCDA3B5C}"/>
              </a:ext>
            </a:extLst>
          </p:cNvPr>
          <p:cNvSpPr>
            <a:spLocks xmlns:a="http://schemas.openxmlformats.org/drawingml/2006/main" noGrp="1"/>
          </p:cNvSpPr>
          <p:nvPr/>
        </p:nvSpPr>
        <p:spPr>
          <a:xfrm xmlns:a="http://schemas.openxmlformats.org/drawingml/2006/main">
            <a:off x="1016000" y="9302750"/>
            <a:ext cx="19653250" cy="1714500"/>
          </a:xfrm>
          <a:prstGeom xmlns:a="http://schemas.openxmlformats.org/drawingml/2006/main" prst="roundRect">
            <a:avLst>
              <a:gd name="adj" fmla="val 14815"/>
            </a:avLst>
          </a:prstGeom>
          <a:solidFill xmlns:a="http://schemas.openxmlformats.org/drawingml/2006/main">
            <a:srgbClr val="E3F2FD"/>
          </a:solidFill>
          <a:ln xmlns:a="http://schemas.openxmlformats.org/drawingml/2006/main" w="15875">
            <a:solidFill>
              <a:srgbClr val="E3F2FD"/>
            </a:solidFill>
          </a:ln>
        </p:spPr>
      </p:sp>
      <p:sp>
        <p:nvSpPr>
          <p:cNvPr id="26" name="Mô phỏng giữ cố định tập lệnh ứng viên của baseline. Lệnh bị">
            <a:extLst xmlns:a="http://schemas.openxmlformats.org/drawingml/2006/main">
              <a:ext uri="{FF2B5EF4-FFF2-40B4-BE49-F238E27FC236}">
                <a16:creationId xmlns:a16="http://schemas.microsoft.com/office/drawing/2014/main" id="{1851B853-3493-40CC-8B33-0B78E11B4A9B}"/>
              </a:ext>
            </a:extLst>
          </p:cNvPr>
          <p:cNvSpPr>
            <a:spLocks xmlns:a="http://schemas.openxmlformats.org/drawingml/2006/main" noGrp="1"/>
          </p:cNvSpPr>
          <p:nvPr/>
        </p:nvSpPr>
        <p:spPr>
          <a:xfrm xmlns:a="http://schemas.openxmlformats.org/drawingml/2006/main">
            <a:off x="1301750" y="9572625"/>
            <a:ext cx="19050000" cy="131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Mô phỏng giữ cố định tập lệnh ứng viên của baseline. Lệnh bị loại vẫn ảnh hưởng trạng thái chiến lược nền dùng để tạo tín hiệu.</a:t>
            </a:r>
          </a:p>
        </p:txBody>
      </p:sp>
    </p:spTree>
    <p:extLst>
      <p:ext uri="{BB962C8B-B14F-4D97-AF65-F5344CB8AC3E}">
        <p14:creationId xmlns:p14="http://schemas.microsoft.com/office/powerpoint/2010/main" val="1090881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B88666C-A7F3-4540-9D2A-85BD04FED25F}"/>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ECE2A6BC-9C4C-48B9-9954-BAEDD2BE8AE9}"/>
              </a:ext>
            </a:extLst>
          </p:cNvPr>
          <p:cNvSpPr>
            <a:spLocks xmlns:a="http://schemas.openxmlformats.org/drawingml/2006/main" noGrp="1"/>
          </p:cNvSpPr>
          <p:nvPr/>
        </p:nvSpPr>
        <p:spPr>
          <a:xfrm xmlns:a="http://schemas.openxmlformats.org/drawingml/2006/main">
            <a:off x="3725227"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BC95ABFA-E6DE-4EB4-9D63-997B1C70FDA9}"/>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34C8ED6D-95BB-4F0F-9C5D-2ACDCAEAF1C5}"/>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5EF4A0A8-C063-4E3B-AB00-845D6A83E5A7}"/>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9F9E9458-3F74-48AE-846E-8B4C995C80CC}"/>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C2F3470D-A50B-4892-B294-E6A73A413C34}"/>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F3622138-CE87-4A4E-AC4F-49B2A472DF4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B191EB4B-651B-45B2-8146-15D3F493CBD9}"/>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0DC85924-726E-4CBF-B128-BC1EE59582F6}"/>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CC46FEB6-9113-434F-A0D8-DE67E8DA76B2}"/>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FE0EF8DC-62D5-49BC-A54E-990B378114DA}"/>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56860E57-F671-44BB-8F63-C76365AB2729}"/>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9634440D-71D5-453F-AABA-5C8F5052711C}"/>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D83BBB91-EFC2-49F8-9DC6-EB4F4B4FB144}"/>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Gán nhãn Triple-Barrier">
            <a:extLst xmlns:a="http://schemas.openxmlformats.org/drawingml/2006/main">
              <a:ext uri="{FF2B5EF4-FFF2-40B4-BE49-F238E27FC236}">
                <a16:creationId xmlns:a16="http://schemas.microsoft.com/office/drawing/2014/main" id="{3CEE1FCD-3717-40DF-9865-B2708CCE18AF}"/>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Gán nhãn Triple-Barrier</a:t>
            </a:r>
          </a:p>
        </p:txBody>
      </p:sp>
      <p:sp>
        <p:nvSpPr>
          <p:cNvPr id="20" name="5/18">
            <a:extLst xmlns:a="http://schemas.openxmlformats.org/drawingml/2006/main">
              <a:ext uri="{FF2B5EF4-FFF2-40B4-BE49-F238E27FC236}">
                <a16:creationId xmlns:a16="http://schemas.microsoft.com/office/drawing/2014/main" id="{C9A1822D-25CF-471C-81A1-0CC813B0C9C8}"/>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5/18</a:t>
            </a:r>
          </a:p>
        </p:txBody>
      </p:sp>
      <p:sp>
        <p:nvSpPr>
          <p:cNvPr id="21" name="">
            <a:extLst xmlns:a="http://schemas.openxmlformats.org/drawingml/2006/main">
              <a:ext uri="{FF2B5EF4-FFF2-40B4-BE49-F238E27FC236}">
                <a16:creationId xmlns:a16="http://schemas.microsoft.com/office/drawing/2014/main" id="{36E2C403-A569-4B86-A639-9A1959C44D70}"/>
              </a:ext>
            </a:extLst>
          </p:cNvPr>
          <p:cNvSpPr>
            <a:spLocks xmlns:a="http://schemas.openxmlformats.org/drawingml/2006/main" noGrp="1"/>
          </p:cNvSpPr>
          <p:nvPr/>
        </p:nvSpPr>
        <p:spPr>
          <a:xfrm xmlns:a="http://schemas.openxmlformats.org/drawingml/2006/main">
            <a:off x="1016000" y="2095500"/>
            <a:ext cx="6254750" cy="6064250"/>
          </a:xfrm>
          <a:prstGeom xmlns:a="http://schemas.openxmlformats.org/drawingml/2006/main" prst="roundRect">
            <a:avLst>
              <a:gd name="adj" fmla="val 4188"/>
            </a:avLst>
          </a:prstGeom>
          <a:solidFill xmlns:a="http://schemas.openxmlformats.org/drawingml/2006/main">
            <a:srgbClr val="E3F2FD"/>
          </a:solidFill>
          <a:ln xmlns:a="http://schemas.openxmlformats.org/drawingml/2006/main" w="15875">
            <a:solidFill>
              <a:srgbClr val="1565C0"/>
            </a:solidFill>
          </a:ln>
        </p:spPr>
      </p:sp>
      <p:sp>
        <p:nvSpPr>
          <p:cNvPr id="22" name="Rào chốt lời">
            <a:extLst xmlns:a="http://schemas.openxmlformats.org/drawingml/2006/main">
              <a:ext uri="{FF2B5EF4-FFF2-40B4-BE49-F238E27FC236}">
                <a16:creationId xmlns:a16="http://schemas.microsoft.com/office/drawing/2014/main" id="{4D535697-557A-4BB7-8F92-D9BCB3E9FC11}"/>
              </a:ext>
            </a:extLst>
          </p:cNvPr>
          <p:cNvSpPr>
            <a:spLocks xmlns:a="http://schemas.openxmlformats.org/drawingml/2006/main" noGrp="1"/>
          </p:cNvSpPr>
          <p:nvPr/>
        </p:nvSpPr>
        <p:spPr>
          <a:xfrm xmlns:a="http://schemas.openxmlformats.org/drawingml/2006/main">
            <a:off x="1301750" y="2365375"/>
            <a:ext cx="5667375"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00" b="1">
                <a:solidFill>
                  <a:srgbClr val="1565C0"/>
                </a:solidFill>
                <a:latin typeface="Times New Roman"/>
                <a:ea typeface="Times New Roman"/>
                <a:cs typeface="Times New Roman"/>
              </a:defRPr>
            </a:pPr>
            <a:r>
              <a:rPr sz="3500" b="1">
                <a:solidFill>
                  <a:srgbClr val="1565C0"/>
                </a:solidFill>
                <a:latin typeface="Times New Roman"/>
                <a:ea typeface="Times New Roman"/>
                <a:cs typeface="Times New Roman"/>
              </a:rPr>
              <a:t>Rào chốt lời</a:t>
            </a:r>
          </a:p>
        </p:txBody>
      </p:sp>
      <p:sp>
        <p:nvSpPr>
          <p:cNvPr id="23" name="Giá vào + 3,8 × ATR&#10;&#10;ATR(90) cố định từ nến trước thời điểm ">
            <a:extLst xmlns:a="http://schemas.openxmlformats.org/drawingml/2006/main">
              <a:ext uri="{FF2B5EF4-FFF2-40B4-BE49-F238E27FC236}">
                <a16:creationId xmlns:a16="http://schemas.microsoft.com/office/drawing/2014/main" id="{B2A570EA-F32D-4050-880E-C32DAD573946}"/>
              </a:ext>
            </a:extLst>
          </p:cNvPr>
          <p:cNvSpPr>
            <a:spLocks xmlns:a="http://schemas.openxmlformats.org/drawingml/2006/main" noGrp="1"/>
          </p:cNvSpPr>
          <p:nvPr/>
        </p:nvSpPr>
        <p:spPr>
          <a:xfrm xmlns:a="http://schemas.openxmlformats.org/drawingml/2006/main">
            <a:off x="1301750" y="3333750"/>
            <a:ext cx="5667375" cy="444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Giá vào + 3,8 × ATR</a:t>
            </a:r>
          </a:p>
          <a:p xmlns:a="http://schemas.openxmlformats.org/drawingml/2006/main">
            <a:r>
              <a:t/>
            </a:r>
          </a:p>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ATR(90) cố định từ nến trước thời điểm vào lệnh.</a:t>
            </a:r>
          </a:p>
          <a:p xmlns:a="http://schemas.openxmlformats.org/drawingml/2006/main">
            <a:r>
              <a:t/>
            </a:r>
          </a:p>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Chạm rào trên hợp lệ: nhãn 1.</a:t>
            </a:r>
          </a:p>
        </p:txBody>
      </p:sp>
      <p:sp>
        <p:nvSpPr>
          <p:cNvPr id="24" name="">
            <a:extLst xmlns:a="http://schemas.openxmlformats.org/drawingml/2006/main">
              <a:ext uri="{FF2B5EF4-FFF2-40B4-BE49-F238E27FC236}">
                <a16:creationId xmlns:a16="http://schemas.microsoft.com/office/drawing/2014/main" id="{A8FD43E0-5091-4BF9-A516-791B069D487A}"/>
              </a:ext>
            </a:extLst>
          </p:cNvPr>
          <p:cNvSpPr>
            <a:spLocks xmlns:a="http://schemas.openxmlformats.org/drawingml/2006/main" noGrp="1"/>
          </p:cNvSpPr>
          <p:nvPr/>
        </p:nvSpPr>
        <p:spPr>
          <a:xfrm xmlns:a="http://schemas.openxmlformats.org/drawingml/2006/main">
            <a:off x="7715250" y="2095500"/>
            <a:ext cx="6254750" cy="6064250"/>
          </a:xfrm>
          <a:prstGeom xmlns:a="http://schemas.openxmlformats.org/drawingml/2006/main" prst="roundRect">
            <a:avLst>
              <a:gd name="adj" fmla="val 4188"/>
            </a:avLst>
          </a:prstGeom>
          <a:solidFill xmlns:a="http://schemas.openxmlformats.org/drawingml/2006/main">
            <a:srgbClr val="E8F5E9"/>
          </a:solidFill>
          <a:ln xmlns:a="http://schemas.openxmlformats.org/drawingml/2006/main" w="15875">
            <a:solidFill>
              <a:srgbClr val="2E7D32"/>
            </a:solidFill>
          </a:ln>
        </p:spPr>
      </p:sp>
      <p:sp>
        <p:nvSpPr>
          <p:cNvPr id="25" name="Rào cắt lỗ">
            <a:extLst xmlns:a="http://schemas.openxmlformats.org/drawingml/2006/main">
              <a:ext uri="{FF2B5EF4-FFF2-40B4-BE49-F238E27FC236}">
                <a16:creationId xmlns:a16="http://schemas.microsoft.com/office/drawing/2014/main" id="{4107B403-DEC6-47C2-BD7E-E292845576C3}"/>
              </a:ext>
            </a:extLst>
          </p:cNvPr>
          <p:cNvSpPr>
            <a:spLocks xmlns:a="http://schemas.openxmlformats.org/drawingml/2006/main" noGrp="1"/>
          </p:cNvSpPr>
          <p:nvPr/>
        </p:nvSpPr>
        <p:spPr>
          <a:xfrm xmlns:a="http://schemas.openxmlformats.org/drawingml/2006/main">
            <a:off x="8001000" y="2365375"/>
            <a:ext cx="5667375"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00" b="1">
                <a:solidFill>
                  <a:srgbClr val="2E7D32"/>
                </a:solidFill>
                <a:latin typeface="Times New Roman"/>
                <a:ea typeface="Times New Roman"/>
                <a:cs typeface="Times New Roman"/>
              </a:defRPr>
            </a:pPr>
            <a:r>
              <a:rPr sz="3500" b="1">
                <a:solidFill>
                  <a:srgbClr val="2E7D32"/>
                </a:solidFill>
                <a:latin typeface="Times New Roman"/>
                <a:ea typeface="Times New Roman"/>
                <a:cs typeface="Times New Roman"/>
              </a:rPr>
              <a:t>Rào cắt lỗ</a:t>
            </a:r>
          </a:p>
        </p:txBody>
      </p:sp>
      <p:sp>
        <p:nvSpPr>
          <p:cNvPr id="26" name="Giá vào × (1 − 0,006)&#10;&#10;Biên cắt lỗ bằng 0,6% giá vào.&#10;&#10;Ưu ti">
            <a:extLst xmlns:a="http://schemas.openxmlformats.org/drawingml/2006/main">
              <a:ext uri="{FF2B5EF4-FFF2-40B4-BE49-F238E27FC236}">
                <a16:creationId xmlns:a16="http://schemas.microsoft.com/office/drawing/2014/main" id="{646FD4D0-E865-4E5C-83FC-049FD1A83C53}"/>
              </a:ext>
            </a:extLst>
          </p:cNvPr>
          <p:cNvSpPr>
            <a:spLocks xmlns:a="http://schemas.openxmlformats.org/drawingml/2006/main" noGrp="1"/>
          </p:cNvSpPr>
          <p:nvPr/>
        </p:nvSpPr>
        <p:spPr>
          <a:xfrm xmlns:a="http://schemas.openxmlformats.org/drawingml/2006/main">
            <a:off x="8001000" y="3333750"/>
            <a:ext cx="5667375" cy="444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Giá vào × (1 − 0,006)</a:t>
            </a:r>
          </a:p>
          <a:p xmlns:a="http://schemas.openxmlformats.org/drawingml/2006/main">
            <a:r>
              <a:t/>
            </a:r>
          </a:p>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Biên cắt lỗ bằng 0,6% giá vào.</a:t>
            </a:r>
          </a:p>
          <a:p xmlns:a="http://schemas.openxmlformats.org/drawingml/2006/main">
            <a:r>
              <a:t/>
            </a:r>
          </a:p>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Ưu tiên rào dưới trong cùng nến M15: nhãn 0.</a:t>
            </a:r>
          </a:p>
        </p:txBody>
      </p:sp>
      <p:sp>
        <p:nvSpPr>
          <p:cNvPr id="27" name="">
            <a:extLst xmlns:a="http://schemas.openxmlformats.org/drawingml/2006/main">
              <a:ext uri="{FF2B5EF4-FFF2-40B4-BE49-F238E27FC236}">
                <a16:creationId xmlns:a16="http://schemas.microsoft.com/office/drawing/2014/main" id="{A41BED2F-89D2-4F74-8C6F-0E3ED21A29FE}"/>
              </a:ext>
            </a:extLst>
          </p:cNvPr>
          <p:cNvSpPr>
            <a:spLocks xmlns:a="http://schemas.openxmlformats.org/drawingml/2006/main" noGrp="1"/>
          </p:cNvSpPr>
          <p:nvPr/>
        </p:nvSpPr>
        <p:spPr>
          <a:xfrm xmlns:a="http://schemas.openxmlformats.org/drawingml/2006/main">
            <a:off x="14414500" y="2095500"/>
            <a:ext cx="6254750" cy="6064250"/>
          </a:xfrm>
          <a:prstGeom xmlns:a="http://schemas.openxmlformats.org/drawingml/2006/main" prst="roundRect">
            <a:avLst>
              <a:gd name="adj" fmla="val 4188"/>
            </a:avLst>
          </a:prstGeom>
          <a:solidFill xmlns:a="http://schemas.openxmlformats.org/drawingml/2006/main">
            <a:srgbClr val="FFF3E0"/>
          </a:solidFill>
          <a:ln xmlns:a="http://schemas.openxmlformats.org/drawingml/2006/main" w="15875">
            <a:solidFill>
              <a:srgbClr val="E86D00"/>
            </a:solidFill>
          </a:ln>
        </p:spPr>
      </p:sp>
      <p:sp>
        <p:nvSpPr>
          <p:cNvPr id="28" name="Rào thời gian">
            <a:extLst xmlns:a="http://schemas.openxmlformats.org/drawingml/2006/main">
              <a:ext uri="{FF2B5EF4-FFF2-40B4-BE49-F238E27FC236}">
                <a16:creationId xmlns:a16="http://schemas.microsoft.com/office/drawing/2014/main" id="{8F14E501-EDAA-48BF-B5A9-1DE9D104EF6C}"/>
              </a:ext>
            </a:extLst>
          </p:cNvPr>
          <p:cNvSpPr>
            <a:spLocks xmlns:a="http://schemas.openxmlformats.org/drawingml/2006/main" noGrp="1"/>
          </p:cNvSpPr>
          <p:nvPr/>
        </p:nvSpPr>
        <p:spPr>
          <a:xfrm xmlns:a="http://schemas.openxmlformats.org/drawingml/2006/main">
            <a:off x="14700250" y="2365375"/>
            <a:ext cx="5667375"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00" b="1">
                <a:solidFill>
                  <a:srgbClr val="E86D00"/>
                </a:solidFill>
                <a:latin typeface="Times New Roman"/>
                <a:ea typeface="Times New Roman"/>
                <a:cs typeface="Times New Roman"/>
              </a:defRPr>
            </a:pPr>
            <a:r>
              <a:rPr sz="3500" b="1">
                <a:solidFill>
                  <a:srgbClr val="E86D00"/>
                </a:solidFill>
                <a:latin typeface="Times New Roman"/>
                <a:ea typeface="Times New Roman"/>
                <a:cs typeface="Times New Roman"/>
              </a:rPr>
              <a:t>Rào thời gian</a:t>
            </a:r>
          </a:p>
        </p:txBody>
      </p:sp>
      <p:sp>
        <p:nvSpPr>
          <p:cNvPr id="29" name="Tối đa 50 nến M15&#10;&#10;Tương đương 12,5 giờ nếu các nến liên tục">
            <a:extLst xmlns:a="http://schemas.openxmlformats.org/drawingml/2006/main">
              <a:ext uri="{FF2B5EF4-FFF2-40B4-BE49-F238E27FC236}">
                <a16:creationId xmlns:a16="http://schemas.microsoft.com/office/drawing/2014/main" id="{B15FE763-8C85-4A21-B6ED-4EDFD19EF12C}"/>
              </a:ext>
            </a:extLst>
          </p:cNvPr>
          <p:cNvSpPr>
            <a:spLocks xmlns:a="http://schemas.openxmlformats.org/drawingml/2006/main" noGrp="1"/>
          </p:cNvSpPr>
          <p:nvPr/>
        </p:nvSpPr>
        <p:spPr>
          <a:xfrm xmlns:a="http://schemas.openxmlformats.org/drawingml/2006/main">
            <a:off x="14700250" y="3333750"/>
            <a:ext cx="5667375" cy="444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Tối đa 50 nến M15</a:t>
            </a:r>
          </a:p>
          <a:p xmlns:a="http://schemas.openxmlformats.org/drawingml/2006/main">
            <a:r>
              <a:t/>
            </a:r>
          </a:p>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Tương đương 12,5 giờ nếu các nến liên tục.</a:t>
            </a:r>
          </a:p>
          <a:p xmlns:a="http://schemas.openxmlformats.org/drawingml/2006/main">
            <a:r>
              <a:t/>
            </a:r>
          </a:p>
          <a:p xmlns:a="http://schemas.openxmlformats.org/drawingml/2006/main">
            <a:pPr algn="l">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Hết thời gian chưa đạt rào trên: nhãn 0.</a:t>
            </a:r>
          </a:p>
        </p:txBody>
      </p:sp>
      <p:sp>
        <p:nvSpPr>
          <p:cNvPr id="30" name="">
            <a:extLst xmlns:a="http://schemas.openxmlformats.org/drawingml/2006/main">
              <a:ext uri="{FF2B5EF4-FFF2-40B4-BE49-F238E27FC236}">
                <a16:creationId xmlns:a16="http://schemas.microsoft.com/office/drawing/2014/main" id="{2816A3CA-F4CE-49E1-AB52-49D45A7AFAAB}"/>
              </a:ext>
            </a:extLst>
          </p:cNvPr>
          <p:cNvSpPr>
            <a:spLocks xmlns:a="http://schemas.openxmlformats.org/drawingml/2006/main" noGrp="1"/>
          </p:cNvSpPr>
          <p:nvPr/>
        </p:nvSpPr>
        <p:spPr>
          <a:xfrm xmlns:a="http://schemas.openxmlformats.org/drawingml/2006/main">
            <a:off x="1016000" y="9096375"/>
            <a:ext cx="19653250" cy="1841500"/>
          </a:xfrm>
          <a:prstGeom xmlns:a="http://schemas.openxmlformats.org/drawingml/2006/main" prst="roundRect">
            <a:avLst>
              <a:gd name="adj" fmla="val 13793"/>
            </a:avLst>
          </a:prstGeom>
          <a:solidFill xmlns:a="http://schemas.openxmlformats.org/drawingml/2006/main">
            <a:srgbClr val="FFF3E0"/>
          </a:solidFill>
          <a:ln xmlns:a="http://schemas.openxmlformats.org/drawingml/2006/main" w="15875">
            <a:solidFill>
              <a:srgbClr val="FFF3E0"/>
            </a:solidFill>
          </a:ln>
        </p:spPr>
      </p:sp>
      <p:sp>
        <p:nvSpPr>
          <p:cNvPr id="31" name="Dùng nến M1 để xét chạm rào. Nhãn phục vụ học máy, còn lợi n">
            <a:extLst xmlns:a="http://schemas.openxmlformats.org/drawingml/2006/main">
              <a:ext uri="{FF2B5EF4-FFF2-40B4-BE49-F238E27FC236}">
                <a16:creationId xmlns:a16="http://schemas.microsoft.com/office/drawing/2014/main" id="{6E7E0568-455E-4032-AE21-C65D0EEC43DD}"/>
              </a:ext>
            </a:extLst>
          </p:cNvPr>
          <p:cNvSpPr>
            <a:spLocks xmlns:a="http://schemas.openxmlformats.org/drawingml/2006/main" noGrp="1"/>
          </p:cNvSpPr>
          <p:nvPr/>
        </p:nvSpPr>
        <p:spPr>
          <a:xfrm xmlns:a="http://schemas.openxmlformats.org/drawingml/2006/main">
            <a:off x="1301750" y="9366250"/>
            <a:ext cx="19050000" cy="144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Dùng nến M1 để xét chạm rào. Nhãn phục vụ học máy, còn lợi nhuận lấy từ cơ chế thoát lệnh thật của chiến lược, gồm trailing stop.</a:t>
            </a:r>
          </a:p>
        </p:txBody>
      </p:sp>
    </p:spTree>
    <p:extLst>
      <p:ext uri="{BB962C8B-B14F-4D97-AF65-F5344CB8AC3E}">
        <p14:creationId xmlns:p14="http://schemas.microsoft.com/office/powerpoint/2010/main" val="4717927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4E71FB3-17DA-4A9C-BEBC-43679F8393A7}"/>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BED08B5A-4194-4D52-B5FC-090357E6E567}"/>
              </a:ext>
            </a:extLst>
          </p:cNvPr>
          <p:cNvSpPr>
            <a:spLocks xmlns:a="http://schemas.openxmlformats.org/drawingml/2006/main" noGrp="1"/>
          </p:cNvSpPr>
          <p:nvPr/>
        </p:nvSpPr>
        <p:spPr>
          <a:xfrm xmlns:a="http://schemas.openxmlformats.org/drawingml/2006/main">
            <a:off x="3725227"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A90299A0-EBDA-41F3-81BE-5B3E1A39E242}"/>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7509F3E8-5F70-48F5-96CE-E715D0EBB42A}"/>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03FD3052-8CD7-4C44-B411-16C2F785C402}"/>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0BF072F8-7AE3-437B-BE6A-D14297BF2BE8}"/>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25372917-9CF5-416F-8E8E-58FBB54D51C9}"/>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E2A4B60B-0688-4C6D-9FB5-6F60C7AE8C8B}"/>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83D044DE-D531-4E1F-BDEE-31EE3A9B972D}"/>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5CE824F5-850D-43B7-A2F3-276E09C11EF9}"/>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E4EA07EE-6F56-4A92-8323-3BC01396D2E1}"/>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13B9EEA2-0206-4167-94D3-458AEBE78ADE}"/>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46E60B04-F656-4D07-9856-034FEB68CE5F}"/>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2CCF25F0-573A-491E-AB2C-A9249E82786D}"/>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492531CA-9093-4EF1-AD39-6B15EB98A011}"/>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23 đặc trưng và nguyên tắc chống rò rỉ">
            <a:extLst xmlns:a="http://schemas.openxmlformats.org/drawingml/2006/main">
              <a:ext uri="{FF2B5EF4-FFF2-40B4-BE49-F238E27FC236}">
                <a16:creationId xmlns:a16="http://schemas.microsoft.com/office/drawing/2014/main" id="{029DA71B-7222-410C-BD17-47CD37B12DCB}"/>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23 đặc trưng và nguyên tắc chống rò rỉ</a:t>
            </a:r>
          </a:p>
        </p:txBody>
      </p:sp>
      <p:sp>
        <p:nvSpPr>
          <p:cNvPr id="20" name="6/18">
            <a:extLst xmlns:a="http://schemas.openxmlformats.org/drawingml/2006/main">
              <a:ext uri="{FF2B5EF4-FFF2-40B4-BE49-F238E27FC236}">
                <a16:creationId xmlns:a16="http://schemas.microsoft.com/office/drawing/2014/main" id="{D329B98A-DCDA-4E7F-9896-29951ED48975}"/>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6/18</a:t>
            </a:r>
          </a:p>
        </p:txBody>
      </p:sp>
      <p:graphicFrame>
        <p:nvGraphicFramePr>
          <p:cNvPr id="42" name=""/>
          <p:cNvGraphicFramePr/>
          <p:nvPr/>
        </p:nvGraphicFramePr>
        <p:xfrm>
          <a:off xmlns:a="http://schemas.openxmlformats.org/drawingml/2006/main" x="1016000" y="2190750"/>
          <a:ext xmlns:a="http://schemas.openxmlformats.org/drawingml/2006/main" cx="19653250" cy="5127625"/>
        </p:xfrm>
        <a:graphic xmlns:a="http://schemas.openxmlformats.org/drawingml/2006/main">
          <a:graphicData uri="http://schemas.openxmlformats.org/drawingml/2006/table">
            <a:tbl>
              <a:tblPr/>
              <a:tblGrid>
                <a:gridCol w="6270625"/>
                <a:gridCol w="13382625"/>
              </a:tblGrid>
              <a:tr h="1025525">
                <a:tc>
                  <a:txBody>
                    <a:bodyPr>
                      <a:noAutofit/>
                    </a:bodyPr>
                    <a:lstStyle/>
                    <a:p>
                      <a:r>
                        <a:rPr sz="3000" b="1">
                          <a:solidFill>
                            <a:srgbClr val="FFFFFF"/>
                          </a:solidFill>
                          <a:latin typeface="Times New Roman"/>
                          <a:ea typeface="Times New Roman"/>
                          <a:cs typeface="Times New Roman"/>
                        </a:rPr>
                        <a:t>Nhóm thông tin</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Ví dụ đặc trưng</a:t>
                      </a:r>
                    </a:p>
                  </a:txBody>
                  <a:tcPr marL="158750" marR="158750" marT="127000" marB="127000" anchor="ctr">
                    <a:solidFill>
                      <a:srgbClr val="1565C0"/>
                    </a:solidFill>
                  </a:tcPr>
                </a:tc>
              </a:tr>
              <a:tr h="1025525">
                <a:tc>
                  <a:txBody>
                    <a:bodyPr>
                      <a:noAutofit/>
                    </a:bodyPr>
                    <a:lstStyle/>
                    <a:p>
                      <a:r>
                        <a:rPr sz="3000" b="0">
                          <a:solidFill>
                            <a:srgbClr val="151515"/>
                          </a:solidFill>
                          <a:latin typeface="Times New Roman"/>
                          <a:ea typeface="Times New Roman"/>
                          <a:cs typeface="Times New Roman"/>
                        </a:rPr>
                        <a:t>Hình học rào và biến động</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breakeven_R, atr14_pct, vol20, vol_ratio_20_200</a:t>
                      </a:r>
                    </a:p>
                  </a:txBody>
                  <a:tcPr marL="158750" marR="158750" marT="127000" marB="127000" anchor="ctr">
                    <a:solidFill>
                      <a:srgbClr val="FFFFFF"/>
                    </a:solidFill>
                  </a:tcPr>
                </a:tc>
              </a:tr>
              <a:tr h="1025525">
                <a:tc>
                  <a:txBody>
                    <a:bodyPr>
                      <a:noAutofit/>
                    </a:bodyPr>
                    <a:lstStyle/>
                    <a:p>
                      <a:r>
                        <a:rPr sz="3000" b="0">
                          <a:solidFill>
                            <a:srgbClr val="151515"/>
                          </a:solidFill>
                          <a:latin typeface="Times New Roman"/>
                          <a:ea typeface="Times New Roman"/>
                          <a:cs typeface="Times New Roman"/>
                        </a:rPr>
                        <a:t>Xu hướng và vị trí giá</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dist_ema20_atr, ret50_atr, pos_in_range50</a:t>
                      </a:r>
                    </a:p>
                  </a:txBody>
                  <a:tcPr marL="158750" marR="158750" marT="127000" marB="127000" anchor="ctr">
                    <a:solidFill>
                      <a:srgbClr val="E3F2FD"/>
                    </a:solidFill>
                  </a:tcPr>
                </a:tc>
              </a:tr>
              <a:tr h="1025525">
                <a:tc>
                  <a:txBody>
                    <a:bodyPr>
                      <a:noAutofit/>
                    </a:bodyPr>
                    <a:lstStyle/>
                    <a:p>
                      <a:r>
                        <a:rPr sz="3000" b="0">
                          <a:solidFill>
                            <a:srgbClr val="151515"/>
                          </a:solidFill>
                          <a:latin typeface="Times New Roman"/>
                          <a:ea typeface="Times New Roman"/>
                          <a:cs typeface="Times New Roman"/>
                        </a:rPr>
                        <a:t>Tín hiệu và động lượng</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mom14, mom_diff, vwap_dist_atr, rsi14</a:t>
                      </a:r>
                    </a:p>
                  </a:txBody>
                  <a:tcPr marL="158750" marR="158750" marT="127000" marB="127000" anchor="ctr">
                    <a:solidFill>
                      <a:srgbClr val="FFFFFF"/>
                    </a:solidFill>
                  </a:tcPr>
                </a:tc>
              </a:tr>
              <a:tr h="1025525">
                <a:tc>
                  <a:txBody>
                    <a:bodyPr>
                      <a:noAutofit/>
                    </a:bodyPr>
                    <a:lstStyle/>
                    <a:p>
                      <a:r>
                        <a:rPr sz="3000" b="0">
                          <a:solidFill>
                            <a:srgbClr val="151515"/>
                          </a:solidFill>
                          <a:latin typeface="Times New Roman"/>
                          <a:ea typeface="Times New Roman"/>
                          <a:cs typeface="Times New Roman"/>
                        </a:rPr>
                        <a:t>Khối lượng, giá mở cửa, phiên</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vol_ratio_volume, gap_open_atr, hour, dow</a:t>
                      </a:r>
                    </a:p>
                  </a:txBody>
                  <a:tcPr marL="158750" marR="158750" marT="127000" marB="127000" anchor="ctr">
                    <a:solidFill>
                      <a:srgbClr val="E3F2FD"/>
                    </a:solidFill>
                  </a:tcPr>
                </a:tc>
              </a:tr>
            </a:tbl>
          </a:graphicData>
        </a:graphic>
      </p:graphicFrame>
      <p:sp>
        <p:nvSpPr>
          <p:cNvPr id="22" name="Chỉ dùng nến đã đóng và giá mở cửa tại thời điểm vào lệnh">
            <a:extLst xmlns:a="http://schemas.openxmlformats.org/drawingml/2006/main">
              <a:ext uri="{FF2B5EF4-FFF2-40B4-BE49-F238E27FC236}">
                <a16:creationId xmlns:a16="http://schemas.microsoft.com/office/drawing/2014/main" id="{4E329542-F082-4F96-BA80-98913C42BA2F}"/>
              </a:ext>
            </a:extLst>
          </p:cNvPr>
          <p:cNvSpPr>
            <a:spLocks xmlns:a="http://schemas.openxmlformats.org/drawingml/2006/main" noGrp="1"/>
          </p:cNvSpPr>
          <p:nvPr/>
        </p:nvSpPr>
        <p:spPr>
          <a:xfrm xmlns:a="http://schemas.openxmlformats.org/drawingml/2006/main">
            <a:off x="1016000" y="7810500"/>
            <a:ext cx="196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00" b="1">
                <a:solidFill>
                  <a:srgbClr val="2E7D32"/>
                </a:solidFill>
                <a:latin typeface="Times New Roman"/>
                <a:ea typeface="Times New Roman"/>
                <a:cs typeface="Times New Roman"/>
              </a:defRPr>
            </a:pPr>
            <a:r>
              <a:rPr sz="3500" b="1">
                <a:solidFill>
                  <a:srgbClr val="2E7D32"/>
                </a:solidFill>
                <a:latin typeface="Times New Roman"/>
                <a:ea typeface="Times New Roman"/>
                <a:cs typeface="Times New Roman"/>
              </a:rPr>
              <a:t>Chỉ dùng nến đã đóng và giá mở cửa tại thời điểm vào lệnh</a:t>
            </a:r>
          </a:p>
        </p:txBody>
      </p:sp>
      <p:sp>
        <p:nvSpPr>
          <p:cNvPr id="23" name="">
            <a:extLst xmlns:a="http://schemas.openxmlformats.org/drawingml/2006/main">
              <a:ext uri="{FF2B5EF4-FFF2-40B4-BE49-F238E27FC236}">
                <a16:creationId xmlns:a16="http://schemas.microsoft.com/office/drawing/2014/main" id="{D09B88E4-96D9-4E33-8EF3-607E20F08E3D}"/>
              </a:ext>
            </a:extLst>
          </p:cNvPr>
          <p:cNvSpPr>
            <a:spLocks xmlns:a="http://schemas.openxmlformats.org/drawingml/2006/main" noGrp="1"/>
          </p:cNvSpPr>
          <p:nvPr/>
        </p:nvSpPr>
        <p:spPr>
          <a:xfrm xmlns:a="http://schemas.openxmlformats.org/drawingml/2006/main">
            <a:off x="1016000" y="9048750"/>
            <a:ext cx="19653250" cy="1762125"/>
          </a:xfrm>
          <a:prstGeom xmlns:a="http://schemas.openxmlformats.org/drawingml/2006/main" prst="roundRect">
            <a:avLst>
              <a:gd name="adj" fmla="val 14414"/>
            </a:avLst>
          </a:prstGeom>
          <a:solidFill xmlns:a="http://schemas.openxmlformats.org/drawingml/2006/main">
            <a:srgbClr val="E3F2FD"/>
          </a:solidFill>
          <a:ln xmlns:a="http://schemas.openxmlformats.org/drawingml/2006/main" w="15875">
            <a:solidFill>
              <a:srgbClr val="E3F2FD"/>
            </a:solidFill>
          </a:ln>
        </p:spPr>
      </p:sp>
      <p:sp>
        <p:nvSpPr>
          <p:cNvPr id="24" name="origin_bar, leg, entry_price và label_end_time chỉ phục vụ c">
            <a:extLst xmlns:a="http://schemas.openxmlformats.org/drawingml/2006/main">
              <a:ext uri="{FF2B5EF4-FFF2-40B4-BE49-F238E27FC236}">
                <a16:creationId xmlns:a16="http://schemas.microsoft.com/office/drawing/2014/main" id="{86284171-8536-439E-9EB3-6DC9CBAD8A0C}"/>
              </a:ext>
            </a:extLst>
          </p:cNvPr>
          <p:cNvSpPr>
            <a:spLocks xmlns:a="http://schemas.openxmlformats.org/drawingml/2006/main" noGrp="1"/>
          </p:cNvSpPr>
          <p:nvPr/>
        </p:nvSpPr>
        <p:spPr>
          <a:xfrm xmlns:a="http://schemas.openxmlformats.org/drawingml/2006/main">
            <a:off x="1301750" y="9318625"/>
            <a:ext cx="19050000" cy="136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origin_bar, leg, entry_price và label_end_time chỉ phục vụ chia dữ liệu hoặc báo cáo. Không đưa các cột này vào 23 đầu vào của CatBoost.</a:t>
            </a:r>
          </a:p>
        </p:txBody>
      </p:sp>
    </p:spTree>
    <p:extLst>
      <p:ext uri="{BB962C8B-B14F-4D97-AF65-F5344CB8AC3E}">
        <p14:creationId xmlns:p14="http://schemas.microsoft.com/office/powerpoint/2010/main" val="13702307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7555CB3-3E49-4EE0-8B0A-575E2FD52BEE}"/>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9F645BE8-41E6-479D-BA44-5832D7E67A74}"/>
              </a:ext>
            </a:extLst>
          </p:cNvPr>
          <p:cNvSpPr>
            <a:spLocks xmlns:a="http://schemas.openxmlformats.org/drawingml/2006/main" noGrp="1"/>
          </p:cNvSpPr>
          <p:nvPr/>
        </p:nvSpPr>
        <p:spPr>
          <a:xfrm xmlns:a="http://schemas.openxmlformats.org/drawingml/2006/main">
            <a:off x="3725227"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2E3618FA-6D56-41B9-A8E0-7856F1724C26}"/>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4AD7AC22-316E-48CA-AA55-367E08BE2B3E}"/>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14BA2610-1115-4CA6-BD1B-FF51A4B263BD}"/>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923286B5-DEBE-444F-B17B-4C548851D401}"/>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F94C6CC1-9F2D-4486-92BD-054AEC702F00}"/>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47E876E-2426-4632-9533-FCC92C295F17}"/>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13E04589-C647-43DE-8FF2-A88D0F6A49AD}"/>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FF0D4B7A-58B4-49B2-B494-0B1091E62AC5}"/>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5FF6001E-A006-4E1C-81C8-FA91EDE6E4D1}"/>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DAA9B598-B39D-4C0E-BAD1-1B0EF639D0AF}"/>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84EF626A-F04D-4DBE-8315-0481A62E4A27}"/>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EABFF60E-09E0-4F5A-A0C1-C7A6C0FBB7FA}"/>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B76ECA16-B719-4728-A333-5119E70FC585}"/>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Hai nguồn phụ thuộc giữa các mẫu">
            <a:extLst xmlns:a="http://schemas.openxmlformats.org/drawingml/2006/main">
              <a:ext uri="{FF2B5EF4-FFF2-40B4-BE49-F238E27FC236}">
                <a16:creationId xmlns:a16="http://schemas.microsoft.com/office/drawing/2014/main" id="{F9C9CA85-26D1-4A9A-A023-E5F17E4E511B}"/>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Hai nguồn phụ thuộc giữa các mẫu</a:t>
            </a:r>
          </a:p>
        </p:txBody>
      </p:sp>
      <p:sp>
        <p:nvSpPr>
          <p:cNvPr id="20" name="7/18">
            <a:extLst xmlns:a="http://schemas.openxmlformats.org/drawingml/2006/main">
              <a:ext uri="{FF2B5EF4-FFF2-40B4-BE49-F238E27FC236}">
                <a16:creationId xmlns:a16="http://schemas.microsoft.com/office/drawing/2014/main" id="{732CC60E-2289-4B26-85A6-3F2223778658}"/>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7/18</a:t>
            </a:r>
          </a:p>
        </p:txBody>
      </p:sp>
      <p:sp>
        <p:nvSpPr>
          <p:cNvPr id="21" name="Phụ thuộc trong gia đình lệnh">
            <a:extLst xmlns:a="http://schemas.openxmlformats.org/drawingml/2006/main">
              <a:ext uri="{FF2B5EF4-FFF2-40B4-BE49-F238E27FC236}">
                <a16:creationId xmlns:a16="http://schemas.microsoft.com/office/drawing/2014/main" id="{1953D29D-85F9-45C3-AB64-D2D2C53C8D75}"/>
              </a:ext>
            </a:extLst>
          </p:cNvPr>
          <p:cNvSpPr>
            <a:spLocks xmlns:a="http://schemas.openxmlformats.org/drawingml/2006/main" noGrp="1"/>
          </p:cNvSpPr>
          <p:nvPr/>
        </p:nvSpPr>
        <p:spPr>
          <a:xfrm xmlns:a="http://schemas.openxmlformats.org/drawingml/2006/main">
            <a:off x="101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1565C0"/>
                </a:solidFill>
                <a:latin typeface="Times New Roman"/>
                <a:ea typeface="Times New Roman"/>
                <a:cs typeface="Times New Roman"/>
              </a:defRPr>
            </a:pPr>
            <a:r>
              <a:rPr sz="3625" b="1">
                <a:solidFill>
                  <a:srgbClr val="1565C0"/>
                </a:solidFill>
                <a:latin typeface="Times New Roman"/>
                <a:ea typeface="Times New Roman"/>
                <a:cs typeface="Times New Roman"/>
              </a:rPr>
              <a:t>Phụ thuộc trong gia đình lệnh</a:t>
            </a:r>
          </a:p>
        </p:txBody>
      </p:sp>
      <p:sp>
        <p:nvSpPr>
          <p:cNvPr id="22" name="Bốn lệnh cùng origin_bar mở gần nhau và có trạng thái thị tr">
            <a:extLst xmlns:a="http://schemas.openxmlformats.org/drawingml/2006/main">
              <a:ext uri="{FF2B5EF4-FFF2-40B4-BE49-F238E27FC236}">
                <a16:creationId xmlns:a16="http://schemas.microsoft.com/office/drawing/2014/main" id="{55263C25-063F-4C2A-9F5C-2ED539A16401}"/>
              </a:ext>
            </a:extLst>
          </p:cNvPr>
          <p:cNvSpPr>
            <a:spLocks xmlns:a="http://schemas.openxmlformats.org/drawingml/2006/main" noGrp="1"/>
          </p:cNvSpPr>
          <p:nvPr/>
        </p:nvSpPr>
        <p:spPr>
          <a:xfrm xmlns:a="http://schemas.openxmlformats.org/drawingml/2006/main">
            <a:off x="1270000" y="3032125"/>
            <a:ext cx="9048750"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Bốn lệnh cùng origin_bar mở gần nhau và có trạng thái thị trường tương tự.</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Random K-Fold có thể tách các lệnh cùng gia đình sang cả train và test.</a:t>
            </a:r>
          </a:p>
        </p:txBody>
      </p:sp>
      <p:sp>
        <p:nvSpPr>
          <p:cNvPr id="23" name="Phụ thuộc theo thời gian">
            <a:extLst xmlns:a="http://schemas.openxmlformats.org/drawingml/2006/main">
              <a:ext uri="{FF2B5EF4-FFF2-40B4-BE49-F238E27FC236}">
                <a16:creationId xmlns:a16="http://schemas.microsoft.com/office/drawing/2014/main" id="{8A463DFA-F1AE-41CF-A30E-97EEAD28BD74}"/>
              </a:ext>
            </a:extLst>
          </p:cNvPr>
          <p:cNvSpPr>
            <a:spLocks xmlns:a="http://schemas.openxmlformats.org/drawingml/2006/main" noGrp="1"/>
          </p:cNvSpPr>
          <p:nvPr/>
        </p:nvSpPr>
        <p:spPr>
          <a:xfrm xmlns:a="http://schemas.openxmlformats.org/drawingml/2006/main">
            <a:off x="1117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2E7D32"/>
                </a:solidFill>
                <a:latin typeface="Times New Roman"/>
                <a:ea typeface="Times New Roman"/>
                <a:cs typeface="Times New Roman"/>
              </a:defRPr>
            </a:pPr>
            <a:r>
              <a:rPr sz="3625" b="1">
                <a:solidFill>
                  <a:srgbClr val="2E7D32"/>
                </a:solidFill>
                <a:latin typeface="Times New Roman"/>
                <a:ea typeface="Times New Roman"/>
                <a:cs typeface="Times New Roman"/>
              </a:rPr>
              <a:t>Phụ thuộc theo thời gian</a:t>
            </a:r>
          </a:p>
        </p:txBody>
      </p:sp>
      <p:sp>
        <p:nvSpPr>
          <p:cNvPr id="24" name="Nhãn dùng diễn biến sau thời điểm mở lệnh, tối đa 50 nến.&#10;&#10;T">
            <a:extLst xmlns:a="http://schemas.openxmlformats.org/drawingml/2006/main">
              <a:ext uri="{FF2B5EF4-FFF2-40B4-BE49-F238E27FC236}">
                <a16:creationId xmlns:a16="http://schemas.microsoft.com/office/drawing/2014/main" id="{3E7486F7-6208-40DA-A0B8-1B7E34505D7E}"/>
              </a:ext>
            </a:extLst>
          </p:cNvPr>
          <p:cNvSpPr>
            <a:spLocks xmlns:a="http://schemas.openxmlformats.org/drawingml/2006/main" noGrp="1"/>
          </p:cNvSpPr>
          <p:nvPr/>
        </p:nvSpPr>
        <p:spPr>
          <a:xfrm xmlns:a="http://schemas.openxmlformats.org/drawingml/2006/main">
            <a:off x="11430000" y="3032125"/>
            <a:ext cx="8969375"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Nhãn dùng diễn biến sau thời điểm mở lệnh, tối đa 50 nến.</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Tập train có thể chứa thông tin tương lai hoặc nhãn tràn sang giai đoạn test.</a:t>
            </a:r>
          </a:p>
        </p:txBody>
      </p:sp>
      <p:sp>
        <p:nvSpPr>
          <p:cNvPr id="25" name="">
            <a:extLst xmlns:a="http://schemas.openxmlformats.org/drawingml/2006/main">
              <a:ext uri="{FF2B5EF4-FFF2-40B4-BE49-F238E27FC236}">
                <a16:creationId xmlns:a16="http://schemas.microsoft.com/office/drawing/2014/main" id="{C57BF355-4879-4B84-B6F8-6D4818F4ED49}"/>
              </a:ext>
            </a:extLst>
          </p:cNvPr>
          <p:cNvSpPr>
            <a:spLocks xmlns:a="http://schemas.openxmlformats.org/drawingml/2006/main" noGrp="1"/>
          </p:cNvSpPr>
          <p:nvPr/>
        </p:nvSpPr>
        <p:spPr>
          <a:xfrm xmlns:a="http://schemas.openxmlformats.org/drawingml/2006/main">
            <a:off x="1016000" y="9096375"/>
            <a:ext cx="19653250" cy="1841500"/>
          </a:xfrm>
          <a:prstGeom xmlns:a="http://schemas.openxmlformats.org/drawingml/2006/main" prst="roundRect">
            <a:avLst>
              <a:gd name="adj" fmla="val 13793"/>
            </a:avLst>
          </a:prstGeom>
          <a:solidFill xmlns:a="http://schemas.openxmlformats.org/drawingml/2006/main">
            <a:srgbClr val="FFF3E0"/>
          </a:solidFill>
          <a:ln xmlns:a="http://schemas.openxmlformats.org/drawingml/2006/main" w="15875">
            <a:solidFill>
              <a:srgbClr val="FFF3E0"/>
            </a:solidFill>
          </a:ln>
        </p:spPr>
      </p:sp>
      <p:sp>
        <p:nvSpPr>
          <p:cNvPr id="26" name="Grouped K-Fold giữ nguyên gia đình lệnh nhưng vẫn trộn thời ">
            <a:extLst xmlns:a="http://schemas.openxmlformats.org/drawingml/2006/main">
              <a:ext uri="{FF2B5EF4-FFF2-40B4-BE49-F238E27FC236}">
                <a16:creationId xmlns:a16="http://schemas.microsoft.com/office/drawing/2014/main" id="{0167ED05-62D9-4763-B5D0-0EF893C44E4D}"/>
              </a:ext>
            </a:extLst>
          </p:cNvPr>
          <p:cNvSpPr>
            <a:spLocks xmlns:a="http://schemas.openxmlformats.org/drawingml/2006/main" noGrp="1"/>
          </p:cNvSpPr>
          <p:nvPr/>
        </p:nvSpPr>
        <p:spPr>
          <a:xfrm xmlns:a="http://schemas.openxmlformats.org/drawingml/2006/main">
            <a:off x="1301750" y="9366250"/>
            <a:ext cx="19050000" cy="144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Grouped K-Fold giữ nguyên gia đình lệnh nhưng vẫn trộn thời gian. Walk-forward chỉ huấn luyện trên các khúc đứng trước khúc kiểm thử.</a:t>
            </a:r>
          </a:p>
        </p:txBody>
      </p:sp>
    </p:spTree>
    <p:extLst>
      <p:ext uri="{BB962C8B-B14F-4D97-AF65-F5344CB8AC3E}">
        <p14:creationId xmlns:p14="http://schemas.microsoft.com/office/powerpoint/2010/main" val="6123651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59A78F6-CA85-4D00-B269-FD62517A2E4A}"/>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6680B868-52EE-463A-9E1D-1C9D325E99D3}"/>
              </a:ext>
            </a:extLst>
          </p:cNvPr>
          <p:cNvSpPr>
            <a:spLocks xmlns:a="http://schemas.openxmlformats.org/drawingml/2006/main" noGrp="1"/>
          </p:cNvSpPr>
          <p:nvPr/>
        </p:nvSpPr>
        <p:spPr>
          <a:xfrm xmlns:a="http://schemas.openxmlformats.org/drawingml/2006/main">
            <a:off x="3725227"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3D269225-725F-4E42-9A5A-5A23BA587C0E}"/>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8487EB80-44A7-439D-826B-526890C6D212}"/>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6E0582A5-963E-4F00-AE0B-B02CED718996}"/>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87C82307-4A49-4D40-A601-ADDFD1843CE6}"/>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423A1F33-EF39-4A12-A359-C4E17FEE15CA}"/>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55FFD9C-5668-464C-B604-52E93672826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39B60F24-7C3E-4018-A36A-579664416722}"/>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6701011B-42CF-402F-9608-6DA7445ED492}"/>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31269858-CBF9-4D7E-A5D0-584EF553AD9E}"/>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38F86A0C-54D2-4AE6-9620-A773AED64E5B}"/>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FA55D761-F5D2-43C5-9586-2C4549345AA9}"/>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97899EEC-EF49-41F6-B5C5-51F331A3C076}"/>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1F194036-49A2-4A9F-B513-26431268BD5E}"/>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Bốn phương pháp chia dữ liệu">
            <a:extLst xmlns:a="http://schemas.openxmlformats.org/drawingml/2006/main">
              <a:ext uri="{FF2B5EF4-FFF2-40B4-BE49-F238E27FC236}">
                <a16:creationId xmlns:a16="http://schemas.microsoft.com/office/drawing/2014/main" id="{350CD270-40DB-4B87-86A6-7D4F75119DDA}"/>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Bốn phương pháp chia dữ liệu</a:t>
            </a:r>
          </a:p>
        </p:txBody>
      </p:sp>
      <p:sp>
        <p:nvSpPr>
          <p:cNvPr id="20" name="8/18">
            <a:extLst xmlns:a="http://schemas.openxmlformats.org/drawingml/2006/main">
              <a:ext uri="{FF2B5EF4-FFF2-40B4-BE49-F238E27FC236}">
                <a16:creationId xmlns:a16="http://schemas.microsoft.com/office/drawing/2014/main" id="{68520E5B-5E76-4458-9633-DC21BC36AC87}"/>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8/18</a:t>
            </a:r>
          </a:p>
        </p:txBody>
      </p:sp>
      <p:graphicFrame>
        <p:nvGraphicFramePr>
          <p:cNvPr id="41" name=""/>
          <p:cNvGraphicFramePr/>
          <p:nvPr/>
        </p:nvGraphicFramePr>
        <p:xfrm>
          <a:off xmlns:a="http://schemas.openxmlformats.org/drawingml/2006/main" x="1016000" y="2174875"/>
          <a:ext xmlns:a="http://schemas.openxmlformats.org/drawingml/2006/main" cx="19653250" cy="6032500"/>
        </p:xfrm>
        <a:graphic xmlns:a="http://schemas.openxmlformats.org/drawingml/2006/main">
          <a:graphicData uri="http://schemas.openxmlformats.org/drawingml/2006/table">
            <a:tbl>
              <a:tblPr/>
              <a:tblGrid>
                <a:gridCol w="4794250"/>
                <a:gridCol w="5826125"/>
                <a:gridCol w="9032875"/>
              </a:tblGrid>
              <a:tr h="1206500">
                <a:tc>
                  <a:txBody>
                    <a:bodyPr>
                      <a:noAutofit/>
                    </a:bodyPr>
                    <a:lstStyle/>
                    <a:p>
                      <a:r>
                        <a:rPr sz="2875" b="1">
                          <a:solidFill>
                            <a:srgbClr val="FFFFFF"/>
                          </a:solidFill>
                          <a:latin typeface="Times New Roman"/>
                          <a:ea typeface="Times New Roman"/>
                          <a:cs typeface="Times New Roman"/>
                        </a:rPr>
                        <a:t>Cách chia</a:t>
                      </a:r>
                    </a:p>
                  </a:txBody>
                  <a:tcPr marL="158750" marR="158750" marT="127000" marB="127000" anchor="ctr">
                    <a:solidFill>
                      <a:srgbClr val="1565C0"/>
                    </a:solidFill>
                  </a:tcPr>
                </a:tc>
                <a:tc>
                  <a:txBody>
                    <a:bodyPr>
                      <a:noAutofit/>
                    </a:bodyPr>
                    <a:lstStyle/>
                    <a:p>
                      <a:r>
                        <a:rPr sz="2875" b="1">
                          <a:solidFill>
                            <a:srgbClr val="FFFFFF"/>
                          </a:solidFill>
                          <a:latin typeface="Times New Roman"/>
                          <a:ea typeface="Times New Roman"/>
                          <a:cs typeface="Times New Roman"/>
                        </a:rPr>
                        <a:t>Cấu trúc</a:t>
                      </a:r>
                    </a:p>
                  </a:txBody>
                  <a:tcPr marL="158750" marR="158750" marT="127000" marB="127000" anchor="ctr">
                    <a:solidFill>
                      <a:srgbClr val="1565C0"/>
                    </a:solidFill>
                  </a:tcPr>
                </a:tc>
                <a:tc>
                  <a:txBody>
                    <a:bodyPr>
                      <a:noAutofit/>
                    </a:bodyPr>
                    <a:lstStyle/>
                    <a:p>
                      <a:r>
                        <a:rPr sz="2875" b="1">
                          <a:solidFill>
                            <a:srgbClr val="FFFFFF"/>
                          </a:solidFill>
                          <a:latin typeface="Times New Roman"/>
                          <a:ea typeface="Times New Roman"/>
                          <a:cs typeface="Times New Roman"/>
                        </a:rPr>
                        <a:t>Kiểm soát chính</a:t>
                      </a:r>
                    </a:p>
                  </a:txBody>
                  <a:tcPr marL="158750" marR="158750" marT="127000" marB="127000" anchor="ctr">
                    <a:solidFill>
                      <a:srgbClr val="1565C0"/>
                    </a:solidFill>
                  </a:tcPr>
                </a:tc>
              </a:tr>
              <a:tr h="1206500">
                <a:tc>
                  <a:txBody>
                    <a:bodyPr>
                      <a:noAutofit/>
                    </a:bodyPr>
                    <a:lstStyle/>
                    <a:p>
                      <a:r>
                        <a:rPr sz="2875" b="0">
                          <a:solidFill>
                            <a:srgbClr val="151515"/>
                          </a:solidFill>
                          <a:latin typeface="Times New Roman"/>
                          <a:ea typeface="Times New Roman"/>
                          <a:cs typeface="Times New Roman"/>
                        </a:rPr>
                        <a:t>Random K-Fold</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5 folds, trộn từng dòng</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Không giữ nhóm, không giữ trật tự thời gian</a:t>
                      </a:r>
                    </a:p>
                  </a:txBody>
                  <a:tcPr marL="158750" marR="158750" marT="127000" marB="127000" anchor="ctr">
                    <a:solidFill>
                      <a:srgbClr val="FFFFFF"/>
                    </a:solidFill>
                  </a:tcPr>
                </a:tc>
              </a:tr>
              <a:tr h="1206500">
                <a:tc>
                  <a:txBody>
                    <a:bodyPr>
                      <a:noAutofit/>
                    </a:bodyPr>
                    <a:lstStyle/>
                    <a:p>
                      <a:r>
                        <a:rPr sz="2875" b="0">
                          <a:solidFill>
                            <a:srgbClr val="151515"/>
                          </a:solidFill>
                          <a:latin typeface="Times New Roman"/>
                          <a:ea typeface="Times New Roman"/>
                          <a:cs typeface="Times New Roman"/>
                        </a:rPr>
                        <a:t>Grouped K-Fold</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5 folds theo origin_bar</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Giữ gia đình lệnh ở cùng một phía</a:t>
                      </a:r>
                    </a:p>
                  </a:txBody>
                  <a:tcPr marL="158750" marR="158750" marT="127000" marB="127000" anchor="ctr">
                    <a:solidFill>
                      <a:srgbClr val="E3F2FD"/>
                    </a:solidFill>
                  </a:tcPr>
                </a:tc>
              </a:tr>
              <a:tr h="1206500">
                <a:tc>
                  <a:txBody>
                    <a:bodyPr>
                      <a:noAutofit/>
                    </a:bodyPr>
                    <a:lstStyle/>
                    <a:p>
                      <a:r>
                        <a:rPr sz="2875" b="0">
                          <a:solidFill>
                            <a:srgbClr val="151515"/>
                          </a:solidFill>
                          <a:latin typeface="Times New Roman"/>
                          <a:ea typeface="Times New Roman"/>
                          <a:cs typeface="Times New Roman"/>
                        </a:rPr>
                        <a:t>Walk-forward</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4 lượt, cửa sổ train mở rộng</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Dùng quá khứ để kiểm thử khúc kế tiếp</a:t>
                      </a:r>
                    </a:p>
                  </a:txBody>
                  <a:tcPr marL="158750" marR="158750" marT="127000" marB="127000" anchor="ctr">
                    <a:solidFill>
                      <a:srgbClr val="FFFFFF"/>
                    </a:solidFill>
                  </a:tcPr>
                </a:tc>
              </a:tr>
              <a:tr h="1206500">
                <a:tc>
                  <a:txBody>
                    <a:bodyPr>
                      <a:noAutofit/>
                    </a:bodyPr>
                    <a:lstStyle/>
                    <a:p>
                      <a:r>
                        <a:rPr sz="2875" b="0">
                          <a:solidFill>
                            <a:srgbClr val="151515"/>
                          </a:solidFill>
                          <a:latin typeface="Times New Roman"/>
                          <a:ea typeface="Times New Roman"/>
                          <a:cs typeface="Times New Roman"/>
                        </a:rPr>
                        <a:t>WF + Purge/Embargo</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4 lượt, làm sạch biên train</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Bỏ nhãn chồng lấn và tạo khoảng đệm 50 nến</a:t>
                      </a:r>
                    </a:p>
                  </a:txBody>
                  <a:tcPr marL="158750" marR="158750" marT="127000" marB="127000" anchor="ctr">
                    <a:solidFill>
                      <a:srgbClr val="E3F2FD"/>
                    </a:solidFill>
                  </a:tcPr>
                </a:tc>
              </a:tr>
            </a:tbl>
          </a:graphicData>
        </a:graphic>
      </p:graphicFrame>
      <p:sp>
        <p:nvSpPr>
          <p:cNvPr id="22" name="">
            <a:extLst xmlns:a="http://schemas.openxmlformats.org/drawingml/2006/main">
              <a:ext uri="{FF2B5EF4-FFF2-40B4-BE49-F238E27FC236}">
                <a16:creationId xmlns:a16="http://schemas.microsoft.com/office/drawing/2014/main" id="{92CB7084-9543-46A2-B3C9-27948077C6AE}"/>
              </a:ext>
            </a:extLst>
          </p:cNvPr>
          <p:cNvSpPr>
            <a:spLocks xmlns:a="http://schemas.openxmlformats.org/drawingml/2006/main" noGrp="1"/>
          </p:cNvSpPr>
          <p:nvPr/>
        </p:nvSpPr>
        <p:spPr>
          <a:xfrm xmlns:a="http://schemas.openxmlformats.org/drawingml/2006/main">
            <a:off x="1016000" y="9001125"/>
            <a:ext cx="19653250" cy="1809750"/>
          </a:xfrm>
          <a:prstGeom xmlns:a="http://schemas.openxmlformats.org/drawingml/2006/main" prst="roundRect">
            <a:avLst>
              <a:gd name="adj" fmla="val 14035"/>
            </a:avLst>
          </a:prstGeom>
          <a:solidFill xmlns:a="http://schemas.openxmlformats.org/drawingml/2006/main">
            <a:srgbClr val="E3F2FD"/>
          </a:solidFill>
          <a:ln xmlns:a="http://schemas.openxmlformats.org/drawingml/2006/main" w="15875">
            <a:solidFill>
              <a:srgbClr val="E3F2FD"/>
            </a:solidFill>
          </a:ln>
        </p:spPr>
      </p:sp>
      <p:sp>
        <p:nvSpPr>
          <p:cNvPr id="23" name="So sánh trên cùng 20.007 mẫu thuộc khúc 2–5. Loại khúc 1 khỏ">
            <a:extLst xmlns:a="http://schemas.openxmlformats.org/drawingml/2006/main">
              <a:ext uri="{FF2B5EF4-FFF2-40B4-BE49-F238E27FC236}">
                <a16:creationId xmlns:a16="http://schemas.microsoft.com/office/drawing/2014/main" id="{AC3C85E2-D4E0-47B9-AAE9-D9678467766E}"/>
              </a:ext>
            </a:extLst>
          </p:cNvPr>
          <p:cNvSpPr>
            <a:spLocks xmlns:a="http://schemas.openxmlformats.org/drawingml/2006/main" noGrp="1"/>
          </p:cNvSpPr>
          <p:nvPr/>
        </p:nvSpPr>
        <p:spPr>
          <a:xfrm xmlns:a="http://schemas.openxmlformats.org/drawingml/2006/main">
            <a:off x="1301750" y="9271000"/>
            <a:ext cx="19050000" cy="141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So sánh trên cùng 20.007 mẫu thuộc khúc 2–5. Loại khúc 1 khỏi chỉ số của cả bốn nhánh để đồng nhất vùng đánh giá.</a:t>
            </a:r>
          </a:p>
        </p:txBody>
      </p:sp>
    </p:spTree>
    <p:extLst>
      <p:ext uri="{BB962C8B-B14F-4D97-AF65-F5344CB8AC3E}">
        <p14:creationId xmlns:p14="http://schemas.microsoft.com/office/powerpoint/2010/main" val="10056545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4E71FB3-17DA-4A9C-BEBC-43679F8393A7}"/>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BED08B5A-4194-4D52-B5FC-090357E6E567}"/>
              </a:ext>
            </a:extLst>
          </p:cNvPr>
          <p:cNvSpPr>
            <a:spLocks xmlns:a="http://schemas.openxmlformats.org/drawingml/2006/main" noGrp="1"/>
          </p:cNvSpPr>
          <p:nvPr/>
        </p:nvSpPr>
        <p:spPr>
          <a:xfrm xmlns:a="http://schemas.openxmlformats.org/drawingml/2006/main">
            <a:off x="7281196"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A90299A0-EBDA-41F3-81BE-5B3E1A39E242}"/>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7509F3E8-5F70-48F5-96CE-E715D0EBB42A}"/>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03FD3052-8CD7-4C44-B411-16C2F785C402}"/>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0BF072F8-7AE3-437B-BE6A-D14297BF2BE8}"/>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25372917-9CF5-416F-8E8E-58FBB54D51C9}"/>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E2A4B60B-0688-4C6D-9FB5-6F60C7AE8C8B}"/>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83D044DE-D531-4E1F-BDEE-31EE3A9B972D}"/>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5CE824F5-850D-43B7-A2F3-276E09C11EF9}"/>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E4EA07EE-6F56-4A92-8323-3BC01396D2E1}"/>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13B9EEA2-0206-4167-94D3-458AEBE78ADE}"/>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46E60B04-F656-4D07-9856-034FEB68CE5F}"/>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2CCF25F0-573A-491E-AB2C-A9249E82786D}"/>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492531CA-9093-4EF1-AD39-6B15EB98A011}"/>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Purging và vùng đệm trước tập test">
            <a:extLst xmlns:a="http://schemas.openxmlformats.org/drawingml/2006/main">
              <a:ext uri="{FF2B5EF4-FFF2-40B4-BE49-F238E27FC236}">
                <a16:creationId xmlns:a16="http://schemas.microsoft.com/office/drawing/2014/main" id="{4B34EE16-792C-45CE-9F5D-4B6664876200}"/>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Purging và vùng đệm trước tập test</a:t>
            </a:r>
          </a:p>
        </p:txBody>
      </p:sp>
      <p:sp>
        <p:nvSpPr>
          <p:cNvPr id="20" name="9/18">
            <a:extLst xmlns:a="http://schemas.openxmlformats.org/drawingml/2006/main">
              <a:ext uri="{FF2B5EF4-FFF2-40B4-BE49-F238E27FC236}">
                <a16:creationId xmlns:a16="http://schemas.microsoft.com/office/drawing/2014/main" id="{77ECA60C-774F-4C97-B1E8-9CB3BAB9A1FB}"/>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9/18</a:t>
            </a:r>
          </a:p>
        </p:txBody>
      </p:sp>
      <p:sp>
        <p:nvSpPr>
          <p:cNvPr id="21" name="Purging: điều kiện nhãn">
            <a:extLst xmlns:a="http://schemas.openxmlformats.org/drawingml/2006/main">
              <a:ext uri="{FF2B5EF4-FFF2-40B4-BE49-F238E27FC236}">
                <a16:creationId xmlns:a16="http://schemas.microsoft.com/office/drawing/2014/main" id="{D38C41E4-5A21-42E6-ADDF-7E19AB3EA745}"/>
              </a:ext>
            </a:extLst>
          </p:cNvPr>
          <p:cNvSpPr>
            <a:spLocks xmlns:a="http://schemas.openxmlformats.org/drawingml/2006/main" noGrp="1"/>
          </p:cNvSpPr>
          <p:nvPr/>
        </p:nvSpPr>
        <p:spPr>
          <a:xfrm xmlns:a="http://schemas.openxmlformats.org/drawingml/2006/main">
            <a:off x="101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1565C0"/>
                </a:solidFill>
                <a:latin typeface="Times New Roman"/>
                <a:ea typeface="Times New Roman"/>
                <a:cs typeface="Times New Roman"/>
              </a:defRPr>
            </a:pPr>
            <a:r>
              <a:rPr sz="3625" b="1">
                <a:solidFill>
                  <a:srgbClr val="1565C0"/>
                </a:solidFill>
                <a:latin typeface="Times New Roman"/>
                <a:ea typeface="Times New Roman"/>
                <a:cs typeface="Times New Roman"/>
              </a:rPr>
              <a:t>Purging: điều kiện nhãn</a:t>
            </a:r>
          </a:p>
        </p:txBody>
      </p:sp>
      <p:sp>
        <p:nvSpPr>
          <p:cNvPr id="22" name="Chỉ giữ mẫu train khi:&#10;&#10;label_end_time &lt; test_start_time&#10;&#10;Mẫ">
            <a:extLst xmlns:a="http://schemas.openxmlformats.org/drawingml/2006/main">
              <a:ext uri="{FF2B5EF4-FFF2-40B4-BE49-F238E27FC236}">
                <a16:creationId xmlns:a16="http://schemas.microsoft.com/office/drawing/2014/main" id="{D6793A03-F3EB-479F-90C0-1A1C97A4C850}"/>
              </a:ext>
            </a:extLst>
          </p:cNvPr>
          <p:cNvSpPr>
            <a:spLocks xmlns:a="http://schemas.openxmlformats.org/drawingml/2006/main" noGrp="1"/>
          </p:cNvSpPr>
          <p:nvPr/>
        </p:nvSpPr>
        <p:spPr>
          <a:xfrm xmlns:a="http://schemas.openxmlformats.org/drawingml/2006/main">
            <a:off x="1270000" y="3032125"/>
            <a:ext cx="9048750"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Chỉ giữ mẫu train khi:</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label_end_time &lt; test_start_time</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Mẫu có nhãn kết thúc trong hoặc sau khi test bắt đầu phải bị loại.</a:t>
            </a:r>
          </a:p>
        </p:txBody>
      </p:sp>
      <p:sp>
        <p:nvSpPr>
          <p:cNvPr id="23" name="Embargo: vùng đệm 50 nến">
            <a:extLst xmlns:a="http://schemas.openxmlformats.org/drawingml/2006/main">
              <a:ext uri="{FF2B5EF4-FFF2-40B4-BE49-F238E27FC236}">
                <a16:creationId xmlns:a16="http://schemas.microsoft.com/office/drawing/2014/main" id="{3A564C9F-3FB3-4B14-9535-4F56BF6C0CD3}"/>
              </a:ext>
            </a:extLst>
          </p:cNvPr>
          <p:cNvSpPr>
            <a:spLocks xmlns:a="http://schemas.openxmlformats.org/drawingml/2006/main" noGrp="1"/>
          </p:cNvSpPr>
          <p:nvPr/>
        </p:nvSpPr>
        <p:spPr>
          <a:xfrm xmlns:a="http://schemas.openxmlformats.org/drawingml/2006/main">
            <a:off x="11176000" y="2095500"/>
            <a:ext cx="936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2E7D32"/>
                </a:solidFill>
                <a:latin typeface="Times New Roman"/>
                <a:ea typeface="Times New Roman"/>
                <a:cs typeface="Times New Roman"/>
              </a:defRPr>
            </a:pPr>
            <a:r>
              <a:rPr sz="3625" b="1">
                <a:solidFill>
                  <a:srgbClr val="2E7D32"/>
                </a:solidFill>
                <a:latin typeface="Times New Roman"/>
                <a:ea typeface="Times New Roman"/>
                <a:cs typeface="Times New Roman"/>
              </a:rPr>
              <a:t>Embargo: vùng đệm 50 nến</a:t>
            </a:r>
          </a:p>
        </p:txBody>
      </p:sp>
      <p:sp>
        <p:nvSpPr>
          <p:cNvPr id="24" name="Chỉ giữ mẫu train khi:&#10;&#10;entry_bar &lt; test_start_bar − 50&#10;&#10;Tro">
            <a:extLst xmlns:a="http://schemas.openxmlformats.org/drawingml/2006/main">
              <a:ext uri="{FF2B5EF4-FFF2-40B4-BE49-F238E27FC236}">
                <a16:creationId xmlns:a16="http://schemas.microsoft.com/office/drawing/2014/main" id="{161EB3BF-F6C2-46F6-BC3E-0F5DBFD2201D}"/>
              </a:ext>
            </a:extLst>
          </p:cNvPr>
          <p:cNvSpPr>
            <a:spLocks xmlns:a="http://schemas.openxmlformats.org/drawingml/2006/main" noGrp="1"/>
          </p:cNvSpPr>
          <p:nvPr/>
        </p:nvSpPr>
        <p:spPr>
          <a:xfrm xmlns:a="http://schemas.openxmlformats.org/drawingml/2006/main">
            <a:off x="11430000" y="3032125"/>
            <a:ext cx="8969375" cy="531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Chỉ giữ mẫu train khi:</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entry_bar &lt; test_start_bar − 50</a:t>
            </a:r>
          </a:p>
          <a:p xmlns:a="http://schemas.openxmlformats.org/drawingml/2006/main">
            <a:r>
              <a:t/>
            </a:r>
          </a:p>
          <a:p xmlns:a="http://schemas.openxmlformats.org/drawingml/2006/main">
            <a:pPr algn="l">
              <a:defRPr sz="3250" b="0">
                <a:solidFill>
                  <a:srgbClr val="151515"/>
                </a:solidFill>
                <a:latin typeface="Times New Roman"/>
                <a:ea typeface="Times New Roman"/>
                <a:cs typeface="Times New Roman"/>
              </a:defRPr>
            </a:pPr>
            <a:r>
              <a:rPr sz="3250" b="0">
                <a:solidFill>
                  <a:srgbClr val="151515"/>
                </a:solidFill>
                <a:latin typeface="Times New Roman"/>
                <a:ea typeface="Times New Roman"/>
                <a:cs typeface="Times New Roman"/>
              </a:rPr>
              <a:t>Trong mã nguồn này, khoảng đệm nằm ngay trước mốc bắt đầu test.</a:t>
            </a:r>
          </a:p>
        </p:txBody>
      </p:sp>
      <p:graphicFrame>
        <p:nvGraphicFramePr>
          <p:cNvPr id="48" name=""/>
          <p:cNvGraphicFramePr/>
          <p:nvPr/>
        </p:nvGraphicFramePr>
        <p:xfrm>
          <a:off xmlns:a="http://schemas.openxmlformats.org/drawingml/2006/main" x="1016000" y="8191500"/>
          <a:ext xmlns:a="http://schemas.openxmlformats.org/drawingml/2006/main" cx="19653250" cy="2143125"/>
        </p:xfrm>
        <a:graphic xmlns:a="http://schemas.openxmlformats.org/drawingml/2006/main">
          <a:graphicData uri="http://schemas.openxmlformats.org/drawingml/2006/table">
            <a:tbl>
              <a:tblPr/>
              <a:tblGrid>
                <a:gridCol w="4286250"/>
                <a:gridCol w="3841750"/>
                <a:gridCol w="3841750"/>
                <a:gridCol w="3841750"/>
                <a:gridCol w="3841750"/>
              </a:tblGrid>
              <a:tr h="714375">
                <a:tc>
                  <a:txBody>
                    <a:bodyPr>
                      <a:noAutofit/>
                    </a:bodyPr>
                    <a:lstStyle/>
                    <a:p>
                      <a:r>
                        <a:rPr sz="2875" b="1">
                          <a:solidFill>
                            <a:srgbClr val="FFFFFF"/>
                          </a:solidFill>
                          <a:latin typeface="Times New Roman"/>
                          <a:ea typeface="Times New Roman"/>
                          <a:cs typeface="Times New Roman"/>
                        </a:rPr>
                        <a:t>Lượt</a:t>
                      </a:r>
                    </a:p>
                  </a:txBody>
                  <a:tcPr marL="158750" marR="158750" marT="127000" marB="127000" anchor="ctr">
                    <a:solidFill>
                      <a:srgbClr val="1565C0"/>
                    </a:solidFill>
                  </a:tcPr>
                </a:tc>
                <a:tc>
                  <a:txBody>
                    <a:bodyPr>
                      <a:noAutofit/>
                    </a:bodyPr>
                    <a:lstStyle/>
                    <a:p>
                      <a:r>
                        <a:rPr sz="2875" b="1">
                          <a:solidFill>
                            <a:srgbClr val="FFFFFF"/>
                          </a:solidFill>
                          <a:latin typeface="Times New Roman"/>
                          <a:ea typeface="Times New Roman"/>
                          <a:cs typeface="Times New Roman"/>
                        </a:rPr>
                        <a:t>1</a:t>
                      </a:r>
                    </a:p>
                  </a:txBody>
                  <a:tcPr marL="158750" marR="158750" marT="127000" marB="127000" anchor="ctr">
                    <a:solidFill>
                      <a:srgbClr val="1565C0"/>
                    </a:solidFill>
                  </a:tcPr>
                </a:tc>
                <a:tc>
                  <a:txBody>
                    <a:bodyPr>
                      <a:noAutofit/>
                    </a:bodyPr>
                    <a:lstStyle/>
                    <a:p>
                      <a:r>
                        <a:rPr sz="2875" b="1">
                          <a:solidFill>
                            <a:srgbClr val="FFFFFF"/>
                          </a:solidFill>
                          <a:latin typeface="Times New Roman"/>
                          <a:ea typeface="Times New Roman"/>
                          <a:cs typeface="Times New Roman"/>
                        </a:rPr>
                        <a:t>2</a:t>
                      </a:r>
                    </a:p>
                  </a:txBody>
                  <a:tcPr marL="158750" marR="158750" marT="127000" marB="127000" anchor="ctr">
                    <a:solidFill>
                      <a:srgbClr val="1565C0"/>
                    </a:solidFill>
                  </a:tcPr>
                </a:tc>
                <a:tc>
                  <a:txBody>
                    <a:bodyPr>
                      <a:noAutofit/>
                    </a:bodyPr>
                    <a:lstStyle/>
                    <a:p>
                      <a:r>
                        <a:rPr sz="2875" b="1">
                          <a:solidFill>
                            <a:srgbClr val="FFFFFF"/>
                          </a:solidFill>
                          <a:latin typeface="Times New Roman"/>
                          <a:ea typeface="Times New Roman"/>
                          <a:cs typeface="Times New Roman"/>
                        </a:rPr>
                        <a:t>3</a:t>
                      </a:r>
                    </a:p>
                  </a:txBody>
                  <a:tcPr marL="158750" marR="158750" marT="127000" marB="127000" anchor="ctr">
                    <a:solidFill>
                      <a:srgbClr val="1565C0"/>
                    </a:solidFill>
                  </a:tcPr>
                </a:tc>
                <a:tc>
                  <a:txBody>
                    <a:bodyPr>
                      <a:noAutofit/>
                    </a:bodyPr>
                    <a:lstStyle/>
                    <a:p>
                      <a:r>
                        <a:rPr sz="2875" b="1">
                          <a:solidFill>
                            <a:srgbClr val="FFFFFF"/>
                          </a:solidFill>
                          <a:latin typeface="Times New Roman"/>
                          <a:ea typeface="Times New Roman"/>
                          <a:cs typeface="Times New Roman"/>
                        </a:rPr>
                        <a:t>4</a:t>
                      </a:r>
                    </a:p>
                  </a:txBody>
                  <a:tcPr marL="158750" marR="158750" marT="127000" marB="127000" anchor="ctr">
                    <a:solidFill>
                      <a:srgbClr val="1565C0"/>
                    </a:solidFill>
                  </a:tcPr>
                </a:tc>
              </a:tr>
              <a:tr h="714375">
                <a:tc>
                  <a:txBody>
                    <a:bodyPr>
                      <a:noAutofit/>
                    </a:bodyPr>
                    <a:lstStyle/>
                    <a:p>
                      <a:r>
                        <a:rPr sz="2875" b="0">
                          <a:solidFill>
                            <a:srgbClr val="151515"/>
                          </a:solidFill>
                          <a:latin typeface="Times New Roman"/>
                          <a:ea typeface="Times New Roman"/>
                          <a:cs typeface="Times New Roman"/>
                        </a:rPr>
                        <a:t>Khúc train</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1</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1–2</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1–3</a:t>
                      </a:r>
                    </a:p>
                  </a:txBody>
                  <a:tcPr marL="158750" marR="158750" marT="127000" marB="127000" anchor="ctr">
                    <a:solidFill>
                      <a:srgbClr val="FFFFFF"/>
                    </a:solidFill>
                  </a:tcPr>
                </a:tc>
                <a:tc>
                  <a:txBody>
                    <a:bodyPr>
                      <a:noAutofit/>
                    </a:bodyPr>
                    <a:lstStyle/>
                    <a:p>
                      <a:r>
                        <a:rPr sz="2875" b="0">
                          <a:solidFill>
                            <a:srgbClr val="151515"/>
                          </a:solidFill>
                          <a:latin typeface="Times New Roman"/>
                          <a:ea typeface="Times New Roman"/>
                          <a:cs typeface="Times New Roman"/>
                        </a:rPr>
                        <a:t>1–4</a:t>
                      </a:r>
                    </a:p>
                  </a:txBody>
                  <a:tcPr marL="158750" marR="158750" marT="127000" marB="127000" anchor="ctr">
                    <a:solidFill>
                      <a:srgbClr val="FFFFFF"/>
                    </a:solidFill>
                  </a:tcPr>
                </a:tc>
              </a:tr>
              <a:tr h="714375">
                <a:tc>
                  <a:txBody>
                    <a:bodyPr>
                      <a:noAutofit/>
                    </a:bodyPr>
                    <a:lstStyle/>
                    <a:p>
                      <a:r>
                        <a:rPr sz="2875" b="0">
                          <a:solidFill>
                            <a:srgbClr val="151515"/>
                          </a:solidFill>
                          <a:latin typeface="Times New Roman"/>
                          <a:ea typeface="Times New Roman"/>
                          <a:cs typeface="Times New Roman"/>
                        </a:rPr>
                        <a:t>Khúc test</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2</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3</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4</a:t>
                      </a:r>
                    </a:p>
                  </a:txBody>
                  <a:tcPr marL="158750" marR="158750" marT="127000" marB="127000" anchor="ctr">
                    <a:solidFill>
                      <a:srgbClr val="E3F2FD"/>
                    </a:solidFill>
                  </a:tcPr>
                </a:tc>
                <a:tc>
                  <a:txBody>
                    <a:bodyPr>
                      <a:noAutofit/>
                    </a:bodyPr>
                    <a:lstStyle/>
                    <a:p>
                      <a:r>
                        <a:rPr sz="2875" b="0">
                          <a:solidFill>
                            <a:srgbClr val="151515"/>
                          </a:solidFill>
                          <a:latin typeface="Times New Roman"/>
                          <a:ea typeface="Times New Roman"/>
                          <a:cs typeface="Times New Roman"/>
                        </a:rPr>
                        <a:t>5</a:t>
                      </a:r>
                    </a:p>
                  </a:txBody>
                  <a:tcPr marL="158750" marR="158750" marT="127000" marB="127000" anchor="ctr">
                    <a:solidFill>
                      <a:srgbClr val="E3F2FD"/>
                    </a:solidFill>
                  </a:tcPr>
                </a:tc>
              </a:tr>
            </a:tbl>
          </a:graphicData>
        </a:graphic>
      </p:graphicFrame>
      <p:sp>
        <p:nvSpPr>
          <p:cNvPr id="26" name="Tại biên holdout, kiểm tra purge và embargo không loại thêm ">
            <a:extLst xmlns:a="http://schemas.openxmlformats.org/drawingml/2006/main">
              <a:ext uri="{FF2B5EF4-FFF2-40B4-BE49-F238E27FC236}">
                <a16:creationId xmlns:a16="http://schemas.microsoft.com/office/drawing/2014/main" id="{98670A8E-A7B2-4DE1-9855-20E85E5944CD}"/>
              </a:ext>
            </a:extLst>
          </p:cNvPr>
          <p:cNvSpPr>
            <a:spLocks xmlns:a="http://schemas.openxmlformats.org/drawingml/2006/main" noGrp="1"/>
          </p:cNvSpPr>
          <p:nvPr/>
        </p:nvSpPr>
        <p:spPr>
          <a:xfrm xmlns:a="http://schemas.openxmlformats.org/drawingml/2006/main">
            <a:off x="1047750" y="10795000"/>
            <a:ext cx="19494500" cy="55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65C0"/>
                </a:solidFill>
                <a:latin typeface="Times New Roman"/>
                <a:ea typeface="Times New Roman"/>
                <a:cs typeface="Times New Roman"/>
              </a:defRPr>
            </a:pPr>
            <a:r>
              <a:rPr sz="2875" b="0">
                <a:solidFill>
                  <a:srgbClr val="1565C0"/>
                </a:solidFill>
                <a:latin typeface="Times New Roman"/>
                <a:ea typeface="Times New Roman"/>
                <a:cs typeface="Times New Roman"/>
              </a:rPr>
              <a:t>Tại biên holdout, kiểm tra purge và embargo không loại thêm dòng nào.</a:t>
            </a:r>
          </a:p>
        </p:txBody>
      </p:sp>
    </p:spTree>
    <p:extLst>
      <p:ext uri="{BB962C8B-B14F-4D97-AF65-F5344CB8AC3E}">
        <p14:creationId xmlns:p14="http://schemas.microsoft.com/office/powerpoint/2010/main" val="13702307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4A20B4-C1B6-4CE2-B64A-5506183A29C2}"/>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7C07B71D-F92D-41E3-B4AA-BEB5F54ACE63}"/>
              </a:ext>
            </a:extLst>
          </p:cNvPr>
          <p:cNvSpPr>
            <a:spLocks xmlns:a="http://schemas.openxmlformats.org/drawingml/2006/main" noGrp="1"/>
          </p:cNvSpPr>
          <p:nvPr/>
        </p:nvSpPr>
        <p:spPr>
          <a:xfrm xmlns:a="http://schemas.openxmlformats.org/drawingml/2006/main">
            <a:off x="7281196"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D3C0D4A2-7494-4FE1-8023-D988553FF390}"/>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D6834B19-F43F-45C7-BD47-0E79B6CFCE65}"/>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4EBCB68D-0BCE-4101-B79E-3E31A90823FE}"/>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AC81AE39-5641-4E33-B8B2-81369B9958BD}"/>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3BD1BE30-611D-4D32-9B0B-D0F78012D3FD}"/>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6279E51-B1B3-4B07-A7F8-3304B3E8AF8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8861AE7D-C8F6-4D37-9088-AEA6767923DC}"/>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4545473B-A759-4790-908D-E307A7966A3A}"/>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22FE91F2-6615-42C6-9380-D3040C2E62EA}"/>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94A4D390-A300-4A10-9E43-F1DC4E6F13C9}"/>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C4935CBF-954D-4E93-9307-5CF1081C5E81}"/>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55B7AC0E-B841-4480-A113-DC05E10E6ECF}"/>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2B2B3B67-AA35-4D52-9009-3E7B608491F4}"/>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CatBoost và quy trình đánh giá">
            <a:extLst xmlns:a="http://schemas.openxmlformats.org/drawingml/2006/main">
              <a:ext uri="{FF2B5EF4-FFF2-40B4-BE49-F238E27FC236}">
                <a16:creationId xmlns:a16="http://schemas.microsoft.com/office/drawing/2014/main" id="{BABFFB7B-430D-4372-A65E-C6921408207B}"/>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CatBoost và quy trình đánh giá</a:t>
            </a:r>
          </a:p>
        </p:txBody>
      </p:sp>
      <p:sp>
        <p:nvSpPr>
          <p:cNvPr id="20" name="10/18">
            <a:extLst xmlns:a="http://schemas.openxmlformats.org/drawingml/2006/main">
              <a:ext uri="{FF2B5EF4-FFF2-40B4-BE49-F238E27FC236}">
                <a16:creationId xmlns:a16="http://schemas.microsoft.com/office/drawing/2014/main" id="{3CE38E1A-9BF6-46AF-8DC8-6A0C51FB0269}"/>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10/18</a:t>
            </a:r>
          </a:p>
        </p:txBody>
      </p:sp>
      <p:graphicFrame>
        <p:nvGraphicFramePr>
          <p:cNvPr id="43" name=""/>
          <p:cNvGraphicFramePr/>
          <p:nvPr/>
        </p:nvGraphicFramePr>
        <p:xfrm>
          <a:off xmlns:a="http://schemas.openxmlformats.org/drawingml/2006/main" x="1016000" y="2301875"/>
          <a:ext xmlns:a="http://schemas.openxmlformats.org/drawingml/2006/main" cx="9001125" cy="5365750"/>
        </p:xfrm>
        <a:graphic xmlns:a="http://schemas.openxmlformats.org/drawingml/2006/main">
          <a:graphicData uri="http://schemas.openxmlformats.org/drawingml/2006/table">
            <a:tbl>
              <a:tblPr/>
              <a:tblGrid>
                <a:gridCol w="5397500"/>
                <a:gridCol w="3603625"/>
              </a:tblGrid>
              <a:tr h="1073150">
                <a:tc>
                  <a:txBody>
                    <a:bodyPr>
                      <a:noAutofit/>
                    </a:bodyPr>
                    <a:lstStyle/>
                    <a:p>
                      <a:r>
                        <a:rPr sz="3000" b="1">
                          <a:solidFill>
                            <a:srgbClr val="FFFFFF"/>
                          </a:solidFill>
                          <a:latin typeface="Times New Roman"/>
                          <a:ea typeface="Times New Roman"/>
                          <a:cs typeface="Times New Roman"/>
                        </a:rPr>
                        <a:t>Cấu hình CatBoost</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Giá trị</a:t>
                      </a:r>
                    </a:p>
                  </a:txBody>
                  <a:tcPr marL="158750" marR="158750" marT="127000" marB="127000" anchor="ctr">
                    <a:solidFill>
                      <a:srgbClr val="1565C0"/>
                    </a:solidFill>
                  </a:tcPr>
                </a:tc>
              </a:tr>
              <a:tr h="1073150">
                <a:tc>
                  <a:txBody>
                    <a:bodyPr>
                      <a:noAutofit/>
                    </a:bodyPr>
                    <a:lstStyle/>
                    <a:p>
                      <a:r>
                        <a:rPr sz="3000" b="0">
                          <a:solidFill>
                            <a:srgbClr val="151515"/>
                          </a:solidFill>
                          <a:latin typeface="Times New Roman"/>
                          <a:ea typeface="Times New Roman"/>
                          <a:cs typeface="Times New Roman"/>
                        </a:rPr>
                        <a:t>Số vòng / tốc độ học</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1.000 / 0,05</a:t>
                      </a:r>
                    </a:p>
                  </a:txBody>
                  <a:tcPr marL="158750" marR="158750" marT="127000" marB="127000" anchor="ctr">
                    <a:solidFill>
                      <a:srgbClr val="FFFFFF"/>
                    </a:solidFill>
                  </a:tcPr>
                </a:tc>
              </a:tr>
              <a:tr h="1073150">
                <a:tc>
                  <a:txBody>
                    <a:bodyPr>
                      <a:noAutofit/>
                    </a:bodyPr>
                    <a:lstStyle/>
                    <a:p>
                      <a:r>
                        <a:rPr sz="3000" b="0">
                          <a:solidFill>
                            <a:srgbClr val="151515"/>
                          </a:solidFill>
                          <a:latin typeface="Times New Roman"/>
                          <a:ea typeface="Times New Roman"/>
                          <a:cs typeface="Times New Roman"/>
                        </a:rPr>
                        <a:t>Độ sâu / L2</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6 / 3,0</a:t>
                      </a:r>
                    </a:p>
                  </a:txBody>
                  <a:tcPr marL="158750" marR="158750" marT="127000" marB="127000" anchor="ctr">
                    <a:solidFill>
                      <a:srgbClr val="E3F2FD"/>
                    </a:solidFill>
                  </a:tcPr>
                </a:tc>
              </a:tr>
              <a:tr h="1073150">
                <a:tc>
                  <a:txBody>
                    <a:bodyPr>
                      <a:noAutofit/>
                    </a:bodyPr>
                    <a:lstStyle/>
                    <a:p>
                      <a:r>
                        <a:rPr sz="3000" b="0">
                          <a:solidFill>
                            <a:srgbClr val="151515"/>
                          </a:solidFill>
                          <a:latin typeface="Times New Roman"/>
                          <a:ea typeface="Times New Roman"/>
                          <a:cs typeface="Times New Roman"/>
                        </a:rPr>
                        <a:t>Cân bằng lớp</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Balanced</a:t>
                      </a:r>
                    </a:p>
                  </a:txBody>
                  <a:tcPr marL="158750" marR="158750" marT="127000" marB="127000" anchor="ctr">
                    <a:solidFill>
                      <a:srgbClr val="FFFFFF"/>
                    </a:solidFill>
                  </a:tcPr>
                </a:tc>
              </a:tr>
              <a:tr h="1073150">
                <a:tc>
                  <a:txBody>
                    <a:bodyPr>
                      <a:noAutofit/>
                    </a:bodyPr>
                    <a:lstStyle/>
                    <a:p>
                      <a:r>
                        <a:rPr sz="3000" b="0">
                          <a:solidFill>
                            <a:srgbClr val="151515"/>
                          </a:solidFill>
                          <a:latin typeface="Times New Roman"/>
                          <a:ea typeface="Times New Roman"/>
                          <a:cs typeface="Times New Roman"/>
                        </a:rPr>
                        <a:t>Seed / số luồng</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42 / 1</a:t>
                      </a:r>
                    </a:p>
                  </a:txBody>
                  <a:tcPr marL="158750" marR="158750" marT="127000" marB="127000" anchor="ctr">
                    <a:solidFill>
                      <a:srgbClr val="E3F2FD"/>
                    </a:solidFill>
                  </a:tcPr>
                </a:tc>
              </a:tr>
            </a:tbl>
          </a:graphicData>
        </a:graphic>
      </p:graphicFrame>
      <p:sp>
        <p:nvSpPr>
          <p:cNvPr id="22" name="Hai cách đánh giá">
            <a:extLst xmlns:a="http://schemas.openxmlformats.org/drawingml/2006/main">
              <a:ext uri="{FF2B5EF4-FFF2-40B4-BE49-F238E27FC236}">
                <a16:creationId xmlns:a16="http://schemas.microsoft.com/office/drawing/2014/main" id="{B66BA5AC-562F-4081-B356-9ADF2DF32735}"/>
              </a:ext>
            </a:extLst>
          </p:cNvPr>
          <p:cNvSpPr>
            <a:spLocks xmlns:a="http://schemas.openxmlformats.org/drawingml/2006/main" noGrp="1"/>
          </p:cNvSpPr>
          <p:nvPr/>
        </p:nvSpPr>
        <p:spPr>
          <a:xfrm xmlns:a="http://schemas.openxmlformats.org/drawingml/2006/main">
            <a:off x="11176000" y="2270125"/>
            <a:ext cx="9366250"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25" b="1">
                <a:solidFill>
                  <a:srgbClr val="2E7D32"/>
                </a:solidFill>
                <a:latin typeface="Times New Roman"/>
                <a:ea typeface="Times New Roman"/>
                <a:cs typeface="Times New Roman"/>
              </a:defRPr>
            </a:pPr>
            <a:r>
              <a:rPr sz="3625" b="1">
                <a:solidFill>
                  <a:srgbClr val="2E7D32"/>
                </a:solidFill>
                <a:latin typeface="Times New Roman"/>
                <a:ea typeface="Times New Roman"/>
                <a:cs typeface="Times New Roman"/>
              </a:rPr>
              <a:t>Hai cách đánh giá</a:t>
            </a:r>
          </a:p>
        </p:txBody>
      </p:sp>
      <p:sp>
        <p:nvSpPr>
          <p:cNvPr id="23" name="Phân loại: ROC-AUC và F1 tại ngưỡng xác suất 0,5.&#10;&#10;Giao dịch">
            <a:extLst xmlns:a="http://schemas.openxmlformats.org/drawingml/2006/main">
              <a:ext uri="{FF2B5EF4-FFF2-40B4-BE49-F238E27FC236}">
                <a16:creationId xmlns:a16="http://schemas.microsoft.com/office/drawing/2014/main" id="{86E3EB7E-DF3B-47EF-A9FA-296E439C43A2}"/>
              </a:ext>
            </a:extLst>
          </p:cNvPr>
          <p:cNvSpPr>
            <a:spLocks xmlns:a="http://schemas.openxmlformats.org/drawingml/2006/main" noGrp="1"/>
          </p:cNvSpPr>
          <p:nvPr/>
        </p:nvSpPr>
        <p:spPr>
          <a:xfrm xmlns:a="http://schemas.openxmlformats.org/drawingml/2006/main">
            <a:off x="11398250" y="3222625"/>
            <a:ext cx="9128125" cy="479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Phân loại: ROC-AUC và F1 tại ngưỡng xác suất 0,5.</a:t>
            </a:r>
          </a:p>
          <a:p xmlns:a="http://schemas.openxmlformats.org/drawingml/2006/main">
            <a:r>
              <a:t/>
            </a:r>
          </a:p>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Giao dịch: xếp hạng xác suất, giữ Top 50% số lệnh.</a:t>
            </a:r>
          </a:p>
          <a:p xmlns:a="http://schemas.openxmlformats.org/drawingml/2006/main">
            <a:r>
              <a:t/>
            </a:r>
          </a:p>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Holdout: huấn luyện cuối trên 25.008 mẫu phát triển rồi chấm 5.028 mẫu tương lai.</a:t>
            </a:r>
          </a:p>
        </p:txBody>
      </p:sp>
      <p:sp>
        <p:nvSpPr>
          <p:cNvPr id="24" name="">
            <a:extLst xmlns:a="http://schemas.openxmlformats.org/drawingml/2006/main">
              <a:ext uri="{FF2B5EF4-FFF2-40B4-BE49-F238E27FC236}">
                <a16:creationId xmlns:a16="http://schemas.microsoft.com/office/drawing/2014/main" id="{A3897C1D-E678-4970-917F-3C55A70B2FF1}"/>
              </a:ext>
            </a:extLst>
          </p:cNvPr>
          <p:cNvSpPr>
            <a:spLocks xmlns:a="http://schemas.openxmlformats.org/drawingml/2006/main" noGrp="1"/>
          </p:cNvSpPr>
          <p:nvPr/>
        </p:nvSpPr>
        <p:spPr>
          <a:xfrm xmlns:a="http://schemas.openxmlformats.org/drawingml/2006/main">
            <a:off x="1016000" y="9080500"/>
            <a:ext cx="19653250" cy="1825625"/>
          </a:xfrm>
          <a:prstGeom xmlns:a="http://schemas.openxmlformats.org/drawingml/2006/main" prst="roundRect">
            <a:avLst>
              <a:gd name="adj" fmla="val 13913"/>
            </a:avLst>
          </a:prstGeom>
          <a:solidFill xmlns:a="http://schemas.openxmlformats.org/drawingml/2006/main">
            <a:srgbClr val="FFF3E0"/>
          </a:solidFill>
          <a:ln xmlns:a="http://schemas.openxmlformats.org/drawingml/2006/main" w="15875">
            <a:solidFill>
              <a:srgbClr val="FFF3E0"/>
            </a:solidFill>
          </a:ln>
        </p:spPr>
      </p:sp>
      <p:sp>
        <p:nvSpPr>
          <p:cNvPr id="25" name="Top 50% là phép lọc theo thứ hạng của cả tập đánh giá, khác ">
            <a:extLst xmlns:a="http://schemas.openxmlformats.org/drawingml/2006/main">
              <a:ext uri="{FF2B5EF4-FFF2-40B4-BE49-F238E27FC236}">
                <a16:creationId xmlns:a16="http://schemas.microsoft.com/office/drawing/2014/main" id="{5A3E34C2-38D8-460D-8984-DC6850BE192A}"/>
              </a:ext>
            </a:extLst>
          </p:cNvPr>
          <p:cNvSpPr>
            <a:spLocks xmlns:a="http://schemas.openxmlformats.org/drawingml/2006/main" noGrp="1"/>
          </p:cNvSpPr>
          <p:nvPr/>
        </p:nvSpPr>
        <p:spPr>
          <a:xfrm xmlns:a="http://schemas.openxmlformats.org/drawingml/2006/main">
            <a:off x="1301750" y="9350375"/>
            <a:ext cx="1905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Top 50% là phép lọc theo thứ hạng của cả tập đánh giá, khác với ngưỡng p ≥ 0,5. Cần ngưỡng xác lập từ quá khứ để vận hành trực tuyến.</a:t>
            </a:r>
          </a:p>
        </p:txBody>
      </p:sp>
    </p:spTree>
    <p:extLst>
      <p:ext uri="{BB962C8B-B14F-4D97-AF65-F5344CB8AC3E}">
        <p14:creationId xmlns:p14="http://schemas.microsoft.com/office/powerpoint/2010/main" val="14837779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4A20B4-C1B6-4CE2-B64A-5506183A29C2}"/>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7C07B71D-F92D-41E3-B4AA-BEB5F54ACE63}"/>
              </a:ext>
            </a:extLst>
          </p:cNvPr>
          <p:cNvSpPr>
            <a:spLocks xmlns:a="http://schemas.openxmlformats.org/drawingml/2006/main" noGrp="1"/>
          </p:cNvSpPr>
          <p:nvPr/>
        </p:nvSpPr>
        <p:spPr>
          <a:xfrm xmlns:a="http://schemas.openxmlformats.org/drawingml/2006/main">
            <a:off x="7281196"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D3C0D4A2-7494-4FE1-8023-D988553FF390}"/>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D6834B19-F43F-45C7-BD47-0E79B6CFCE65}"/>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4EBCB68D-0BCE-4101-B79E-3E31A90823FE}"/>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AC81AE39-5641-4E33-B8B2-81369B9958BD}"/>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3BD1BE30-611D-4D32-9B0B-D0F78012D3FD}"/>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6279E51-B1B3-4B07-A7F8-3304B3E8AF8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8861AE7D-C8F6-4D37-9088-AEA6767923DC}"/>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4545473B-A759-4790-908D-E307A7966A3A}"/>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22FE91F2-6615-42C6-9380-D3040C2E62EA}"/>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94A4D390-A300-4A10-9E43-F1DC4E6F13C9}"/>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C4935CBF-954D-4E93-9307-5CF1081C5E81}"/>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55B7AC0E-B841-4480-A113-DC05E10E6ECF}"/>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2B2B3B67-AA35-4D52-9009-3E7B608491F4}"/>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Cách chia dữ liệu làm thay đổi điểm kiểm định">
            <a:extLst xmlns:a="http://schemas.openxmlformats.org/drawingml/2006/main">
              <a:ext uri="{FF2B5EF4-FFF2-40B4-BE49-F238E27FC236}">
                <a16:creationId xmlns:a16="http://schemas.microsoft.com/office/drawing/2014/main" id="{A1E489C5-7304-4C3A-A1A8-9691C1D30706}"/>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Cách chia dữ liệu làm thay đổi điểm kiểm định</a:t>
            </a:r>
          </a:p>
        </p:txBody>
      </p:sp>
      <p:sp>
        <p:nvSpPr>
          <p:cNvPr id="20" name="11/18">
            <a:extLst xmlns:a="http://schemas.openxmlformats.org/drawingml/2006/main">
              <a:ext uri="{FF2B5EF4-FFF2-40B4-BE49-F238E27FC236}">
                <a16:creationId xmlns:a16="http://schemas.microsoft.com/office/drawing/2014/main" id="{FCE1AAB6-0BC4-4D76-9AE3-59CB3FB490BB}"/>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11/18</a:t>
            </a:r>
          </a:p>
        </p:txBody>
      </p:sp>
      <p:graphicFrame>
        <p:nvGraphicFramePr>
          <p:cNvPr id="44" name=""/>
          <p:cNvGraphicFramePr/>
          <p:nvPr/>
        </p:nvGraphicFramePr>
        <p:xfrm>
          <a:off xmlns:a="http://schemas.openxmlformats.org/drawingml/2006/main" x="1016000" y="2206625"/>
          <a:ext xmlns:a="http://schemas.openxmlformats.org/drawingml/2006/main" cx="12573000" cy="6064250"/>
        </p:xfrm>
        <a:graphic xmlns:a="http://schemas.openxmlformats.org/drawingml/2006/main">
          <a:graphicData uri="http://schemas.openxmlformats.org/drawingml/2006/table">
            <a:tbl>
              <a:tblPr/>
              <a:tblGrid>
                <a:gridCol w="6794500"/>
                <a:gridCol w="2889250"/>
                <a:gridCol w="2889250"/>
              </a:tblGrid>
              <a:tr h="1010708">
                <a:tc>
                  <a:txBody>
                    <a:bodyPr>
                      <a:noAutofit/>
                    </a:bodyPr>
                    <a:lstStyle/>
                    <a:p>
                      <a:r>
                        <a:rPr sz="3125" b="1">
                          <a:solidFill>
                            <a:srgbClr val="FFFFFF"/>
                          </a:solidFill>
                          <a:latin typeface="Times New Roman"/>
                          <a:ea typeface="Times New Roman"/>
                          <a:cs typeface="Times New Roman"/>
                        </a:rPr>
                        <a:t>Cách chia</a:t>
                      </a:r>
                    </a:p>
                  </a:txBody>
                  <a:tcPr marL="158750" marR="158750" marT="127000" marB="127000" anchor="ctr">
                    <a:solidFill>
                      <a:srgbClr val="1565C0"/>
                    </a:solidFill>
                  </a:tcPr>
                </a:tc>
                <a:tc>
                  <a:txBody>
                    <a:bodyPr>
                      <a:noAutofit/>
                    </a:bodyPr>
                    <a:lstStyle/>
                    <a:p>
                      <a:r>
                        <a:rPr sz="3125" b="1">
                          <a:solidFill>
                            <a:srgbClr val="FFFFFF"/>
                          </a:solidFill>
                          <a:latin typeface="Times New Roman"/>
                          <a:ea typeface="Times New Roman"/>
                          <a:cs typeface="Times New Roman"/>
                        </a:rPr>
                        <a:t>ROC-AUC</a:t>
                      </a:r>
                    </a:p>
                  </a:txBody>
                  <a:tcPr marL="158750" marR="158750" marT="127000" marB="127000" anchor="ctr">
                    <a:solidFill>
                      <a:srgbClr val="1565C0"/>
                    </a:solidFill>
                  </a:tcPr>
                </a:tc>
                <a:tc>
                  <a:txBody>
                    <a:bodyPr>
                      <a:noAutofit/>
                    </a:bodyPr>
                    <a:lstStyle/>
                    <a:p>
                      <a:r>
                        <a:rPr sz="3125" b="1">
                          <a:solidFill>
                            <a:srgbClr val="FFFFFF"/>
                          </a:solidFill>
                          <a:latin typeface="Times New Roman"/>
                          <a:ea typeface="Times New Roman"/>
                          <a:cs typeface="Times New Roman"/>
                        </a:rPr>
                        <a:t>F1 @ 0,5</a:t>
                      </a:r>
                    </a:p>
                  </a:txBody>
                  <a:tcPr marL="158750" marR="158750" marT="127000" marB="127000" anchor="ctr">
                    <a:solidFill>
                      <a:srgbClr val="1565C0"/>
                    </a:solidFill>
                  </a:tcPr>
                </a:tc>
              </a:tr>
              <a:tr h="1010708">
                <a:tc>
                  <a:txBody>
                    <a:bodyPr>
                      <a:noAutofit/>
                    </a:bodyPr>
                    <a:lstStyle/>
                    <a:p>
                      <a:r>
                        <a:rPr sz="3125" b="0">
                          <a:solidFill>
                            <a:srgbClr val="151515"/>
                          </a:solidFill>
                          <a:latin typeface="Times New Roman"/>
                          <a:ea typeface="Times New Roman"/>
                          <a:cs typeface="Times New Roman"/>
                        </a:rPr>
                        <a:t>Random K-Fold</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0,8582</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0,6494</a:t>
                      </a:r>
                    </a:p>
                  </a:txBody>
                  <a:tcPr marL="158750" marR="158750" marT="127000" marB="127000" anchor="ctr">
                    <a:solidFill>
                      <a:srgbClr val="FFFFFF"/>
                    </a:solidFill>
                  </a:tcPr>
                </a:tc>
              </a:tr>
              <a:tr h="1010708">
                <a:tc>
                  <a:txBody>
                    <a:bodyPr>
                      <a:noAutofit/>
                    </a:bodyPr>
                    <a:lstStyle/>
                    <a:p>
                      <a:r>
                        <a:rPr sz="3125" b="0">
                          <a:solidFill>
                            <a:srgbClr val="151515"/>
                          </a:solidFill>
                          <a:latin typeface="Times New Roman"/>
                          <a:ea typeface="Times New Roman"/>
                          <a:cs typeface="Times New Roman"/>
                        </a:rPr>
                        <a:t>Grouped K-Fold</a:t>
                      </a:r>
                    </a:p>
                  </a:txBody>
                  <a:tcPr marL="158750" marR="158750" marT="127000" marB="127000" anchor="ctr">
                    <a:solidFill>
                      <a:srgbClr val="E3F2FD"/>
                    </a:solidFill>
                  </a:tcPr>
                </a:tc>
                <a:tc>
                  <a:txBody>
                    <a:bodyPr>
                      <a:noAutofit/>
                    </a:bodyPr>
                    <a:lstStyle/>
                    <a:p>
                      <a:r>
                        <a:rPr sz="3125" b="0">
                          <a:solidFill>
                            <a:srgbClr val="151515"/>
                          </a:solidFill>
                          <a:latin typeface="Times New Roman"/>
                          <a:ea typeface="Times New Roman"/>
                          <a:cs typeface="Times New Roman"/>
                        </a:rPr>
                        <a:t>0,7454</a:t>
                      </a:r>
                    </a:p>
                  </a:txBody>
                  <a:tcPr marL="158750" marR="158750" marT="127000" marB="127000" anchor="ctr">
                    <a:solidFill>
                      <a:srgbClr val="E3F2FD"/>
                    </a:solidFill>
                  </a:tcPr>
                </a:tc>
                <a:tc>
                  <a:txBody>
                    <a:bodyPr>
                      <a:noAutofit/>
                    </a:bodyPr>
                    <a:lstStyle/>
                    <a:p>
                      <a:r>
                        <a:rPr sz="3125" b="0">
                          <a:solidFill>
                            <a:srgbClr val="151515"/>
                          </a:solidFill>
                          <a:latin typeface="Times New Roman"/>
                          <a:ea typeface="Times New Roman"/>
                          <a:cs typeface="Times New Roman"/>
                        </a:rPr>
                        <a:t>0,5077</a:t>
                      </a:r>
                    </a:p>
                  </a:txBody>
                  <a:tcPr marL="158750" marR="158750" marT="127000" marB="127000" anchor="ctr">
                    <a:solidFill>
                      <a:srgbClr val="E3F2FD"/>
                    </a:solidFill>
                  </a:tcPr>
                </a:tc>
              </a:tr>
              <a:tr h="1010708">
                <a:tc>
                  <a:txBody>
                    <a:bodyPr>
                      <a:noAutofit/>
                    </a:bodyPr>
                    <a:lstStyle/>
                    <a:p>
                      <a:r>
                        <a:rPr sz="3125" b="0">
                          <a:solidFill>
                            <a:srgbClr val="151515"/>
                          </a:solidFill>
                          <a:latin typeface="Times New Roman"/>
                          <a:ea typeface="Times New Roman"/>
                          <a:cs typeface="Times New Roman"/>
                        </a:rPr>
                        <a:t>Walk-forward</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0,5875</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0,3288</a:t>
                      </a:r>
                    </a:p>
                  </a:txBody>
                  <a:tcPr marL="158750" marR="158750" marT="127000" marB="127000" anchor="ctr">
                    <a:solidFill>
                      <a:srgbClr val="FFFFFF"/>
                    </a:solidFill>
                  </a:tcPr>
                </a:tc>
              </a:tr>
              <a:tr h="1010708">
                <a:tc>
                  <a:txBody>
                    <a:bodyPr>
                      <a:noAutofit/>
                    </a:bodyPr>
                    <a:lstStyle/>
                    <a:p>
                      <a:r>
                        <a:rPr sz="3125" b="0">
                          <a:solidFill>
                            <a:srgbClr val="151515"/>
                          </a:solidFill>
                          <a:latin typeface="Times New Roman"/>
                          <a:ea typeface="Times New Roman"/>
                          <a:cs typeface="Times New Roman"/>
                        </a:rPr>
                        <a:t>WF + Purge/Embargo</a:t>
                      </a:r>
                    </a:p>
                  </a:txBody>
                  <a:tcPr marL="158750" marR="158750" marT="127000" marB="127000" anchor="ctr">
                    <a:solidFill>
                      <a:srgbClr val="E3F2FD"/>
                    </a:solidFill>
                  </a:tcPr>
                </a:tc>
                <a:tc>
                  <a:txBody>
                    <a:bodyPr>
                      <a:noAutofit/>
                    </a:bodyPr>
                    <a:lstStyle/>
                    <a:p>
                      <a:r>
                        <a:rPr sz="3125" b="0">
                          <a:solidFill>
                            <a:srgbClr val="151515"/>
                          </a:solidFill>
                          <a:latin typeface="Times New Roman"/>
                          <a:ea typeface="Times New Roman"/>
                          <a:cs typeface="Times New Roman"/>
                        </a:rPr>
                        <a:t>0,5895</a:t>
                      </a:r>
                    </a:p>
                  </a:txBody>
                  <a:tcPr marL="158750" marR="158750" marT="127000" marB="127000" anchor="ctr">
                    <a:solidFill>
                      <a:srgbClr val="E3F2FD"/>
                    </a:solidFill>
                  </a:tcPr>
                </a:tc>
                <a:tc>
                  <a:txBody>
                    <a:bodyPr>
                      <a:noAutofit/>
                    </a:bodyPr>
                    <a:lstStyle/>
                    <a:p>
                      <a:r>
                        <a:rPr sz="3125" b="0">
                          <a:solidFill>
                            <a:srgbClr val="151515"/>
                          </a:solidFill>
                          <a:latin typeface="Times New Roman"/>
                          <a:ea typeface="Times New Roman"/>
                          <a:cs typeface="Times New Roman"/>
                        </a:rPr>
                        <a:t>0,3247</a:t>
                      </a:r>
                    </a:p>
                  </a:txBody>
                  <a:tcPr marL="158750" marR="158750" marT="127000" marB="127000" anchor="ctr">
                    <a:solidFill>
                      <a:srgbClr val="E3F2FD"/>
                    </a:solidFill>
                  </a:tcPr>
                </a:tc>
              </a:tr>
              <a:tr h="1010708">
                <a:tc>
                  <a:txBody>
                    <a:bodyPr>
                      <a:noAutofit/>
                    </a:bodyPr>
                    <a:lstStyle/>
                    <a:p>
                      <a:r>
                        <a:rPr sz="3125" b="0">
                          <a:solidFill>
                            <a:srgbClr val="151515"/>
                          </a:solidFill>
                          <a:latin typeface="Times New Roman"/>
                          <a:ea typeface="Times New Roman"/>
                          <a:cs typeface="Times New Roman"/>
                        </a:rPr>
                        <a:t>Holdout</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0,6046</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0,4022</a:t>
                      </a:r>
                    </a:p>
                  </a:txBody>
                  <a:tcPr marL="158750" marR="158750" marT="127000" marB="127000" anchor="ctr">
                    <a:solidFill>
                      <a:srgbClr val="FFFFFF"/>
                    </a:solidFill>
                  </a:tcPr>
                </a:tc>
              </a:tr>
            </a:tbl>
          </a:graphicData>
        </a:graphic>
      </p:graphicFrame>
      <p:sp>
        <p:nvSpPr>
          <p:cNvPr id="22" name="0,2536">
            <a:extLst xmlns:a="http://schemas.openxmlformats.org/drawingml/2006/main">
              <a:ext uri="{FF2B5EF4-FFF2-40B4-BE49-F238E27FC236}">
                <a16:creationId xmlns:a16="http://schemas.microsoft.com/office/drawing/2014/main" id="{FA0E09B1-D600-4692-A325-E4F965CDAF98}"/>
              </a:ext>
            </a:extLst>
          </p:cNvPr>
          <p:cNvSpPr>
            <a:spLocks xmlns:a="http://schemas.openxmlformats.org/drawingml/2006/main" noGrp="1"/>
          </p:cNvSpPr>
          <p:nvPr/>
        </p:nvSpPr>
        <p:spPr>
          <a:xfrm xmlns:a="http://schemas.openxmlformats.org/drawingml/2006/main">
            <a:off x="14589125" y="2682875"/>
            <a:ext cx="539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7250" b="1">
                <a:solidFill>
                  <a:srgbClr val="B71C1C"/>
                </a:solidFill>
                <a:latin typeface="Times New Roman"/>
                <a:ea typeface="Times New Roman"/>
                <a:cs typeface="Times New Roman"/>
              </a:defRPr>
            </a:pPr>
            <a:r>
              <a:rPr sz="7250" b="1">
                <a:solidFill>
                  <a:srgbClr val="B71C1C"/>
                </a:solidFill>
                <a:latin typeface="Times New Roman"/>
                <a:ea typeface="Times New Roman"/>
                <a:cs typeface="Times New Roman"/>
              </a:rPr>
              <a:t>0,2536</a:t>
            </a:r>
          </a:p>
        </p:txBody>
      </p:sp>
      <p:sp>
        <p:nvSpPr>
          <p:cNvPr id="23" name="Chênh lệch AUC giữa&#10;Random K-Fold và holdout">
            <a:extLst xmlns:a="http://schemas.openxmlformats.org/drawingml/2006/main">
              <a:ext uri="{FF2B5EF4-FFF2-40B4-BE49-F238E27FC236}">
                <a16:creationId xmlns:a16="http://schemas.microsoft.com/office/drawing/2014/main" id="{AD34C0A5-D514-4467-8DBC-7503A0F71042}"/>
              </a:ext>
            </a:extLst>
          </p:cNvPr>
          <p:cNvSpPr>
            <a:spLocks xmlns:a="http://schemas.openxmlformats.org/drawingml/2006/main" noGrp="1"/>
          </p:cNvSpPr>
          <p:nvPr/>
        </p:nvSpPr>
        <p:spPr>
          <a:xfrm xmlns:a="http://schemas.openxmlformats.org/drawingml/2006/main">
            <a:off x="14303375" y="4127500"/>
            <a:ext cx="6064250" cy="144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250" b="0">
                <a:solidFill>
                  <a:srgbClr val="B71C1C"/>
                </a:solidFill>
                <a:latin typeface="Times New Roman"/>
                <a:ea typeface="Times New Roman"/>
                <a:cs typeface="Times New Roman"/>
              </a:defRPr>
            </a:pPr>
            <a:r>
              <a:rPr sz="3250" b="0">
                <a:solidFill>
                  <a:srgbClr val="B71C1C"/>
                </a:solidFill>
                <a:latin typeface="Times New Roman"/>
                <a:ea typeface="Times New Roman"/>
                <a:cs typeface="Times New Roman"/>
              </a:rPr>
              <a:t>Chênh lệch AUC giữa</a:t>
            </a:r>
          </a:p>
          <a:p xmlns:a="http://schemas.openxmlformats.org/drawingml/2006/main">
            <a:pPr algn="ctr">
              <a:defRPr sz="3250" b="0">
                <a:solidFill>
                  <a:srgbClr val="B71C1C"/>
                </a:solidFill>
                <a:latin typeface="Times New Roman"/>
                <a:ea typeface="Times New Roman"/>
                <a:cs typeface="Times New Roman"/>
              </a:defRPr>
            </a:pPr>
            <a:r>
              <a:rPr sz="3250" b="0">
                <a:solidFill>
                  <a:srgbClr val="B71C1C"/>
                </a:solidFill>
                <a:latin typeface="Times New Roman"/>
                <a:ea typeface="Times New Roman"/>
                <a:cs typeface="Times New Roman"/>
              </a:rPr>
              <a:t>Random K-Fold và holdout</a:t>
            </a:r>
          </a:p>
        </p:txBody>
      </p:sp>
      <p:sp>
        <p:nvSpPr>
          <p:cNvPr id="24" name="Hai cách walk-forward có AUC gần holdout hơn.&#10;&#10;Chênh lệch gi">
            <a:extLst xmlns:a="http://schemas.openxmlformats.org/drawingml/2006/main">
              <a:ext uri="{FF2B5EF4-FFF2-40B4-BE49-F238E27FC236}">
                <a16:creationId xmlns:a16="http://schemas.microsoft.com/office/drawing/2014/main" id="{B13A1B23-149C-4B03-BE92-3F0305325161}"/>
              </a:ext>
            </a:extLst>
          </p:cNvPr>
          <p:cNvSpPr>
            <a:spLocks xmlns:a="http://schemas.openxmlformats.org/drawingml/2006/main" noGrp="1"/>
          </p:cNvSpPr>
          <p:nvPr/>
        </p:nvSpPr>
        <p:spPr>
          <a:xfrm xmlns:a="http://schemas.openxmlformats.org/drawingml/2006/main">
            <a:off x="14493875" y="6016625"/>
            <a:ext cx="5921375" cy="212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Hai cách walk-forward có AUC gần holdout hơn.</a:t>
            </a:r>
          </a:p>
          <a:p xmlns:a="http://schemas.openxmlformats.org/drawingml/2006/main">
            <a:r>
              <a:t/>
            </a:r>
          </a:p>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Chênh lệch giữa chúng chỉ 0,0020 AUC.</a:t>
            </a:r>
          </a:p>
        </p:txBody>
      </p:sp>
      <p:sp>
        <p:nvSpPr>
          <p:cNvPr id="25" name="">
            <a:extLst xmlns:a="http://schemas.openxmlformats.org/drawingml/2006/main">
              <a:ext uri="{FF2B5EF4-FFF2-40B4-BE49-F238E27FC236}">
                <a16:creationId xmlns:a16="http://schemas.microsoft.com/office/drawing/2014/main" id="{A035DF69-5745-4C17-A691-6EB439535552}"/>
              </a:ext>
            </a:extLst>
          </p:cNvPr>
          <p:cNvSpPr>
            <a:spLocks xmlns:a="http://schemas.openxmlformats.org/drawingml/2006/main" noGrp="1"/>
          </p:cNvSpPr>
          <p:nvPr/>
        </p:nvSpPr>
        <p:spPr>
          <a:xfrm xmlns:a="http://schemas.openxmlformats.org/drawingml/2006/main">
            <a:off x="1016000" y="9032875"/>
            <a:ext cx="19653250" cy="1889125"/>
          </a:xfrm>
          <a:prstGeom xmlns:a="http://schemas.openxmlformats.org/drawingml/2006/main" prst="roundRect">
            <a:avLst>
              <a:gd name="adj" fmla="val 13445"/>
            </a:avLst>
          </a:prstGeom>
          <a:solidFill xmlns:a="http://schemas.openxmlformats.org/drawingml/2006/main">
            <a:srgbClr val="E3F2FD"/>
          </a:solidFill>
          <a:ln xmlns:a="http://schemas.openxmlformats.org/drawingml/2006/main" w="15875">
            <a:solidFill>
              <a:srgbClr val="E3F2FD"/>
            </a:solidFill>
          </a:ln>
        </p:spPr>
      </p:sp>
      <p:sp>
        <p:nvSpPr>
          <p:cNvPr id="26" name="Kết quả phù hợp với nguy cơ đánh giá lạc quan khi trộn dữ li">
            <a:extLst xmlns:a="http://schemas.openxmlformats.org/drawingml/2006/main">
              <a:ext uri="{FF2B5EF4-FFF2-40B4-BE49-F238E27FC236}">
                <a16:creationId xmlns:a16="http://schemas.microsoft.com/office/drawing/2014/main" id="{50C28762-5300-46B8-BBC2-B9DB07035DC0}"/>
              </a:ext>
            </a:extLst>
          </p:cNvPr>
          <p:cNvSpPr>
            <a:spLocks xmlns:a="http://schemas.openxmlformats.org/drawingml/2006/main" noGrp="1"/>
          </p:cNvSpPr>
          <p:nvPr/>
        </p:nvSpPr>
        <p:spPr>
          <a:xfrm xmlns:a="http://schemas.openxmlformats.org/drawingml/2006/main">
            <a:off x="1301750" y="9302750"/>
            <a:ext cx="19050000" cy="149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Kết quả phù hợp với nguy cơ đánh giá lạc quan khi trộn dữ liệu. Đây chưa phải bằng chứng một phương pháp luôn tốt nhất trên mọi thị trường.</a:t>
            </a:r>
          </a:p>
        </p:txBody>
      </p:sp>
    </p:spTree>
    <p:extLst>
      <p:ext uri="{BB962C8B-B14F-4D97-AF65-F5344CB8AC3E}">
        <p14:creationId xmlns:p14="http://schemas.microsoft.com/office/powerpoint/2010/main" val="14837779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4A20B4-C1B6-4CE2-B64A-5506183A29C2}"/>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7C07B71D-F92D-41E3-B4AA-BEB5F54ACE63}"/>
              </a:ext>
            </a:extLst>
          </p:cNvPr>
          <p:cNvSpPr>
            <a:spLocks xmlns:a="http://schemas.openxmlformats.org/drawingml/2006/main" noGrp="1"/>
          </p:cNvSpPr>
          <p:nvPr/>
        </p:nvSpPr>
        <p:spPr>
          <a:xfrm xmlns:a="http://schemas.openxmlformats.org/drawingml/2006/main">
            <a:off x="7281196"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D3C0D4A2-7494-4FE1-8023-D988553FF390}"/>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D6834B19-F43F-45C7-BD47-0E79B6CFCE65}"/>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4EBCB68D-0BCE-4101-B79E-3E31A90823FE}"/>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AC81AE39-5641-4E33-B8B2-81369B9958BD}"/>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3BD1BE30-611D-4D32-9B0B-D0F78012D3FD}"/>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6279E51-B1B3-4B07-A7F8-3304B3E8AF8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8861AE7D-C8F6-4D37-9088-AEA6767923DC}"/>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4545473B-A759-4790-908D-E307A7966A3A}"/>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22FE91F2-6615-42C6-9380-D3040C2E62EA}"/>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94A4D390-A300-4A10-9E43-F1DC4E6F13C9}"/>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C4935CBF-954D-4E93-9307-5CF1081C5E81}"/>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55B7AC0E-B841-4480-A113-DC05E10E6ECF}"/>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2B2B3B67-AA35-4D52-9009-3E7B608491F4}"/>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Kết quả giao dịch trên khúc 2–5">
            <a:extLst xmlns:a="http://schemas.openxmlformats.org/drawingml/2006/main">
              <a:ext uri="{FF2B5EF4-FFF2-40B4-BE49-F238E27FC236}">
                <a16:creationId xmlns:a16="http://schemas.microsoft.com/office/drawing/2014/main" id="{A5D1E14E-85F0-46B7-963D-52388EDF4D01}"/>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Kết quả giao dịch trên khúc 2–5</a:t>
            </a:r>
          </a:p>
        </p:txBody>
      </p:sp>
      <p:sp>
        <p:nvSpPr>
          <p:cNvPr id="20" name="12/18">
            <a:extLst xmlns:a="http://schemas.openxmlformats.org/drawingml/2006/main">
              <a:ext uri="{FF2B5EF4-FFF2-40B4-BE49-F238E27FC236}">
                <a16:creationId xmlns:a16="http://schemas.microsoft.com/office/drawing/2014/main" id="{3116AAFF-2156-4738-BFC4-33B8B582946B}"/>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12/18</a:t>
            </a:r>
          </a:p>
        </p:txBody>
      </p:sp>
      <p:graphicFrame>
        <p:nvGraphicFramePr>
          <p:cNvPr id="42" name=""/>
          <p:cNvGraphicFramePr/>
          <p:nvPr/>
        </p:nvGraphicFramePr>
        <p:xfrm>
          <a:off xmlns:a="http://schemas.openxmlformats.org/drawingml/2006/main" x="1016000" y="2238375"/>
          <a:ext xmlns:a="http://schemas.openxmlformats.org/drawingml/2006/main" cx="19653250" cy="5921375"/>
        </p:xfrm>
        <a:graphic xmlns:a="http://schemas.openxmlformats.org/drawingml/2006/main">
          <a:graphicData uri="http://schemas.openxmlformats.org/drawingml/2006/table">
            <a:tbl>
              <a:tblPr/>
              <a:tblGrid>
                <a:gridCol w="5429250"/>
                <a:gridCol w="2270125"/>
                <a:gridCol w="3698875"/>
                <a:gridCol w="3127375"/>
                <a:gridCol w="2190750"/>
                <a:gridCol w="2936875"/>
              </a:tblGrid>
              <a:tr h="986896">
                <a:tc>
                  <a:txBody>
                    <a:bodyPr>
                      <a:noAutofit/>
                    </a:bodyPr>
                    <a:lstStyle/>
                    <a:p>
                      <a:r>
                        <a:rPr sz="2750" b="1">
                          <a:solidFill>
                            <a:srgbClr val="FFFFFF"/>
                          </a:solidFill>
                          <a:latin typeface="Times New Roman"/>
                          <a:ea typeface="Times New Roman"/>
                          <a:cs typeface="Times New Roman"/>
                        </a:rPr>
                        <a:t>Phương pháp</a:t>
                      </a:r>
                    </a:p>
                  </a:txBody>
                  <a:tcPr marL="158750" marR="158750" marT="127000" marB="127000" anchor="ctr">
                    <a:solidFill>
                      <a:srgbClr val="1565C0"/>
                    </a:solidFill>
                  </a:tcPr>
                </a:tc>
                <a:tc>
                  <a:txBody>
                    <a:bodyPr>
                      <a:noAutofit/>
                    </a:bodyPr>
                    <a:lstStyle/>
                    <a:p>
                      <a:r>
                        <a:rPr sz="2750" b="1">
                          <a:solidFill>
                            <a:srgbClr val="FFFFFF"/>
                          </a:solidFill>
                          <a:latin typeface="Times New Roman"/>
                          <a:ea typeface="Times New Roman"/>
                          <a:cs typeface="Times New Roman"/>
                        </a:rPr>
                        <a:t>Số lệnh</a:t>
                      </a:r>
                    </a:p>
                  </a:txBody>
                  <a:tcPr marL="158750" marR="158750" marT="127000" marB="127000" anchor="ctr">
                    <a:solidFill>
                      <a:srgbClr val="1565C0"/>
                    </a:solidFill>
                  </a:tcPr>
                </a:tc>
                <a:tc>
                  <a:txBody>
                    <a:bodyPr>
                      <a:noAutofit/>
                    </a:bodyPr>
                    <a:lstStyle/>
                    <a:p>
                      <a:r>
                        <a:rPr sz="2750" b="1">
                          <a:solidFill>
                            <a:srgbClr val="FFFFFF"/>
                          </a:solidFill>
                          <a:latin typeface="Times New Roman"/>
                          <a:ea typeface="Times New Roman"/>
                          <a:cs typeface="Times New Roman"/>
                        </a:rPr>
                        <a:t>Lợi nhuận (R)</a:t>
                      </a:r>
                    </a:p>
                  </a:txBody>
                  <a:tcPr marL="158750" marR="158750" marT="127000" marB="127000" anchor="ctr">
                    <a:solidFill>
                      <a:srgbClr val="1565C0"/>
                    </a:solidFill>
                  </a:tcPr>
                </a:tc>
                <a:tc>
                  <a:txBody>
                    <a:bodyPr>
                      <a:noAutofit/>
                    </a:bodyPr>
                    <a:lstStyle/>
                    <a:p>
                      <a:r>
                        <a:rPr sz="2750" b="1">
                          <a:solidFill>
                            <a:srgbClr val="FFFFFF"/>
                          </a:solidFill>
                          <a:latin typeface="Times New Roman"/>
                          <a:ea typeface="Times New Roman"/>
                          <a:cs typeface="Times New Roman"/>
                        </a:rPr>
                        <a:t>MaxDD (R)</a:t>
                      </a:r>
                    </a:p>
                  </a:txBody>
                  <a:tcPr marL="158750" marR="158750" marT="127000" marB="127000" anchor="ctr">
                    <a:solidFill>
                      <a:srgbClr val="1565C0"/>
                    </a:solidFill>
                  </a:tcPr>
                </a:tc>
                <a:tc>
                  <a:txBody>
                    <a:bodyPr>
                      <a:noAutofit/>
                    </a:bodyPr>
                    <a:lstStyle/>
                    <a:p>
                      <a:r>
                        <a:rPr sz="2750" b="1">
                          <a:solidFill>
                            <a:srgbClr val="FFFFFF"/>
                          </a:solidFill>
                          <a:latin typeface="Times New Roman"/>
                          <a:ea typeface="Times New Roman"/>
                          <a:cs typeface="Times New Roman"/>
                        </a:rPr>
                        <a:t>PF</a:t>
                      </a:r>
                    </a:p>
                  </a:txBody>
                  <a:tcPr marL="158750" marR="158750" marT="127000" marB="127000" anchor="ctr">
                    <a:solidFill>
                      <a:srgbClr val="1565C0"/>
                    </a:solidFill>
                  </a:tcPr>
                </a:tc>
                <a:tc>
                  <a:txBody>
                    <a:bodyPr>
                      <a:noAutofit/>
                    </a:bodyPr>
                    <a:lstStyle/>
                    <a:p>
                      <a:r>
                        <a:rPr sz="2750" b="1">
                          <a:solidFill>
                            <a:srgbClr val="FFFFFF"/>
                          </a:solidFill>
                          <a:latin typeface="Times New Roman"/>
                          <a:ea typeface="Times New Roman"/>
                          <a:cs typeface="Times New Roman"/>
                        </a:rPr>
                        <a:t>Thắng (%)</a:t>
                      </a:r>
                    </a:p>
                  </a:txBody>
                  <a:tcPr marL="158750" marR="158750" marT="127000" marB="127000" anchor="ctr">
                    <a:solidFill>
                      <a:srgbClr val="1565C0"/>
                    </a:solidFill>
                  </a:tcPr>
                </a:tc>
              </a:tr>
              <a:tr h="986896">
                <a:tc>
                  <a:txBody>
                    <a:bodyPr>
                      <a:noAutofit/>
                    </a:bodyPr>
                    <a:lstStyle/>
                    <a:p>
                      <a:r>
                        <a:rPr sz="2750" b="0">
                          <a:solidFill>
                            <a:srgbClr val="151515"/>
                          </a:solidFill>
                          <a:latin typeface="Times New Roman"/>
                          <a:ea typeface="Times New Roman"/>
                          <a:cs typeface="Times New Roman"/>
                        </a:rPr>
                        <a:t>Baseline</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20.007</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+3.358,25</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236,13</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1,2940</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31,71</a:t>
                      </a:r>
                    </a:p>
                  </a:txBody>
                  <a:tcPr marL="158750" marR="158750" marT="127000" marB="127000" anchor="ctr">
                    <a:solidFill>
                      <a:srgbClr val="FFFFFF"/>
                    </a:solidFill>
                  </a:tcPr>
                </a:tc>
              </a:tr>
              <a:tr h="986896">
                <a:tc>
                  <a:txBody>
                    <a:bodyPr>
                      <a:noAutofit/>
                    </a:bodyPr>
                    <a:lstStyle/>
                    <a:p>
                      <a:r>
                        <a:rPr sz="2750" b="0">
                          <a:solidFill>
                            <a:srgbClr val="151515"/>
                          </a:solidFill>
                          <a:latin typeface="Times New Roman"/>
                          <a:ea typeface="Times New Roman"/>
                          <a:cs typeface="Times New Roman"/>
                        </a:rPr>
                        <a:t>Random K-Fold</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10.004</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+6.937,53</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73,76</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2,5437</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44,65</a:t>
                      </a:r>
                    </a:p>
                  </a:txBody>
                  <a:tcPr marL="158750" marR="158750" marT="127000" marB="127000" anchor="ctr">
                    <a:solidFill>
                      <a:srgbClr val="E3F2FD"/>
                    </a:solidFill>
                  </a:tcPr>
                </a:tc>
              </a:tr>
              <a:tr h="986896">
                <a:tc>
                  <a:txBody>
                    <a:bodyPr>
                      <a:noAutofit/>
                    </a:bodyPr>
                    <a:lstStyle/>
                    <a:p>
                      <a:r>
                        <a:rPr sz="2750" b="0">
                          <a:solidFill>
                            <a:srgbClr val="151515"/>
                          </a:solidFill>
                          <a:latin typeface="Times New Roman"/>
                          <a:ea typeface="Times New Roman"/>
                          <a:cs typeface="Times New Roman"/>
                        </a:rPr>
                        <a:t>Grouped K-Fold</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10.004</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+4.752,04</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99,71</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1,9500</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39,26</a:t>
                      </a:r>
                    </a:p>
                  </a:txBody>
                  <a:tcPr marL="158750" marR="158750" marT="127000" marB="127000" anchor="ctr">
                    <a:solidFill>
                      <a:srgbClr val="FFFFFF"/>
                    </a:solidFill>
                  </a:tcPr>
                </a:tc>
              </a:tr>
              <a:tr h="986896">
                <a:tc>
                  <a:txBody>
                    <a:bodyPr>
                      <a:noAutofit/>
                    </a:bodyPr>
                    <a:lstStyle/>
                    <a:p>
                      <a:r>
                        <a:rPr sz="2750" b="0">
                          <a:solidFill>
                            <a:srgbClr val="151515"/>
                          </a:solidFill>
                          <a:latin typeface="Times New Roman"/>
                          <a:ea typeface="Times New Roman"/>
                          <a:cs typeface="Times New Roman"/>
                        </a:rPr>
                        <a:t>Walk-forward</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10.004</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+2.148,31</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211,29</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1,4117</a:t>
                      </a:r>
                    </a:p>
                  </a:txBody>
                  <a:tcPr marL="158750" marR="158750" marT="127000" marB="127000" anchor="ctr">
                    <a:solidFill>
                      <a:srgbClr val="E3F2FD"/>
                    </a:solidFill>
                  </a:tcPr>
                </a:tc>
                <a:tc>
                  <a:txBody>
                    <a:bodyPr>
                      <a:noAutofit/>
                    </a:bodyPr>
                    <a:lstStyle/>
                    <a:p>
                      <a:r>
                        <a:rPr sz="2750" b="0">
                          <a:solidFill>
                            <a:srgbClr val="151515"/>
                          </a:solidFill>
                          <a:latin typeface="Times New Roman"/>
                          <a:ea typeface="Times New Roman"/>
                          <a:cs typeface="Times New Roman"/>
                        </a:rPr>
                        <a:t>34,76</a:t>
                      </a:r>
                    </a:p>
                  </a:txBody>
                  <a:tcPr marL="158750" marR="158750" marT="127000" marB="127000" anchor="ctr">
                    <a:solidFill>
                      <a:srgbClr val="E3F2FD"/>
                    </a:solidFill>
                  </a:tcPr>
                </a:tc>
              </a:tr>
              <a:tr h="986896">
                <a:tc>
                  <a:txBody>
                    <a:bodyPr>
                      <a:noAutofit/>
                    </a:bodyPr>
                    <a:lstStyle/>
                    <a:p>
                      <a:r>
                        <a:rPr sz="2750" b="0">
                          <a:solidFill>
                            <a:srgbClr val="151515"/>
                          </a:solidFill>
                          <a:latin typeface="Times New Roman"/>
                          <a:ea typeface="Times New Roman"/>
                          <a:cs typeface="Times New Roman"/>
                        </a:rPr>
                        <a:t>WF + Purge/Embargo</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10.004</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+2.119,48</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142,36</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1,4074</a:t>
                      </a:r>
                    </a:p>
                  </a:txBody>
                  <a:tcPr marL="158750" marR="158750" marT="127000" marB="127000" anchor="ctr">
                    <a:solidFill>
                      <a:srgbClr val="FFFFFF"/>
                    </a:solidFill>
                  </a:tcPr>
                </a:tc>
                <a:tc>
                  <a:txBody>
                    <a:bodyPr>
                      <a:noAutofit/>
                    </a:bodyPr>
                    <a:lstStyle/>
                    <a:p>
                      <a:r>
                        <a:rPr sz="2750" b="0">
                          <a:solidFill>
                            <a:srgbClr val="151515"/>
                          </a:solidFill>
                          <a:latin typeface="Times New Roman"/>
                          <a:ea typeface="Times New Roman"/>
                          <a:cs typeface="Times New Roman"/>
                        </a:rPr>
                        <a:t>34,99</a:t>
                      </a:r>
                    </a:p>
                  </a:txBody>
                  <a:tcPr marL="158750" marR="158750" marT="127000" marB="127000" anchor="ctr">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96328E25-CB4A-4560-A5DE-CBCD00A1F3B2}"/>
              </a:ext>
            </a:extLst>
          </p:cNvPr>
          <p:cNvSpPr>
            <a:spLocks xmlns:a="http://schemas.openxmlformats.org/drawingml/2006/main" noGrp="1"/>
          </p:cNvSpPr>
          <p:nvPr/>
        </p:nvSpPr>
        <p:spPr>
          <a:xfrm xmlns:a="http://schemas.openxmlformats.org/drawingml/2006/main">
            <a:off x="1016000" y="8810625"/>
            <a:ext cx="19653250" cy="1651000"/>
          </a:xfrm>
          <a:prstGeom xmlns:a="http://schemas.openxmlformats.org/drawingml/2006/main" prst="roundRect">
            <a:avLst>
              <a:gd name="adj" fmla="val 15385"/>
            </a:avLst>
          </a:prstGeom>
          <a:solidFill xmlns:a="http://schemas.openxmlformats.org/drawingml/2006/main">
            <a:srgbClr val="FFF3E0"/>
          </a:solidFill>
          <a:ln xmlns:a="http://schemas.openxmlformats.org/drawingml/2006/main" w="15875">
            <a:solidFill>
              <a:srgbClr val="FFF3E0"/>
            </a:solidFill>
          </a:ln>
        </p:spPr>
      </p:sp>
      <p:sp>
        <p:nvSpPr>
          <p:cNvPr id="23" name="WF + Purge/Embargo giảm MaxDD khoảng 39,7% so với baseline, ">
            <a:extLst xmlns:a="http://schemas.openxmlformats.org/drawingml/2006/main">
              <a:ext uri="{FF2B5EF4-FFF2-40B4-BE49-F238E27FC236}">
                <a16:creationId xmlns:a16="http://schemas.microsoft.com/office/drawing/2014/main" id="{B5B1C3FE-05AE-466C-821D-00586FABDEDA}"/>
              </a:ext>
            </a:extLst>
          </p:cNvPr>
          <p:cNvSpPr>
            <a:spLocks xmlns:a="http://schemas.openxmlformats.org/drawingml/2006/main" noGrp="1"/>
          </p:cNvSpPr>
          <p:nvPr/>
        </p:nvSpPr>
        <p:spPr>
          <a:xfrm xmlns:a="http://schemas.openxmlformats.org/drawingml/2006/main">
            <a:off x="1301750" y="9080500"/>
            <a:ext cx="19050000" cy="125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WF + Purge/Embargo giảm MaxDD khoảng 39,7% so với baseline, đồng thời lợi nhuận giảm khoảng 36,9%. Đây là kết quả trên tập phát triển.</a:t>
            </a:r>
          </a:p>
        </p:txBody>
      </p:sp>
      <p:sp>
        <p:nvSpPr>
          <p:cNvPr id="24" name="R: lợi nhuận chia cho rủi ro ban đầu 0,6% giá vào. PF: tổng ">
            <a:extLst xmlns:a="http://schemas.openxmlformats.org/drawingml/2006/main">
              <a:ext uri="{FF2B5EF4-FFF2-40B4-BE49-F238E27FC236}">
                <a16:creationId xmlns:a16="http://schemas.microsoft.com/office/drawing/2014/main" id="{634EB11E-FD00-4EA0-9B3F-72F7BA48EB39}"/>
              </a:ext>
            </a:extLst>
          </p:cNvPr>
          <p:cNvSpPr>
            <a:spLocks xmlns:a="http://schemas.openxmlformats.org/drawingml/2006/main" noGrp="1"/>
          </p:cNvSpPr>
          <p:nvPr/>
        </p:nvSpPr>
        <p:spPr>
          <a:xfrm xmlns:a="http://schemas.openxmlformats.org/drawingml/2006/main">
            <a:off x="1063625" y="10810875"/>
            <a:ext cx="193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00" b="0">
                <a:solidFill>
                  <a:srgbClr val="666666"/>
                </a:solidFill>
                <a:latin typeface="Times New Roman"/>
                <a:ea typeface="Times New Roman"/>
                <a:cs typeface="Times New Roman"/>
              </a:defRPr>
            </a:pPr>
            <a:r>
              <a:rPr sz="2500" b="0">
                <a:solidFill>
                  <a:srgbClr val="666666"/>
                </a:solidFill>
                <a:latin typeface="Times New Roman"/>
                <a:ea typeface="Times New Roman"/>
                <a:cs typeface="Times New Roman"/>
              </a:rPr>
              <a:t>R: lợi nhuận chia cho rủi ro ban đầu 0,6% giá vào. PF: tổng lãi / tổng lỗ tuyệt đối.</a:t>
            </a:r>
          </a:p>
        </p:txBody>
      </p:sp>
    </p:spTree>
    <p:extLst>
      <p:ext uri="{BB962C8B-B14F-4D97-AF65-F5344CB8AC3E}">
        <p14:creationId xmlns:p14="http://schemas.microsoft.com/office/powerpoint/2010/main" val="14837779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4A20B4-C1B6-4CE2-B64A-5506183A29C2}"/>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7C07B71D-F92D-41E3-B4AA-BEB5F54ACE63}"/>
              </a:ext>
            </a:extLst>
          </p:cNvPr>
          <p:cNvSpPr>
            <a:spLocks xmlns:a="http://schemas.openxmlformats.org/drawingml/2006/main" noGrp="1"/>
          </p:cNvSpPr>
          <p:nvPr/>
        </p:nvSpPr>
        <p:spPr>
          <a:xfrm xmlns:a="http://schemas.openxmlformats.org/drawingml/2006/main">
            <a:off x="7281196"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D3C0D4A2-7494-4FE1-8023-D988553FF390}"/>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D6834B19-F43F-45C7-BD47-0E79B6CFCE65}"/>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4EBCB68D-0BCE-4101-B79E-3E31A90823FE}"/>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AC81AE39-5641-4E33-B8B2-81369B9958BD}"/>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3BD1BE30-611D-4D32-9B0B-D0F78012D3FD}"/>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6279E51-B1B3-4B07-A7F8-3304B3E8AF8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8861AE7D-C8F6-4D37-9088-AEA6767923DC}"/>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4545473B-A759-4790-908D-E307A7966A3A}"/>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22FE91F2-6615-42C6-9380-D3040C2E62EA}"/>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94A4D390-A300-4A10-9E43-F1DC4E6F13C9}"/>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C4935CBF-954D-4E93-9307-5CF1081C5E81}"/>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55B7AC0E-B841-4480-A113-DC05E10E6ECF}"/>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2B2B3B67-AA35-4D52-9009-3E7B608491F4}"/>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Đường vốn trên tập phát triển">
            <a:extLst xmlns:a="http://schemas.openxmlformats.org/drawingml/2006/main">
              <a:ext uri="{FF2B5EF4-FFF2-40B4-BE49-F238E27FC236}">
                <a16:creationId xmlns:a16="http://schemas.microsoft.com/office/drawing/2014/main" id="{E46BAC7A-CD66-4675-BCFB-BD11759D3F56}"/>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Đường vốn trên tập phát triển</a:t>
            </a:r>
          </a:p>
        </p:txBody>
      </p:sp>
      <p:sp>
        <p:nvSpPr>
          <p:cNvPr id="20" name="13/18">
            <a:extLst xmlns:a="http://schemas.openxmlformats.org/drawingml/2006/main">
              <a:ext uri="{FF2B5EF4-FFF2-40B4-BE49-F238E27FC236}">
                <a16:creationId xmlns:a16="http://schemas.microsoft.com/office/drawing/2014/main" id="{F3106080-1708-48DF-834E-7F7B75B2E78B}"/>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13/18</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f1d77640e644de6"/>
          <a:stretch xmlns:a="http://schemas.openxmlformats.org/drawingml/2006/main"/>
        </p:blipFill>
        <p:spPr>
          <a:xfrm xmlns:a="http://schemas.openxmlformats.org/drawingml/2006/main">
            <a:off x="1915583" y="2095500"/>
            <a:ext cx="17885833" cy="8048625"/>
          </a:xfrm>
          <a:prstGeom xmlns:a="http://schemas.openxmlformats.org/drawingml/2006/main" prst="rect">
            <a:avLst/>
          </a:prstGeom>
        </p:spPr>
      </p:pic>
      <p:sp>
        <p:nvSpPr>
          <p:cNvPr id="22" name="Đường vốn ghi nhận R khi đóng lệnh. Điểm nhảy đồng thời được">
            <a:extLst xmlns:a="http://schemas.openxmlformats.org/drawingml/2006/main">
              <a:ext uri="{FF2B5EF4-FFF2-40B4-BE49-F238E27FC236}">
                <a16:creationId xmlns:a16="http://schemas.microsoft.com/office/drawing/2014/main" id="{D38EB085-57E3-4726-AA29-2638769E5B85}"/>
              </a:ext>
            </a:extLst>
          </p:cNvPr>
          <p:cNvSpPr>
            <a:spLocks xmlns:a="http://schemas.openxmlformats.org/drawingml/2006/main" noGrp="1"/>
          </p:cNvSpPr>
          <p:nvPr/>
        </p:nvSpPr>
        <p:spPr>
          <a:xfrm xmlns:a="http://schemas.openxmlformats.org/drawingml/2006/main">
            <a:off x="1095375" y="10588625"/>
            <a:ext cx="19367500"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Đường vốn ghi nhận R khi đóng lệnh. Điểm nhảy đồng thời được gộp theo close_time.</a:t>
            </a:r>
          </a:p>
        </p:txBody>
      </p:sp>
    </p:spTree>
    <p:extLst>
      <p:ext uri="{BB962C8B-B14F-4D97-AF65-F5344CB8AC3E}">
        <p14:creationId xmlns:p14="http://schemas.microsoft.com/office/powerpoint/2010/main" val="14837779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59A78F6-CA85-4D00-B269-FD62517A2E4A}"/>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6680B868-52EE-463A-9E1D-1C9D325E99D3}"/>
              </a:ext>
            </a:extLst>
          </p:cNvPr>
          <p:cNvSpPr>
            <a:spLocks xmlns:a="http://schemas.openxmlformats.org/drawingml/2006/main" noGrp="1"/>
          </p:cNvSpPr>
          <p:nvPr/>
        </p:nvSpPr>
        <p:spPr>
          <a:xfrm xmlns:a="http://schemas.openxmlformats.org/drawingml/2006/main">
            <a:off x="10837164"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3D269225-725F-4E42-9A5A-5A23BA587C0E}"/>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8487EB80-44A7-439D-826B-526890C6D212}"/>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xmlns:a="http://schemas.openxmlformats.org/drawingml/2006/main">
              <a:ext uri="{FF2B5EF4-FFF2-40B4-BE49-F238E27FC236}">
                <a16:creationId xmlns:a16="http://schemas.microsoft.com/office/drawing/2014/main" id="{6E0582A5-963E-4F00-AE0B-B02CED718996}"/>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87C82307-4A49-4D40-A601-ADDFD1843CE6}"/>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p>
        </p:txBody>
      </p:sp>
      <p:sp>
        <p:nvSpPr>
          <p:cNvPr id="8" name="Shape 6">
            <a:extLst xmlns:a="http://schemas.openxmlformats.org/drawingml/2006/main">
              <a:ext uri="{FF2B5EF4-FFF2-40B4-BE49-F238E27FC236}">
                <a16:creationId xmlns:a16="http://schemas.microsoft.com/office/drawing/2014/main" id="{423A1F33-EF39-4A12-A359-C4E17FEE15CA}"/>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55FFD9C-5668-464C-B604-52E93672826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p>
        </p:txBody>
      </p:sp>
      <p:sp>
        <p:nvSpPr>
          <p:cNvPr id="10" name="Shape 8">
            <a:extLst xmlns:a="http://schemas.openxmlformats.org/drawingml/2006/main">
              <a:ext uri="{FF2B5EF4-FFF2-40B4-BE49-F238E27FC236}">
                <a16:creationId xmlns:a16="http://schemas.microsoft.com/office/drawing/2014/main" id="{39B60F24-7C3E-4018-A36A-579664416722}"/>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6701011B-42CF-402F-9608-6DA7445ED492}"/>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4. Kết quả</a:t>
            </a:r>
            <a:endParaRPr sz="1600"/>
          </a:p>
        </p:txBody>
      </p:sp>
      <p:sp>
        <p:nvSpPr>
          <p:cNvPr id="12" name="Shape 10">
            <a:extLst xmlns:a="http://schemas.openxmlformats.org/drawingml/2006/main">
              <a:ext uri="{FF2B5EF4-FFF2-40B4-BE49-F238E27FC236}">
                <a16:creationId xmlns:a16="http://schemas.microsoft.com/office/drawing/2014/main" id="{31269858-CBF9-4D7E-A5D0-584EF553AD9E}"/>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38F86A0C-54D2-4AE6-9620-A773AED64E5B}"/>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p>
        </p:txBody>
      </p:sp>
      <p:sp>
        <p:nvSpPr>
          <p:cNvPr id="14" name="Shape 12">
            <a:extLst xmlns:a="http://schemas.openxmlformats.org/drawingml/2006/main">
              <a:ext uri="{FF2B5EF4-FFF2-40B4-BE49-F238E27FC236}">
                <a16:creationId xmlns:a16="http://schemas.microsoft.com/office/drawing/2014/main" id="{FA55D761-F5D2-43C5-9586-2C4549345AA9}"/>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97899EEC-EF49-41F6-B5C5-51F331A3C076}"/>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p>
        </p:txBody>
      </p:sp>
      <p:sp>
        <p:nvSpPr>
          <p:cNvPr id="18" name="Shape 16">
            <a:extLst xmlns:a="http://schemas.openxmlformats.org/drawingml/2006/main">
              <a:ext uri="{FF2B5EF4-FFF2-40B4-BE49-F238E27FC236}">
                <a16:creationId xmlns:a16="http://schemas.microsoft.com/office/drawing/2014/main" id="{1F194036-49A2-4A9F-B513-26431268BD5E}"/>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Holdout: điểm phân loại chưa bảo đảm lợi nhuận">
            <a:extLst xmlns:a="http://schemas.openxmlformats.org/drawingml/2006/main">
              <a:ext uri="{FF2B5EF4-FFF2-40B4-BE49-F238E27FC236}">
                <a16:creationId xmlns:a16="http://schemas.microsoft.com/office/drawing/2014/main" id="{B156FF06-FB0B-4323-93AF-12978CBD8B0A}"/>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Holdout: điểm phân loại chưa bảo đảm lợi nhuận</a:t>
            </a:r>
          </a:p>
        </p:txBody>
      </p:sp>
      <p:sp>
        <p:nvSpPr>
          <p:cNvPr id="20" name="14/18">
            <a:extLst xmlns:a="http://schemas.openxmlformats.org/drawingml/2006/main">
              <a:ext uri="{FF2B5EF4-FFF2-40B4-BE49-F238E27FC236}">
                <a16:creationId xmlns:a16="http://schemas.microsoft.com/office/drawing/2014/main" id="{1F64D01D-BFC7-40E9-A619-50E96E18F782}"/>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14/18</a:t>
            </a:r>
          </a:p>
        </p:txBody>
      </p:sp>
      <p:graphicFrame>
        <p:nvGraphicFramePr>
          <p:cNvPr id="42" name=""/>
          <p:cNvGraphicFramePr/>
          <p:nvPr/>
        </p:nvGraphicFramePr>
        <p:xfrm>
          <a:off xmlns:a="http://schemas.openxmlformats.org/drawingml/2006/main" x="1016000" y="2143125"/>
          <a:ext xmlns:a="http://schemas.openxmlformats.org/drawingml/2006/main" cx="19653250" cy="2841625"/>
        </p:xfrm>
        <a:graphic xmlns:a="http://schemas.openxmlformats.org/drawingml/2006/main">
          <a:graphicData uri="http://schemas.openxmlformats.org/drawingml/2006/table">
            <a:tbl>
              <a:tblPr/>
              <a:tblGrid>
                <a:gridCol w="5715000"/>
                <a:gridCol w="2857500"/>
                <a:gridCol w="4175125"/>
                <a:gridCol w="3889375"/>
                <a:gridCol w="3016250"/>
              </a:tblGrid>
              <a:tr h="947208">
                <a:tc>
                  <a:txBody>
                    <a:bodyPr>
                      <a:noAutofit/>
                    </a:bodyPr>
                    <a:lstStyle/>
                    <a:p>
                      <a:r>
                        <a:rPr sz="3000" b="1">
                          <a:solidFill>
                            <a:srgbClr val="FFFFFF"/>
                          </a:solidFill>
                          <a:latin typeface="Times New Roman"/>
                          <a:ea typeface="Times New Roman"/>
                          <a:cs typeface="Times New Roman"/>
                        </a:rPr>
                        <a:t>Holdout</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Số lệnh</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Lợi nhuận (R)</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MaxDD (R)</a:t>
                      </a:r>
                    </a:p>
                  </a:txBody>
                  <a:tcPr marL="158750" marR="158750" marT="127000" marB="127000" anchor="ctr">
                    <a:solidFill>
                      <a:srgbClr val="1565C0"/>
                    </a:solidFill>
                  </a:tcPr>
                </a:tc>
                <a:tc>
                  <a:txBody>
                    <a:bodyPr>
                      <a:noAutofit/>
                    </a:bodyPr>
                    <a:lstStyle/>
                    <a:p>
                      <a:r>
                        <a:rPr sz="3000" b="1">
                          <a:solidFill>
                            <a:srgbClr val="FFFFFF"/>
                          </a:solidFill>
                          <a:latin typeface="Times New Roman"/>
                          <a:ea typeface="Times New Roman"/>
                          <a:cs typeface="Times New Roman"/>
                        </a:rPr>
                        <a:t>PF</a:t>
                      </a:r>
                    </a:p>
                  </a:txBody>
                  <a:tcPr marL="158750" marR="158750" marT="127000" marB="127000" anchor="ctr">
                    <a:solidFill>
                      <a:srgbClr val="1565C0"/>
                    </a:solidFill>
                  </a:tcPr>
                </a:tc>
              </a:tr>
              <a:tr h="947208">
                <a:tc>
                  <a:txBody>
                    <a:bodyPr>
                      <a:noAutofit/>
                    </a:bodyPr>
                    <a:lstStyle/>
                    <a:p>
                      <a:r>
                        <a:rPr sz="3000" b="0">
                          <a:solidFill>
                            <a:srgbClr val="151515"/>
                          </a:solidFill>
                          <a:latin typeface="Times New Roman"/>
                          <a:ea typeface="Times New Roman"/>
                          <a:cs typeface="Times New Roman"/>
                        </a:rPr>
                        <a:t>Baseline</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5.028</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+245,93</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305,32</a:t>
                      </a:r>
                    </a:p>
                  </a:txBody>
                  <a:tcPr marL="158750" marR="158750" marT="127000" marB="127000" anchor="ctr">
                    <a:solidFill>
                      <a:srgbClr val="FFFFFF"/>
                    </a:solidFill>
                  </a:tcPr>
                </a:tc>
                <a:tc>
                  <a:txBody>
                    <a:bodyPr>
                      <a:noAutofit/>
                    </a:bodyPr>
                    <a:lstStyle/>
                    <a:p>
                      <a:r>
                        <a:rPr sz="3000" b="0">
                          <a:solidFill>
                            <a:srgbClr val="151515"/>
                          </a:solidFill>
                          <a:latin typeface="Times New Roman"/>
                          <a:ea typeface="Times New Roman"/>
                          <a:cs typeface="Times New Roman"/>
                        </a:rPr>
                        <a:t>1,0992</a:t>
                      </a:r>
                    </a:p>
                  </a:txBody>
                  <a:tcPr marL="158750" marR="158750" marT="127000" marB="127000" anchor="ctr">
                    <a:solidFill>
                      <a:srgbClr val="FFFFFF"/>
                    </a:solidFill>
                  </a:tcPr>
                </a:tc>
              </a:tr>
              <a:tr h="947208">
                <a:tc>
                  <a:txBody>
                    <a:bodyPr>
                      <a:noAutofit/>
                    </a:bodyPr>
                    <a:lstStyle/>
                    <a:p>
                      <a:r>
                        <a:rPr sz="3000" b="0">
                          <a:solidFill>
                            <a:srgbClr val="151515"/>
                          </a:solidFill>
                          <a:latin typeface="Times New Roman"/>
                          <a:ea typeface="Times New Roman"/>
                          <a:cs typeface="Times New Roman"/>
                        </a:rPr>
                        <a:t>Top 50%</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2.514</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−36,55</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263,25</a:t>
                      </a:r>
                    </a:p>
                  </a:txBody>
                  <a:tcPr marL="158750" marR="158750" marT="127000" marB="127000" anchor="ctr">
                    <a:solidFill>
                      <a:srgbClr val="E3F2FD"/>
                    </a:solidFill>
                  </a:tcPr>
                </a:tc>
                <a:tc>
                  <a:txBody>
                    <a:bodyPr>
                      <a:noAutofit/>
                    </a:bodyPr>
                    <a:lstStyle/>
                    <a:p>
                      <a:r>
                        <a:rPr sz="3000" b="0">
                          <a:solidFill>
                            <a:srgbClr val="151515"/>
                          </a:solidFill>
                          <a:latin typeface="Times New Roman"/>
                          <a:ea typeface="Times New Roman"/>
                          <a:cs typeface="Times New Roman"/>
                        </a:rPr>
                        <a:t>0,9718</a:t>
                      </a:r>
                    </a:p>
                  </a:txBody>
                  <a:tcPr marL="158750" marR="158750" marT="127000" marB="127000" anchor="ctr">
                    <a:solidFill>
                      <a:srgbClr val="E3F2FD"/>
                    </a:solidFill>
                  </a:tcPr>
                </a:tc>
              </a:tr>
            </a:tbl>
          </a:graphicData>
        </a:graphic>
      </p:graphicFrame>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ccc5c4ed2414c72"/>
          <a:stretch xmlns:a="http://schemas.openxmlformats.org/drawingml/2006/main"/>
        </p:blipFill>
        <p:spPr>
          <a:xfrm xmlns:a="http://schemas.openxmlformats.org/drawingml/2006/main">
            <a:off x="1502833" y="5334000"/>
            <a:ext cx="12805833" cy="5762625"/>
          </a:xfrm>
          <a:prstGeom xmlns:a="http://schemas.openxmlformats.org/drawingml/2006/main" prst="rect">
            <a:avLst/>
          </a:prstGeom>
        </p:spPr>
      </p:pic>
      <p:sp>
        <p:nvSpPr>
          <p:cNvPr id="23" name="ROC-AUC = 0,6046&#10;F1 @ 0,5 = 0,4022">
            <a:extLst xmlns:a="http://schemas.openxmlformats.org/drawingml/2006/main">
              <a:ext uri="{FF2B5EF4-FFF2-40B4-BE49-F238E27FC236}">
                <a16:creationId xmlns:a16="http://schemas.microsoft.com/office/drawing/2014/main" id="{2B5D1028-0701-4CC2-98D1-A72F643B5960}"/>
              </a:ext>
            </a:extLst>
          </p:cNvPr>
          <p:cNvSpPr>
            <a:spLocks xmlns:a="http://schemas.openxmlformats.org/drawingml/2006/main" noGrp="1"/>
          </p:cNvSpPr>
          <p:nvPr/>
        </p:nvSpPr>
        <p:spPr>
          <a:xfrm xmlns:a="http://schemas.openxmlformats.org/drawingml/2006/main">
            <a:off x="15303500" y="5715000"/>
            <a:ext cx="53975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565C0"/>
                </a:solidFill>
                <a:latin typeface="Times New Roman"/>
                <a:ea typeface="Times New Roman"/>
                <a:cs typeface="Times New Roman"/>
              </a:defRPr>
            </a:pPr>
            <a:r>
              <a:rPr sz="3375" b="1">
                <a:solidFill>
                  <a:srgbClr val="1565C0"/>
                </a:solidFill>
                <a:latin typeface="Times New Roman"/>
                <a:ea typeface="Times New Roman"/>
                <a:cs typeface="Times New Roman"/>
              </a:rPr>
              <a:t>ROC-AUC = 0,6046</a:t>
            </a:r>
          </a:p>
          <a:p xmlns:a="http://schemas.openxmlformats.org/drawingml/2006/main">
            <a:pPr algn="l">
              <a:defRPr sz="3375" b="1">
                <a:solidFill>
                  <a:srgbClr val="1565C0"/>
                </a:solidFill>
                <a:latin typeface="Times New Roman"/>
                <a:ea typeface="Times New Roman"/>
                <a:cs typeface="Times New Roman"/>
              </a:defRPr>
            </a:pPr>
            <a:r>
              <a:rPr sz="3375" b="1">
                <a:solidFill>
                  <a:srgbClr val="1565C0"/>
                </a:solidFill>
                <a:latin typeface="Times New Roman"/>
                <a:ea typeface="Times New Roman"/>
                <a:cs typeface="Times New Roman"/>
              </a:rPr>
              <a:t>F1 @ 0,5 = 0,4022</a:t>
            </a:r>
          </a:p>
        </p:txBody>
      </p:sp>
      <p:sp>
        <p:nvSpPr>
          <p:cNvPr id="24" name="MaxDD giảm 13,8% nhưng lợi nhuận chuyển âm.&#10;&#10;Tầng lọc chưa c">
            <a:extLst xmlns:a="http://schemas.openxmlformats.org/drawingml/2006/main">
              <a:ext uri="{FF2B5EF4-FFF2-40B4-BE49-F238E27FC236}">
                <a16:creationId xmlns:a16="http://schemas.microsoft.com/office/drawing/2014/main" id="{A4322948-422A-4B24-80F3-97CCAED1A8F6}"/>
              </a:ext>
            </a:extLst>
          </p:cNvPr>
          <p:cNvSpPr>
            <a:spLocks xmlns:a="http://schemas.openxmlformats.org/drawingml/2006/main" noGrp="1"/>
          </p:cNvSpPr>
          <p:nvPr/>
        </p:nvSpPr>
        <p:spPr>
          <a:xfrm xmlns:a="http://schemas.openxmlformats.org/drawingml/2006/main">
            <a:off x="15303500" y="7508875"/>
            <a:ext cx="5270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25" b="0">
                <a:solidFill>
                  <a:srgbClr val="B71C1C"/>
                </a:solidFill>
                <a:latin typeface="Times New Roman"/>
                <a:ea typeface="Times New Roman"/>
                <a:cs typeface="Times New Roman"/>
              </a:defRPr>
            </a:pPr>
            <a:r>
              <a:rPr sz="3125" b="0">
                <a:solidFill>
                  <a:srgbClr val="B71C1C"/>
                </a:solidFill>
                <a:latin typeface="Times New Roman"/>
                <a:ea typeface="Times New Roman"/>
                <a:cs typeface="Times New Roman"/>
              </a:rPr>
              <a:t>MaxDD giảm 13,8% nhưng lợi nhuận chuyển âm.</a:t>
            </a:r>
          </a:p>
          <a:p xmlns:a="http://schemas.openxmlformats.org/drawingml/2006/main">
            <a:r>
              <a:t/>
            </a:r>
          </a:p>
          <a:p xmlns:a="http://schemas.openxmlformats.org/drawingml/2006/main">
            <a:pPr algn="l">
              <a:defRPr sz="3125" b="0">
                <a:solidFill>
                  <a:srgbClr val="B71C1C"/>
                </a:solidFill>
                <a:latin typeface="Times New Roman"/>
                <a:ea typeface="Times New Roman"/>
                <a:cs typeface="Times New Roman"/>
              </a:defRPr>
            </a:pPr>
            <a:r>
              <a:rPr sz="3125" b="0">
                <a:solidFill>
                  <a:srgbClr val="B71C1C"/>
                </a:solidFill>
                <a:latin typeface="Times New Roman"/>
                <a:ea typeface="Times New Roman"/>
                <a:cs typeface="Times New Roman"/>
              </a:rPr>
              <a:t>Tầng lọc chưa cải thiện hiệu quả giao dịch ở mức giữ 50%.</a:t>
            </a:r>
          </a:p>
        </p:txBody>
      </p:sp>
    </p:spTree>
    <p:extLst>
      <p:ext uri="{BB962C8B-B14F-4D97-AF65-F5344CB8AC3E}">
        <p14:creationId xmlns:p14="http://schemas.microsoft.com/office/powerpoint/2010/main" val="10056545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F84E81F-3654-4589-99EC-26AF3677160B}"/>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E03957DD-A878-42ED-9C6F-4F3E2A85BC13}"/>
              </a:ext>
            </a:extLst>
          </p:cNvPr>
          <p:cNvSpPr>
            <a:spLocks xmlns:a="http://schemas.openxmlformats.org/drawingml/2006/main" noGrp="1"/>
          </p:cNvSpPr>
          <p:nvPr/>
        </p:nvSpPr>
        <p:spPr>
          <a:xfrm xmlns:a="http://schemas.openxmlformats.org/drawingml/2006/main">
            <a:off x="14393132"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BB6BBF21-41D1-4667-8D8C-88A881A00E4E}"/>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78C61841-10D1-4CF1-8B00-1D5FA9418299}"/>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AC1F08B7-CF7A-4742-AFFF-5B4DBE84E826}"/>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66F155D1-3CA6-4BCD-9652-B52B360A3758}"/>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324A8769-A9FE-49B9-BD08-E0FE7D06A040}"/>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8E1CE438-85BB-4C15-A53A-F93C8142F47C}"/>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23A09239-981A-4A83-AB11-75795B73E26B}"/>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F90AB5F9-C354-4A5B-B25A-8E3B38B3386E}"/>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D8E5EFAA-FD02-42E8-81DA-639014B205DE}"/>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35A20EF9-5654-4E32-B50F-FE3BAA4A818B}"/>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DF990FE4-3150-412B-AD0B-9C31718C16C6}"/>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008CE733-0163-49A2-B9C6-AFDE1626D8E1}"/>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F8B9C96B-D8D0-420B-99F9-0F240B05601F}"/>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Độ nhạy theo tỷ lệ giữ lệnh">
            <a:extLst xmlns:a="http://schemas.openxmlformats.org/drawingml/2006/main">
              <a:ext uri="{FF2B5EF4-FFF2-40B4-BE49-F238E27FC236}">
                <a16:creationId xmlns:a16="http://schemas.microsoft.com/office/drawing/2014/main" id="{3DC52048-6AFA-455D-B975-352A359009F4}"/>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Độ nhạy theo tỷ lệ giữ lệnh</a:t>
            </a:r>
          </a:p>
        </p:txBody>
      </p:sp>
      <p:sp>
        <p:nvSpPr>
          <p:cNvPr id="20" name="15/18">
            <a:extLst xmlns:a="http://schemas.openxmlformats.org/drawingml/2006/main">
              <a:ext uri="{FF2B5EF4-FFF2-40B4-BE49-F238E27FC236}">
                <a16:creationId xmlns:a16="http://schemas.microsoft.com/office/drawing/2014/main" id="{D654B1FA-4054-4A67-8FBA-AEE46B70A8F8}"/>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15/18</a:t>
            </a:r>
          </a:p>
        </p:txBody>
      </p:sp>
      <p:graphicFrame>
        <p:nvGraphicFramePr>
          <p:cNvPr id="44" name="Chart"/>
          <p:cNvGraphicFramePr/>
          <p:nvPr/>
        </p:nvGraphicFramePr>
        <p:xfrm>
          <a:off xmlns:a="http://schemas.openxmlformats.org/drawingml/2006/main" x="1031875" y="2349500"/>
          <a:ext xmlns:a="http://schemas.openxmlformats.org/drawingml/2006/main" cx="13462000" cy="7318375"/>
        </p:xfrm>
        <a:graphic xmlns:a="http://schemas.openxmlformats.org/drawingml/2006/main">
          <a:graphicData uri="http://schemas.openxmlformats.org/drawingml/2006/chart">
            <c:chart xmlns:r="http://schemas.openxmlformats.org/officeDocument/2006/relationships" xmlns:c="http://schemas.openxmlformats.org/drawingml/2006/chart" r:id="R120a74cc8c28457e"/>
          </a:graphicData>
        </a:graphic>
      </p:graphicFrame>
      <p:sp>
        <p:nvSpPr>
          <p:cNvPr id="22" name="Top 80%">
            <a:extLst xmlns:a="http://schemas.openxmlformats.org/drawingml/2006/main">
              <a:ext uri="{FF2B5EF4-FFF2-40B4-BE49-F238E27FC236}">
                <a16:creationId xmlns:a16="http://schemas.microsoft.com/office/drawing/2014/main" id="{677C8B98-F157-4DBA-83A0-942BAF46333E}"/>
              </a:ext>
            </a:extLst>
          </p:cNvPr>
          <p:cNvSpPr>
            <a:spLocks xmlns:a="http://schemas.openxmlformats.org/drawingml/2006/main" noGrp="1"/>
          </p:cNvSpPr>
          <p:nvPr/>
        </p:nvSpPr>
        <p:spPr>
          <a:xfrm xmlns:a="http://schemas.openxmlformats.org/drawingml/2006/main">
            <a:off x="15208250" y="2555875"/>
            <a:ext cx="5254625"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875" b="1">
                <a:solidFill>
                  <a:srgbClr val="2E7D32"/>
                </a:solidFill>
                <a:latin typeface="Times New Roman"/>
                <a:ea typeface="Times New Roman"/>
                <a:cs typeface="Times New Roman"/>
              </a:defRPr>
            </a:pPr>
            <a:r>
              <a:rPr sz="3875" b="1">
                <a:solidFill>
                  <a:srgbClr val="2E7D32"/>
                </a:solidFill>
                <a:latin typeface="Times New Roman"/>
                <a:ea typeface="Times New Roman"/>
                <a:cs typeface="Times New Roman"/>
              </a:rPr>
              <a:t>Top 80%</a:t>
            </a:r>
          </a:p>
        </p:txBody>
      </p:sp>
      <p:sp>
        <p:nvSpPr>
          <p:cNvPr id="23" name="4.023 lệnh&#10;+259,91 R&#10;MaxDD 219,02 R&#10;PF 1,1278">
            <a:extLst xmlns:a="http://schemas.openxmlformats.org/drawingml/2006/main">
              <a:ext uri="{FF2B5EF4-FFF2-40B4-BE49-F238E27FC236}">
                <a16:creationId xmlns:a16="http://schemas.microsoft.com/office/drawing/2014/main" id="{3AA97ED3-F314-434B-932E-F00C1D98593E}"/>
              </a:ext>
            </a:extLst>
          </p:cNvPr>
          <p:cNvSpPr>
            <a:spLocks xmlns:a="http://schemas.openxmlformats.org/drawingml/2006/main" noGrp="1"/>
          </p:cNvSpPr>
          <p:nvPr/>
        </p:nvSpPr>
        <p:spPr>
          <a:xfrm xmlns:a="http://schemas.openxmlformats.org/drawingml/2006/main">
            <a:off x="15208250" y="3619500"/>
            <a:ext cx="5254625" cy="284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0">
                <a:solidFill>
                  <a:srgbClr val="151515"/>
                </a:solidFill>
                <a:latin typeface="Times New Roman"/>
                <a:ea typeface="Times New Roman"/>
                <a:cs typeface="Times New Roman"/>
              </a:defRPr>
            </a:pPr>
            <a:r>
              <a:rPr sz="3375" b="0">
                <a:solidFill>
                  <a:srgbClr val="151515"/>
                </a:solidFill>
                <a:latin typeface="Times New Roman"/>
                <a:ea typeface="Times New Roman"/>
                <a:cs typeface="Times New Roman"/>
              </a:rPr>
              <a:t>4.023 lệnh</a:t>
            </a:r>
          </a:p>
          <a:p xmlns:a="http://schemas.openxmlformats.org/drawingml/2006/main">
            <a:pPr algn="l">
              <a:defRPr sz="3375" b="0">
                <a:solidFill>
                  <a:srgbClr val="151515"/>
                </a:solidFill>
                <a:latin typeface="Times New Roman"/>
                <a:ea typeface="Times New Roman"/>
                <a:cs typeface="Times New Roman"/>
              </a:defRPr>
            </a:pPr>
            <a:r>
              <a:rPr sz="3375" b="0">
                <a:solidFill>
                  <a:srgbClr val="151515"/>
                </a:solidFill>
                <a:latin typeface="Times New Roman"/>
                <a:ea typeface="Times New Roman"/>
                <a:cs typeface="Times New Roman"/>
              </a:rPr>
              <a:t>+259,91 R</a:t>
            </a:r>
          </a:p>
          <a:p xmlns:a="http://schemas.openxmlformats.org/drawingml/2006/main">
            <a:pPr algn="l">
              <a:defRPr sz="3375" b="0">
                <a:solidFill>
                  <a:srgbClr val="151515"/>
                </a:solidFill>
                <a:latin typeface="Times New Roman"/>
                <a:ea typeface="Times New Roman"/>
                <a:cs typeface="Times New Roman"/>
              </a:defRPr>
            </a:pPr>
            <a:r>
              <a:rPr sz="3375" b="0">
                <a:solidFill>
                  <a:srgbClr val="151515"/>
                </a:solidFill>
                <a:latin typeface="Times New Roman"/>
                <a:ea typeface="Times New Roman"/>
                <a:cs typeface="Times New Roman"/>
              </a:rPr>
              <a:t>MaxDD 219,02 R</a:t>
            </a:r>
          </a:p>
          <a:p xmlns:a="http://schemas.openxmlformats.org/drawingml/2006/main">
            <a:pPr algn="l">
              <a:defRPr sz="3375" b="0">
                <a:solidFill>
                  <a:srgbClr val="151515"/>
                </a:solidFill>
                <a:latin typeface="Times New Roman"/>
                <a:ea typeface="Times New Roman"/>
                <a:cs typeface="Times New Roman"/>
              </a:defRPr>
            </a:pPr>
            <a:r>
              <a:rPr sz="3375" b="0">
                <a:solidFill>
                  <a:srgbClr val="151515"/>
                </a:solidFill>
                <a:latin typeface="Times New Roman"/>
                <a:ea typeface="Times New Roman"/>
                <a:cs typeface="Times New Roman"/>
              </a:rPr>
              <a:t>PF 1,1278</a:t>
            </a:r>
          </a:p>
        </p:txBody>
      </p:sp>
      <p:sp>
        <p:nvSpPr>
          <p:cNvPr id="24" name="Kết quả thay đổi đáng kể theo tỷ lệ giữ lệnh.">
            <a:extLst xmlns:a="http://schemas.openxmlformats.org/drawingml/2006/main">
              <a:ext uri="{FF2B5EF4-FFF2-40B4-BE49-F238E27FC236}">
                <a16:creationId xmlns:a16="http://schemas.microsoft.com/office/drawing/2014/main" id="{BC3A2261-2F15-45B7-978F-8CFC8E819CA1}"/>
              </a:ext>
            </a:extLst>
          </p:cNvPr>
          <p:cNvSpPr>
            <a:spLocks xmlns:a="http://schemas.openxmlformats.org/drawingml/2006/main" noGrp="1"/>
          </p:cNvSpPr>
          <p:nvPr/>
        </p:nvSpPr>
        <p:spPr>
          <a:xfrm xmlns:a="http://schemas.openxmlformats.org/drawingml/2006/main">
            <a:off x="15208250" y="7080250"/>
            <a:ext cx="5254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25" b="0">
                <a:solidFill>
                  <a:srgbClr val="1565C0"/>
                </a:solidFill>
                <a:latin typeface="Times New Roman"/>
                <a:ea typeface="Times New Roman"/>
                <a:cs typeface="Times New Roman"/>
              </a:defRPr>
            </a:pPr>
            <a:r>
              <a:rPr sz="3125" b="0">
                <a:solidFill>
                  <a:srgbClr val="1565C0"/>
                </a:solidFill>
                <a:latin typeface="Times New Roman"/>
                <a:ea typeface="Times New Roman"/>
                <a:cs typeface="Times New Roman"/>
              </a:rPr>
              <a:t>Kết quả thay đổi đáng kể theo tỷ lệ giữ lệnh.</a:t>
            </a:r>
          </a:p>
        </p:txBody>
      </p:sp>
      <p:sp>
        <p:nvSpPr>
          <p:cNvPr id="25" name="">
            <a:extLst xmlns:a="http://schemas.openxmlformats.org/drawingml/2006/main">
              <a:ext uri="{FF2B5EF4-FFF2-40B4-BE49-F238E27FC236}">
                <a16:creationId xmlns:a16="http://schemas.microsoft.com/office/drawing/2014/main" id="{EF6B1917-0579-40E5-B9C7-1E4176413E88}"/>
              </a:ext>
            </a:extLst>
          </p:cNvPr>
          <p:cNvSpPr>
            <a:spLocks xmlns:a="http://schemas.openxmlformats.org/drawingml/2006/main" noGrp="1"/>
          </p:cNvSpPr>
          <p:nvPr/>
        </p:nvSpPr>
        <p:spPr>
          <a:xfrm xmlns:a="http://schemas.openxmlformats.org/drawingml/2006/main">
            <a:off x="1016000" y="10001250"/>
            <a:ext cx="19653250" cy="1285875"/>
          </a:xfrm>
          <a:prstGeom xmlns:a="http://schemas.openxmlformats.org/drawingml/2006/main" prst="roundRect">
            <a:avLst>
              <a:gd name="adj" fmla="val 19753"/>
            </a:avLst>
          </a:prstGeom>
          <a:solidFill xmlns:a="http://schemas.openxmlformats.org/drawingml/2006/main">
            <a:srgbClr val="FFF3E0"/>
          </a:solidFill>
          <a:ln xmlns:a="http://schemas.openxmlformats.org/drawingml/2006/main" w="15875">
            <a:solidFill>
              <a:srgbClr val="FFF3E0"/>
            </a:solidFill>
          </a:ln>
        </p:spPr>
      </p:sp>
      <p:sp>
        <p:nvSpPr>
          <p:cNvPr id="26" name="Sweep là phân tích độ nhạy sau khi xem holdout. Chọn Top 80%">
            <a:extLst xmlns:a="http://schemas.openxmlformats.org/drawingml/2006/main">
              <a:ext uri="{FF2B5EF4-FFF2-40B4-BE49-F238E27FC236}">
                <a16:creationId xmlns:a16="http://schemas.microsoft.com/office/drawing/2014/main" id="{934D9BD4-E413-4FFB-B681-88ECEB923418}"/>
              </a:ext>
            </a:extLst>
          </p:cNvPr>
          <p:cNvSpPr>
            <a:spLocks xmlns:a="http://schemas.openxmlformats.org/drawingml/2006/main" noGrp="1"/>
          </p:cNvSpPr>
          <p:nvPr/>
        </p:nvSpPr>
        <p:spPr>
          <a:xfrm xmlns:a="http://schemas.openxmlformats.org/drawingml/2006/main">
            <a:off x="1301750" y="10271125"/>
            <a:ext cx="1905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Sweep là phân tích độ nhạy sau khi xem holdout. Chọn Top 80% từ bảng này cần một tập tương lai mới để kiểm định tiếp.</a:t>
            </a:r>
          </a:p>
        </p:txBody>
      </p:sp>
    </p:spTree>
    <p:extLst>
      <p:ext uri="{BB962C8B-B14F-4D97-AF65-F5344CB8AC3E}">
        <p14:creationId xmlns:p14="http://schemas.microsoft.com/office/powerpoint/2010/main" val="120763544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B88666C-A7F3-4540-9D2A-85BD04FED25F}"/>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ECE2A6BC-9C4C-48B9-9954-BAEDD2BE8AE9}"/>
              </a:ext>
            </a:extLst>
          </p:cNvPr>
          <p:cNvSpPr>
            <a:spLocks xmlns:a="http://schemas.openxmlformats.org/drawingml/2006/main" noGrp="1"/>
          </p:cNvSpPr>
          <p:nvPr/>
        </p:nvSpPr>
        <p:spPr>
          <a:xfrm xmlns:a="http://schemas.openxmlformats.org/drawingml/2006/main">
            <a:off x="17949101"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BC95ABFA-E6DE-4EB4-9D63-997B1C70FDA9}"/>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34C8ED6D-95BB-4F0F-9C5D-2ACDCAEAF1C5}"/>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5EF4A0A8-C063-4E3B-AB00-845D6A83E5A7}"/>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9F9E9458-3F74-48AE-846E-8B4C995C80CC}"/>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C2F3470D-A50B-4892-B294-E6A73A413C34}"/>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F3622138-CE87-4A4E-AC4F-49B2A472DF43}"/>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B191EB4B-651B-45B2-8146-15D3F493CBD9}"/>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0DC85924-726E-4CBF-B128-BC1EE59582F6}"/>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CC46FEB6-9113-434F-A0D8-DE67E8DA76B2}"/>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FE0EF8DC-62D5-49BC-A54E-990B378114DA}"/>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56860E57-F671-44BB-8F63-C76365AB2729}"/>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9634440D-71D5-453F-AABA-5C8F5052711C}"/>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D83BBB91-EFC2-49F8-9DC6-EB4F4B4FB144}"/>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Khả năng tái lập và độ nhạy cấu hình">
            <a:extLst xmlns:a="http://schemas.openxmlformats.org/drawingml/2006/main">
              <a:ext uri="{FF2B5EF4-FFF2-40B4-BE49-F238E27FC236}">
                <a16:creationId xmlns:a16="http://schemas.microsoft.com/office/drawing/2014/main" id="{83783828-1CD0-4D9B-9B48-0EF3ED649DDA}"/>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Khả năng tái lập và độ nhạy cấu hình</a:t>
            </a:r>
          </a:p>
        </p:txBody>
      </p:sp>
      <p:sp>
        <p:nvSpPr>
          <p:cNvPr id="20" name="16/18">
            <a:extLst xmlns:a="http://schemas.openxmlformats.org/drawingml/2006/main">
              <a:ext uri="{FF2B5EF4-FFF2-40B4-BE49-F238E27FC236}">
                <a16:creationId xmlns:a16="http://schemas.microsoft.com/office/drawing/2014/main" id="{549AD9F2-A53B-42F4-9805-21734F751648}"/>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16/18</a:t>
            </a:r>
          </a:p>
        </p:txBody>
      </p:sp>
      <p:sp>
        <p:nvSpPr>
          <p:cNvPr id="21" name="Cùng cấu hình một luồng: hai lần chạy có xác suất giống hệt ">
            <a:extLst xmlns:a="http://schemas.openxmlformats.org/drawingml/2006/main">
              <a:ext uri="{FF2B5EF4-FFF2-40B4-BE49-F238E27FC236}">
                <a16:creationId xmlns:a16="http://schemas.microsoft.com/office/drawing/2014/main" id="{CB6EE28C-21BF-41C6-B722-B3E1C4F20372}"/>
              </a:ext>
            </a:extLst>
          </p:cNvPr>
          <p:cNvSpPr>
            <a:spLocks xmlns:a="http://schemas.openxmlformats.org/drawingml/2006/main" noGrp="1"/>
          </p:cNvSpPr>
          <p:nvPr/>
        </p:nvSpPr>
        <p:spPr>
          <a:xfrm xmlns:a="http://schemas.openxmlformats.org/drawingml/2006/main">
            <a:off x="1016000" y="2095500"/>
            <a:ext cx="19653250" cy="65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00" b="1">
                <a:solidFill>
                  <a:srgbClr val="2E7D32"/>
                </a:solidFill>
                <a:latin typeface="Times New Roman"/>
                <a:ea typeface="Times New Roman"/>
                <a:cs typeface="Times New Roman"/>
              </a:defRPr>
            </a:pPr>
            <a:r>
              <a:rPr sz="3500" b="1">
                <a:solidFill>
                  <a:srgbClr val="2E7D32"/>
                </a:solidFill>
                <a:latin typeface="Times New Roman"/>
                <a:ea typeface="Times New Roman"/>
                <a:cs typeface="Times New Roman"/>
              </a:rPr>
              <a:t>Cùng cấu hình một luồng: hai lần chạy có xác suất giống hệt nhau</a:t>
            </a:r>
          </a:p>
        </p:txBody>
      </p:sp>
      <p:graphicFrame>
        <p:nvGraphicFramePr>
          <p:cNvPr id="44" name=""/>
          <p:cNvGraphicFramePr/>
          <p:nvPr/>
        </p:nvGraphicFramePr>
        <p:xfrm>
          <a:off xmlns:a="http://schemas.openxmlformats.org/drawingml/2006/main" x="1016000" y="3238500"/>
          <a:ext xmlns:a="http://schemas.openxmlformats.org/drawingml/2006/main" cx="19653250" cy="4111625"/>
        </p:xfrm>
        <a:graphic xmlns:a="http://schemas.openxmlformats.org/drawingml/2006/main">
          <a:graphicData uri="http://schemas.openxmlformats.org/drawingml/2006/table">
            <a:tbl>
              <a:tblPr/>
              <a:tblGrid>
                <a:gridCol w="7302500"/>
                <a:gridCol w="3952875"/>
                <a:gridCol w="3952875"/>
                <a:gridCol w="4445000"/>
              </a:tblGrid>
              <a:tr h="1027906">
                <a:tc>
                  <a:txBody>
                    <a:bodyPr>
                      <a:noAutofit/>
                    </a:bodyPr>
                    <a:lstStyle/>
                    <a:p>
                      <a:r>
                        <a:rPr sz="3125" b="1">
                          <a:solidFill>
                            <a:srgbClr val="FFFFFF"/>
                          </a:solidFill>
                          <a:latin typeface="Times New Roman"/>
                          <a:ea typeface="Times New Roman"/>
                          <a:cs typeface="Times New Roman"/>
                        </a:rPr>
                        <a:t>Số luồng khi train</a:t>
                      </a:r>
                    </a:p>
                  </a:txBody>
                  <a:tcPr marL="158750" marR="158750" marT="127000" marB="127000" anchor="ctr">
                    <a:solidFill>
                      <a:srgbClr val="1565C0"/>
                    </a:solidFill>
                  </a:tcPr>
                </a:tc>
                <a:tc>
                  <a:txBody>
                    <a:bodyPr>
                      <a:noAutofit/>
                    </a:bodyPr>
                    <a:lstStyle/>
                    <a:p>
                      <a:r>
                        <a:rPr sz="3125" b="1">
                          <a:solidFill>
                            <a:srgbClr val="FFFFFF"/>
                          </a:solidFill>
                          <a:latin typeface="Times New Roman"/>
                          <a:ea typeface="Times New Roman"/>
                          <a:cs typeface="Times New Roman"/>
                        </a:rPr>
                        <a:t>AUC holdout</a:t>
                      </a:r>
                    </a:p>
                  </a:txBody>
                  <a:tcPr marL="158750" marR="158750" marT="127000" marB="127000" anchor="ctr">
                    <a:solidFill>
                      <a:srgbClr val="1565C0"/>
                    </a:solidFill>
                  </a:tcPr>
                </a:tc>
                <a:tc>
                  <a:txBody>
                    <a:bodyPr>
                      <a:noAutofit/>
                    </a:bodyPr>
                    <a:lstStyle/>
                    <a:p>
                      <a:r>
                        <a:rPr sz="3125" b="1">
                          <a:solidFill>
                            <a:srgbClr val="FFFFFF"/>
                          </a:solidFill>
                          <a:latin typeface="Times New Roman"/>
                          <a:ea typeface="Times New Roman"/>
                          <a:cs typeface="Times New Roman"/>
                        </a:rPr>
                        <a:t>F1 @ 0,5</a:t>
                      </a:r>
                    </a:p>
                  </a:txBody>
                  <a:tcPr marL="158750" marR="158750" marT="127000" marB="127000" anchor="ctr">
                    <a:solidFill>
                      <a:srgbClr val="1565C0"/>
                    </a:solidFill>
                  </a:tcPr>
                </a:tc>
                <a:tc>
                  <a:txBody>
                    <a:bodyPr>
                      <a:noAutofit/>
                    </a:bodyPr>
                    <a:lstStyle/>
                    <a:p>
                      <a:r>
                        <a:rPr sz="3125" b="1">
                          <a:solidFill>
                            <a:srgbClr val="FFFFFF"/>
                          </a:solidFill>
                          <a:latin typeface="Times New Roman"/>
                          <a:ea typeface="Times New Roman"/>
                          <a:cs typeface="Times New Roman"/>
                        </a:rPr>
                        <a:t>Top 50% (R)</a:t>
                      </a:r>
                    </a:p>
                  </a:txBody>
                  <a:tcPr marL="158750" marR="158750" marT="127000" marB="127000" anchor="ctr">
                    <a:solidFill>
                      <a:srgbClr val="1565C0"/>
                    </a:solidFill>
                  </a:tcPr>
                </a:tc>
              </a:tr>
              <a:tr h="1027906">
                <a:tc>
                  <a:txBody>
                    <a:bodyPr>
                      <a:noAutofit/>
                    </a:bodyPr>
                    <a:lstStyle/>
                    <a:p>
                      <a:r>
                        <a:rPr sz="3125" b="0">
                          <a:solidFill>
                            <a:srgbClr val="151515"/>
                          </a:solidFill>
                          <a:latin typeface="Times New Roman"/>
                          <a:ea typeface="Times New Roman"/>
                          <a:cs typeface="Times New Roman"/>
                        </a:rPr>
                        <a:t>1, cấu hình chính</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0,6046</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0,4022</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−36,55</a:t>
                      </a:r>
                    </a:p>
                  </a:txBody>
                  <a:tcPr marL="158750" marR="158750" marT="127000" marB="127000" anchor="ctr">
                    <a:solidFill>
                      <a:srgbClr val="FFFFFF"/>
                    </a:solidFill>
                  </a:tcPr>
                </a:tc>
              </a:tr>
              <a:tr h="1027906">
                <a:tc>
                  <a:txBody>
                    <a:bodyPr>
                      <a:noAutofit/>
                    </a:bodyPr>
                    <a:lstStyle/>
                    <a:p>
                      <a:r>
                        <a:rPr sz="3125" b="0">
                          <a:solidFill>
                            <a:srgbClr val="151515"/>
                          </a:solidFill>
                          <a:latin typeface="Times New Roman"/>
                          <a:ea typeface="Times New Roman"/>
                          <a:cs typeface="Times New Roman"/>
                        </a:rPr>
                        <a:t>2</a:t>
                      </a:r>
                    </a:p>
                  </a:txBody>
                  <a:tcPr marL="158750" marR="158750" marT="127000" marB="127000" anchor="ctr">
                    <a:solidFill>
                      <a:srgbClr val="E3F2FD"/>
                    </a:solidFill>
                  </a:tcPr>
                </a:tc>
                <a:tc>
                  <a:txBody>
                    <a:bodyPr>
                      <a:noAutofit/>
                    </a:bodyPr>
                    <a:lstStyle/>
                    <a:p>
                      <a:r>
                        <a:rPr sz="3125" b="0">
                          <a:solidFill>
                            <a:srgbClr val="151515"/>
                          </a:solidFill>
                          <a:latin typeface="Times New Roman"/>
                          <a:ea typeface="Times New Roman"/>
                          <a:cs typeface="Times New Roman"/>
                        </a:rPr>
                        <a:t>0,6042</a:t>
                      </a:r>
                    </a:p>
                  </a:txBody>
                  <a:tcPr marL="158750" marR="158750" marT="127000" marB="127000" anchor="ctr">
                    <a:solidFill>
                      <a:srgbClr val="E3F2FD"/>
                    </a:solidFill>
                  </a:tcPr>
                </a:tc>
                <a:tc>
                  <a:txBody>
                    <a:bodyPr>
                      <a:noAutofit/>
                    </a:bodyPr>
                    <a:lstStyle/>
                    <a:p>
                      <a:r>
                        <a:rPr sz="3125" b="0">
                          <a:solidFill>
                            <a:srgbClr val="151515"/>
                          </a:solidFill>
                          <a:latin typeface="Times New Roman"/>
                          <a:ea typeface="Times New Roman"/>
                          <a:cs typeface="Times New Roman"/>
                        </a:rPr>
                        <a:t>0,4069</a:t>
                      </a:r>
                    </a:p>
                  </a:txBody>
                  <a:tcPr marL="158750" marR="158750" marT="127000" marB="127000" anchor="ctr">
                    <a:solidFill>
                      <a:srgbClr val="E3F2FD"/>
                    </a:solidFill>
                  </a:tcPr>
                </a:tc>
                <a:tc>
                  <a:txBody>
                    <a:bodyPr>
                      <a:noAutofit/>
                    </a:bodyPr>
                    <a:lstStyle/>
                    <a:p>
                      <a:r>
                        <a:rPr sz="3125" b="0">
                          <a:solidFill>
                            <a:srgbClr val="151515"/>
                          </a:solidFill>
                          <a:latin typeface="Times New Roman"/>
                          <a:ea typeface="Times New Roman"/>
                          <a:cs typeface="Times New Roman"/>
                        </a:rPr>
                        <a:t>−12,26</a:t>
                      </a:r>
                    </a:p>
                  </a:txBody>
                  <a:tcPr marL="158750" marR="158750" marT="127000" marB="127000" anchor="ctr">
                    <a:solidFill>
                      <a:srgbClr val="E3F2FD"/>
                    </a:solidFill>
                  </a:tcPr>
                </a:tc>
              </a:tr>
              <a:tr h="1027906">
                <a:tc>
                  <a:txBody>
                    <a:bodyPr>
                      <a:noAutofit/>
                    </a:bodyPr>
                    <a:lstStyle/>
                    <a:p>
                      <a:r>
                        <a:rPr sz="3125" b="0">
                          <a:solidFill>
                            <a:srgbClr val="151515"/>
                          </a:solidFill>
                          <a:latin typeface="Times New Roman"/>
                          <a:ea typeface="Times New Roman"/>
                          <a:cs typeface="Times New Roman"/>
                        </a:rPr>
                        <a:t>Mặc định, mọi luồng</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0,6023</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0,4065</a:t>
                      </a:r>
                    </a:p>
                  </a:txBody>
                  <a:tcPr marL="158750" marR="158750" marT="127000" marB="127000" anchor="ctr">
                    <a:solidFill>
                      <a:srgbClr val="FFFFFF"/>
                    </a:solidFill>
                  </a:tcPr>
                </a:tc>
                <a:tc>
                  <a:txBody>
                    <a:bodyPr>
                      <a:noAutofit/>
                    </a:bodyPr>
                    <a:lstStyle/>
                    <a:p>
                      <a:r>
                        <a:rPr sz="3125" b="0">
                          <a:solidFill>
                            <a:srgbClr val="151515"/>
                          </a:solidFill>
                          <a:latin typeface="Times New Roman"/>
                          <a:ea typeface="Times New Roman"/>
                          <a:cs typeface="Times New Roman"/>
                        </a:rPr>
                        <a:t>+30,79</a:t>
                      </a:r>
                    </a:p>
                  </a:txBody>
                  <a:tcPr marL="158750" marR="158750" marT="127000" marB="127000" anchor="ctr">
                    <a:solidFill>
                      <a:srgbClr val="FFFFFF"/>
                    </a:solidFill>
                  </a:tcPr>
                </a:tc>
              </a:tr>
            </a:tbl>
          </a:graphicData>
        </a:graphic>
      </p:graphicFrame>
      <p:sp>
        <p:nvSpPr>
          <p:cNvPr id="23" name="Kiểm dữ liệu, xác suất, bảng kết quả và đối chiếu hash">
            <a:extLst xmlns:a="http://schemas.openxmlformats.org/drawingml/2006/main">
              <a:ext uri="{FF2B5EF4-FFF2-40B4-BE49-F238E27FC236}">
                <a16:creationId xmlns:a16="http://schemas.microsoft.com/office/drawing/2014/main" id="{55B9F1DE-5502-448F-B8A5-04666DEA278C}"/>
              </a:ext>
            </a:extLst>
          </p:cNvPr>
          <p:cNvSpPr>
            <a:spLocks xmlns:a="http://schemas.openxmlformats.org/drawingml/2006/main" noGrp="1"/>
          </p:cNvSpPr>
          <p:nvPr/>
        </p:nvSpPr>
        <p:spPr>
          <a:xfrm xmlns:a="http://schemas.openxmlformats.org/drawingml/2006/main">
            <a:off x="1047750" y="7889875"/>
            <a:ext cx="1943100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565C0"/>
                </a:solidFill>
                <a:latin typeface="Times New Roman"/>
                <a:ea typeface="Times New Roman"/>
                <a:cs typeface="Times New Roman"/>
              </a:defRPr>
            </a:pPr>
            <a:r>
              <a:rPr sz="3375" b="1">
                <a:solidFill>
                  <a:srgbClr val="1565C0"/>
                </a:solidFill>
                <a:latin typeface="Times New Roman"/>
                <a:ea typeface="Times New Roman"/>
                <a:cs typeface="Times New Roman"/>
              </a:rPr>
              <a:t>Kiểm dữ liệu, xác suất, bảng kết quả và đối chiếu hash</a:t>
            </a:r>
          </a:p>
        </p:txBody>
      </p:sp>
      <p:sp>
        <p:nvSpPr>
          <p:cNvPr id="24" name="">
            <a:extLst xmlns:a="http://schemas.openxmlformats.org/drawingml/2006/main">
              <a:ext uri="{FF2B5EF4-FFF2-40B4-BE49-F238E27FC236}">
                <a16:creationId xmlns:a16="http://schemas.microsoft.com/office/drawing/2014/main" id="{331EFD98-20EA-4427-B9A0-94EFD45DBF93}"/>
              </a:ext>
            </a:extLst>
          </p:cNvPr>
          <p:cNvSpPr>
            <a:spLocks xmlns:a="http://schemas.openxmlformats.org/drawingml/2006/main" noGrp="1"/>
          </p:cNvSpPr>
          <p:nvPr/>
        </p:nvSpPr>
        <p:spPr>
          <a:xfrm xmlns:a="http://schemas.openxmlformats.org/drawingml/2006/main">
            <a:off x="1016000" y="9048750"/>
            <a:ext cx="19653250" cy="1857375"/>
          </a:xfrm>
          <a:prstGeom xmlns:a="http://schemas.openxmlformats.org/drawingml/2006/main" prst="roundRect">
            <a:avLst>
              <a:gd name="adj" fmla="val 13675"/>
            </a:avLst>
          </a:prstGeom>
          <a:solidFill xmlns:a="http://schemas.openxmlformats.org/drawingml/2006/main">
            <a:srgbClr val="FFF3E0"/>
          </a:solidFill>
          <a:ln xmlns:a="http://schemas.openxmlformats.org/drawingml/2006/main" w="15875">
            <a:solidFill>
              <a:srgbClr val="FFF3E0"/>
            </a:solidFill>
          </a:ln>
        </p:spPr>
      </p:sp>
      <p:sp>
        <p:nvSpPr>
          <p:cNvPr id="25" name="Kết quả tái lập cùng máy không bảo đảm giống hệt trên mọi má">
            <a:extLst xmlns:a="http://schemas.openxmlformats.org/drawingml/2006/main">
              <a:ext uri="{FF2B5EF4-FFF2-40B4-BE49-F238E27FC236}">
                <a16:creationId xmlns:a16="http://schemas.microsoft.com/office/drawing/2014/main" id="{798075FD-2FD1-4036-A02A-A07E027AF8E9}"/>
              </a:ext>
            </a:extLst>
          </p:cNvPr>
          <p:cNvSpPr>
            <a:spLocks xmlns:a="http://schemas.openxmlformats.org/drawingml/2006/main" noGrp="1"/>
          </p:cNvSpPr>
          <p:nvPr/>
        </p:nvSpPr>
        <p:spPr>
          <a:xfrm xmlns:a="http://schemas.openxmlformats.org/drawingml/2006/main">
            <a:off x="1301750" y="9318625"/>
            <a:ext cx="19050000" cy="146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Kết quả tái lập cùng máy không bảo đảm giống hệt trên mọi máy. Thí nghiệm số luồng chỉ có phạm vi một máy, một bản CatBoost, một dataset và một seed.</a:t>
            </a:r>
          </a:p>
        </p:txBody>
      </p:sp>
    </p:spTree>
    <p:extLst>
      <p:ext uri="{BB962C8B-B14F-4D97-AF65-F5344CB8AC3E}">
        <p14:creationId xmlns:p14="http://schemas.microsoft.com/office/powerpoint/2010/main" val="4717927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94ED18D-B056-426D-B4FA-43BB6D69D72D}"/>
              </a:ext>
            </a:extLst>
          </p:cNvPr>
          <p:cNvSpPr>
            <a:spLocks xmlns:a="http://schemas.openxmlformats.org/drawingml/2006/main" noGrp="1"/>
          </p:cNvSpPr>
          <p:nvPr/>
        </p:nvSpPr>
        <p:spPr>
          <a:xfrm xmlns:a="http://schemas.openxmlformats.org/drawingml/2006/main">
            <a:off x="0" y="0"/>
            <a:ext cx="21674709" cy="677291"/>
          </a:xfrm>
          <a:prstGeom xmlns:a="http://schemas.openxmlformats.org/drawingml/2006/main" prst="rect">
            <a:avLst/>
          </a:prstGeom>
          <a:solidFill xmlns:a="http://schemas.openxmlformats.org/drawingml/2006/main">
            <a:srgbClr val="1565C0"/>
          </a:solidFill>
        </p:spPr>
      </p:sp>
      <p:sp>
        <p:nvSpPr>
          <p:cNvPr id="3" name="Shape 1">
            <a:extLst xmlns:a="http://schemas.openxmlformats.org/drawingml/2006/main">
              <a:ext uri="{FF2B5EF4-FFF2-40B4-BE49-F238E27FC236}">
                <a16:creationId xmlns:a16="http://schemas.microsoft.com/office/drawing/2014/main" id="{4565A470-C2C8-4226-8FE5-0A1985DCC632}"/>
              </a:ext>
            </a:extLst>
          </p:cNvPr>
          <p:cNvSpPr>
            <a:spLocks xmlns:a="http://schemas.openxmlformats.org/drawingml/2006/main" noGrp="1"/>
          </p:cNvSpPr>
          <p:nvPr/>
        </p:nvSpPr>
        <p:spPr>
          <a:xfrm xmlns:a="http://schemas.openxmlformats.org/drawingml/2006/main">
            <a:off x="17949101" y="84709"/>
            <a:ext cx="3386709" cy="508000"/>
          </a:xfrm>
          <a:prstGeom xmlns:a="http://schemas.openxmlformats.org/drawingml/2006/main" prst="roundRect">
            <a:avLst>
              <a:gd name="adj" fmla="val 8000"/>
            </a:avLst>
          </a:prstGeom>
          <a:noFill xmlns:a="http://schemas.openxmlformats.org/drawingml/2006/main"/>
        </p:spPr>
      </p:sp>
      <p:sp>
        <p:nvSpPr>
          <p:cNvPr id="4" name="Shape 2">
            <a:extLst xmlns:a="http://schemas.openxmlformats.org/drawingml/2006/main">
              <a:ext uri="{FF2B5EF4-FFF2-40B4-BE49-F238E27FC236}">
                <a16:creationId xmlns:a16="http://schemas.microsoft.com/office/drawing/2014/main" id="{96AD0E1B-AD29-477D-B46D-4858957E0F66}"/>
              </a:ext>
            </a:extLst>
          </p:cNvPr>
          <p:cNvSpPr>
            <a:spLocks xmlns:a="http://schemas.openxmlformats.org/drawingml/2006/main" noGrp="1"/>
          </p:cNvSpPr>
          <p:nvPr/>
        </p:nvSpPr>
        <p:spPr>
          <a:xfrm xmlns:a="http://schemas.openxmlformats.org/drawingml/2006/main">
            <a:off x="169291" y="0"/>
            <a:ext cx="3386709" cy="677291"/>
          </a:xfrm>
          <a:prstGeom xmlns:a="http://schemas.openxmlformats.org/drawingml/2006/main" prst="rect">
            <a:avLst/>
          </a:prstGeom>
          <a:noFill xmlns:a="http://schemas.openxmlformats.org/drawingml/2006/main"/>
        </p:spPr>
      </p:sp>
      <p:sp>
        <p:nvSpPr>
          <p:cNvPr id="5" name="Text 3">
            <a:extLst xmlns:a="http://schemas.openxmlformats.org/drawingml/2006/main">
              <a:ext uri="{FF2B5EF4-FFF2-40B4-BE49-F238E27FC236}">
                <a16:creationId xmlns:a16="http://schemas.microsoft.com/office/drawing/2014/main" id="{3DDB79CE-8E1A-4759-856E-FDA5F533C317}"/>
              </a:ext>
            </a:extLst>
          </p:cNvPr>
          <p:cNvSpPr>
            <a:spLocks xmlns:a="http://schemas.openxmlformats.org/drawingml/2006/main" noGrp="1"/>
          </p:cNvSpPr>
          <p:nvPr/>
        </p:nvSpPr>
        <p:spPr>
          <a:xfrm xmlns:a="http://schemas.openxmlformats.org/drawingml/2006/main">
            <a:off x="47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xmlns:a="http://schemas.openxmlformats.org/drawingml/2006/main">
              <a:ext uri="{FF2B5EF4-FFF2-40B4-BE49-F238E27FC236}">
                <a16:creationId xmlns:a16="http://schemas.microsoft.com/office/drawing/2014/main" id="{ECED247C-2FED-4B1A-BF21-E27053E149B3}"/>
              </a:ext>
            </a:extLst>
          </p:cNvPr>
          <p:cNvSpPr>
            <a:spLocks xmlns:a="http://schemas.openxmlformats.org/drawingml/2006/main" noGrp="1"/>
          </p:cNvSpPr>
          <p:nvPr/>
        </p:nvSpPr>
        <p:spPr>
          <a:xfrm xmlns:a="http://schemas.openxmlformats.org/drawingml/2006/main">
            <a:off x="3725291" y="0"/>
            <a:ext cx="3386709" cy="677291"/>
          </a:xfrm>
          <a:prstGeom xmlns:a="http://schemas.openxmlformats.org/drawingml/2006/main" prst="rect">
            <a:avLst/>
          </a:prstGeom>
          <a:noFill xmlns:a="http://schemas.openxmlformats.org/drawingml/2006/main"/>
        </p:spPr>
      </p:sp>
      <p:sp>
        <p:nvSpPr>
          <p:cNvPr id="7" name="Text 5">
            <a:extLst xmlns:a="http://schemas.openxmlformats.org/drawingml/2006/main">
              <a:ext uri="{FF2B5EF4-FFF2-40B4-BE49-F238E27FC236}">
                <a16:creationId xmlns:a16="http://schemas.microsoft.com/office/drawing/2014/main" id="{32319E8E-4B9E-49EF-84E4-B89E48E4BB2B}"/>
              </a:ext>
            </a:extLst>
          </p:cNvPr>
          <p:cNvSpPr>
            <a:spLocks xmlns:a="http://schemas.openxmlformats.org/drawingml/2006/main" noGrp="1"/>
          </p:cNvSpPr>
          <p:nvPr/>
        </p:nvSpPr>
        <p:spPr>
          <a:xfrm xmlns:a="http://schemas.openxmlformats.org/drawingml/2006/main">
            <a:off x="3603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Hệ thống và nhãn</a:t>
            </a:r>
            <a:endParaRPr sz="1600">
              <a:latin typeface="Times New Roman"/>
              <a:ea typeface="Times New Roman"/>
              <a:cs typeface="Times New Roman"/>
            </a:endParaRPr>
          </a:p>
        </p:txBody>
      </p:sp>
      <p:sp>
        <p:nvSpPr>
          <p:cNvPr id="8" name="Shape 6">
            <a:extLst xmlns:a="http://schemas.openxmlformats.org/drawingml/2006/main">
              <a:ext uri="{FF2B5EF4-FFF2-40B4-BE49-F238E27FC236}">
                <a16:creationId xmlns:a16="http://schemas.microsoft.com/office/drawing/2014/main" id="{F15B7043-55C3-4803-8C78-F896426981C3}"/>
              </a:ext>
            </a:extLst>
          </p:cNvPr>
          <p:cNvSpPr>
            <a:spLocks xmlns:a="http://schemas.openxmlformats.org/drawingml/2006/main" noGrp="1"/>
          </p:cNvSpPr>
          <p:nvPr/>
        </p:nvSpPr>
        <p:spPr>
          <a:xfrm xmlns:a="http://schemas.openxmlformats.org/drawingml/2006/main">
            <a:off x="7281291" y="0"/>
            <a:ext cx="3386709" cy="677291"/>
          </a:xfrm>
          <a:prstGeom xmlns:a="http://schemas.openxmlformats.org/drawingml/2006/main" prst="rect">
            <a:avLst/>
          </a:prstGeom>
          <a:noFill xmlns:a="http://schemas.openxmlformats.org/drawingml/2006/main"/>
        </p:spPr>
      </p:sp>
      <p:sp>
        <p:nvSpPr>
          <p:cNvPr id="9" name="Text 7">
            <a:extLst xmlns:a="http://schemas.openxmlformats.org/drawingml/2006/main">
              <a:ext uri="{FF2B5EF4-FFF2-40B4-BE49-F238E27FC236}">
                <a16:creationId xmlns:a16="http://schemas.microsoft.com/office/drawing/2014/main" id="{B2305E69-E73D-4B54-BA07-88055A0964DC}"/>
              </a:ext>
            </a:extLst>
          </p:cNvPr>
          <p:cNvSpPr>
            <a:spLocks xmlns:a="http://schemas.openxmlformats.org/drawingml/2006/main" noGrp="1"/>
          </p:cNvSpPr>
          <p:nvPr/>
        </p:nvSpPr>
        <p:spPr>
          <a:xfrm xmlns:a="http://schemas.openxmlformats.org/drawingml/2006/main">
            <a:off x="7159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Chia dữ liệu</a:t>
            </a:r>
            <a:endParaRPr sz="1600">
              <a:latin typeface="Times New Roman"/>
              <a:ea typeface="Times New Roman"/>
              <a:cs typeface="Times New Roman"/>
            </a:endParaRPr>
          </a:p>
        </p:txBody>
      </p:sp>
      <p:sp>
        <p:nvSpPr>
          <p:cNvPr id="10" name="Shape 8">
            <a:extLst xmlns:a="http://schemas.openxmlformats.org/drawingml/2006/main">
              <a:ext uri="{FF2B5EF4-FFF2-40B4-BE49-F238E27FC236}">
                <a16:creationId xmlns:a16="http://schemas.microsoft.com/office/drawing/2014/main" id="{499EEF33-FEC2-4E69-89F8-717C7AB90AA5}"/>
              </a:ext>
            </a:extLst>
          </p:cNvPr>
          <p:cNvSpPr>
            <a:spLocks xmlns:a="http://schemas.openxmlformats.org/drawingml/2006/main" noGrp="1"/>
          </p:cNvSpPr>
          <p:nvPr/>
        </p:nvSpPr>
        <p:spPr>
          <a:xfrm xmlns:a="http://schemas.openxmlformats.org/drawingml/2006/main">
            <a:off x="10837291" y="0"/>
            <a:ext cx="3386709" cy="677291"/>
          </a:xfrm>
          <a:prstGeom xmlns:a="http://schemas.openxmlformats.org/drawingml/2006/main" prst="rect">
            <a:avLst/>
          </a:prstGeom>
          <a:noFill xmlns:a="http://schemas.openxmlformats.org/drawingml/2006/main"/>
        </p:spPr>
      </p:sp>
      <p:sp>
        <p:nvSpPr>
          <p:cNvPr id="11" name="Text 9">
            <a:extLst xmlns:a="http://schemas.openxmlformats.org/drawingml/2006/main">
              <a:ext uri="{FF2B5EF4-FFF2-40B4-BE49-F238E27FC236}">
                <a16:creationId xmlns:a16="http://schemas.microsoft.com/office/drawing/2014/main" id="{B5FE0364-FDB3-4E49-A708-CDA667ADB4C0}"/>
              </a:ext>
            </a:extLst>
          </p:cNvPr>
          <p:cNvSpPr>
            <a:spLocks xmlns:a="http://schemas.openxmlformats.org/drawingml/2006/main" noGrp="1"/>
          </p:cNvSpPr>
          <p:nvPr/>
        </p:nvSpPr>
        <p:spPr>
          <a:xfrm xmlns:a="http://schemas.openxmlformats.org/drawingml/2006/main">
            <a:off x="10715339"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Kết quả</a:t>
            </a:r>
            <a:endParaRPr sz="1600">
              <a:latin typeface="Times New Roman"/>
              <a:ea typeface="Times New Roman"/>
              <a:cs typeface="Times New Roman"/>
            </a:endParaRPr>
          </a:p>
        </p:txBody>
      </p:sp>
      <p:sp>
        <p:nvSpPr>
          <p:cNvPr id="12" name="Shape 10">
            <a:extLst xmlns:a="http://schemas.openxmlformats.org/drawingml/2006/main">
              <a:ext uri="{FF2B5EF4-FFF2-40B4-BE49-F238E27FC236}">
                <a16:creationId xmlns:a16="http://schemas.microsoft.com/office/drawing/2014/main" id="{731A8EC6-53CF-4382-8338-34345623D16A}"/>
              </a:ext>
            </a:extLst>
          </p:cNvPr>
          <p:cNvSpPr>
            <a:spLocks xmlns:a="http://schemas.openxmlformats.org/drawingml/2006/main" noGrp="1"/>
          </p:cNvSpPr>
          <p:nvPr/>
        </p:nvSpPr>
        <p:spPr>
          <a:xfrm xmlns:a="http://schemas.openxmlformats.org/drawingml/2006/main">
            <a:off x="14393291" y="0"/>
            <a:ext cx="3386709" cy="677291"/>
          </a:xfrm>
          <a:prstGeom xmlns:a="http://schemas.openxmlformats.org/drawingml/2006/main" prst="rect">
            <a:avLst/>
          </a:prstGeom>
          <a:noFill xmlns:a="http://schemas.openxmlformats.org/drawingml/2006/main"/>
        </p:spPr>
      </p:sp>
      <p:sp>
        <p:nvSpPr>
          <p:cNvPr id="13" name="Text 11">
            <a:extLst xmlns:a="http://schemas.openxmlformats.org/drawingml/2006/main">
              <a:ext uri="{FF2B5EF4-FFF2-40B4-BE49-F238E27FC236}">
                <a16:creationId xmlns:a16="http://schemas.microsoft.com/office/drawing/2014/main" id="{850BAA77-BCDD-4612-8874-F4F5FAB8C49D}"/>
              </a:ext>
            </a:extLst>
          </p:cNvPr>
          <p:cNvSpPr>
            <a:spLocks xmlns:a="http://schemas.openxmlformats.org/drawingml/2006/main" noGrp="1"/>
          </p:cNvSpPr>
          <p:nvPr/>
        </p:nvSpPr>
        <p:spPr>
          <a:xfrm xmlns:a="http://schemas.openxmlformats.org/drawingml/2006/main">
            <a:off x="14271403"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Kiểm chứng</a:t>
            </a:r>
            <a:endParaRPr sz="1600">
              <a:latin typeface="Times New Roman"/>
              <a:ea typeface="Times New Roman"/>
              <a:cs typeface="Times New Roman"/>
            </a:endParaRPr>
          </a:p>
        </p:txBody>
      </p:sp>
      <p:sp>
        <p:nvSpPr>
          <p:cNvPr id="14" name="Shape 12">
            <a:extLst xmlns:a="http://schemas.openxmlformats.org/drawingml/2006/main">
              <a:ext uri="{FF2B5EF4-FFF2-40B4-BE49-F238E27FC236}">
                <a16:creationId xmlns:a16="http://schemas.microsoft.com/office/drawing/2014/main" id="{7339A038-707F-450E-9759-86E56769B2A0}"/>
              </a:ext>
            </a:extLst>
          </p:cNvPr>
          <p:cNvSpPr>
            <a:spLocks xmlns:a="http://schemas.openxmlformats.org/drawingml/2006/main" noGrp="1"/>
          </p:cNvSpPr>
          <p:nvPr/>
        </p:nvSpPr>
        <p:spPr>
          <a:xfrm xmlns:a="http://schemas.openxmlformats.org/drawingml/2006/main">
            <a:off x="17949291" y="0"/>
            <a:ext cx="3386709" cy="677291"/>
          </a:xfrm>
          <a:prstGeom xmlns:a="http://schemas.openxmlformats.org/drawingml/2006/main" prst="rect">
            <a:avLst/>
          </a:prstGeom>
          <a:noFill xmlns:a="http://schemas.openxmlformats.org/drawingml/2006/main"/>
        </p:spPr>
      </p:sp>
      <p:sp>
        <p:nvSpPr>
          <p:cNvPr id="15" name="Text 13">
            <a:extLst xmlns:a="http://schemas.openxmlformats.org/drawingml/2006/main">
              <a:ext uri="{FF2B5EF4-FFF2-40B4-BE49-F238E27FC236}">
                <a16:creationId xmlns:a16="http://schemas.microsoft.com/office/drawing/2014/main" id="{31ACDDF1-0253-47CF-973A-55A9789999E3}"/>
              </a:ext>
            </a:extLst>
          </p:cNvPr>
          <p:cNvSpPr>
            <a:spLocks xmlns:a="http://schemas.openxmlformats.org/drawingml/2006/main" noGrp="1"/>
          </p:cNvSpPr>
          <p:nvPr/>
        </p:nvSpPr>
        <p:spPr>
          <a:xfrm xmlns:a="http://schemas.openxmlformats.org/drawingml/2006/main">
            <a:off x="17827371" y="0"/>
            <a:ext cx="3630549" cy="676275"/>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6. Kết luận</a:t>
            </a:r>
            <a:endParaRPr sz="1600">
              <a:latin typeface="Times New Roman"/>
              <a:ea typeface="Times New Roman"/>
              <a:cs typeface="Times New Roman"/>
            </a:endParaRPr>
          </a:p>
        </p:txBody>
      </p:sp>
      <p:sp>
        <p:nvSpPr>
          <p:cNvPr id="18" name="Shape 16">
            <a:extLst xmlns:a="http://schemas.openxmlformats.org/drawingml/2006/main">
              <a:ext uri="{FF2B5EF4-FFF2-40B4-BE49-F238E27FC236}">
                <a16:creationId xmlns:a16="http://schemas.microsoft.com/office/drawing/2014/main" id="{F1247DE2-46A1-45D1-9913-7C41C9C30BBD}"/>
              </a:ext>
            </a:extLst>
          </p:cNvPr>
          <p:cNvSpPr>
            <a:spLocks xmlns:a="http://schemas.openxmlformats.org/drawingml/2006/main" noGrp="1"/>
          </p:cNvSpPr>
          <p:nvPr/>
        </p:nvSpPr>
        <p:spPr>
          <a:xfrm xmlns:a="http://schemas.openxmlformats.org/drawingml/2006/main">
            <a:off x="1016000" y="1625600"/>
            <a:ext cx="19642709" cy="50800"/>
          </a:xfrm>
          <a:prstGeom xmlns:a="http://schemas.openxmlformats.org/drawingml/2006/main" prst="rect">
            <a:avLst/>
          </a:prstGeom>
          <a:solidFill xmlns:a="http://schemas.openxmlformats.org/drawingml/2006/main">
            <a:srgbClr val="1565C0"/>
          </a:solidFill>
        </p:spPr>
      </p:sp>
      <p:sp>
        <p:nvSpPr>
          <p:cNvPr id="19" name="Kết luận, giới hạn và hướng phát triển">
            <a:extLst xmlns:a="http://schemas.openxmlformats.org/drawingml/2006/main">
              <a:ext uri="{FF2B5EF4-FFF2-40B4-BE49-F238E27FC236}">
                <a16:creationId xmlns:a16="http://schemas.microsoft.com/office/drawing/2014/main" id="{7C7A9609-47EC-4F34-9F65-0101B9473BA6}"/>
              </a:ext>
            </a:extLst>
          </p:cNvPr>
          <p:cNvSpPr>
            <a:spLocks xmlns:a="http://schemas.openxmlformats.org/drawingml/2006/main" noGrp="1"/>
          </p:cNvSpPr>
          <p:nvPr/>
        </p:nvSpPr>
        <p:spPr>
          <a:xfrm xmlns:a="http://schemas.openxmlformats.org/drawingml/2006/main">
            <a:off x="889000" y="1016000"/>
            <a:ext cx="2000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Kết luận, giới hạn và hướng phát triển</a:t>
            </a:r>
          </a:p>
        </p:txBody>
      </p:sp>
      <p:sp>
        <p:nvSpPr>
          <p:cNvPr id="20" name="17/18">
            <a:extLst xmlns:a="http://schemas.openxmlformats.org/drawingml/2006/main">
              <a:ext uri="{FF2B5EF4-FFF2-40B4-BE49-F238E27FC236}">
                <a16:creationId xmlns:a16="http://schemas.microsoft.com/office/drawing/2014/main" id="{F75C9D1D-E1F5-49EE-ADFF-7F6FF4C048D8}"/>
              </a:ext>
            </a:extLst>
          </p:cNvPr>
          <p:cNvSpPr>
            <a:spLocks xmlns:a="http://schemas.openxmlformats.org/drawingml/2006/main" noGrp="1"/>
          </p:cNvSpPr>
          <p:nvPr/>
        </p:nvSpPr>
        <p:spPr>
          <a:xfrm xmlns:a="http://schemas.openxmlformats.org/drawingml/2006/main">
            <a:off x="20431125" y="11699875"/>
            <a:ext cx="79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950" b="0">
                <a:solidFill>
                  <a:srgbClr val="666666"/>
                </a:solidFill>
                <a:latin typeface="Times New Roman"/>
                <a:ea typeface="Times New Roman"/>
                <a:cs typeface="Times New Roman"/>
              </a:defRPr>
            </a:pPr>
            <a:r>
              <a:rPr sz="1950" b="0">
                <a:solidFill>
                  <a:srgbClr val="666666"/>
                </a:solidFill>
                <a:latin typeface="Times New Roman"/>
                <a:ea typeface="Times New Roman"/>
                <a:cs typeface="Times New Roman"/>
              </a:rPr>
              <a:t>17/18</a:t>
            </a:r>
          </a:p>
        </p:txBody>
      </p:sp>
      <p:sp>
        <p:nvSpPr>
          <p:cNvPr id="21" name="">
            <a:extLst xmlns:a="http://schemas.openxmlformats.org/drawingml/2006/main">
              <a:ext uri="{FF2B5EF4-FFF2-40B4-BE49-F238E27FC236}">
                <a16:creationId xmlns:a16="http://schemas.microsoft.com/office/drawing/2014/main" id="{4217F463-DAE5-457C-A1A0-7F59B37F397C}"/>
              </a:ext>
            </a:extLst>
          </p:cNvPr>
          <p:cNvSpPr>
            <a:spLocks xmlns:a="http://schemas.openxmlformats.org/drawingml/2006/main" noGrp="1"/>
          </p:cNvSpPr>
          <p:nvPr/>
        </p:nvSpPr>
        <p:spPr>
          <a:xfrm xmlns:a="http://schemas.openxmlformats.org/drawingml/2006/main">
            <a:off x="1016000" y="2206625"/>
            <a:ext cx="9509125" cy="5635625"/>
          </a:xfrm>
          <a:prstGeom xmlns:a="http://schemas.openxmlformats.org/drawingml/2006/main" prst="roundRect">
            <a:avLst>
              <a:gd name="adj" fmla="val 4507"/>
            </a:avLst>
          </a:prstGeom>
          <a:solidFill xmlns:a="http://schemas.openxmlformats.org/drawingml/2006/main">
            <a:srgbClr val="E3F2FD"/>
          </a:solidFill>
          <a:ln xmlns:a="http://schemas.openxmlformats.org/drawingml/2006/main" w="15875">
            <a:solidFill>
              <a:srgbClr val="BBDEFB"/>
            </a:solidFill>
          </a:ln>
        </p:spPr>
      </p:sp>
      <p:sp>
        <p:nvSpPr>
          <p:cNvPr id="22" name="">
            <a:extLst xmlns:a="http://schemas.openxmlformats.org/drawingml/2006/main">
              <a:ext uri="{FF2B5EF4-FFF2-40B4-BE49-F238E27FC236}">
                <a16:creationId xmlns:a16="http://schemas.microsoft.com/office/drawing/2014/main" id="{4D5FDE7D-BDD3-41AE-9050-1E8165B6F145}"/>
              </a:ext>
            </a:extLst>
          </p:cNvPr>
          <p:cNvSpPr>
            <a:spLocks xmlns:a="http://schemas.openxmlformats.org/drawingml/2006/main" noGrp="1"/>
          </p:cNvSpPr>
          <p:nvPr/>
        </p:nvSpPr>
        <p:spPr>
          <a:xfrm xmlns:a="http://schemas.openxmlformats.org/drawingml/2006/main">
            <a:off x="11176000" y="2206625"/>
            <a:ext cx="9493250" cy="5635625"/>
          </a:xfrm>
          <a:prstGeom xmlns:a="http://schemas.openxmlformats.org/drawingml/2006/main" prst="roundRect">
            <a:avLst>
              <a:gd name="adj" fmla="val 4507"/>
            </a:avLst>
          </a:prstGeom>
          <a:solidFill xmlns:a="http://schemas.openxmlformats.org/drawingml/2006/main">
            <a:srgbClr val="E8F5E9"/>
          </a:solidFill>
          <a:ln xmlns:a="http://schemas.openxmlformats.org/drawingml/2006/main" w="15875">
            <a:solidFill>
              <a:srgbClr val="C8E6C9"/>
            </a:solidFill>
          </a:ln>
        </p:spPr>
      </p:sp>
      <p:sp>
        <p:nvSpPr>
          <p:cNvPr id="23" name="Kết luận từ thực nghiệm">
            <a:extLst xmlns:a="http://schemas.openxmlformats.org/drawingml/2006/main">
              <a:ext uri="{FF2B5EF4-FFF2-40B4-BE49-F238E27FC236}">
                <a16:creationId xmlns:a16="http://schemas.microsoft.com/office/drawing/2014/main" id="{752CBF43-9E1B-48B3-9889-DBDCDC28A172}"/>
              </a:ext>
            </a:extLst>
          </p:cNvPr>
          <p:cNvSpPr>
            <a:spLocks xmlns:a="http://schemas.openxmlformats.org/drawingml/2006/main" noGrp="1"/>
          </p:cNvSpPr>
          <p:nvPr/>
        </p:nvSpPr>
        <p:spPr>
          <a:xfrm xmlns:a="http://schemas.openxmlformats.org/drawingml/2006/main">
            <a:off x="1301750" y="2460625"/>
            <a:ext cx="8905875"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00" b="1">
                <a:solidFill>
                  <a:srgbClr val="1565C0"/>
                </a:solidFill>
                <a:latin typeface="Times New Roman"/>
                <a:ea typeface="Times New Roman"/>
                <a:cs typeface="Times New Roman"/>
              </a:defRPr>
            </a:pPr>
            <a:r>
              <a:rPr sz="3500" b="1">
                <a:solidFill>
                  <a:srgbClr val="1565C0"/>
                </a:solidFill>
                <a:latin typeface="Times New Roman"/>
                <a:ea typeface="Times New Roman"/>
                <a:cs typeface="Times New Roman"/>
              </a:rPr>
              <a:t>Kết luận từ thực nghiệm</a:t>
            </a:r>
          </a:p>
        </p:txBody>
      </p:sp>
      <p:sp>
        <p:nvSpPr>
          <p:cNvPr id="24" name="Đã xây dựng chuỗi xử lý từ dữ liệu đến nhãn, CatBoost và bac">
            <a:extLst xmlns:a="http://schemas.openxmlformats.org/drawingml/2006/main">
              <a:ext uri="{FF2B5EF4-FFF2-40B4-BE49-F238E27FC236}">
                <a16:creationId xmlns:a16="http://schemas.microsoft.com/office/drawing/2014/main" id="{1832D33F-9433-46D6-9C55-C68BEA157117}"/>
              </a:ext>
            </a:extLst>
          </p:cNvPr>
          <p:cNvSpPr>
            <a:spLocks xmlns:a="http://schemas.openxmlformats.org/drawingml/2006/main" noGrp="1"/>
          </p:cNvSpPr>
          <p:nvPr/>
        </p:nvSpPr>
        <p:spPr>
          <a:xfrm xmlns:a="http://schemas.openxmlformats.org/drawingml/2006/main">
            <a:off x="1333500" y="3429000"/>
            <a:ext cx="879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Đã xây dựng chuỗi xử lý từ dữ liệu đến nhãn, CatBoost và backtest.</a:t>
            </a:r>
          </a:p>
          <a:p xmlns:a="http://schemas.openxmlformats.org/drawingml/2006/main">
            <a:r>
              <a:t/>
            </a:r>
          </a:p>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Cách chia làm AUC thay đổi mạnh.</a:t>
            </a:r>
          </a:p>
          <a:p xmlns:a="http://schemas.openxmlformats.org/drawingml/2006/main">
            <a:r>
              <a:t/>
            </a:r>
          </a:p>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Walk-forward gần holdout hơn. Top 50% chưa cải thiện lợi nhuận holdout.</a:t>
            </a:r>
          </a:p>
        </p:txBody>
      </p:sp>
      <p:sp>
        <p:nvSpPr>
          <p:cNvPr id="25" name="Giới hạn và bước tiếp theo">
            <a:extLst xmlns:a="http://schemas.openxmlformats.org/drawingml/2006/main">
              <a:ext uri="{FF2B5EF4-FFF2-40B4-BE49-F238E27FC236}">
                <a16:creationId xmlns:a16="http://schemas.microsoft.com/office/drawing/2014/main" id="{4B1707E0-D768-4A88-9F44-DD118BDD2BBB}"/>
              </a:ext>
            </a:extLst>
          </p:cNvPr>
          <p:cNvSpPr>
            <a:spLocks xmlns:a="http://schemas.openxmlformats.org/drawingml/2006/main" noGrp="1"/>
          </p:cNvSpPr>
          <p:nvPr/>
        </p:nvSpPr>
        <p:spPr>
          <a:xfrm xmlns:a="http://schemas.openxmlformats.org/drawingml/2006/main">
            <a:off x="11461750" y="2460625"/>
            <a:ext cx="8905875"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00" b="1">
                <a:solidFill>
                  <a:srgbClr val="2E7D32"/>
                </a:solidFill>
                <a:latin typeface="Times New Roman"/>
                <a:ea typeface="Times New Roman"/>
                <a:cs typeface="Times New Roman"/>
              </a:defRPr>
            </a:pPr>
            <a:r>
              <a:rPr sz="3500" b="1">
                <a:solidFill>
                  <a:srgbClr val="2E7D32"/>
                </a:solidFill>
                <a:latin typeface="Times New Roman"/>
                <a:ea typeface="Times New Roman"/>
                <a:cs typeface="Times New Roman"/>
              </a:rPr>
              <a:t>Giới hạn và bước tiếp theo</a:t>
            </a:r>
          </a:p>
        </p:txBody>
      </p:sp>
      <p:sp>
        <p:nvSpPr>
          <p:cNvPr id="26" name="Holdout đã có nhiều phiên bản kết quả và lần kiểm chứng.&#10;&#10;Cầ">
            <a:extLst xmlns:a="http://schemas.openxmlformats.org/drawingml/2006/main">
              <a:ext uri="{FF2B5EF4-FFF2-40B4-BE49-F238E27FC236}">
                <a16:creationId xmlns:a16="http://schemas.microsoft.com/office/drawing/2014/main" id="{5238ED06-846A-4A57-8C7D-A567A2B4E3A2}"/>
              </a:ext>
            </a:extLst>
          </p:cNvPr>
          <p:cNvSpPr>
            <a:spLocks xmlns:a="http://schemas.openxmlformats.org/drawingml/2006/main" noGrp="1"/>
          </p:cNvSpPr>
          <p:nvPr/>
        </p:nvSpPr>
        <p:spPr>
          <a:xfrm xmlns:a="http://schemas.openxmlformats.org/drawingml/2006/main">
            <a:off x="11493500" y="3429000"/>
            <a:ext cx="879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Holdout đã có nhiều phiên bản kết quả và lần kiểm chứng.</a:t>
            </a:r>
          </a:p>
          <a:p xmlns:a="http://schemas.openxmlformats.org/drawingml/2006/main">
            <a:r>
              <a:t/>
            </a:r>
          </a:p>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Cần tập tương lai mới, thêm tài sản và chi phí giao dịch.</a:t>
            </a:r>
          </a:p>
          <a:p xmlns:a="http://schemas.openxmlformats.org/drawingml/2006/main">
            <a:r>
              <a:t/>
            </a:r>
          </a:p>
          <a:p xmlns:a="http://schemas.openxmlformats.org/drawingml/2006/main">
            <a:pPr algn="l">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Chọn ngưỡng trên dữ liệu quá khứ, rồi thử vận hành trực tuyến.</a:t>
            </a:r>
          </a:p>
        </p:txBody>
      </p:sp>
      <p:sp>
        <p:nvSpPr>
          <p:cNvPr id="27" name="">
            <a:extLst xmlns:a="http://schemas.openxmlformats.org/drawingml/2006/main">
              <a:ext uri="{FF2B5EF4-FFF2-40B4-BE49-F238E27FC236}">
                <a16:creationId xmlns:a16="http://schemas.microsoft.com/office/drawing/2014/main" id="{56456078-DF32-4805-AD0A-E160EC3C654F}"/>
              </a:ext>
            </a:extLst>
          </p:cNvPr>
          <p:cNvSpPr>
            <a:spLocks xmlns:a="http://schemas.openxmlformats.org/drawingml/2006/main" noGrp="1"/>
          </p:cNvSpPr>
          <p:nvPr/>
        </p:nvSpPr>
        <p:spPr>
          <a:xfrm xmlns:a="http://schemas.openxmlformats.org/drawingml/2006/main">
            <a:off x="1016000" y="8937625"/>
            <a:ext cx="19653250" cy="1936750"/>
          </a:xfrm>
          <a:prstGeom xmlns:a="http://schemas.openxmlformats.org/drawingml/2006/main" prst="roundRect">
            <a:avLst>
              <a:gd name="adj" fmla="val 13115"/>
            </a:avLst>
          </a:prstGeom>
          <a:solidFill xmlns:a="http://schemas.openxmlformats.org/drawingml/2006/main">
            <a:srgbClr val="FFF3E0"/>
          </a:solidFill>
          <a:ln xmlns:a="http://schemas.openxmlformats.org/drawingml/2006/main" w="15875">
            <a:solidFill>
              <a:srgbClr val="FFF3E0"/>
            </a:solidFill>
          </a:ln>
        </p:spPr>
      </p:sp>
      <p:sp>
        <p:nvSpPr>
          <p:cNvPr id="28" name="Đóng góp chính: làm rõ độ tin cậy của quy trình kiểm định. Đ">
            <a:extLst xmlns:a="http://schemas.openxmlformats.org/drawingml/2006/main">
              <a:ext uri="{FF2B5EF4-FFF2-40B4-BE49-F238E27FC236}">
                <a16:creationId xmlns:a16="http://schemas.microsoft.com/office/drawing/2014/main" id="{7F2A9E27-1EE3-47AA-BC2D-16A7153C0A24}"/>
              </a:ext>
            </a:extLst>
          </p:cNvPr>
          <p:cNvSpPr>
            <a:spLocks xmlns:a="http://schemas.openxmlformats.org/drawingml/2006/main" noGrp="1"/>
          </p:cNvSpPr>
          <p:nvPr/>
        </p:nvSpPr>
        <p:spPr>
          <a:xfrm xmlns:a="http://schemas.openxmlformats.org/drawingml/2006/main">
            <a:off x="1301750" y="9207500"/>
            <a:ext cx="19050000" cy="153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75" b="0">
                <a:solidFill>
                  <a:srgbClr val="151515"/>
                </a:solidFill>
                <a:latin typeface="Times New Roman"/>
                <a:ea typeface="Times New Roman"/>
                <a:cs typeface="Times New Roman"/>
              </a:defRPr>
            </a:pPr>
            <a:r>
              <a:rPr sz="2875" b="0">
                <a:solidFill>
                  <a:srgbClr val="151515"/>
                </a:solidFill>
                <a:latin typeface="Times New Roman"/>
                <a:ea typeface="Times New Roman"/>
                <a:cs typeface="Times New Roman"/>
              </a:rPr>
              <a:t>Đóng góp chính: làm rõ độ tin cậy của quy trình kiểm định. Điểm phân loại và lợi nhuận cần được đánh giá riêng trên dữ liệu tương lai.</a:t>
            </a:r>
          </a:p>
        </p:txBody>
      </p:sp>
    </p:spTree>
    <p:extLst>
      <p:ext uri="{BB962C8B-B14F-4D97-AF65-F5344CB8AC3E}">
        <p14:creationId xmlns:p14="http://schemas.microsoft.com/office/powerpoint/2010/main" val="174484369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CẢM ƠN THẦY VÀ CÁC BẠN">
            <a:extLst xmlns:a="http://schemas.openxmlformats.org/drawingml/2006/main">
              <a:ext uri="{FF2B5EF4-FFF2-40B4-BE49-F238E27FC236}">
                <a16:creationId xmlns:a16="http://schemas.microsoft.com/office/drawing/2014/main" id="{2FF66767-1F26-4CEE-AC4E-C44E032C793D}"/>
              </a:ext>
            </a:extLst>
          </p:cNvPr>
          <p:cNvSpPr>
            <a:spLocks xmlns:a="http://schemas.openxmlformats.org/drawingml/2006/main" noGrp="1"/>
          </p:cNvSpPr>
          <p:nvPr/>
        </p:nvSpPr>
        <p:spPr>
          <a:xfrm xmlns:a="http://schemas.openxmlformats.org/drawingml/2006/main">
            <a:off x="2540000" y="2921000"/>
            <a:ext cx="16605250" cy="112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5375" b="1">
                <a:solidFill>
                  <a:srgbClr val="151515"/>
                </a:solidFill>
                <a:latin typeface="Times New Roman"/>
                <a:ea typeface="Times New Roman"/>
                <a:cs typeface="Times New Roman"/>
              </a:defRPr>
            </a:pPr>
            <a:r>
              <a:rPr sz="5375" b="1">
                <a:solidFill>
                  <a:srgbClr val="151515"/>
                </a:solidFill>
                <a:latin typeface="Times New Roman"/>
                <a:ea typeface="Times New Roman"/>
                <a:cs typeface="Times New Roman"/>
              </a:rPr>
              <a:t>CẢM ƠN THẦY VÀ CÁC BẠN</a:t>
            </a:r>
          </a:p>
        </p:txBody>
      </p:sp>
      <p:sp>
        <p:nvSpPr>
          <p:cNvPr id="2" name="NHÓM XIN LẮNG NGHE CÂU HỎI VÀ GÓP Ý">
            <a:extLst xmlns:a="http://schemas.openxmlformats.org/drawingml/2006/main">
              <a:ext uri="{FF2B5EF4-FFF2-40B4-BE49-F238E27FC236}">
                <a16:creationId xmlns:a16="http://schemas.microsoft.com/office/drawing/2014/main" id="{06BC12CD-8D03-498B-B349-7DCA801F544E}"/>
              </a:ext>
            </a:extLst>
          </p:cNvPr>
          <p:cNvSpPr>
            <a:spLocks xmlns:a="http://schemas.openxmlformats.org/drawingml/2006/main" noGrp="1"/>
          </p:cNvSpPr>
          <p:nvPr/>
        </p:nvSpPr>
        <p:spPr>
          <a:xfrm xmlns:a="http://schemas.openxmlformats.org/drawingml/2006/main">
            <a:off x="2698750" y="4460875"/>
            <a:ext cx="16287750" cy="68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00" b="0">
                <a:solidFill>
                  <a:srgbClr val="1565C0"/>
                </a:solidFill>
                <a:latin typeface="Times New Roman"/>
                <a:ea typeface="Times New Roman"/>
                <a:cs typeface="Times New Roman"/>
              </a:defRPr>
            </a:pPr>
            <a:r>
              <a:rPr sz="3500" b="0">
                <a:solidFill>
                  <a:srgbClr val="1565C0"/>
                </a:solidFill>
                <a:latin typeface="Times New Roman"/>
                <a:ea typeface="Times New Roman"/>
                <a:cs typeface="Times New Roman"/>
              </a:rPr>
              <a:t>NHÓM XIN LẮNG NGHE CÂU HỎI VÀ GÓP Ý</a:t>
            </a:r>
          </a:p>
        </p:txBody>
      </p:sp>
      <p:sp>
        <p:nvSpPr>
          <p:cNvPr id="3" name="CatBoost meta-labeling và độ tin cậy của kiểm định chuỗi thờ">
            <a:extLst xmlns:a="http://schemas.openxmlformats.org/drawingml/2006/main">
              <a:ext uri="{FF2B5EF4-FFF2-40B4-BE49-F238E27FC236}">
                <a16:creationId xmlns:a16="http://schemas.microsoft.com/office/drawing/2014/main" id="{DEF00552-B9E5-4CE9-8A58-F6DF6109580B}"/>
              </a:ext>
            </a:extLst>
          </p:cNvPr>
          <p:cNvSpPr>
            <a:spLocks xmlns:a="http://schemas.openxmlformats.org/drawingml/2006/main" noGrp="1"/>
          </p:cNvSpPr>
          <p:nvPr/>
        </p:nvSpPr>
        <p:spPr>
          <a:xfrm xmlns:a="http://schemas.openxmlformats.org/drawingml/2006/main">
            <a:off x="2381250" y="5413375"/>
            <a:ext cx="1692275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125" b="0">
                <a:solidFill>
                  <a:srgbClr val="151515"/>
                </a:solidFill>
                <a:latin typeface="Times New Roman"/>
                <a:ea typeface="Times New Roman"/>
                <a:cs typeface="Times New Roman"/>
              </a:defRPr>
            </a:pPr>
            <a:r>
              <a:rPr sz="3125" b="0">
                <a:solidFill>
                  <a:srgbClr val="151515"/>
                </a:solidFill>
                <a:latin typeface="Times New Roman"/>
                <a:ea typeface="Times New Roman"/>
                <a:cs typeface="Times New Roman"/>
              </a:rPr>
              <a:t>CatBoost meta-labeling và độ tin cậy của kiểm định chuỗi thời gian</a:t>
            </a:r>
          </a:p>
        </p:txBody>
      </p:sp>
      <p:graphicFrame>
        <p:nvGraphicFramePr>
          <p:cNvPr id="9" name=""/>
          <p:cNvGraphicFramePr/>
          <p:nvPr/>
        </p:nvGraphicFramePr>
        <p:xfrm>
          <a:off xmlns:a="http://schemas.openxmlformats.org/drawingml/2006/main" x="5794375" y="6604000"/>
          <a:ext xmlns:a="http://schemas.openxmlformats.org/drawingml/2006/main" cx="10080625" cy="4429125"/>
        </p:xfrm>
        <a:graphic xmlns:a="http://schemas.openxmlformats.org/drawingml/2006/main">
          <a:graphicData uri="http://schemas.openxmlformats.org/drawingml/2006/table">
            <a:tbl>
              <a:tblPr/>
              <a:tblGrid>
                <a:gridCol w="3016250"/>
                <a:gridCol w="7064375"/>
              </a:tblGrid>
              <a:tr h="553641">
                <a:tc>
                  <a:txBody>
                    <a:bodyPr>
                      <a:noAutofit/>
                    </a:bodyPr>
                    <a:lstStyle/>
                    <a:p>
                      <a:r>
                        <a:rPr sz="2625" b="1">
                          <a:solidFill>
                            <a:srgbClr val="FFFFFF"/>
                          </a:solidFill>
                          <a:latin typeface="Times New Roman"/>
                          <a:ea typeface="Times New Roman"/>
                          <a:cs typeface="Times New Roman"/>
                        </a:rPr>
                        <a:t>MSSV</a:t>
                      </a:r>
                    </a:p>
                  </a:txBody>
                  <a:tcPr marL="158750" marR="158750" marT="47625" marB="47625" anchor="ctr">
                    <a:solidFill>
                      <a:srgbClr val="1565C0"/>
                    </a:solidFill>
                  </a:tcPr>
                </a:tc>
                <a:tc>
                  <a:txBody>
                    <a:bodyPr>
                      <a:noAutofit/>
                    </a:bodyPr>
                    <a:lstStyle/>
                    <a:p>
                      <a:r>
                        <a:rPr sz="2625" b="1">
                          <a:solidFill>
                            <a:srgbClr val="FFFFFF"/>
                          </a:solidFill>
                          <a:latin typeface="Times New Roman"/>
                          <a:ea typeface="Times New Roman"/>
                          <a:cs typeface="Times New Roman"/>
                        </a:rPr>
                        <a:t>HỌ VÀ TÊN</a:t>
                      </a:r>
                    </a:p>
                  </a:txBody>
                  <a:tcPr marL="158750" marR="158750" marT="47625" marB="47625" anchor="ctr">
                    <a:solidFill>
                      <a:srgbClr val="1565C0"/>
                    </a:solidFill>
                  </a:tcPr>
                </a:tc>
              </a:tr>
              <a:tr h="553641">
                <a:tc>
                  <a:txBody>
                    <a:bodyPr>
                      <a:noAutofit/>
                    </a:bodyPr>
                    <a:lstStyle/>
                    <a:p>
                      <a:r>
                        <a:rPr sz="2625" b="0">
                          <a:solidFill>
                            <a:srgbClr val="151515"/>
                          </a:solidFill>
                          <a:latin typeface="Times New Roman"/>
                          <a:ea typeface="Times New Roman"/>
                          <a:cs typeface="Times New Roman"/>
                        </a:rPr>
                        <a:t>26410127</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Dương Quốc Thương</a:t>
                      </a:r>
                    </a:p>
                  </a:txBody>
                  <a:tcPr marL="158750" marR="158750" marT="47625" marB="47625" anchor="ctr">
                    <a:solidFill>
                      <a:srgbClr val="FFFFFF"/>
                    </a:solidFill>
                  </a:tcPr>
                </a:tc>
              </a:tr>
              <a:tr h="553641">
                <a:tc>
                  <a:txBody>
                    <a:bodyPr>
                      <a:noAutofit/>
                    </a:bodyPr>
                    <a:lstStyle/>
                    <a:p>
                      <a:r>
                        <a:rPr sz="2625" b="0">
                          <a:solidFill>
                            <a:srgbClr val="151515"/>
                          </a:solidFill>
                          <a:latin typeface="Times New Roman"/>
                          <a:ea typeface="Times New Roman"/>
                          <a:cs typeface="Times New Roman"/>
                        </a:rPr>
                        <a:t>26410115</a:t>
                      </a:r>
                    </a:p>
                  </a:txBody>
                  <a:tcPr marL="158750" marR="158750" marT="47625" marB="47625" anchor="ctr">
                    <a:solidFill>
                      <a:srgbClr val="E3F2FD"/>
                    </a:solidFill>
                  </a:tcPr>
                </a:tc>
                <a:tc>
                  <a:txBody>
                    <a:bodyPr>
                      <a:noAutofit/>
                    </a:bodyPr>
                    <a:lstStyle/>
                    <a:p>
                      <a:r>
                        <a:rPr sz="2625" b="0">
                          <a:solidFill>
                            <a:srgbClr val="151515"/>
                          </a:solidFill>
                          <a:latin typeface="Times New Roman"/>
                          <a:ea typeface="Times New Roman"/>
                          <a:cs typeface="Times New Roman"/>
                        </a:rPr>
                        <a:t>Nông Nguyễn Thành</a:t>
                      </a:r>
                    </a:p>
                  </a:txBody>
                  <a:tcPr marL="158750" marR="158750" marT="47625" marB="47625" anchor="ctr">
                    <a:solidFill>
                      <a:srgbClr val="E3F2FD"/>
                    </a:solidFill>
                  </a:tcPr>
                </a:tc>
              </a:tr>
              <a:tr h="553641">
                <a:tc>
                  <a:txBody>
                    <a:bodyPr>
                      <a:noAutofit/>
                    </a:bodyPr>
                    <a:lstStyle/>
                    <a:p>
                      <a:r>
                        <a:rPr sz="2625" b="0">
                          <a:solidFill>
                            <a:srgbClr val="151515"/>
                          </a:solidFill>
                          <a:latin typeface="Times New Roman"/>
                          <a:ea typeface="Times New Roman"/>
                          <a:cs typeface="Times New Roman"/>
                        </a:rPr>
                        <a:t>26410146</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Hoàng Võ Minh Tuấn</a:t>
                      </a:r>
                    </a:p>
                  </a:txBody>
                  <a:tcPr marL="158750" marR="158750" marT="47625" marB="47625" anchor="ctr">
                    <a:solidFill>
                      <a:srgbClr val="FFFFFF"/>
                    </a:solidFill>
                  </a:tcPr>
                </a:tc>
              </a:tr>
              <a:tr h="553641">
                <a:tc>
                  <a:txBody>
                    <a:bodyPr>
                      <a:noAutofit/>
                    </a:bodyPr>
                    <a:lstStyle/>
                    <a:p>
                      <a:r>
                        <a:rPr sz="2625" b="0">
                          <a:solidFill>
                            <a:srgbClr val="151515"/>
                          </a:solidFill>
                          <a:latin typeface="Times New Roman"/>
                          <a:ea typeface="Times New Roman"/>
                          <a:cs typeface="Times New Roman"/>
                        </a:rPr>
                        <a:t>26410108</a:t>
                      </a:r>
                    </a:p>
                  </a:txBody>
                  <a:tcPr marL="158750" marR="158750" marT="47625" marB="47625" anchor="ctr">
                    <a:solidFill>
                      <a:srgbClr val="E3F2FD"/>
                    </a:solidFill>
                  </a:tcPr>
                </a:tc>
                <a:tc>
                  <a:txBody>
                    <a:bodyPr>
                      <a:noAutofit/>
                    </a:bodyPr>
                    <a:lstStyle/>
                    <a:p>
                      <a:r>
                        <a:rPr sz="2625" b="0">
                          <a:solidFill>
                            <a:srgbClr val="151515"/>
                          </a:solidFill>
                          <a:latin typeface="Times New Roman"/>
                          <a:ea typeface="Times New Roman"/>
                          <a:cs typeface="Times New Roman"/>
                        </a:rPr>
                        <a:t>Bùi Quốc Thịnh</a:t>
                      </a:r>
                    </a:p>
                  </a:txBody>
                  <a:tcPr marL="158750" marR="158750" marT="47625" marB="47625" anchor="ctr">
                    <a:solidFill>
                      <a:srgbClr val="E3F2FD"/>
                    </a:solidFill>
                  </a:tcPr>
                </a:tc>
              </a:tr>
              <a:tr h="553641">
                <a:tc>
                  <a:txBody>
                    <a:bodyPr>
                      <a:noAutofit/>
                    </a:bodyPr>
                    <a:lstStyle/>
                    <a:p>
                      <a:r>
                        <a:rPr sz="2625" b="0">
                          <a:solidFill>
                            <a:srgbClr val="151515"/>
                          </a:solidFill>
                          <a:latin typeface="Times New Roman"/>
                          <a:ea typeface="Times New Roman"/>
                          <a:cs typeface="Times New Roman"/>
                        </a:rPr>
                        <a:t>26410024</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Trần Tiến Dũng</a:t>
                      </a:r>
                    </a:p>
                  </a:txBody>
                  <a:tcPr marL="158750" marR="158750" marT="47625" marB="47625" anchor="ctr">
                    <a:solidFill>
                      <a:srgbClr val="FFFFFF"/>
                    </a:solidFill>
                  </a:tcPr>
                </a:tc>
              </a:tr>
              <a:tr h="553641">
                <a:tc>
                  <a:txBody>
                    <a:bodyPr>
                      <a:noAutofit/>
                    </a:bodyPr>
                    <a:lstStyle/>
                    <a:p>
                      <a:r>
                        <a:rPr sz="2625" b="0">
                          <a:solidFill>
                            <a:srgbClr val="151515"/>
                          </a:solidFill>
                          <a:latin typeface="Times New Roman"/>
                          <a:ea typeface="Times New Roman"/>
                          <a:cs typeface="Times New Roman"/>
                        </a:rPr>
                        <a:t>25730049</a:t>
                      </a:r>
                    </a:p>
                  </a:txBody>
                  <a:tcPr marL="158750" marR="158750" marT="47625" marB="47625" anchor="ctr">
                    <a:solidFill>
                      <a:srgbClr val="E3F2FD"/>
                    </a:solidFill>
                  </a:tcPr>
                </a:tc>
                <a:tc>
                  <a:txBody>
                    <a:bodyPr>
                      <a:noAutofit/>
                    </a:bodyPr>
                    <a:lstStyle/>
                    <a:p>
                      <a:r>
                        <a:rPr sz="2625" b="0">
                          <a:solidFill>
                            <a:srgbClr val="151515"/>
                          </a:solidFill>
                          <a:latin typeface="Times New Roman"/>
                          <a:ea typeface="Times New Roman"/>
                          <a:cs typeface="Times New Roman"/>
                        </a:rPr>
                        <a:t>Phạm Lê Yến Nhi</a:t>
                      </a:r>
                    </a:p>
                  </a:txBody>
                  <a:tcPr marL="158750" marR="158750" marT="47625" marB="47625" anchor="ctr">
                    <a:solidFill>
                      <a:srgbClr val="E3F2FD"/>
                    </a:solidFill>
                  </a:tcPr>
                </a:tc>
              </a:tr>
              <a:tr h="553641">
                <a:tc>
                  <a:txBody>
                    <a:bodyPr>
                      <a:noAutofit/>
                    </a:bodyPr>
                    <a:lstStyle/>
                    <a:p>
                      <a:r>
                        <a:rPr sz="2625" b="0">
                          <a:solidFill>
                            <a:srgbClr val="151515"/>
                          </a:solidFill>
                          <a:latin typeface="Times New Roman"/>
                          <a:ea typeface="Times New Roman"/>
                          <a:cs typeface="Times New Roman"/>
                        </a:rPr>
                        <a:t>26410019</a:t>
                      </a:r>
                    </a:p>
                  </a:txBody>
                  <a:tcPr marL="158750" marR="158750" marT="47625" marB="47625" anchor="ctr">
                    <a:solidFill>
                      <a:srgbClr val="FFFFFF"/>
                    </a:solidFill>
                  </a:tcPr>
                </a:tc>
                <a:tc>
                  <a:txBody>
                    <a:bodyPr>
                      <a:noAutofit/>
                    </a:bodyPr>
                    <a:lstStyle/>
                    <a:p>
                      <a:r>
                        <a:rPr sz="2625" b="0">
                          <a:solidFill>
                            <a:srgbClr val="151515"/>
                          </a:solidFill>
                          <a:latin typeface="Times New Roman"/>
                          <a:ea typeface="Times New Roman"/>
                          <a:cs typeface="Times New Roman"/>
                        </a:rPr>
                        <a:t>Trương Võ Thành Đạt</a:t>
                      </a:r>
                    </a:p>
                  </a:txBody>
                  <a:tcPr marL="158750" marR="158750" marT="47625" marB="47625" anchor="ctr">
                    <a:solidFill>
                      <a:srgbClr val="FFFFFF"/>
                    </a:solidFill>
                  </a:tcPr>
                </a:tc>
              </a:tr>
            </a:tbl>
          </a:graphicData>
        </a:graphic>
      </p:graphicFrame>
      <p:sp>
        <p:nvSpPr>
          <p:cNvPr id="5" name="Đồ án Trí tuệ nhân tạo · Nhóm 11">
            <a:extLst xmlns:a="http://schemas.openxmlformats.org/drawingml/2006/main">
              <a:ext uri="{FF2B5EF4-FFF2-40B4-BE49-F238E27FC236}">
                <a16:creationId xmlns:a16="http://schemas.microsoft.com/office/drawing/2014/main" id="{3B78CD3E-005F-4924-AF3D-9B780C5AD10B}"/>
              </a:ext>
            </a:extLst>
          </p:cNvPr>
          <p:cNvSpPr>
            <a:spLocks xmlns:a="http://schemas.openxmlformats.org/drawingml/2006/main" noGrp="1"/>
          </p:cNvSpPr>
          <p:nvPr/>
        </p:nvSpPr>
        <p:spPr>
          <a:xfrm xmlns:a="http://schemas.openxmlformats.org/drawingml/2006/main">
            <a:off x="4318000" y="11588750"/>
            <a:ext cx="1206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51515"/>
                </a:solidFill>
                <a:latin typeface="Times New Roman"/>
                <a:ea typeface="Times New Roman"/>
                <a:cs typeface="Times New Roman"/>
              </a:defRPr>
            </a:pPr>
            <a:r>
              <a:rPr sz="1950" b="0">
                <a:solidFill>
                  <a:srgbClr val="151515"/>
                </a:solidFill>
                <a:latin typeface="Times New Roman"/>
                <a:ea typeface="Times New Roman"/>
                <a:cs typeface="Times New Roman"/>
              </a:rPr>
              <a:t>Đồ án Trí tuệ nhân tạo · Nhóm 11</a:t>
            </a:r>
          </a:p>
        </p:txBody>
      </p:sp>
    </p:spTree>
    <p:extLst>
      <p:ext uri="{BB962C8B-B14F-4D97-AF65-F5344CB8AC3E}">
        <p14:creationId xmlns:p14="http://schemas.microsoft.com/office/powerpoint/2010/main" val="2467791134"/>
      </p:ext>
    </p:extLst>
  </p:cSld>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inorFont>
    </a:fontScheme>
    <a:fmtScheme name="Custo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2026-09-19T11:32:45.4480000Z</dcterms:created>
  <dcterms:modified xsi:type="dcterms:W3CDTF">2026-09-19T11:32:45.4480000Z</dcterms:modified>
</coreProperties>
</file>
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32588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64008"/>
            <a:ext cx="11640312" cy="347472"/>
          </a:xfrm>
          <a:prstGeom prst="rect">
            <a:avLst/>
          </a:prstGeom>
          <a:noFill/>
        </p:spPr>
        <p:txBody>
          <a:bodyPr wrap="square">
            <a:spAutoFit/>
          </a:bodyPr>
          <a:lstStyle/>
          <a:p>
            <a:pPr algn="ctr"/>
            <a:r>
              <a:rPr sz="1150" b="1" i="0">
                <a:solidFill>
                  <a:srgbClr val="FFFFFF"/>
                </a:solidFill>
                <a:latin typeface="Arial"/>
              </a:rPr>
              <a:t>TRƯỜNG ĐẠI HỌC CÔNG NGHỆ THÔNG TIN — ĐHQG-HCM</a:t>
            </a:r>
          </a:p>
        </p:txBody>
      </p:sp>
      <p:sp>
        <p:nvSpPr>
          <p:cNvPr id="4" name="TextBox 3"/>
          <p:cNvSpPr txBox="1"/>
          <p:nvPr/>
        </p:nvSpPr>
        <p:spPr>
          <a:xfrm>
            <a:off x="274320" y="420624"/>
            <a:ext cx="11640312" cy="292608"/>
          </a:xfrm>
          <a:prstGeom prst="rect">
            <a:avLst/>
          </a:prstGeom>
          <a:noFill/>
        </p:spPr>
        <p:txBody>
          <a:bodyPr wrap="square">
            <a:spAutoFit/>
          </a:bodyPr>
          <a:lstStyle/>
          <a:p>
            <a:pPr algn="ctr"/>
            <a:r>
              <a:rPr sz="950" b="0" i="0">
                <a:solidFill>
                  <a:srgbClr val="BBD6F8"/>
                </a:solidFill>
                <a:latin typeface="Arial"/>
              </a:rPr>
              <a:t>KHOA KHOA HỌC MÁY TÍNH  |  MÔN: TRÍ TUỆ NHÂN TẠO (CS106)  |  GVHD: TS. NGUYỄN ĐÌNH HIỂN</a:t>
            </a:r>
          </a:p>
        </p:txBody>
      </p:sp>
      <p:sp>
        <p:nvSpPr>
          <p:cNvPr id="5" name="TextBox 4"/>
          <p:cNvSpPr txBox="1"/>
          <p:nvPr/>
        </p:nvSpPr>
        <p:spPr>
          <a:xfrm>
            <a:off x="274320" y="731520"/>
            <a:ext cx="11640312" cy="274320"/>
          </a:xfrm>
          <a:prstGeom prst="rect">
            <a:avLst/>
          </a:prstGeom>
          <a:noFill/>
        </p:spPr>
        <p:txBody>
          <a:bodyPr wrap="square">
            <a:spAutoFit/>
          </a:bodyPr>
          <a:lstStyle/>
          <a:p>
            <a:pPr algn="ctr"/>
            <a:r>
              <a:rPr sz="1000" b="1" i="0">
                <a:solidFill>
                  <a:srgbClr val="FFD580"/>
                </a:solidFill>
                <a:latin typeface="Arial"/>
              </a:rPr>
              <a:t>NHÓM 11  —  Đề tài số 10</a:t>
            </a:r>
          </a:p>
        </p:txBody>
      </p:sp>
      <p:sp>
        <p:nvSpPr>
          <p:cNvPr id="6" name="TextBox 5"/>
          <p:cNvSpPr txBox="1"/>
          <p:nvPr/>
        </p:nvSpPr>
        <p:spPr>
          <a:xfrm>
            <a:off x="274320" y="1042415"/>
            <a:ext cx="11640312" cy="256032"/>
          </a:xfrm>
          <a:prstGeom prst="rect">
            <a:avLst/>
          </a:prstGeom>
          <a:noFill/>
        </p:spPr>
        <p:txBody>
          <a:bodyPr wrap="square">
            <a:spAutoFit/>
          </a:bodyPr>
          <a:lstStyle/>
          <a:p>
            <a:pPr algn="ctr"/>
            <a:r>
              <a:rPr sz="850" b="0" i="0">
                <a:solidFill>
                  <a:srgbClr val="FFCC80"/>
                </a:solidFill>
                <a:latin typeface="Arial"/>
              </a:rPr>
              <a:t>⚠️  Dữ liệu BTCUSD được dùng thuần tuý cho mục đích NGHIÊN CỨU Học Máy (không khuyến nghị giao dịch)</a:t>
            </a:r>
          </a:p>
        </p:txBody>
      </p:sp>
      <p:sp>
        <p:nvSpPr>
          <p:cNvPr id="7" name="Rectangle 6"/>
          <p:cNvSpPr/>
          <p:nvPr/>
        </p:nvSpPr>
        <p:spPr>
          <a:xfrm>
            <a:off x="274320" y="1435608"/>
            <a:ext cx="11640312" cy="1920240"/>
          </a:xfrm>
          <a:prstGeom prst="rect">
            <a:avLst/>
          </a:prstGeom>
          <a:solidFill>
            <a:srgbClr val="F5F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1481328"/>
            <a:ext cx="11548872" cy="310896"/>
          </a:xfrm>
          <a:prstGeom prst="rect">
            <a:avLst/>
          </a:prstGeom>
          <a:noFill/>
        </p:spPr>
        <p:txBody>
          <a:bodyPr wrap="square">
            <a:spAutoFit/>
          </a:bodyPr>
          <a:lstStyle/>
          <a:p>
            <a:pPr algn="ctr"/>
            <a:r>
              <a:rPr sz="1100" b="1" i="0">
                <a:solidFill>
                  <a:srgbClr val="1565C0"/>
                </a:solidFill>
                <a:latin typeface="Arial"/>
              </a:rPr>
              <a:t>BÁO CÁO ĐỒ ÁN</a:t>
            </a:r>
          </a:p>
        </p:txBody>
      </p:sp>
      <p:sp>
        <p:nvSpPr>
          <p:cNvPr id="9" name="TextBox 8"/>
          <p:cNvSpPr txBox="1"/>
          <p:nvPr/>
        </p:nvSpPr>
        <p:spPr>
          <a:xfrm>
            <a:off x="320040" y="1801368"/>
            <a:ext cx="11548872" cy="841248"/>
          </a:xfrm>
          <a:prstGeom prst="rect">
            <a:avLst/>
          </a:prstGeom>
          <a:noFill/>
        </p:spPr>
        <p:txBody>
          <a:bodyPr wrap="square">
            <a:spAutoFit/>
          </a:bodyPr>
          <a:lstStyle/>
          <a:p>
            <a:pPr algn="ctr"/>
            <a:r>
              <a:rPr sz="1900" b="1" i="0">
                <a:solidFill>
                  <a:srgbClr val="0D47A1"/>
                </a:solidFill>
                <a:latin typeface="Arial"/>
              </a:rPr>
              <a:t>XÂY DỰNG HỆ THỐNG LỌC TÍN HIỆU VỚI TẦNG META-LABELING (CATBOOST)
&amp; ĐÁNH GIÁ ẢNH HƯỞNG CỦA PHƯƠNG PHÁP CHIA DỮ LIỆU</a:t>
            </a:r>
          </a:p>
        </p:txBody>
      </p:sp>
      <p:sp>
        <p:nvSpPr>
          <p:cNvPr id="10" name="TextBox 9"/>
          <p:cNvSpPr txBox="1"/>
          <p:nvPr/>
        </p:nvSpPr>
        <p:spPr>
          <a:xfrm>
            <a:off x="320040" y="2651760"/>
            <a:ext cx="11548872" cy="329184"/>
          </a:xfrm>
          <a:prstGeom prst="rect">
            <a:avLst/>
          </a:prstGeom>
          <a:noFill/>
        </p:spPr>
        <p:txBody>
          <a:bodyPr wrap="square">
            <a:spAutoFit/>
          </a:bodyPr>
          <a:lstStyle/>
          <a:p>
            <a:pPr algn="ctr"/>
            <a:r>
              <a:rPr sz="1100" b="0" i="1">
                <a:solidFill>
                  <a:srgbClr val="444444"/>
                </a:solidFill>
                <a:latin typeface="Arial"/>
              </a:rPr>
              <a:t>Minh hoạ trên chuỗi thời gian BTCUSD M15  —  Mục đích: Nghiên cứu học thuật thuần tuý</a:t>
            </a:r>
          </a:p>
        </p:txBody>
      </p:sp>
      <p:sp>
        <p:nvSpPr>
          <p:cNvPr id="11" name="Rectangle 10"/>
          <p:cNvSpPr/>
          <p:nvPr/>
        </p:nvSpPr>
        <p:spPr>
          <a:xfrm>
            <a:off x="274320" y="3246120"/>
            <a:ext cx="1164031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3310128"/>
            <a:ext cx="2743200" cy="274320"/>
          </a:xfrm>
          <a:prstGeom prst="rect">
            <a:avLst/>
          </a:prstGeom>
          <a:noFill/>
        </p:spPr>
        <p:txBody>
          <a:bodyPr wrap="square">
            <a:spAutoFit/>
          </a:bodyPr>
          <a:lstStyle/>
          <a:p>
            <a:pPr algn="l"/>
            <a:r>
              <a:rPr sz="1000" b="1" i="0">
                <a:solidFill>
                  <a:srgbClr val="1565C0"/>
                </a:solidFill>
                <a:latin typeface="Arial"/>
              </a:rPr>
              <a:t>DANH SÁCH NHÓM</a:t>
            </a:r>
          </a:p>
        </p:txBody>
      </p:sp>
      <p:sp>
        <p:nvSpPr>
          <p:cNvPr id="13" name="Rectangle 12"/>
          <p:cNvSpPr/>
          <p:nvPr/>
        </p:nvSpPr>
        <p:spPr>
          <a:xfrm>
            <a:off x="320040" y="3611880"/>
            <a:ext cx="1417320" cy="2743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3621024"/>
            <a:ext cx="1417320" cy="256032"/>
          </a:xfrm>
          <a:prstGeom prst="rect">
            <a:avLst/>
          </a:prstGeom>
          <a:noFill/>
        </p:spPr>
        <p:txBody>
          <a:bodyPr wrap="square">
            <a:spAutoFit/>
          </a:bodyPr>
          <a:lstStyle/>
          <a:p>
            <a:pPr algn="ctr"/>
            <a:r>
              <a:rPr sz="900" b="1" i="0">
                <a:solidFill>
                  <a:srgbClr val="FFFFFF"/>
                </a:solidFill>
                <a:latin typeface="Arial"/>
              </a:rPr>
              <a:t>MSSV</a:t>
            </a:r>
          </a:p>
        </p:txBody>
      </p:sp>
      <p:sp>
        <p:nvSpPr>
          <p:cNvPr id="15" name="Rectangle 14"/>
          <p:cNvSpPr/>
          <p:nvPr/>
        </p:nvSpPr>
        <p:spPr>
          <a:xfrm>
            <a:off x="1783080" y="3611880"/>
            <a:ext cx="4114800" cy="2743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783080" y="3621024"/>
            <a:ext cx="4114800" cy="256032"/>
          </a:xfrm>
          <a:prstGeom prst="rect">
            <a:avLst/>
          </a:prstGeom>
          <a:noFill/>
        </p:spPr>
        <p:txBody>
          <a:bodyPr wrap="square">
            <a:spAutoFit/>
          </a:bodyPr>
          <a:lstStyle/>
          <a:p>
            <a:pPr algn="ctr"/>
            <a:r>
              <a:rPr sz="900" b="1" i="0">
                <a:solidFill>
                  <a:srgbClr val="FFFFFF"/>
                </a:solidFill>
                <a:latin typeface="Arial"/>
              </a:rPr>
              <a:t>HỌ VÀ TÊN</a:t>
            </a:r>
          </a:p>
        </p:txBody>
      </p:sp>
      <p:sp>
        <p:nvSpPr>
          <p:cNvPr id="17" name="Rectangle 16"/>
          <p:cNvSpPr/>
          <p:nvPr/>
        </p:nvSpPr>
        <p:spPr>
          <a:xfrm>
            <a:off x="320040" y="3904488"/>
            <a:ext cx="1417320"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3941064"/>
            <a:ext cx="1417320" cy="274320"/>
          </a:xfrm>
          <a:prstGeom prst="rect">
            <a:avLst/>
          </a:prstGeom>
          <a:noFill/>
        </p:spPr>
        <p:txBody>
          <a:bodyPr wrap="square">
            <a:spAutoFit/>
          </a:bodyPr>
          <a:lstStyle/>
          <a:p>
            <a:pPr algn="ctr"/>
            <a:r>
              <a:rPr sz="950" b="0" i="0">
                <a:solidFill>
                  <a:srgbClr val="151515"/>
                </a:solidFill>
                <a:latin typeface="Arial"/>
              </a:rPr>
              <a:t>26410127</a:t>
            </a:r>
          </a:p>
        </p:txBody>
      </p:sp>
      <p:sp>
        <p:nvSpPr>
          <p:cNvPr id="19" name="Rectangle 18"/>
          <p:cNvSpPr/>
          <p:nvPr/>
        </p:nvSpPr>
        <p:spPr>
          <a:xfrm>
            <a:off x="1783080" y="3904488"/>
            <a:ext cx="4114800"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28800" y="3941064"/>
            <a:ext cx="4023360" cy="274320"/>
          </a:xfrm>
          <a:prstGeom prst="rect">
            <a:avLst/>
          </a:prstGeom>
          <a:noFill/>
        </p:spPr>
        <p:txBody>
          <a:bodyPr wrap="square">
            <a:spAutoFit/>
          </a:bodyPr>
          <a:lstStyle/>
          <a:p>
            <a:pPr algn="l"/>
            <a:r>
              <a:rPr sz="950" b="1" i="0">
                <a:solidFill>
                  <a:srgbClr val="151515"/>
                </a:solidFill>
                <a:latin typeface="Arial"/>
              </a:rPr>
              <a:t>Dương Quốc Thương</a:t>
            </a:r>
          </a:p>
        </p:txBody>
      </p:sp>
      <p:sp>
        <p:nvSpPr>
          <p:cNvPr id="21" name="Rectangle 20"/>
          <p:cNvSpPr/>
          <p:nvPr/>
        </p:nvSpPr>
        <p:spPr>
          <a:xfrm>
            <a:off x="320040" y="4288536"/>
            <a:ext cx="14173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4325112"/>
            <a:ext cx="1417320" cy="274320"/>
          </a:xfrm>
          <a:prstGeom prst="rect">
            <a:avLst/>
          </a:prstGeom>
          <a:noFill/>
        </p:spPr>
        <p:txBody>
          <a:bodyPr wrap="square">
            <a:spAutoFit/>
          </a:bodyPr>
          <a:lstStyle/>
          <a:p>
            <a:pPr algn="ctr"/>
            <a:r>
              <a:rPr sz="950" b="0" i="0">
                <a:solidFill>
                  <a:srgbClr val="151515"/>
                </a:solidFill>
                <a:latin typeface="Arial"/>
              </a:rPr>
              <a:t>26410115</a:t>
            </a:r>
          </a:p>
        </p:txBody>
      </p:sp>
      <p:sp>
        <p:nvSpPr>
          <p:cNvPr id="23" name="Rectangle 22"/>
          <p:cNvSpPr/>
          <p:nvPr/>
        </p:nvSpPr>
        <p:spPr>
          <a:xfrm>
            <a:off x="1783080" y="4288536"/>
            <a:ext cx="41148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28800" y="4325112"/>
            <a:ext cx="4023360" cy="274320"/>
          </a:xfrm>
          <a:prstGeom prst="rect">
            <a:avLst/>
          </a:prstGeom>
          <a:noFill/>
        </p:spPr>
        <p:txBody>
          <a:bodyPr wrap="square">
            <a:spAutoFit/>
          </a:bodyPr>
          <a:lstStyle/>
          <a:p>
            <a:pPr algn="l"/>
            <a:r>
              <a:rPr sz="950" b="1" i="0">
                <a:solidFill>
                  <a:srgbClr val="151515"/>
                </a:solidFill>
                <a:latin typeface="Arial"/>
              </a:rPr>
              <a:t>Nông Nguyễn Thành</a:t>
            </a:r>
          </a:p>
        </p:txBody>
      </p:sp>
      <p:sp>
        <p:nvSpPr>
          <p:cNvPr id="25" name="Rectangle 24"/>
          <p:cNvSpPr/>
          <p:nvPr/>
        </p:nvSpPr>
        <p:spPr>
          <a:xfrm>
            <a:off x="320040" y="4672584"/>
            <a:ext cx="1417320"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 y="4709160"/>
            <a:ext cx="1417320" cy="274320"/>
          </a:xfrm>
          <a:prstGeom prst="rect">
            <a:avLst/>
          </a:prstGeom>
          <a:noFill/>
        </p:spPr>
        <p:txBody>
          <a:bodyPr wrap="square">
            <a:spAutoFit/>
          </a:bodyPr>
          <a:lstStyle/>
          <a:p>
            <a:pPr algn="ctr"/>
            <a:r>
              <a:rPr sz="950" b="0" i="0">
                <a:solidFill>
                  <a:srgbClr val="151515"/>
                </a:solidFill>
                <a:latin typeface="Arial"/>
              </a:rPr>
              <a:t>26410146</a:t>
            </a:r>
          </a:p>
        </p:txBody>
      </p:sp>
      <p:sp>
        <p:nvSpPr>
          <p:cNvPr id="27" name="Rectangle 26"/>
          <p:cNvSpPr/>
          <p:nvPr/>
        </p:nvSpPr>
        <p:spPr>
          <a:xfrm>
            <a:off x="1783080" y="4672584"/>
            <a:ext cx="4114800"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828800" y="4709160"/>
            <a:ext cx="4023360" cy="274320"/>
          </a:xfrm>
          <a:prstGeom prst="rect">
            <a:avLst/>
          </a:prstGeom>
          <a:noFill/>
        </p:spPr>
        <p:txBody>
          <a:bodyPr wrap="square">
            <a:spAutoFit/>
          </a:bodyPr>
          <a:lstStyle/>
          <a:p>
            <a:pPr algn="l"/>
            <a:r>
              <a:rPr sz="950" b="1" i="0">
                <a:solidFill>
                  <a:srgbClr val="151515"/>
                </a:solidFill>
                <a:latin typeface="Arial"/>
              </a:rPr>
              <a:t>Hoàng Võ Minh Tuấn</a:t>
            </a:r>
          </a:p>
        </p:txBody>
      </p:sp>
      <p:sp>
        <p:nvSpPr>
          <p:cNvPr id="29" name="Rectangle 28"/>
          <p:cNvSpPr/>
          <p:nvPr/>
        </p:nvSpPr>
        <p:spPr>
          <a:xfrm>
            <a:off x="320040" y="5056632"/>
            <a:ext cx="14173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5093208"/>
            <a:ext cx="1417320" cy="274320"/>
          </a:xfrm>
          <a:prstGeom prst="rect">
            <a:avLst/>
          </a:prstGeom>
          <a:noFill/>
        </p:spPr>
        <p:txBody>
          <a:bodyPr wrap="square">
            <a:spAutoFit/>
          </a:bodyPr>
          <a:lstStyle/>
          <a:p>
            <a:pPr algn="ctr"/>
            <a:r>
              <a:rPr sz="950" b="0" i="0">
                <a:solidFill>
                  <a:srgbClr val="151515"/>
                </a:solidFill>
                <a:latin typeface="Arial"/>
              </a:rPr>
              <a:t>26410108</a:t>
            </a:r>
          </a:p>
        </p:txBody>
      </p:sp>
      <p:sp>
        <p:nvSpPr>
          <p:cNvPr id="31" name="Rectangle 30"/>
          <p:cNvSpPr/>
          <p:nvPr/>
        </p:nvSpPr>
        <p:spPr>
          <a:xfrm>
            <a:off x="1783080" y="5056632"/>
            <a:ext cx="41148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28800" y="5093208"/>
            <a:ext cx="4023360" cy="274320"/>
          </a:xfrm>
          <a:prstGeom prst="rect">
            <a:avLst/>
          </a:prstGeom>
          <a:noFill/>
        </p:spPr>
        <p:txBody>
          <a:bodyPr wrap="square">
            <a:spAutoFit/>
          </a:bodyPr>
          <a:lstStyle/>
          <a:p>
            <a:pPr algn="l"/>
            <a:r>
              <a:rPr sz="950" b="1" i="0">
                <a:solidFill>
                  <a:srgbClr val="151515"/>
                </a:solidFill>
                <a:latin typeface="Arial"/>
              </a:rPr>
              <a:t>Bùi Quốc Thịnh</a:t>
            </a:r>
          </a:p>
        </p:txBody>
      </p:sp>
      <p:sp>
        <p:nvSpPr>
          <p:cNvPr id="33" name="Rectangle 32"/>
          <p:cNvSpPr/>
          <p:nvPr/>
        </p:nvSpPr>
        <p:spPr>
          <a:xfrm>
            <a:off x="6309360" y="3611880"/>
            <a:ext cx="1417320" cy="2743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3621024"/>
            <a:ext cx="1417320" cy="256032"/>
          </a:xfrm>
          <a:prstGeom prst="rect">
            <a:avLst/>
          </a:prstGeom>
          <a:noFill/>
        </p:spPr>
        <p:txBody>
          <a:bodyPr wrap="square">
            <a:spAutoFit/>
          </a:bodyPr>
          <a:lstStyle/>
          <a:p>
            <a:pPr algn="ctr"/>
            <a:r>
              <a:rPr sz="900" b="1" i="0">
                <a:solidFill>
                  <a:srgbClr val="FFFFFF"/>
                </a:solidFill>
                <a:latin typeface="Arial"/>
              </a:rPr>
              <a:t>MSSV</a:t>
            </a:r>
          </a:p>
        </p:txBody>
      </p:sp>
      <p:sp>
        <p:nvSpPr>
          <p:cNvPr id="35" name="Rectangle 34"/>
          <p:cNvSpPr/>
          <p:nvPr/>
        </p:nvSpPr>
        <p:spPr>
          <a:xfrm>
            <a:off x="7772400" y="3611880"/>
            <a:ext cx="4114800" cy="2743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0" y="3621024"/>
            <a:ext cx="4114800" cy="256032"/>
          </a:xfrm>
          <a:prstGeom prst="rect">
            <a:avLst/>
          </a:prstGeom>
          <a:noFill/>
        </p:spPr>
        <p:txBody>
          <a:bodyPr wrap="square">
            <a:spAutoFit/>
          </a:bodyPr>
          <a:lstStyle/>
          <a:p>
            <a:pPr algn="ctr"/>
            <a:r>
              <a:rPr sz="900" b="1" i="0">
                <a:solidFill>
                  <a:srgbClr val="FFFFFF"/>
                </a:solidFill>
                <a:latin typeface="Arial"/>
              </a:rPr>
              <a:t>HỌ VÀ TÊN</a:t>
            </a:r>
          </a:p>
        </p:txBody>
      </p:sp>
      <p:sp>
        <p:nvSpPr>
          <p:cNvPr id="37" name="Rectangle 36"/>
          <p:cNvSpPr/>
          <p:nvPr/>
        </p:nvSpPr>
        <p:spPr>
          <a:xfrm>
            <a:off x="6309360" y="3904488"/>
            <a:ext cx="1417320"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3941064"/>
            <a:ext cx="1417320" cy="274320"/>
          </a:xfrm>
          <a:prstGeom prst="rect">
            <a:avLst/>
          </a:prstGeom>
          <a:noFill/>
        </p:spPr>
        <p:txBody>
          <a:bodyPr wrap="square">
            <a:spAutoFit/>
          </a:bodyPr>
          <a:lstStyle/>
          <a:p>
            <a:pPr algn="ctr"/>
            <a:r>
              <a:rPr sz="950" b="0" i="0">
                <a:solidFill>
                  <a:srgbClr val="151515"/>
                </a:solidFill>
                <a:latin typeface="Arial"/>
              </a:rPr>
              <a:t>26410024</a:t>
            </a:r>
          </a:p>
        </p:txBody>
      </p:sp>
      <p:sp>
        <p:nvSpPr>
          <p:cNvPr id="39" name="Rectangle 38"/>
          <p:cNvSpPr/>
          <p:nvPr/>
        </p:nvSpPr>
        <p:spPr>
          <a:xfrm>
            <a:off x="7772400" y="3904488"/>
            <a:ext cx="4114800"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18120" y="3941064"/>
            <a:ext cx="4023360" cy="274320"/>
          </a:xfrm>
          <a:prstGeom prst="rect">
            <a:avLst/>
          </a:prstGeom>
          <a:noFill/>
        </p:spPr>
        <p:txBody>
          <a:bodyPr wrap="square">
            <a:spAutoFit/>
          </a:bodyPr>
          <a:lstStyle/>
          <a:p>
            <a:pPr algn="l"/>
            <a:r>
              <a:rPr sz="950" b="1" i="0">
                <a:solidFill>
                  <a:srgbClr val="151515"/>
                </a:solidFill>
                <a:latin typeface="Arial"/>
              </a:rPr>
              <a:t>Trần Tiến Dũng</a:t>
            </a:r>
          </a:p>
        </p:txBody>
      </p:sp>
      <p:sp>
        <p:nvSpPr>
          <p:cNvPr id="41" name="Rectangle 40"/>
          <p:cNvSpPr/>
          <p:nvPr/>
        </p:nvSpPr>
        <p:spPr>
          <a:xfrm>
            <a:off x="6309360" y="4288536"/>
            <a:ext cx="14173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09360" y="4325112"/>
            <a:ext cx="1417320" cy="274320"/>
          </a:xfrm>
          <a:prstGeom prst="rect">
            <a:avLst/>
          </a:prstGeom>
          <a:noFill/>
        </p:spPr>
        <p:txBody>
          <a:bodyPr wrap="square">
            <a:spAutoFit/>
          </a:bodyPr>
          <a:lstStyle/>
          <a:p>
            <a:pPr algn="ctr"/>
            <a:r>
              <a:rPr sz="950" b="0" i="0">
                <a:solidFill>
                  <a:srgbClr val="151515"/>
                </a:solidFill>
                <a:latin typeface="Arial"/>
              </a:rPr>
              <a:t>25730049</a:t>
            </a:r>
          </a:p>
        </p:txBody>
      </p:sp>
      <p:sp>
        <p:nvSpPr>
          <p:cNvPr id="43" name="Rectangle 42"/>
          <p:cNvSpPr/>
          <p:nvPr/>
        </p:nvSpPr>
        <p:spPr>
          <a:xfrm>
            <a:off x="7772400" y="4288536"/>
            <a:ext cx="41148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18120" y="4325112"/>
            <a:ext cx="4023360" cy="274320"/>
          </a:xfrm>
          <a:prstGeom prst="rect">
            <a:avLst/>
          </a:prstGeom>
          <a:noFill/>
        </p:spPr>
        <p:txBody>
          <a:bodyPr wrap="square">
            <a:spAutoFit/>
          </a:bodyPr>
          <a:lstStyle/>
          <a:p>
            <a:pPr algn="l"/>
            <a:r>
              <a:rPr sz="950" b="1" i="0">
                <a:solidFill>
                  <a:srgbClr val="151515"/>
                </a:solidFill>
                <a:latin typeface="Arial"/>
              </a:rPr>
              <a:t>Phạm Lê Yến Nhi</a:t>
            </a:r>
          </a:p>
        </p:txBody>
      </p:sp>
      <p:sp>
        <p:nvSpPr>
          <p:cNvPr id="45" name="Rectangle 44"/>
          <p:cNvSpPr/>
          <p:nvPr/>
        </p:nvSpPr>
        <p:spPr>
          <a:xfrm>
            <a:off x="6309360" y="4672584"/>
            <a:ext cx="1417320"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09360" y="4709160"/>
            <a:ext cx="1417320" cy="274320"/>
          </a:xfrm>
          <a:prstGeom prst="rect">
            <a:avLst/>
          </a:prstGeom>
          <a:noFill/>
        </p:spPr>
        <p:txBody>
          <a:bodyPr wrap="square">
            <a:spAutoFit/>
          </a:bodyPr>
          <a:lstStyle/>
          <a:p>
            <a:pPr algn="ctr"/>
            <a:r>
              <a:rPr sz="950" b="0" i="0">
                <a:solidFill>
                  <a:srgbClr val="151515"/>
                </a:solidFill>
                <a:latin typeface="Arial"/>
              </a:rPr>
              <a:t>26410019</a:t>
            </a:r>
          </a:p>
        </p:txBody>
      </p:sp>
      <p:sp>
        <p:nvSpPr>
          <p:cNvPr id="47" name="Rectangle 46"/>
          <p:cNvSpPr/>
          <p:nvPr/>
        </p:nvSpPr>
        <p:spPr>
          <a:xfrm>
            <a:off x="7772400" y="4672584"/>
            <a:ext cx="4114800" cy="347472"/>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18120" y="4709160"/>
            <a:ext cx="4023360" cy="274320"/>
          </a:xfrm>
          <a:prstGeom prst="rect">
            <a:avLst/>
          </a:prstGeom>
          <a:noFill/>
        </p:spPr>
        <p:txBody>
          <a:bodyPr wrap="square">
            <a:spAutoFit/>
          </a:bodyPr>
          <a:lstStyle/>
          <a:p>
            <a:pPr algn="l"/>
            <a:r>
              <a:rPr sz="950" b="1" i="0">
                <a:solidFill>
                  <a:srgbClr val="151515"/>
                </a:solidFill>
                <a:latin typeface="Arial"/>
              </a:rPr>
              <a:t>Trương Võ Thành Đạt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0233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27432"/>
            <a:ext cx="234635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45720"/>
            <a:ext cx="2437790" cy="310896"/>
          </a:xfrm>
          <a:prstGeom prst="rect">
            <a:avLst/>
          </a:prstGeom>
          <a:noFill/>
        </p:spPr>
        <p:txBody>
          <a:bodyPr wrap="square">
            <a:spAutoFit/>
          </a:bodyPr>
          <a:lstStyle/>
          <a:p>
            <a:pPr algn="ctr"/>
            <a:r>
              <a:rPr sz="850" b="1" i="0">
                <a:solidFill>
                  <a:srgbClr val="1565C0"/>
                </a:solidFill>
                <a:latin typeface="Arial"/>
              </a:rPr>
              <a:t>① Bối cảnh &amp; Mục tiêu</a:t>
            </a:r>
          </a:p>
        </p:txBody>
      </p:sp>
      <p:sp>
        <p:nvSpPr>
          <p:cNvPr id="5" name="TextBox 4"/>
          <p:cNvSpPr txBox="1"/>
          <p:nvPr/>
        </p:nvSpPr>
        <p:spPr>
          <a:xfrm>
            <a:off x="2437790" y="45720"/>
            <a:ext cx="2437790" cy="310896"/>
          </a:xfrm>
          <a:prstGeom prst="rect">
            <a:avLst/>
          </a:prstGeom>
          <a:noFill/>
        </p:spPr>
        <p:txBody>
          <a:bodyPr wrap="square">
            <a:spAutoFit/>
          </a:bodyPr>
          <a:lstStyle/>
          <a:p>
            <a:pPr algn="ctr"/>
            <a:r>
              <a:rPr sz="850" b="0" i="0">
                <a:solidFill>
                  <a:srgbClr val="FFFFFF"/>
                </a:solidFill>
                <a:latin typeface="Arial"/>
              </a:rPr>
              <a:t>② Dữ liệu &amp; Kiến trúc</a:t>
            </a:r>
          </a:p>
        </p:txBody>
      </p:sp>
      <p:sp>
        <p:nvSpPr>
          <p:cNvPr id="6" name="TextBox 5"/>
          <p:cNvSpPr txBox="1"/>
          <p:nvPr/>
        </p:nvSpPr>
        <p:spPr>
          <a:xfrm>
            <a:off x="4875580" y="45720"/>
            <a:ext cx="2437790" cy="310896"/>
          </a:xfrm>
          <a:prstGeom prst="rect">
            <a:avLst/>
          </a:prstGeom>
          <a:noFill/>
        </p:spPr>
        <p:txBody>
          <a:bodyPr wrap="square">
            <a:spAutoFit/>
          </a:bodyPr>
          <a:lstStyle/>
          <a:p>
            <a:pPr algn="ctr"/>
            <a:r>
              <a:rPr sz="850" b="0" i="0">
                <a:solidFill>
                  <a:srgbClr val="FFFFFF"/>
                </a:solidFill>
                <a:latin typeface="Arial"/>
              </a:rPr>
              <a:t>③ Phương pháp chia</a:t>
            </a:r>
          </a:p>
        </p:txBody>
      </p:sp>
      <p:sp>
        <p:nvSpPr>
          <p:cNvPr id="7" name="TextBox 6"/>
          <p:cNvSpPr txBox="1"/>
          <p:nvPr/>
        </p:nvSpPr>
        <p:spPr>
          <a:xfrm>
            <a:off x="7313371" y="45720"/>
            <a:ext cx="2437790" cy="310896"/>
          </a:xfrm>
          <a:prstGeom prst="rect">
            <a:avLst/>
          </a:prstGeom>
          <a:noFill/>
        </p:spPr>
        <p:txBody>
          <a:bodyPr wrap="square">
            <a:spAutoFit/>
          </a:bodyPr>
          <a:lstStyle/>
          <a:p>
            <a:pPr algn="ctr"/>
            <a:r>
              <a:rPr sz="850" b="0" i="0">
                <a:solidFill>
                  <a:srgbClr val="FFFFFF"/>
                </a:solidFill>
                <a:latin typeface="Arial"/>
              </a:rPr>
              <a:t>④ Kết quả</a:t>
            </a:r>
          </a:p>
        </p:txBody>
      </p:sp>
      <p:sp>
        <p:nvSpPr>
          <p:cNvPr id="8" name="TextBox 7"/>
          <p:cNvSpPr txBox="1"/>
          <p:nvPr/>
        </p:nvSpPr>
        <p:spPr>
          <a:xfrm>
            <a:off x="9751161" y="45720"/>
            <a:ext cx="2437790" cy="310896"/>
          </a:xfrm>
          <a:prstGeom prst="rect">
            <a:avLst/>
          </a:prstGeom>
          <a:noFill/>
        </p:spPr>
        <p:txBody>
          <a:bodyPr wrap="square">
            <a:spAutoFit/>
          </a:bodyPr>
          <a:lstStyle/>
          <a:p>
            <a:pPr algn="ctr"/>
            <a:r>
              <a:rPr sz="850" b="0" i="0">
                <a:solidFill>
                  <a:srgbClr val="FFFFFF"/>
                </a:solidFill>
                <a:latin typeface="Arial"/>
              </a:rPr>
              <a:t>⑤ Kết luận</a:t>
            </a:r>
          </a:p>
        </p:txBody>
      </p:sp>
      <p:sp>
        <p:nvSpPr>
          <p:cNvPr id="9" name="Rectangle 8"/>
          <p:cNvSpPr/>
          <p:nvPr/>
        </p:nvSpPr>
        <p:spPr>
          <a:xfrm>
            <a:off x="0" y="402336"/>
            <a:ext cx="121889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4592" y="54864"/>
            <a:ext cx="530352" cy="274320"/>
          </a:xfrm>
          <a:prstGeom prst="rect">
            <a:avLst/>
          </a:prstGeom>
          <a:noFill/>
        </p:spPr>
        <p:txBody>
          <a:bodyPr wrap="square">
            <a:spAutoFit/>
          </a:bodyPr>
          <a:lstStyle/>
          <a:p>
            <a:pPr algn="r"/>
            <a:r>
              <a:rPr sz="850" b="0" i="0">
                <a:solidFill>
                  <a:srgbClr val="FFFFFF"/>
                </a:solidFill>
                <a:latin typeface="Arial"/>
              </a:rPr>
              <a:t>2/18</a:t>
            </a:r>
          </a:p>
        </p:txBody>
      </p:sp>
      <p:sp>
        <p:nvSpPr>
          <p:cNvPr id="11" name="Rectangle 10"/>
          <p:cNvSpPr/>
          <p:nvPr/>
        </p:nvSpPr>
        <p:spPr>
          <a:xfrm>
            <a:off x="320040" y="530352"/>
            <a:ext cx="1154887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005840"/>
            <a:ext cx="1154887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48640"/>
            <a:ext cx="11274552" cy="438912"/>
          </a:xfrm>
          <a:prstGeom prst="rect">
            <a:avLst/>
          </a:prstGeom>
          <a:noFill/>
        </p:spPr>
        <p:txBody>
          <a:bodyPr wrap="square">
            <a:spAutoFit/>
          </a:bodyPr>
          <a:lstStyle/>
          <a:p>
            <a:pPr algn="l"/>
            <a:r>
              <a:rPr sz="1500" b="1" i="0">
                <a:solidFill>
                  <a:srgbClr val="151515"/>
                </a:solidFill>
                <a:latin typeface="Arial"/>
              </a:rPr>
              <a:t>Vấn đề &amp; Mục tiêu Đề tài</a:t>
            </a:r>
          </a:p>
        </p:txBody>
      </p:sp>
      <p:sp>
        <p:nvSpPr>
          <p:cNvPr id="14" name="TextBox 13"/>
          <p:cNvSpPr txBox="1"/>
          <p:nvPr/>
        </p:nvSpPr>
        <p:spPr>
          <a:xfrm>
            <a:off x="365760" y="1060704"/>
            <a:ext cx="11274552" cy="274320"/>
          </a:xfrm>
          <a:prstGeom prst="rect">
            <a:avLst/>
          </a:prstGeom>
          <a:noFill/>
        </p:spPr>
        <p:txBody>
          <a:bodyPr wrap="square">
            <a:spAutoFit/>
          </a:bodyPr>
          <a:lstStyle/>
          <a:p>
            <a:pPr algn="l"/>
            <a:r>
              <a:rPr sz="950" b="0" i="1">
                <a:solidFill>
                  <a:srgbClr val="555555"/>
                </a:solidFill>
                <a:latin typeface="Arial"/>
              </a:rPr>
              <a:t>Dữ liệu BTCUSD = bộ dữ liệu chuẩn (benchmark) để kiểm chứng phương pháp ML — không phải hướng dẫn giao dịch</a:t>
            </a:r>
          </a:p>
        </p:txBody>
      </p:sp>
      <p:sp>
        <p:nvSpPr>
          <p:cNvPr id="15" name="Rectangle 14"/>
          <p:cNvSpPr/>
          <p:nvPr/>
        </p:nvSpPr>
        <p:spPr>
          <a:xfrm>
            <a:off x="274320" y="1115568"/>
            <a:ext cx="5394960" cy="2633472"/>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1115568"/>
            <a:ext cx="5394960" cy="2633472"/>
          </a:xfrm>
          <a:prstGeom prst="rect">
            <a:avLst/>
          </a:prstGeom>
          <a:noFill/>
          <a:ln w="1905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1197864"/>
            <a:ext cx="5212080" cy="365760"/>
          </a:xfrm>
          <a:prstGeom prst="rect">
            <a:avLst/>
          </a:prstGeom>
          <a:noFill/>
        </p:spPr>
        <p:txBody>
          <a:bodyPr wrap="square">
            <a:spAutoFit/>
          </a:bodyPr>
          <a:lstStyle/>
          <a:p>
            <a:pPr algn="l"/>
            <a:r>
              <a:rPr sz="1150" b="1" i="0">
                <a:solidFill>
                  <a:srgbClr val="B71C1C"/>
                </a:solidFill>
                <a:latin typeface="Arial"/>
              </a:rPr>
              <a:t>⚠️  Vấn đề thực tế trong nghiên cứu AI</a:t>
            </a:r>
          </a:p>
        </p:txBody>
      </p:sp>
      <p:sp>
        <p:nvSpPr>
          <p:cNvPr id="18" name="Rectangle 17"/>
          <p:cNvSpPr/>
          <p:nvPr/>
        </p:nvSpPr>
        <p:spPr>
          <a:xfrm>
            <a:off x="365760" y="1563624"/>
            <a:ext cx="5212080" cy="27432"/>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1636776"/>
            <a:ext cx="5212080" cy="2039112"/>
          </a:xfrm>
          <a:prstGeom prst="rect">
            <a:avLst/>
          </a:prstGeom>
          <a:noFill/>
        </p:spPr>
        <p:txBody>
          <a:bodyPr wrap="square">
            <a:spAutoFit/>
          </a:bodyPr>
          <a:lstStyle/>
          <a:p>
            <a:pPr algn="l">
              <a:spcBef>
                <a:spcPts val="300"/>
              </a:spcBef>
            </a:pPr>
            <a:r>
              <a:rPr sz="1100" b="0">
                <a:solidFill>
                  <a:srgbClr val="151515"/>
                </a:solidFill>
                <a:latin typeface="Arial"/>
              </a:rPr>
              <a:t>AI/ML thường cho điểm kiểm định đẹp (AUC cao) trong phòng lab.</a:t>
            </a:r>
          </a:p>
          <a:p>
            <a:pPr algn="l">
              <a:spcBef>
                <a:spcPts val="300"/>
              </a:spcBef>
            </a:pPr>
            <a:r>
              <a:rPr sz="1100" b="0">
                <a:solidFill>
                  <a:srgbClr val="151515"/>
                </a:solidFill>
                <a:latin typeface="Arial"/>
              </a:rPr>
              <a:t>Khi triển khai thực tế → kết quả tệ hơn rất nhiều.</a:t>
            </a:r>
          </a:p>
          <a:p>
            <a:pPr algn="l">
              <a:spcBef>
                <a:spcPts val="300"/>
              </a:spcBef>
            </a:pPr>
            <a:r>
              <a:rPr sz="1100" b="0">
                <a:solidFill>
                  <a:srgbClr val="151515"/>
                </a:solidFill>
                <a:latin typeface="Arial"/>
              </a:rPr>
              <a:t/>
            </a:r>
          </a:p>
          <a:p>
            <a:pPr algn="l">
              <a:spcBef>
                <a:spcPts val="300"/>
              </a:spcBef>
            </a:pPr>
            <a:r>
              <a:rPr sz="1100" b="0">
                <a:solidFill>
                  <a:srgbClr val="151515"/>
                </a:solidFill>
                <a:latin typeface="Arial"/>
              </a:rPr>
              <a:t>Nguyên nhân: Dữ liệu bị rò rỉ (Data Leakage) do cách chia sai.</a:t>
            </a:r>
          </a:p>
          <a:p>
            <a:pPr algn="l">
              <a:spcBef>
                <a:spcPts val="300"/>
              </a:spcBef>
            </a:pPr>
            <a:r>
              <a:rPr sz="1100" b="0">
                <a:solidFill>
                  <a:srgbClr val="151515"/>
                </a:solidFill>
                <a:latin typeface="Arial"/>
              </a:rPr>
              <a:t>→ Mô hình vô tình 'nhìn trộm đáp án tương lai' trong lúc học.</a:t>
            </a:r>
          </a:p>
        </p:txBody>
      </p:sp>
      <p:sp>
        <p:nvSpPr>
          <p:cNvPr id="20" name="Rectangle 19"/>
          <p:cNvSpPr/>
          <p:nvPr/>
        </p:nvSpPr>
        <p:spPr>
          <a:xfrm>
            <a:off x="274320" y="3822191"/>
            <a:ext cx="5394960" cy="264261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3822191"/>
            <a:ext cx="5394960" cy="2642616"/>
          </a:xfrm>
          <a:prstGeom prst="rect">
            <a:avLst/>
          </a:prstGeom>
          <a:noFill/>
          <a:ln w="1905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3904487"/>
            <a:ext cx="5212080" cy="365760"/>
          </a:xfrm>
          <a:prstGeom prst="rect">
            <a:avLst/>
          </a:prstGeom>
          <a:noFill/>
        </p:spPr>
        <p:txBody>
          <a:bodyPr wrap="square">
            <a:spAutoFit/>
          </a:bodyPr>
          <a:lstStyle/>
          <a:p>
            <a:pPr algn="l"/>
            <a:r>
              <a:rPr sz="1150" b="1" i="0">
                <a:solidFill>
                  <a:srgbClr val="1565C0"/>
                </a:solidFill>
                <a:latin typeface="Arial"/>
              </a:rPr>
              <a:t>🎯  Câu hỏi nghiên cứu</a:t>
            </a:r>
          </a:p>
        </p:txBody>
      </p:sp>
      <p:sp>
        <p:nvSpPr>
          <p:cNvPr id="23" name="Rectangle 22"/>
          <p:cNvSpPr/>
          <p:nvPr/>
        </p:nvSpPr>
        <p:spPr>
          <a:xfrm>
            <a:off x="365760" y="4270248"/>
            <a:ext cx="5212080" cy="2743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4343400"/>
            <a:ext cx="5212080" cy="2048256"/>
          </a:xfrm>
          <a:prstGeom prst="rect">
            <a:avLst/>
          </a:prstGeom>
          <a:noFill/>
        </p:spPr>
        <p:txBody>
          <a:bodyPr wrap="square">
            <a:spAutoFit/>
          </a:bodyPr>
          <a:lstStyle/>
          <a:p>
            <a:pPr algn="l">
              <a:spcBef>
                <a:spcPts val="300"/>
              </a:spcBef>
            </a:pPr>
            <a:r>
              <a:rPr sz="1100" b="0">
                <a:solidFill>
                  <a:srgbClr val="151515"/>
                </a:solidFill>
                <a:latin typeface="Arial"/>
              </a:rPr>
              <a:t>Phương pháp phân chia dữ liệu ảnh hưởng bao nhiêu đến kết quả?</a:t>
            </a:r>
          </a:p>
          <a:p>
            <a:pPr algn="l">
              <a:spcBef>
                <a:spcPts val="300"/>
              </a:spcBef>
            </a:pPr>
            <a:r>
              <a:rPr sz="1100" b="0">
                <a:solidFill>
                  <a:srgbClr val="151515"/>
                </a:solidFill>
                <a:latin typeface="Arial"/>
              </a:rPr>
              <a:t>Cách nào phản ánh đúng hiệu năng thực tế của mô hình?</a:t>
            </a:r>
          </a:p>
          <a:p>
            <a:pPr algn="l">
              <a:spcBef>
                <a:spcPts val="300"/>
              </a:spcBef>
            </a:pPr>
            <a:r>
              <a:rPr sz="1100" b="0">
                <a:solidFill>
                  <a:srgbClr val="151515"/>
                </a:solidFill>
                <a:latin typeface="Arial"/>
              </a:rPr>
              <a:t>AI 2 tầng (Meta-Labeling) có cải thiện bộ lọc tín hiệu không?</a:t>
            </a:r>
          </a:p>
        </p:txBody>
      </p:sp>
      <p:sp>
        <p:nvSpPr>
          <p:cNvPr id="25" name="Rectangle 24"/>
          <p:cNvSpPr/>
          <p:nvPr/>
        </p:nvSpPr>
        <p:spPr>
          <a:xfrm>
            <a:off x="5943600" y="1115568"/>
            <a:ext cx="5971032" cy="2633472"/>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115568"/>
            <a:ext cx="5971032" cy="2633472"/>
          </a:xfrm>
          <a:prstGeom prst="rect">
            <a:avLst/>
          </a:prstGeom>
          <a:noFill/>
          <a:ln w="1905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0" y="1197864"/>
            <a:ext cx="5788152" cy="365760"/>
          </a:xfrm>
          <a:prstGeom prst="rect">
            <a:avLst/>
          </a:prstGeom>
          <a:noFill/>
        </p:spPr>
        <p:txBody>
          <a:bodyPr wrap="square">
            <a:spAutoFit/>
          </a:bodyPr>
          <a:lstStyle/>
          <a:p>
            <a:pPr algn="l"/>
            <a:r>
              <a:rPr sz="1150" b="1" i="0">
                <a:solidFill>
                  <a:srgbClr val="1B5E20"/>
                </a:solidFill>
                <a:latin typeface="Arial"/>
              </a:rPr>
              <a:t>⚙️  Mục tiêu 1 — Kỹ thuật</a:t>
            </a:r>
          </a:p>
        </p:txBody>
      </p:sp>
      <p:sp>
        <p:nvSpPr>
          <p:cNvPr id="28" name="Rectangle 27"/>
          <p:cNvSpPr/>
          <p:nvPr/>
        </p:nvSpPr>
        <p:spPr>
          <a:xfrm>
            <a:off x="6035040" y="1563624"/>
            <a:ext cx="5788152" cy="2743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35040" y="1636776"/>
            <a:ext cx="5788152" cy="2039112"/>
          </a:xfrm>
          <a:prstGeom prst="rect">
            <a:avLst/>
          </a:prstGeom>
          <a:noFill/>
        </p:spPr>
        <p:txBody>
          <a:bodyPr wrap="square">
            <a:spAutoFit/>
          </a:bodyPr>
          <a:lstStyle/>
          <a:p>
            <a:pPr algn="l">
              <a:spcBef>
                <a:spcPts val="300"/>
              </a:spcBef>
            </a:pPr>
            <a:r>
              <a:rPr sz="1100" b="0">
                <a:solidFill>
                  <a:srgbClr val="151515"/>
                </a:solidFill>
                <a:latin typeface="Arial"/>
              </a:rPr>
              <a:t>Xây dựng pipeline AI phân loại tín hiệu 2 tầng.</a:t>
            </a:r>
          </a:p>
          <a:p>
            <a:pPr algn="l">
              <a:spcBef>
                <a:spcPts val="300"/>
              </a:spcBef>
            </a:pPr>
            <a:r>
              <a:rPr sz="1100" b="0">
                <a:solidFill>
                  <a:srgbClr val="151515"/>
                </a:solidFill>
                <a:latin typeface="Arial"/>
              </a:rPr>
              <a:t>Tầng 1: Chiến lược phát tín hiệu cơ sở.</a:t>
            </a:r>
          </a:p>
          <a:p>
            <a:pPr algn="l">
              <a:spcBef>
                <a:spcPts val="300"/>
              </a:spcBef>
            </a:pPr>
            <a:r>
              <a:rPr sz="1100" b="0">
                <a:solidFill>
                  <a:srgbClr val="151515"/>
                </a:solidFill>
                <a:latin typeface="Arial"/>
              </a:rPr>
              <a:t>Tầng 2: CatBoost thẩm định — chỉ giữ tín hiệu xác suất thắng ≥ 50%.</a:t>
            </a:r>
          </a:p>
          <a:p>
            <a:pPr algn="l">
              <a:spcBef>
                <a:spcPts val="300"/>
              </a:spcBef>
            </a:pPr>
            <a:r>
              <a:rPr sz="1100" b="0">
                <a:solidFill>
                  <a:srgbClr val="151515"/>
                </a:solidFill>
                <a:latin typeface="Arial"/>
              </a:rPr>
              <a:t>→ Đo lường cải thiện: Win Rate, Drawdown, Profit Factor.</a:t>
            </a:r>
          </a:p>
        </p:txBody>
      </p:sp>
      <p:sp>
        <p:nvSpPr>
          <p:cNvPr id="30" name="Rectangle 29"/>
          <p:cNvSpPr/>
          <p:nvPr/>
        </p:nvSpPr>
        <p:spPr>
          <a:xfrm>
            <a:off x="5943600" y="3822191"/>
            <a:ext cx="5971032" cy="2642616"/>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0" y="3822191"/>
            <a:ext cx="5971032" cy="2642616"/>
          </a:xfrm>
          <a:prstGeom prst="rect">
            <a:avLst/>
          </a:prstGeom>
          <a:noFill/>
          <a:ln w="1905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35040" y="3904487"/>
            <a:ext cx="5788152" cy="365760"/>
          </a:xfrm>
          <a:prstGeom prst="rect">
            <a:avLst/>
          </a:prstGeom>
          <a:noFill/>
        </p:spPr>
        <p:txBody>
          <a:bodyPr wrap="square">
            <a:spAutoFit/>
          </a:bodyPr>
          <a:lstStyle/>
          <a:p>
            <a:pPr algn="l"/>
            <a:r>
              <a:rPr sz="1150" b="1" i="0">
                <a:solidFill>
                  <a:srgbClr val="0D47A1"/>
                </a:solidFill>
                <a:latin typeface="Arial"/>
              </a:rPr>
              <a:t>🔬  Mục tiêu 2 — Phương pháp luận</a:t>
            </a:r>
          </a:p>
        </p:txBody>
      </p:sp>
      <p:sp>
        <p:nvSpPr>
          <p:cNvPr id="33" name="Rectangle 32"/>
          <p:cNvSpPr/>
          <p:nvPr/>
        </p:nvSpPr>
        <p:spPr>
          <a:xfrm>
            <a:off x="6035040" y="4270248"/>
            <a:ext cx="5788152" cy="2743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35040" y="4343400"/>
            <a:ext cx="5788152" cy="2048256"/>
          </a:xfrm>
          <a:prstGeom prst="rect">
            <a:avLst/>
          </a:prstGeom>
          <a:noFill/>
        </p:spPr>
        <p:txBody>
          <a:bodyPr wrap="square">
            <a:spAutoFit/>
          </a:bodyPr>
          <a:lstStyle/>
          <a:p>
            <a:pPr algn="l">
              <a:spcBef>
                <a:spcPts val="300"/>
              </a:spcBef>
            </a:pPr>
            <a:r>
              <a:rPr sz="1100" b="0">
                <a:solidFill>
                  <a:srgbClr val="151515"/>
                </a:solidFill>
                <a:latin typeface="Arial"/>
              </a:rPr>
              <a:t>So sánh 4 cách chia dữ liệu (từ lỏng lẻo → nghiêm ngặt).</a:t>
            </a:r>
          </a:p>
          <a:p>
            <a:pPr algn="l">
              <a:spcBef>
                <a:spcPts val="300"/>
              </a:spcBef>
            </a:pPr>
            <a:r>
              <a:rPr sz="1100" b="0">
                <a:solidFill>
                  <a:srgbClr val="151515"/>
                </a:solidFill>
                <a:latin typeface="Arial"/>
              </a:rPr>
              <a:t>Kiểm chứng bằng tập Holdout niêm phong (5.028 mẫu).</a:t>
            </a:r>
          </a:p>
          <a:p>
            <a:pPr algn="l">
              <a:spcBef>
                <a:spcPts val="300"/>
              </a:spcBef>
            </a:pPr>
            <a:r>
              <a:rPr sz="1100" b="0">
                <a:solidFill>
                  <a:srgbClr val="151515"/>
                </a:solidFill>
                <a:latin typeface="Arial"/>
              </a:rPr>
              <a:t>Xác định cách chia nào đáng tin cậy nhất cho chuỗi thời gian.</a:t>
            </a:r>
          </a:p>
          <a:p>
            <a:pPr algn="l">
              <a:spcBef>
                <a:spcPts val="300"/>
              </a:spcBef>
            </a:pPr>
            <a:r>
              <a:rPr sz="1100" b="0">
                <a:solidFill>
                  <a:srgbClr val="151515"/>
                </a:solidFill>
                <a:latin typeface="Arial"/>
              </a:rPr>
              <a:t>→ Kết quả áp dụng được cho bất kỳ bài toán ML chuỗi thời gian nào.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0233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 y="27432"/>
            <a:ext cx="234635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45720"/>
            <a:ext cx="2437790" cy="310896"/>
          </a:xfrm>
          <a:prstGeom prst="rect">
            <a:avLst/>
          </a:prstGeom>
          <a:noFill/>
        </p:spPr>
        <p:txBody>
          <a:bodyPr wrap="square">
            <a:spAutoFit/>
          </a:bodyPr>
          <a:lstStyle/>
          <a:p>
            <a:pPr algn="ctr"/>
            <a:r>
              <a:rPr sz="850" b="1" i="0">
                <a:solidFill>
                  <a:srgbClr val="1565C0"/>
                </a:solidFill>
                <a:latin typeface="Arial"/>
              </a:rPr>
              <a:t>① Bối cảnh &amp; Mục tiêu</a:t>
            </a:r>
          </a:p>
        </p:txBody>
      </p:sp>
      <p:sp>
        <p:nvSpPr>
          <p:cNvPr id="5" name="TextBox 4"/>
          <p:cNvSpPr txBox="1"/>
          <p:nvPr/>
        </p:nvSpPr>
        <p:spPr>
          <a:xfrm>
            <a:off x="2437790" y="45720"/>
            <a:ext cx="2437790" cy="310896"/>
          </a:xfrm>
          <a:prstGeom prst="rect">
            <a:avLst/>
          </a:prstGeom>
          <a:noFill/>
        </p:spPr>
        <p:txBody>
          <a:bodyPr wrap="square">
            <a:spAutoFit/>
          </a:bodyPr>
          <a:lstStyle/>
          <a:p>
            <a:pPr algn="ctr"/>
            <a:r>
              <a:rPr sz="850" b="0" i="0">
                <a:solidFill>
                  <a:srgbClr val="FFFFFF"/>
                </a:solidFill>
                <a:latin typeface="Arial"/>
              </a:rPr>
              <a:t>② Dữ liệu &amp; Kiến trúc</a:t>
            </a:r>
          </a:p>
        </p:txBody>
      </p:sp>
      <p:sp>
        <p:nvSpPr>
          <p:cNvPr id="6" name="TextBox 5"/>
          <p:cNvSpPr txBox="1"/>
          <p:nvPr/>
        </p:nvSpPr>
        <p:spPr>
          <a:xfrm>
            <a:off x="4875580" y="45720"/>
            <a:ext cx="2437790" cy="310896"/>
          </a:xfrm>
          <a:prstGeom prst="rect">
            <a:avLst/>
          </a:prstGeom>
          <a:noFill/>
        </p:spPr>
        <p:txBody>
          <a:bodyPr wrap="square">
            <a:spAutoFit/>
          </a:bodyPr>
          <a:lstStyle/>
          <a:p>
            <a:pPr algn="ctr"/>
            <a:r>
              <a:rPr sz="850" b="0" i="0">
                <a:solidFill>
                  <a:srgbClr val="FFFFFF"/>
                </a:solidFill>
                <a:latin typeface="Arial"/>
              </a:rPr>
              <a:t>③ Phương pháp chia</a:t>
            </a:r>
          </a:p>
        </p:txBody>
      </p:sp>
      <p:sp>
        <p:nvSpPr>
          <p:cNvPr id="7" name="TextBox 6"/>
          <p:cNvSpPr txBox="1"/>
          <p:nvPr/>
        </p:nvSpPr>
        <p:spPr>
          <a:xfrm>
            <a:off x="7313371" y="45720"/>
            <a:ext cx="2437790" cy="310896"/>
          </a:xfrm>
          <a:prstGeom prst="rect">
            <a:avLst/>
          </a:prstGeom>
          <a:noFill/>
        </p:spPr>
        <p:txBody>
          <a:bodyPr wrap="square">
            <a:spAutoFit/>
          </a:bodyPr>
          <a:lstStyle/>
          <a:p>
            <a:pPr algn="ctr"/>
            <a:r>
              <a:rPr sz="850" b="0" i="0">
                <a:solidFill>
                  <a:srgbClr val="FFFFFF"/>
                </a:solidFill>
                <a:latin typeface="Arial"/>
              </a:rPr>
              <a:t>④ Kết quả</a:t>
            </a:r>
          </a:p>
        </p:txBody>
      </p:sp>
      <p:sp>
        <p:nvSpPr>
          <p:cNvPr id="8" name="TextBox 7"/>
          <p:cNvSpPr txBox="1"/>
          <p:nvPr/>
        </p:nvSpPr>
        <p:spPr>
          <a:xfrm>
            <a:off x="9751161" y="45720"/>
            <a:ext cx="2437790" cy="310896"/>
          </a:xfrm>
          <a:prstGeom prst="rect">
            <a:avLst/>
          </a:prstGeom>
          <a:noFill/>
        </p:spPr>
        <p:txBody>
          <a:bodyPr wrap="square">
            <a:spAutoFit/>
          </a:bodyPr>
          <a:lstStyle/>
          <a:p>
            <a:pPr algn="ctr"/>
            <a:r>
              <a:rPr sz="850" b="0" i="0">
                <a:solidFill>
                  <a:srgbClr val="FFFFFF"/>
                </a:solidFill>
                <a:latin typeface="Arial"/>
              </a:rPr>
              <a:t>⑤ Kết luận</a:t>
            </a:r>
          </a:p>
        </p:txBody>
      </p:sp>
      <p:sp>
        <p:nvSpPr>
          <p:cNvPr id="9" name="Rectangle 8"/>
          <p:cNvSpPr/>
          <p:nvPr/>
        </p:nvSpPr>
        <p:spPr>
          <a:xfrm>
            <a:off x="0" y="402336"/>
            <a:ext cx="121889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4592" y="54864"/>
            <a:ext cx="530352" cy="274320"/>
          </a:xfrm>
          <a:prstGeom prst="rect">
            <a:avLst/>
          </a:prstGeom>
          <a:noFill/>
        </p:spPr>
        <p:txBody>
          <a:bodyPr wrap="square">
            <a:spAutoFit/>
          </a:bodyPr>
          <a:lstStyle/>
          <a:p>
            <a:pPr algn="r"/>
            <a:r>
              <a:rPr sz="850" b="0" i="0">
                <a:solidFill>
                  <a:srgbClr val="FFFFFF"/>
                </a:solidFill>
                <a:latin typeface="Arial"/>
              </a:rPr>
              <a:t>3/18</a:t>
            </a:r>
          </a:p>
        </p:txBody>
      </p:sp>
      <p:sp>
        <p:nvSpPr>
          <p:cNvPr id="11" name="Rectangle 10"/>
          <p:cNvSpPr/>
          <p:nvPr/>
        </p:nvSpPr>
        <p:spPr>
          <a:xfrm>
            <a:off x="320040" y="530352"/>
            <a:ext cx="1154887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005840"/>
            <a:ext cx="1154887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48640"/>
            <a:ext cx="11274552" cy="438912"/>
          </a:xfrm>
          <a:prstGeom prst="rect">
            <a:avLst/>
          </a:prstGeom>
          <a:noFill/>
        </p:spPr>
        <p:txBody>
          <a:bodyPr wrap="square">
            <a:spAutoFit/>
          </a:bodyPr>
          <a:lstStyle/>
          <a:p>
            <a:pPr algn="l"/>
            <a:r>
              <a:rPr sz="1500" b="1" i="0">
                <a:solidFill>
                  <a:srgbClr val="151515"/>
                </a:solidFill>
                <a:latin typeface="Arial"/>
              </a:rPr>
              <a:t>Ứng dụng Thực tiễn — Kiến thức từ đề tài dùng ở đâu ngoài tài chính?</a:t>
            </a:r>
          </a:p>
        </p:txBody>
      </p:sp>
      <p:sp>
        <p:nvSpPr>
          <p:cNvPr id="14" name="TextBox 13"/>
          <p:cNvSpPr txBox="1"/>
          <p:nvPr/>
        </p:nvSpPr>
        <p:spPr>
          <a:xfrm>
            <a:off x="365760" y="1060704"/>
            <a:ext cx="11274552" cy="274320"/>
          </a:xfrm>
          <a:prstGeom prst="rect">
            <a:avLst/>
          </a:prstGeom>
          <a:noFill/>
        </p:spPr>
        <p:txBody>
          <a:bodyPr wrap="square">
            <a:spAutoFit/>
          </a:bodyPr>
          <a:lstStyle/>
          <a:p>
            <a:pPr algn="l"/>
            <a:r>
              <a:rPr sz="950" b="0" i="1">
                <a:solidFill>
                  <a:srgbClr val="555555"/>
                </a:solidFill>
                <a:latin typeface="Arial"/>
              </a:rPr>
              <a:t>Kiến trúc Meta-Labeling &amp; Phương pháp chia chuẩn áp dụng cho mọi bài toán chuỗi thời gian</a:t>
            </a:r>
          </a:p>
        </p:txBody>
      </p:sp>
      <p:sp>
        <p:nvSpPr>
          <p:cNvPr id="15" name="Rectangle 14"/>
          <p:cNvSpPr/>
          <p:nvPr/>
        </p:nvSpPr>
        <p:spPr>
          <a:xfrm>
            <a:off x="274320" y="1115568"/>
            <a:ext cx="11640312" cy="530352"/>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74320" y="1115568"/>
            <a:ext cx="11640312" cy="530352"/>
          </a:xfrm>
          <a:prstGeom prst="rect">
            <a:avLst/>
          </a:prstGeom>
          <a:noFill/>
          <a:ln w="25400">
            <a:solidFill>
              <a:srgbClr val="E65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1152144"/>
            <a:ext cx="11457432" cy="457200"/>
          </a:xfrm>
          <a:prstGeom prst="rect">
            <a:avLst/>
          </a:prstGeom>
          <a:noFill/>
        </p:spPr>
        <p:txBody>
          <a:bodyPr wrap="square">
            <a:spAutoFit/>
          </a:bodyPr>
          <a:lstStyle/>
          <a:p>
            <a:pPr algn="l"/>
            <a:r>
              <a:rPr sz="1100" b="1" i="0">
                <a:solidFill>
                  <a:srgbClr val="E65C00"/>
                </a:solidFill>
                <a:latin typeface="Arial"/>
              </a:rPr>
              <a:t>⚠️  Crypto không hợp pháp tại Việt Nam — Nhóm KHÔNG hướng dẫn giao dịch tiền mã hoá. Đề tài nghiên cứu PHƯƠNG PHÁP ML thuần tuý, minh hoạ trên dữ liệu BTC như một bộ chuỗi thời gian công khai.</a:t>
            </a:r>
          </a:p>
        </p:txBody>
      </p:sp>
      <p:sp>
        <p:nvSpPr>
          <p:cNvPr id="18" name="Rectangle 17"/>
          <p:cNvSpPr/>
          <p:nvPr/>
        </p:nvSpPr>
        <p:spPr>
          <a:xfrm>
            <a:off x="274320" y="1792224"/>
            <a:ext cx="3657600" cy="214884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792224"/>
            <a:ext cx="3657600" cy="2148840"/>
          </a:xfrm>
          <a:prstGeom prst="rect">
            <a:avLst/>
          </a:prstGeom>
          <a:noFill/>
          <a:ln w="1905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1874519"/>
            <a:ext cx="3474720" cy="347472"/>
          </a:xfrm>
          <a:prstGeom prst="rect">
            <a:avLst/>
          </a:prstGeom>
          <a:noFill/>
        </p:spPr>
        <p:txBody>
          <a:bodyPr wrap="square">
            <a:spAutoFit/>
          </a:bodyPr>
          <a:lstStyle/>
          <a:p>
            <a:pPr algn="l"/>
            <a:r>
              <a:rPr sz="1200" b="1" i="0">
                <a:solidFill>
                  <a:srgbClr val="1565C0"/>
                </a:solidFill>
                <a:latin typeface="Arial"/>
              </a:rPr>
              <a:t>🏥  Y tế &amp; Sức khoẻ</a:t>
            </a:r>
          </a:p>
        </p:txBody>
      </p:sp>
      <p:sp>
        <p:nvSpPr>
          <p:cNvPr id="21" name="Rectangle 20"/>
          <p:cNvSpPr/>
          <p:nvPr/>
        </p:nvSpPr>
        <p:spPr>
          <a:xfrm>
            <a:off x="365760" y="2221991"/>
            <a:ext cx="3474720" cy="2743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2295144"/>
            <a:ext cx="3474720" cy="1554480"/>
          </a:xfrm>
          <a:prstGeom prst="rect">
            <a:avLst/>
          </a:prstGeom>
          <a:noFill/>
        </p:spPr>
        <p:txBody>
          <a:bodyPr wrap="square">
            <a:spAutoFit/>
          </a:bodyPr>
          <a:lstStyle/>
          <a:p>
            <a:pPr algn="l"/>
            <a:r>
              <a:rPr sz="1100" b="0" i="0">
                <a:solidFill>
                  <a:srgbClr val="151515"/>
                </a:solidFill>
                <a:latin typeface="Arial"/>
              </a:rPr>
              <a:t>Phát hiện nhịp tim bất thường (ECG)
Dự đoán nguy cơ cơn động kinh (EEG)
Cảnh báo suy tim sớm</a:t>
            </a:r>
          </a:p>
        </p:txBody>
      </p:sp>
      <p:sp>
        <p:nvSpPr>
          <p:cNvPr id="23" name="Rectangle 22"/>
          <p:cNvSpPr/>
          <p:nvPr/>
        </p:nvSpPr>
        <p:spPr>
          <a:xfrm>
            <a:off x="4206240" y="1792224"/>
            <a:ext cx="3657600" cy="214884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06240" y="1792224"/>
            <a:ext cx="3657600" cy="2148840"/>
          </a:xfrm>
          <a:prstGeom prst="rect">
            <a:avLst/>
          </a:prstGeom>
          <a:noFill/>
          <a:ln w="1905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7679" y="1874519"/>
            <a:ext cx="3474720" cy="347472"/>
          </a:xfrm>
          <a:prstGeom prst="rect">
            <a:avLst/>
          </a:prstGeom>
          <a:noFill/>
        </p:spPr>
        <p:txBody>
          <a:bodyPr wrap="square">
            <a:spAutoFit/>
          </a:bodyPr>
          <a:lstStyle/>
          <a:p>
            <a:pPr algn="l"/>
            <a:r>
              <a:rPr sz="1200" b="1" i="0">
                <a:solidFill>
                  <a:srgbClr val="1B5E20"/>
                </a:solidFill>
                <a:latin typeface="Arial"/>
              </a:rPr>
              <a:t>⚡  Năng lượng &amp; Điện lực</a:t>
            </a:r>
          </a:p>
        </p:txBody>
      </p:sp>
      <p:sp>
        <p:nvSpPr>
          <p:cNvPr id="26" name="Rectangle 25"/>
          <p:cNvSpPr/>
          <p:nvPr/>
        </p:nvSpPr>
        <p:spPr>
          <a:xfrm>
            <a:off x="4297679" y="2221991"/>
            <a:ext cx="3474720" cy="2743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7679" y="2295144"/>
            <a:ext cx="3474720" cy="1554480"/>
          </a:xfrm>
          <a:prstGeom prst="rect">
            <a:avLst/>
          </a:prstGeom>
          <a:noFill/>
        </p:spPr>
        <p:txBody>
          <a:bodyPr wrap="square">
            <a:spAutoFit/>
          </a:bodyPr>
          <a:lstStyle/>
          <a:p>
            <a:pPr algn="l"/>
            <a:r>
              <a:rPr sz="1100" b="0" i="0">
                <a:solidFill>
                  <a:srgbClr val="151515"/>
                </a:solidFill>
                <a:latin typeface="Arial"/>
              </a:rPr>
              <a:t>Dự báo tiêu thụ điện năng
Phát hiện rò rỉ điện/nước
Tối ưu lịch sạc pin lưu trữ</a:t>
            </a:r>
          </a:p>
        </p:txBody>
      </p:sp>
      <p:sp>
        <p:nvSpPr>
          <p:cNvPr id="28" name="Rectangle 27"/>
          <p:cNvSpPr/>
          <p:nvPr/>
        </p:nvSpPr>
        <p:spPr>
          <a:xfrm>
            <a:off x="8138160" y="1792224"/>
            <a:ext cx="3657600" cy="214884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38160" y="1792224"/>
            <a:ext cx="3657600" cy="2148840"/>
          </a:xfrm>
          <a:prstGeom prst="rect">
            <a:avLst/>
          </a:prstGeom>
          <a:noFill/>
          <a:ln w="19050">
            <a:solidFill>
              <a:srgbClr val="E65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0" y="1874519"/>
            <a:ext cx="3474720" cy="347472"/>
          </a:xfrm>
          <a:prstGeom prst="rect">
            <a:avLst/>
          </a:prstGeom>
          <a:noFill/>
        </p:spPr>
        <p:txBody>
          <a:bodyPr wrap="square">
            <a:spAutoFit/>
          </a:bodyPr>
          <a:lstStyle/>
          <a:p>
            <a:pPr algn="l"/>
            <a:r>
              <a:rPr sz="1200" b="1" i="0">
                <a:solidFill>
                  <a:srgbClr val="E65C00"/>
                </a:solidFill>
                <a:latin typeface="Arial"/>
              </a:rPr>
              <a:t>🏭  Sản xuất &amp; IoT</a:t>
            </a:r>
          </a:p>
        </p:txBody>
      </p:sp>
      <p:sp>
        <p:nvSpPr>
          <p:cNvPr id="31" name="Rectangle 30"/>
          <p:cNvSpPr/>
          <p:nvPr/>
        </p:nvSpPr>
        <p:spPr>
          <a:xfrm>
            <a:off x="8229600" y="2221991"/>
            <a:ext cx="3474720" cy="27432"/>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0" y="2295144"/>
            <a:ext cx="3474720" cy="1554480"/>
          </a:xfrm>
          <a:prstGeom prst="rect">
            <a:avLst/>
          </a:prstGeom>
          <a:noFill/>
        </p:spPr>
        <p:txBody>
          <a:bodyPr wrap="square">
            <a:spAutoFit/>
          </a:bodyPr>
          <a:lstStyle/>
          <a:p>
            <a:pPr algn="l"/>
            <a:r>
              <a:rPr sz="1100" b="0" i="0">
                <a:solidFill>
                  <a:srgbClr val="151515"/>
                </a:solidFill>
                <a:latin typeface="Arial"/>
              </a:rPr>
              <a:t>Phát hiện lỗi máy móc sớm
Dự đoán bảo trì thiết bị
Kiểm soát chất lượng sản phẩm</a:t>
            </a:r>
          </a:p>
        </p:txBody>
      </p:sp>
      <p:sp>
        <p:nvSpPr>
          <p:cNvPr id="33" name="Rectangle 32"/>
          <p:cNvSpPr/>
          <p:nvPr/>
        </p:nvSpPr>
        <p:spPr>
          <a:xfrm>
            <a:off x="274320" y="4096512"/>
            <a:ext cx="3657600" cy="214884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4320" y="4096512"/>
            <a:ext cx="3657600" cy="2148840"/>
          </a:xfrm>
          <a:prstGeom prst="rect">
            <a:avLst/>
          </a:prstGeom>
          <a:noFill/>
          <a:ln w="1905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 y="4178808"/>
            <a:ext cx="3474720" cy="347472"/>
          </a:xfrm>
          <a:prstGeom prst="rect">
            <a:avLst/>
          </a:prstGeom>
          <a:noFill/>
        </p:spPr>
        <p:txBody>
          <a:bodyPr wrap="square">
            <a:spAutoFit/>
          </a:bodyPr>
          <a:lstStyle/>
          <a:p>
            <a:pPr algn="l"/>
            <a:r>
              <a:rPr sz="1200" b="1" i="0">
                <a:solidFill>
                  <a:srgbClr val="B71C1C"/>
                </a:solidFill>
                <a:latin typeface="Arial"/>
              </a:rPr>
              <a:t>🌐  Mạng &amp; An ninh mạng</a:t>
            </a:r>
          </a:p>
        </p:txBody>
      </p:sp>
      <p:sp>
        <p:nvSpPr>
          <p:cNvPr id="36" name="Rectangle 35"/>
          <p:cNvSpPr/>
          <p:nvPr/>
        </p:nvSpPr>
        <p:spPr>
          <a:xfrm>
            <a:off x="365760" y="4526280"/>
            <a:ext cx="3474720" cy="27432"/>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4599432"/>
            <a:ext cx="3474720" cy="1554480"/>
          </a:xfrm>
          <a:prstGeom prst="rect">
            <a:avLst/>
          </a:prstGeom>
          <a:noFill/>
        </p:spPr>
        <p:txBody>
          <a:bodyPr wrap="square">
            <a:spAutoFit/>
          </a:bodyPr>
          <a:lstStyle/>
          <a:p>
            <a:pPr algn="l"/>
            <a:r>
              <a:rPr sz="1100" b="0" i="0">
                <a:solidFill>
                  <a:srgbClr val="151515"/>
                </a:solidFill>
                <a:latin typeface="Arial"/>
              </a:rPr>
              <a:t>Phát hiện xâm nhập bất thường
Phân loại lưu lượng mạng độc hại
Giám sát hệ thống thời gian thực</a:t>
            </a:r>
          </a:p>
        </p:txBody>
      </p:sp>
      <p:sp>
        <p:nvSpPr>
          <p:cNvPr id="38" name="Rectangle 37"/>
          <p:cNvSpPr/>
          <p:nvPr/>
        </p:nvSpPr>
        <p:spPr>
          <a:xfrm>
            <a:off x="4206240" y="4096512"/>
            <a:ext cx="3657600" cy="214884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206240" y="4096512"/>
            <a:ext cx="3657600" cy="2148840"/>
          </a:xfrm>
          <a:prstGeom prst="rect">
            <a:avLst/>
          </a:prstGeom>
          <a:noFill/>
          <a:ln w="1905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297679" y="4178808"/>
            <a:ext cx="3474720" cy="347472"/>
          </a:xfrm>
          <a:prstGeom prst="rect">
            <a:avLst/>
          </a:prstGeom>
          <a:noFill/>
        </p:spPr>
        <p:txBody>
          <a:bodyPr wrap="square">
            <a:spAutoFit/>
          </a:bodyPr>
          <a:lstStyle/>
          <a:p>
            <a:pPr algn="l"/>
            <a:r>
              <a:rPr sz="1200" b="1" i="0">
                <a:solidFill>
                  <a:srgbClr val="0D47A1"/>
                </a:solidFill>
                <a:latin typeface="Arial"/>
              </a:rPr>
              <a:t>🌦️  Khí tượng &amp; Môi trường</a:t>
            </a:r>
          </a:p>
        </p:txBody>
      </p:sp>
      <p:sp>
        <p:nvSpPr>
          <p:cNvPr id="41" name="Rectangle 40"/>
          <p:cNvSpPr/>
          <p:nvPr/>
        </p:nvSpPr>
        <p:spPr>
          <a:xfrm>
            <a:off x="4297679" y="4526280"/>
            <a:ext cx="3474720" cy="2743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97679" y="4599432"/>
            <a:ext cx="3474720" cy="1554480"/>
          </a:xfrm>
          <a:prstGeom prst="rect">
            <a:avLst/>
          </a:prstGeom>
          <a:noFill/>
        </p:spPr>
        <p:txBody>
          <a:bodyPr wrap="square">
            <a:spAutoFit/>
          </a:bodyPr>
          <a:lstStyle/>
          <a:p>
            <a:pPr algn="l"/>
            <a:r>
              <a:rPr sz="1100" b="0" i="0">
                <a:solidFill>
                  <a:srgbClr val="151515"/>
                </a:solidFill>
                <a:latin typeface="Arial"/>
              </a:rPr>
              <a:t>Dự báo lũ lụt, hạn hán
Phân tích chất lượng không khí
Dự báo năng lượng mặt trời</a:t>
            </a:r>
          </a:p>
        </p:txBody>
      </p:sp>
      <p:sp>
        <p:nvSpPr>
          <p:cNvPr id="43" name="Rectangle 42"/>
          <p:cNvSpPr/>
          <p:nvPr/>
        </p:nvSpPr>
        <p:spPr>
          <a:xfrm>
            <a:off x="8138160" y="4096512"/>
            <a:ext cx="3657600" cy="2148840"/>
          </a:xfrm>
          <a:prstGeom prst="rect">
            <a:avLst/>
          </a:prstGeom>
          <a:solidFill>
            <a:srgbClr val="F3E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138160" y="4096512"/>
            <a:ext cx="3657600" cy="2148840"/>
          </a:xfrm>
          <a:prstGeom prst="rect">
            <a:avLst/>
          </a:prstGeom>
          <a:noFill/>
          <a:ln w="1905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0" y="4178808"/>
            <a:ext cx="3474720" cy="347472"/>
          </a:xfrm>
          <a:prstGeom prst="rect">
            <a:avLst/>
          </a:prstGeom>
          <a:noFill/>
        </p:spPr>
        <p:txBody>
          <a:bodyPr wrap="square">
            <a:spAutoFit/>
          </a:bodyPr>
          <a:lstStyle/>
          <a:p>
            <a:pPr algn="l"/>
            <a:r>
              <a:rPr sz="1200" b="1" i="0">
                <a:solidFill>
                  <a:srgbClr val="6A1B9A"/>
                </a:solidFill>
                <a:latin typeface="Arial"/>
              </a:rPr>
              <a:t>📦  Chuỗi cung ứng &amp; Logistic</a:t>
            </a:r>
          </a:p>
        </p:txBody>
      </p:sp>
      <p:sp>
        <p:nvSpPr>
          <p:cNvPr id="46" name="Rectangle 45"/>
          <p:cNvSpPr/>
          <p:nvPr/>
        </p:nvSpPr>
        <p:spPr>
          <a:xfrm>
            <a:off x="8229600" y="4526280"/>
            <a:ext cx="3474720" cy="2743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600" y="4599432"/>
            <a:ext cx="3474720" cy="1554480"/>
          </a:xfrm>
          <a:prstGeom prst="rect">
            <a:avLst/>
          </a:prstGeom>
          <a:noFill/>
        </p:spPr>
        <p:txBody>
          <a:bodyPr wrap="square">
            <a:spAutoFit/>
          </a:bodyPr>
          <a:lstStyle/>
          <a:p>
            <a:pPr algn="l"/>
            <a:r>
              <a:rPr sz="1100" b="0" i="0">
                <a:solidFill>
                  <a:srgbClr val="151515"/>
                </a:solidFill>
                <a:latin typeface="Arial"/>
              </a:rPr>
              <a:t>Dự báo nhu cầu hàng hoá
Phát hiện gian lận giao dịch
Tối ưu lịch trình vận chuyển</a:t>
            </a:r>
          </a:p>
        </p:txBody>
      </p:sp>
      <p:sp>
        <p:nvSpPr>
          <p:cNvPr id="48" name="Rectangle 47"/>
          <p:cNvSpPr/>
          <p:nvPr/>
        </p:nvSpPr>
        <p:spPr>
          <a:xfrm>
            <a:off x="274320" y="6345936"/>
            <a:ext cx="11640312" cy="4572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5760" y="6373368"/>
            <a:ext cx="11457432" cy="393192"/>
          </a:xfrm>
          <a:prstGeom prst="rect">
            <a:avLst/>
          </a:prstGeom>
          <a:noFill/>
        </p:spPr>
        <p:txBody>
          <a:bodyPr wrap="square">
            <a:spAutoFit/>
          </a:bodyPr>
          <a:lstStyle/>
          <a:p>
            <a:pPr algn="l"/>
            <a:r>
              <a:rPr sz="1050" b="1" i="0">
                <a:solidFill>
                  <a:srgbClr val="FFFFFF"/>
                </a:solidFill>
                <a:latin typeface="Arial"/>
              </a:rPr>
              <a:t>📌  Điểm chung: Bất kỳ bài toán nào có DỮ LIỆU TUẦN TỰ THEO THỜI GIAN đều cần phương pháp chia dữ liệu nghiêm ngặt như Purged Walk-Forward. Đây là bài học cốt lõi của đề tài, áp dụng trực tiếp vào mọi lĩnh vực trên.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0233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5720"/>
            <a:ext cx="2437790" cy="310896"/>
          </a:xfrm>
          <a:prstGeom prst="rect">
            <a:avLst/>
          </a:prstGeom>
          <a:noFill/>
        </p:spPr>
        <p:txBody>
          <a:bodyPr wrap="square">
            <a:spAutoFit/>
          </a:bodyPr>
          <a:lstStyle/>
          <a:p>
            <a:pPr algn="ctr"/>
            <a:r>
              <a:rPr sz="850" b="0" i="0">
                <a:solidFill>
                  <a:srgbClr val="FFFFFF"/>
                </a:solidFill>
                <a:latin typeface="Arial"/>
              </a:rPr>
              <a:t>① Bối cảnh &amp; Mục tiêu</a:t>
            </a:r>
          </a:p>
        </p:txBody>
      </p:sp>
      <p:sp>
        <p:nvSpPr>
          <p:cNvPr id="4" name="Rectangle 3"/>
          <p:cNvSpPr/>
          <p:nvPr/>
        </p:nvSpPr>
        <p:spPr>
          <a:xfrm>
            <a:off x="2483510" y="27432"/>
            <a:ext cx="234635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437790" y="45720"/>
            <a:ext cx="2437790" cy="310896"/>
          </a:xfrm>
          <a:prstGeom prst="rect">
            <a:avLst/>
          </a:prstGeom>
          <a:noFill/>
        </p:spPr>
        <p:txBody>
          <a:bodyPr wrap="square">
            <a:spAutoFit/>
          </a:bodyPr>
          <a:lstStyle/>
          <a:p>
            <a:pPr algn="ctr"/>
            <a:r>
              <a:rPr sz="850" b="1" i="0">
                <a:solidFill>
                  <a:srgbClr val="1565C0"/>
                </a:solidFill>
                <a:latin typeface="Arial"/>
              </a:rPr>
              <a:t>② Dữ liệu &amp; Kiến trúc</a:t>
            </a:r>
          </a:p>
        </p:txBody>
      </p:sp>
      <p:sp>
        <p:nvSpPr>
          <p:cNvPr id="6" name="TextBox 5"/>
          <p:cNvSpPr txBox="1"/>
          <p:nvPr/>
        </p:nvSpPr>
        <p:spPr>
          <a:xfrm>
            <a:off x="4875580" y="45720"/>
            <a:ext cx="2437790" cy="310896"/>
          </a:xfrm>
          <a:prstGeom prst="rect">
            <a:avLst/>
          </a:prstGeom>
          <a:noFill/>
        </p:spPr>
        <p:txBody>
          <a:bodyPr wrap="square">
            <a:spAutoFit/>
          </a:bodyPr>
          <a:lstStyle/>
          <a:p>
            <a:pPr algn="ctr"/>
            <a:r>
              <a:rPr sz="850" b="0" i="0">
                <a:solidFill>
                  <a:srgbClr val="FFFFFF"/>
                </a:solidFill>
                <a:latin typeface="Arial"/>
              </a:rPr>
              <a:t>③ Phương pháp chia</a:t>
            </a:r>
          </a:p>
        </p:txBody>
      </p:sp>
      <p:sp>
        <p:nvSpPr>
          <p:cNvPr id="7" name="TextBox 6"/>
          <p:cNvSpPr txBox="1"/>
          <p:nvPr/>
        </p:nvSpPr>
        <p:spPr>
          <a:xfrm>
            <a:off x="7313371" y="45720"/>
            <a:ext cx="2437790" cy="310896"/>
          </a:xfrm>
          <a:prstGeom prst="rect">
            <a:avLst/>
          </a:prstGeom>
          <a:noFill/>
        </p:spPr>
        <p:txBody>
          <a:bodyPr wrap="square">
            <a:spAutoFit/>
          </a:bodyPr>
          <a:lstStyle/>
          <a:p>
            <a:pPr algn="ctr"/>
            <a:r>
              <a:rPr sz="850" b="0" i="0">
                <a:solidFill>
                  <a:srgbClr val="FFFFFF"/>
                </a:solidFill>
                <a:latin typeface="Arial"/>
              </a:rPr>
              <a:t>④ Kết quả</a:t>
            </a:r>
          </a:p>
        </p:txBody>
      </p:sp>
      <p:sp>
        <p:nvSpPr>
          <p:cNvPr id="8" name="TextBox 7"/>
          <p:cNvSpPr txBox="1"/>
          <p:nvPr/>
        </p:nvSpPr>
        <p:spPr>
          <a:xfrm>
            <a:off x="9751161" y="45720"/>
            <a:ext cx="2437790" cy="310896"/>
          </a:xfrm>
          <a:prstGeom prst="rect">
            <a:avLst/>
          </a:prstGeom>
          <a:noFill/>
        </p:spPr>
        <p:txBody>
          <a:bodyPr wrap="square">
            <a:spAutoFit/>
          </a:bodyPr>
          <a:lstStyle/>
          <a:p>
            <a:pPr algn="ctr"/>
            <a:r>
              <a:rPr sz="850" b="0" i="0">
                <a:solidFill>
                  <a:srgbClr val="FFFFFF"/>
                </a:solidFill>
                <a:latin typeface="Arial"/>
              </a:rPr>
              <a:t>⑤ Kết luận</a:t>
            </a:r>
          </a:p>
        </p:txBody>
      </p:sp>
      <p:sp>
        <p:nvSpPr>
          <p:cNvPr id="9" name="Rectangle 8"/>
          <p:cNvSpPr/>
          <p:nvPr/>
        </p:nvSpPr>
        <p:spPr>
          <a:xfrm>
            <a:off x="0" y="402336"/>
            <a:ext cx="121889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4592" y="54864"/>
            <a:ext cx="530352" cy="274320"/>
          </a:xfrm>
          <a:prstGeom prst="rect">
            <a:avLst/>
          </a:prstGeom>
          <a:noFill/>
        </p:spPr>
        <p:txBody>
          <a:bodyPr wrap="square">
            <a:spAutoFit/>
          </a:bodyPr>
          <a:lstStyle/>
          <a:p>
            <a:pPr algn="r"/>
            <a:r>
              <a:rPr sz="850" b="0" i="0">
                <a:solidFill>
                  <a:srgbClr val="FFFFFF"/>
                </a:solidFill>
                <a:latin typeface="Arial"/>
              </a:rPr>
              <a:t>4/18</a:t>
            </a:r>
          </a:p>
        </p:txBody>
      </p:sp>
      <p:sp>
        <p:nvSpPr>
          <p:cNvPr id="11" name="Rectangle 10"/>
          <p:cNvSpPr/>
          <p:nvPr/>
        </p:nvSpPr>
        <p:spPr>
          <a:xfrm>
            <a:off x="320040" y="530352"/>
            <a:ext cx="1154887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005840"/>
            <a:ext cx="1154887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48640"/>
            <a:ext cx="11274552" cy="438912"/>
          </a:xfrm>
          <a:prstGeom prst="rect">
            <a:avLst/>
          </a:prstGeom>
          <a:noFill/>
        </p:spPr>
        <p:txBody>
          <a:bodyPr wrap="square">
            <a:spAutoFit/>
          </a:bodyPr>
          <a:lstStyle/>
          <a:p>
            <a:pPr algn="l"/>
            <a:r>
              <a:rPr sz="1500" b="1" i="0">
                <a:solidFill>
                  <a:srgbClr val="151515"/>
                </a:solidFill>
                <a:latin typeface="Arial"/>
              </a:rPr>
              <a:t>Dữ liệu Đầu vào — Chuỗi Nến M15 BTCUSD &amp; Phân bố Nhãn</a:t>
            </a:r>
          </a:p>
        </p:txBody>
      </p:sp>
      <p:sp>
        <p:nvSpPr>
          <p:cNvPr id="14" name="TextBox 13"/>
          <p:cNvSpPr txBox="1"/>
          <p:nvPr/>
        </p:nvSpPr>
        <p:spPr>
          <a:xfrm>
            <a:off x="365760" y="1060704"/>
            <a:ext cx="11274552" cy="274320"/>
          </a:xfrm>
          <a:prstGeom prst="rect">
            <a:avLst/>
          </a:prstGeom>
          <a:noFill/>
        </p:spPr>
        <p:txBody>
          <a:bodyPr wrap="square">
            <a:spAutoFit/>
          </a:bodyPr>
          <a:lstStyle/>
          <a:p>
            <a:pPr algn="l"/>
            <a:r>
              <a:rPr sz="950" b="0" i="1">
                <a:solidFill>
                  <a:srgbClr val="555555"/>
                </a:solidFill>
                <a:latin typeface="Arial"/>
              </a:rPr>
              <a:t>199,968 nến M15 · 2018–2026 · Trích xuất thành 30,036 mẫu giao dịch có nhãn</a:t>
            </a:r>
          </a:p>
        </p:txBody>
      </p:sp>
      <p:pic>
        <p:nvPicPr>
          <p:cNvPr id="15" name="Picture 14" descr="00_btc_candlestick_sample.png"/>
          <p:cNvPicPr>
            <a:picLocks noChangeAspect="1"/>
          </p:cNvPicPr>
          <p:nvPr/>
        </p:nvPicPr>
        <p:blipFill>
          <a:blip r:embed="rId2"/>
          <a:stretch>
            <a:fillRect/>
          </a:stretch>
        </p:blipFill>
        <p:spPr>
          <a:xfrm>
            <a:off x="274320" y="1115568"/>
            <a:ext cx="7452360" cy="4041648"/>
          </a:xfrm>
          <a:prstGeom prst="rect">
            <a:avLst/>
          </a:prstGeom>
        </p:spPr>
      </p:pic>
      <p:sp>
        <p:nvSpPr>
          <p:cNvPr id="16" name="TextBox 15"/>
          <p:cNvSpPr txBox="1"/>
          <p:nvPr/>
        </p:nvSpPr>
        <p:spPr>
          <a:xfrm>
            <a:off x="7845552" y="1115568"/>
            <a:ext cx="4160520" cy="4041648"/>
          </a:xfrm>
          <a:prstGeom prst="rect">
            <a:avLst/>
          </a:prstGeom>
          <a:noFill/>
        </p:spPr>
        <p:txBody>
          <a:bodyPr wrap="square">
            <a:spAutoFit/>
          </a:bodyPr>
          <a:lstStyle/>
          <a:p>
            <a:pPr algn="l">
              <a:spcBef>
                <a:spcPts val="400"/>
              </a:spcBef>
            </a:pPr>
            <a:r>
              <a:rPr sz="1200" b="1">
                <a:solidFill>
                  <a:srgbClr val="1565C0"/>
                </a:solidFill>
                <a:latin typeface="Arial"/>
              </a:rPr>
              <a:t>📊  Bộ dữ liệu</a:t>
            </a:r>
          </a:p>
          <a:p>
            <a:pPr algn="l">
              <a:spcBef>
                <a:spcPts val="400"/>
              </a:spcBef>
            </a:pPr>
            <a:r>
              <a:rPr sz="1100" b="0">
                <a:solidFill>
                  <a:srgbClr val="151515"/>
                </a:solidFill>
                <a:latin typeface="Arial"/>
              </a:rPr>
              <a:t>199,968 nến M15  (2018–2026)</a:t>
            </a:r>
          </a:p>
          <a:p>
            <a:pPr algn="l">
              <a:spcBef>
                <a:spcPts val="400"/>
              </a:spcBef>
            </a:pPr>
            <a:r>
              <a:rPr sz="1100" b="0">
                <a:solidFill>
                  <a:srgbClr val="151515"/>
                </a:solidFill>
                <a:latin typeface="Arial"/>
              </a:rPr>
              <a:t>30,036 mẫu giao dịch</a:t>
            </a:r>
          </a:p>
          <a:p>
            <a:pPr algn="l">
              <a:spcBef>
                <a:spcPts val="400"/>
              </a:spcBef>
            </a:pPr>
            <a:r>
              <a:rPr sz="1100" b="0">
                <a:solidFill>
                  <a:srgbClr val="151515"/>
                </a:solidFill>
                <a:latin typeface="Arial"/>
              </a:rPr>
              <a:t>Train: 25,008  |  Holdout: 5,028</a:t>
            </a:r>
          </a:p>
          <a:p>
            <a:pPr algn="l">
              <a:spcBef>
                <a:spcPts val="400"/>
              </a:spcBef>
            </a:pPr>
            <a:r>
              <a:rPr sz="400" b="0">
                <a:solidFill>
                  <a:srgbClr val="151515"/>
                </a:solidFill>
                <a:latin typeface="Arial"/>
              </a:rPr>
              <a:t/>
            </a:r>
          </a:p>
          <a:p>
            <a:pPr algn="l">
              <a:spcBef>
                <a:spcPts val="400"/>
              </a:spcBef>
            </a:pPr>
            <a:r>
              <a:rPr sz="1200" b="1">
                <a:solidFill>
                  <a:srgbClr val="1565C0"/>
                </a:solidFill>
                <a:latin typeface="Arial"/>
              </a:rPr>
              <a:t>⚖️  Nhãn</a:t>
            </a:r>
          </a:p>
          <a:p>
            <a:pPr algn="l">
              <a:spcBef>
                <a:spcPts val="400"/>
              </a:spcBef>
            </a:pPr>
            <a:r>
              <a:rPr sz="1100" b="0">
                <a:solidFill>
                  <a:srgbClr val="B71C1C"/>
                </a:solidFill>
                <a:latin typeface="Arial"/>
              </a:rPr>
              <a:t>Thua / Hết giờ (0): 72–74%</a:t>
            </a:r>
          </a:p>
          <a:p>
            <a:pPr algn="l">
              <a:spcBef>
                <a:spcPts val="400"/>
              </a:spcBef>
            </a:pPr>
            <a:r>
              <a:rPr sz="1100" b="0">
                <a:solidFill>
                  <a:srgbClr val="1B5E20"/>
                </a:solidFill>
                <a:latin typeface="Arial"/>
              </a:rPr>
              <a:t>Thắng (1): 26–28%</a:t>
            </a:r>
          </a:p>
          <a:p>
            <a:pPr algn="l">
              <a:spcBef>
                <a:spcPts val="400"/>
              </a:spcBef>
            </a:pPr>
            <a:r>
              <a:rPr sz="1050" b="0">
                <a:solidFill>
                  <a:srgbClr val="151515"/>
                </a:solidFill>
                <a:latin typeface="Arial"/>
              </a:rPr>
              <a:t>Xử lý: auto_class_weights='Balanced'</a:t>
            </a:r>
          </a:p>
        </p:txBody>
      </p:sp>
      <p:pic>
        <p:nvPicPr>
          <p:cNvPr id="17" name="Picture 16" descr="01_class_distribution.png"/>
          <p:cNvPicPr>
            <a:picLocks noChangeAspect="1"/>
          </p:cNvPicPr>
          <p:nvPr/>
        </p:nvPicPr>
        <p:blipFill>
          <a:blip r:embed="rId3"/>
          <a:stretch>
            <a:fillRect/>
          </a:stretch>
        </p:blipFill>
        <p:spPr>
          <a:xfrm>
            <a:off x="274320" y="5248656"/>
            <a:ext cx="11640312" cy="157276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0233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5720"/>
            <a:ext cx="2437790" cy="310896"/>
          </a:xfrm>
          <a:prstGeom prst="rect">
            <a:avLst/>
          </a:prstGeom>
          <a:noFill/>
        </p:spPr>
        <p:txBody>
          <a:bodyPr wrap="square">
            <a:spAutoFit/>
          </a:bodyPr>
          <a:lstStyle/>
          <a:p>
            <a:pPr algn="ctr"/>
            <a:r>
              <a:rPr sz="850" b="0" i="0">
                <a:solidFill>
                  <a:srgbClr val="FFFFFF"/>
                </a:solidFill>
                <a:latin typeface="Arial"/>
              </a:rPr>
              <a:t>① Bối cảnh &amp; Mục tiêu</a:t>
            </a:r>
          </a:p>
        </p:txBody>
      </p:sp>
      <p:sp>
        <p:nvSpPr>
          <p:cNvPr id="4" name="Rectangle 3"/>
          <p:cNvSpPr/>
          <p:nvPr/>
        </p:nvSpPr>
        <p:spPr>
          <a:xfrm>
            <a:off x="2483510" y="27432"/>
            <a:ext cx="234635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437790" y="45720"/>
            <a:ext cx="2437790" cy="310896"/>
          </a:xfrm>
          <a:prstGeom prst="rect">
            <a:avLst/>
          </a:prstGeom>
          <a:noFill/>
        </p:spPr>
        <p:txBody>
          <a:bodyPr wrap="square">
            <a:spAutoFit/>
          </a:bodyPr>
          <a:lstStyle/>
          <a:p>
            <a:pPr algn="ctr"/>
            <a:r>
              <a:rPr sz="850" b="1" i="0">
                <a:solidFill>
                  <a:srgbClr val="1565C0"/>
                </a:solidFill>
                <a:latin typeface="Arial"/>
              </a:rPr>
              <a:t>② Dữ liệu &amp; Kiến trúc</a:t>
            </a:r>
          </a:p>
        </p:txBody>
      </p:sp>
      <p:sp>
        <p:nvSpPr>
          <p:cNvPr id="6" name="TextBox 5"/>
          <p:cNvSpPr txBox="1"/>
          <p:nvPr/>
        </p:nvSpPr>
        <p:spPr>
          <a:xfrm>
            <a:off x="4875580" y="45720"/>
            <a:ext cx="2437790" cy="310896"/>
          </a:xfrm>
          <a:prstGeom prst="rect">
            <a:avLst/>
          </a:prstGeom>
          <a:noFill/>
        </p:spPr>
        <p:txBody>
          <a:bodyPr wrap="square">
            <a:spAutoFit/>
          </a:bodyPr>
          <a:lstStyle/>
          <a:p>
            <a:pPr algn="ctr"/>
            <a:r>
              <a:rPr sz="850" b="0" i="0">
                <a:solidFill>
                  <a:srgbClr val="FFFFFF"/>
                </a:solidFill>
                <a:latin typeface="Arial"/>
              </a:rPr>
              <a:t>③ Phương pháp chia</a:t>
            </a:r>
          </a:p>
        </p:txBody>
      </p:sp>
      <p:sp>
        <p:nvSpPr>
          <p:cNvPr id="7" name="TextBox 6"/>
          <p:cNvSpPr txBox="1"/>
          <p:nvPr/>
        </p:nvSpPr>
        <p:spPr>
          <a:xfrm>
            <a:off x="7313371" y="45720"/>
            <a:ext cx="2437790" cy="310896"/>
          </a:xfrm>
          <a:prstGeom prst="rect">
            <a:avLst/>
          </a:prstGeom>
          <a:noFill/>
        </p:spPr>
        <p:txBody>
          <a:bodyPr wrap="square">
            <a:spAutoFit/>
          </a:bodyPr>
          <a:lstStyle/>
          <a:p>
            <a:pPr algn="ctr"/>
            <a:r>
              <a:rPr sz="850" b="0" i="0">
                <a:solidFill>
                  <a:srgbClr val="FFFFFF"/>
                </a:solidFill>
                <a:latin typeface="Arial"/>
              </a:rPr>
              <a:t>④ Kết quả</a:t>
            </a:r>
          </a:p>
        </p:txBody>
      </p:sp>
      <p:sp>
        <p:nvSpPr>
          <p:cNvPr id="8" name="TextBox 7"/>
          <p:cNvSpPr txBox="1"/>
          <p:nvPr/>
        </p:nvSpPr>
        <p:spPr>
          <a:xfrm>
            <a:off x="9751161" y="45720"/>
            <a:ext cx="2437790" cy="310896"/>
          </a:xfrm>
          <a:prstGeom prst="rect">
            <a:avLst/>
          </a:prstGeom>
          <a:noFill/>
        </p:spPr>
        <p:txBody>
          <a:bodyPr wrap="square">
            <a:spAutoFit/>
          </a:bodyPr>
          <a:lstStyle/>
          <a:p>
            <a:pPr algn="ctr"/>
            <a:r>
              <a:rPr sz="850" b="0" i="0">
                <a:solidFill>
                  <a:srgbClr val="FFFFFF"/>
                </a:solidFill>
                <a:latin typeface="Arial"/>
              </a:rPr>
              <a:t>⑤ Kết luận</a:t>
            </a:r>
          </a:p>
        </p:txBody>
      </p:sp>
      <p:sp>
        <p:nvSpPr>
          <p:cNvPr id="9" name="Rectangle 8"/>
          <p:cNvSpPr/>
          <p:nvPr/>
        </p:nvSpPr>
        <p:spPr>
          <a:xfrm>
            <a:off x="0" y="402336"/>
            <a:ext cx="121889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4592" y="54864"/>
            <a:ext cx="530352" cy="274320"/>
          </a:xfrm>
          <a:prstGeom prst="rect">
            <a:avLst/>
          </a:prstGeom>
          <a:noFill/>
        </p:spPr>
        <p:txBody>
          <a:bodyPr wrap="square">
            <a:spAutoFit/>
          </a:bodyPr>
          <a:lstStyle/>
          <a:p>
            <a:pPr algn="r"/>
            <a:r>
              <a:rPr sz="850" b="0" i="0">
                <a:solidFill>
                  <a:srgbClr val="FFFFFF"/>
                </a:solidFill>
                <a:latin typeface="Arial"/>
              </a:rPr>
              <a:t>5/18</a:t>
            </a:r>
          </a:p>
        </p:txBody>
      </p:sp>
      <p:sp>
        <p:nvSpPr>
          <p:cNvPr id="11" name="Rectangle 10"/>
          <p:cNvSpPr/>
          <p:nvPr/>
        </p:nvSpPr>
        <p:spPr>
          <a:xfrm>
            <a:off x="320040" y="530352"/>
            <a:ext cx="1154887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005840"/>
            <a:ext cx="1154887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48640"/>
            <a:ext cx="11274552" cy="438912"/>
          </a:xfrm>
          <a:prstGeom prst="rect">
            <a:avLst/>
          </a:prstGeom>
          <a:noFill/>
        </p:spPr>
        <p:txBody>
          <a:bodyPr wrap="square">
            <a:spAutoFit/>
          </a:bodyPr>
          <a:lstStyle/>
          <a:p>
            <a:pPr algn="l"/>
            <a:r>
              <a:rPr sz="1500" b="1" i="0">
                <a:solidFill>
                  <a:srgbClr val="151515"/>
                </a:solidFill>
                <a:latin typeface="Arial"/>
              </a:rPr>
              <a:t>Kiến trúc Hệ thống 2 Tầng — Meta-Labeling</a:t>
            </a:r>
          </a:p>
        </p:txBody>
      </p:sp>
      <p:sp>
        <p:nvSpPr>
          <p:cNvPr id="14" name="TextBox 13"/>
          <p:cNvSpPr txBox="1"/>
          <p:nvPr/>
        </p:nvSpPr>
        <p:spPr>
          <a:xfrm>
            <a:off x="365760" y="1060704"/>
            <a:ext cx="11274552" cy="274320"/>
          </a:xfrm>
          <a:prstGeom prst="rect">
            <a:avLst/>
          </a:prstGeom>
          <a:noFill/>
        </p:spPr>
        <p:txBody>
          <a:bodyPr wrap="square">
            <a:spAutoFit/>
          </a:bodyPr>
          <a:lstStyle/>
          <a:p>
            <a:pPr algn="l"/>
            <a:r>
              <a:rPr sz="950" b="0" i="1">
                <a:solidFill>
                  <a:srgbClr val="555555"/>
                </a:solidFill>
                <a:latin typeface="Arial"/>
              </a:rPr>
              <a:t>Tầng 1 phát tín hiệu → Tầng 2 AI thẩm định → Chỉ vào lệnh khi xác suất thắng ≥ 50%</a:t>
            </a:r>
          </a:p>
        </p:txBody>
      </p:sp>
      <p:sp>
        <p:nvSpPr>
          <p:cNvPr id="15" name="Rectangle 14"/>
          <p:cNvSpPr/>
          <p:nvPr/>
        </p:nvSpPr>
        <p:spPr>
          <a:xfrm>
            <a:off x="489204" y="1417320"/>
            <a:ext cx="2514600" cy="155448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89204" y="1417320"/>
            <a:ext cx="2514600" cy="1554480"/>
          </a:xfrm>
          <a:prstGeom prst="rect">
            <a:avLst/>
          </a:prstGeom>
          <a:noFill/>
          <a:ln w="254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2356" y="1463040"/>
            <a:ext cx="2368296" cy="868680"/>
          </a:xfrm>
          <a:prstGeom prst="rect">
            <a:avLst/>
          </a:prstGeom>
          <a:noFill/>
        </p:spPr>
        <p:txBody>
          <a:bodyPr wrap="square">
            <a:spAutoFit/>
          </a:bodyPr>
          <a:lstStyle/>
          <a:p>
            <a:pPr algn="ctr"/>
            <a:r>
              <a:rPr sz="1100" b="1" i="0">
                <a:solidFill>
                  <a:srgbClr val="1565C0"/>
                </a:solidFill>
                <a:latin typeface="Arial"/>
              </a:rPr>
              <a:t>📊
Dữ liệu
M15</a:t>
            </a:r>
          </a:p>
        </p:txBody>
      </p:sp>
      <p:sp>
        <p:nvSpPr>
          <p:cNvPr id="18" name="TextBox 17"/>
          <p:cNvSpPr txBox="1"/>
          <p:nvPr/>
        </p:nvSpPr>
        <p:spPr>
          <a:xfrm>
            <a:off x="562356" y="2304288"/>
            <a:ext cx="2368296" cy="566928"/>
          </a:xfrm>
          <a:prstGeom prst="rect">
            <a:avLst/>
          </a:prstGeom>
          <a:noFill/>
        </p:spPr>
        <p:txBody>
          <a:bodyPr wrap="square">
            <a:spAutoFit/>
          </a:bodyPr>
          <a:lstStyle/>
          <a:p>
            <a:pPr algn="ctr"/>
            <a:r>
              <a:rPr sz="1000" b="0" i="0">
                <a:solidFill>
                  <a:srgbClr val="151515"/>
                </a:solidFill>
                <a:latin typeface="Arial"/>
              </a:rPr>
              <a:t>199,968 nến
2018–2026</a:t>
            </a:r>
          </a:p>
        </p:txBody>
      </p:sp>
      <p:sp>
        <p:nvSpPr>
          <p:cNvPr id="19" name="TextBox 18"/>
          <p:cNvSpPr txBox="1"/>
          <p:nvPr/>
        </p:nvSpPr>
        <p:spPr>
          <a:xfrm>
            <a:off x="3031236" y="1755648"/>
            <a:ext cx="338328" cy="475488"/>
          </a:xfrm>
          <a:prstGeom prst="rect">
            <a:avLst/>
          </a:prstGeom>
          <a:noFill/>
        </p:spPr>
        <p:txBody>
          <a:bodyPr wrap="square">
            <a:spAutoFit/>
          </a:bodyPr>
          <a:lstStyle/>
          <a:p>
            <a:pPr algn="ctr"/>
            <a:r>
              <a:rPr sz="2200" b="1" i="0">
                <a:solidFill>
                  <a:srgbClr val="1565C0"/>
                </a:solidFill>
                <a:latin typeface="Arial"/>
              </a:rPr>
              <a:t>→</a:t>
            </a:r>
          </a:p>
        </p:txBody>
      </p:sp>
      <p:sp>
        <p:nvSpPr>
          <p:cNvPr id="20" name="Rectangle 19"/>
          <p:cNvSpPr/>
          <p:nvPr/>
        </p:nvSpPr>
        <p:spPr>
          <a:xfrm>
            <a:off x="3387852" y="1417320"/>
            <a:ext cx="2514600" cy="155448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87852" y="1417320"/>
            <a:ext cx="2514600" cy="1554480"/>
          </a:xfrm>
          <a:prstGeom prst="rect">
            <a:avLst/>
          </a:prstGeom>
          <a:noFill/>
          <a:ln w="2540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61004" y="1463040"/>
            <a:ext cx="2368296" cy="868680"/>
          </a:xfrm>
          <a:prstGeom prst="rect">
            <a:avLst/>
          </a:prstGeom>
          <a:noFill/>
        </p:spPr>
        <p:txBody>
          <a:bodyPr wrap="square">
            <a:spAutoFit/>
          </a:bodyPr>
          <a:lstStyle/>
          <a:p>
            <a:pPr algn="ctr"/>
            <a:r>
              <a:rPr sz="1100" b="1" i="0">
                <a:solidFill>
                  <a:srgbClr val="1B5E20"/>
                </a:solidFill>
                <a:latin typeface="Arial"/>
              </a:rPr>
              <a:t>📐
Tầng 1
Chiến lược
Pyramid</a:t>
            </a:r>
          </a:p>
        </p:txBody>
      </p:sp>
      <p:sp>
        <p:nvSpPr>
          <p:cNvPr id="23" name="TextBox 22"/>
          <p:cNvSpPr txBox="1"/>
          <p:nvPr/>
        </p:nvSpPr>
        <p:spPr>
          <a:xfrm>
            <a:off x="3461004" y="2304288"/>
            <a:ext cx="2368296" cy="566928"/>
          </a:xfrm>
          <a:prstGeom prst="rect">
            <a:avLst/>
          </a:prstGeom>
          <a:noFill/>
        </p:spPr>
        <p:txBody>
          <a:bodyPr wrap="square">
            <a:spAutoFit/>
          </a:bodyPr>
          <a:lstStyle/>
          <a:p>
            <a:pPr algn="ctr"/>
            <a:r>
              <a:rPr sz="1000" b="0" i="0">
                <a:solidFill>
                  <a:srgbClr val="151515"/>
                </a:solidFill>
                <a:latin typeface="Arial"/>
              </a:rPr>
              <a:t>Phát tín hiệu
Mua / Bán</a:t>
            </a:r>
          </a:p>
        </p:txBody>
      </p:sp>
      <p:sp>
        <p:nvSpPr>
          <p:cNvPr id="24" name="TextBox 23"/>
          <p:cNvSpPr txBox="1"/>
          <p:nvPr/>
        </p:nvSpPr>
        <p:spPr>
          <a:xfrm>
            <a:off x="5929884" y="1755648"/>
            <a:ext cx="338328" cy="475488"/>
          </a:xfrm>
          <a:prstGeom prst="rect">
            <a:avLst/>
          </a:prstGeom>
          <a:noFill/>
        </p:spPr>
        <p:txBody>
          <a:bodyPr wrap="square">
            <a:spAutoFit/>
          </a:bodyPr>
          <a:lstStyle/>
          <a:p>
            <a:pPr algn="ctr"/>
            <a:r>
              <a:rPr sz="2200" b="1" i="0">
                <a:solidFill>
                  <a:srgbClr val="1565C0"/>
                </a:solidFill>
                <a:latin typeface="Arial"/>
              </a:rPr>
              <a:t>→</a:t>
            </a:r>
          </a:p>
        </p:txBody>
      </p:sp>
      <p:sp>
        <p:nvSpPr>
          <p:cNvPr id="25" name="Rectangle 24"/>
          <p:cNvSpPr/>
          <p:nvPr/>
        </p:nvSpPr>
        <p:spPr>
          <a:xfrm>
            <a:off x="6286500" y="1417320"/>
            <a:ext cx="2514600" cy="155448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86500" y="1417320"/>
            <a:ext cx="2514600" cy="1554480"/>
          </a:xfrm>
          <a:prstGeom prst="rect">
            <a:avLst/>
          </a:prstGeom>
          <a:noFill/>
          <a:ln w="2540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9652" y="1463040"/>
            <a:ext cx="2368296" cy="868680"/>
          </a:xfrm>
          <a:prstGeom prst="rect">
            <a:avLst/>
          </a:prstGeom>
          <a:noFill/>
        </p:spPr>
        <p:txBody>
          <a:bodyPr wrap="square">
            <a:spAutoFit/>
          </a:bodyPr>
          <a:lstStyle/>
          <a:p>
            <a:pPr algn="ctr"/>
            <a:r>
              <a:rPr sz="1100" b="1" i="0">
                <a:solidFill>
                  <a:srgbClr val="0D47A1"/>
                </a:solidFill>
                <a:latin typeface="Arial"/>
              </a:rPr>
              <a:t>🤖
Tầng 2
CatBoost
Meta-Labeling</a:t>
            </a:r>
          </a:p>
        </p:txBody>
      </p:sp>
      <p:sp>
        <p:nvSpPr>
          <p:cNvPr id="28" name="TextBox 27"/>
          <p:cNvSpPr txBox="1"/>
          <p:nvPr/>
        </p:nvSpPr>
        <p:spPr>
          <a:xfrm>
            <a:off x="6359652" y="2304288"/>
            <a:ext cx="2368296" cy="566928"/>
          </a:xfrm>
          <a:prstGeom prst="rect">
            <a:avLst/>
          </a:prstGeom>
          <a:noFill/>
        </p:spPr>
        <p:txBody>
          <a:bodyPr wrap="square">
            <a:spAutoFit/>
          </a:bodyPr>
          <a:lstStyle/>
          <a:p>
            <a:pPr algn="ctr"/>
            <a:r>
              <a:rPr sz="1000" b="0" i="0">
                <a:solidFill>
                  <a:srgbClr val="151515"/>
                </a:solidFill>
                <a:latin typeface="Arial"/>
              </a:rPr>
              <a:t>Xác suất thắng
p̂ = 0–100%</a:t>
            </a:r>
          </a:p>
        </p:txBody>
      </p:sp>
      <p:sp>
        <p:nvSpPr>
          <p:cNvPr id="29" name="TextBox 28"/>
          <p:cNvSpPr txBox="1"/>
          <p:nvPr/>
        </p:nvSpPr>
        <p:spPr>
          <a:xfrm>
            <a:off x="8828532" y="1755648"/>
            <a:ext cx="338328" cy="475488"/>
          </a:xfrm>
          <a:prstGeom prst="rect">
            <a:avLst/>
          </a:prstGeom>
          <a:noFill/>
        </p:spPr>
        <p:txBody>
          <a:bodyPr wrap="square">
            <a:spAutoFit/>
          </a:bodyPr>
          <a:lstStyle/>
          <a:p>
            <a:pPr algn="ctr"/>
            <a:r>
              <a:rPr sz="2200" b="1" i="0">
                <a:solidFill>
                  <a:srgbClr val="1565C0"/>
                </a:solidFill>
                <a:latin typeface="Arial"/>
              </a:rPr>
              <a:t>→</a:t>
            </a:r>
          </a:p>
        </p:txBody>
      </p:sp>
      <p:sp>
        <p:nvSpPr>
          <p:cNvPr id="30" name="Rectangle 29"/>
          <p:cNvSpPr/>
          <p:nvPr/>
        </p:nvSpPr>
        <p:spPr>
          <a:xfrm>
            <a:off x="9185148" y="1417320"/>
            <a:ext cx="2514600" cy="155448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185148" y="1417320"/>
            <a:ext cx="2514600" cy="1554480"/>
          </a:xfrm>
          <a:prstGeom prst="rect">
            <a:avLst/>
          </a:prstGeom>
          <a:noFill/>
          <a:ln w="2540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58300" y="1463040"/>
            <a:ext cx="2368296" cy="868680"/>
          </a:xfrm>
          <a:prstGeom prst="rect">
            <a:avLst/>
          </a:prstGeom>
          <a:noFill/>
        </p:spPr>
        <p:txBody>
          <a:bodyPr wrap="square">
            <a:spAutoFit/>
          </a:bodyPr>
          <a:lstStyle/>
          <a:p>
            <a:pPr algn="ctr"/>
            <a:r>
              <a:rPr sz="1100" b="1" i="0">
                <a:solidFill>
                  <a:srgbClr val="1B5E20"/>
                </a:solidFill>
                <a:latin typeface="Arial"/>
              </a:rPr>
              <a:t>✅  p̂≥50%
VÀO LỆNH
❌  p̂&lt;50%
BỎ QUA</a:t>
            </a:r>
          </a:p>
        </p:txBody>
      </p:sp>
      <p:sp>
        <p:nvSpPr>
          <p:cNvPr id="33" name="TextBox 32"/>
          <p:cNvSpPr txBox="1"/>
          <p:nvPr/>
        </p:nvSpPr>
        <p:spPr>
          <a:xfrm>
            <a:off x="9258300" y="2304288"/>
            <a:ext cx="2368296" cy="566928"/>
          </a:xfrm>
          <a:prstGeom prst="rect">
            <a:avLst/>
          </a:prstGeom>
          <a:noFill/>
        </p:spPr>
        <p:txBody>
          <a:bodyPr wrap="square">
            <a:spAutoFit/>
          </a:bodyPr>
          <a:lstStyle/>
          <a:p>
            <a:pPr algn="ctr"/>
            <a:r>
              <a:rPr sz="1000" b="0" i="0">
                <a:solidFill>
                  <a:srgbClr val="151515"/>
                </a:solidFill>
                <a:latin typeface="Arial"/>
              </a:rPr>
              <a:t>Lọc ~50%
lệnh xấu</a:t>
            </a:r>
          </a:p>
        </p:txBody>
      </p:sp>
      <p:sp>
        <p:nvSpPr>
          <p:cNvPr id="34" name="Rectangle 33"/>
          <p:cNvSpPr/>
          <p:nvPr/>
        </p:nvSpPr>
        <p:spPr>
          <a:xfrm>
            <a:off x="274320" y="3108960"/>
            <a:ext cx="11640312" cy="3657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74320" y="3200400"/>
            <a:ext cx="5486400" cy="2633472"/>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 y="3200400"/>
            <a:ext cx="5486400" cy="2633472"/>
          </a:xfrm>
          <a:prstGeom prst="rect">
            <a:avLst/>
          </a:prstGeom>
          <a:noFill/>
          <a:ln w="1905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3282696"/>
            <a:ext cx="5303520" cy="365760"/>
          </a:xfrm>
          <a:prstGeom prst="rect">
            <a:avLst/>
          </a:prstGeom>
          <a:noFill/>
        </p:spPr>
        <p:txBody>
          <a:bodyPr wrap="square">
            <a:spAutoFit/>
          </a:bodyPr>
          <a:lstStyle/>
          <a:p>
            <a:pPr algn="l"/>
            <a:r>
              <a:rPr sz="1150" b="1" i="0">
                <a:solidFill>
                  <a:srgbClr val="B71C1C"/>
                </a:solidFill>
                <a:latin typeface="Arial"/>
              </a:rPr>
              <a:t>❌  TRƯỚC — Không lọc ML</a:t>
            </a:r>
          </a:p>
        </p:txBody>
      </p:sp>
      <p:sp>
        <p:nvSpPr>
          <p:cNvPr id="38" name="Rectangle 37"/>
          <p:cNvSpPr/>
          <p:nvPr/>
        </p:nvSpPr>
        <p:spPr>
          <a:xfrm>
            <a:off x="365760" y="3648456"/>
            <a:ext cx="5303520" cy="27432"/>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3721608"/>
            <a:ext cx="5303520" cy="2039112"/>
          </a:xfrm>
          <a:prstGeom prst="rect">
            <a:avLst/>
          </a:prstGeom>
          <a:noFill/>
        </p:spPr>
        <p:txBody>
          <a:bodyPr wrap="square">
            <a:spAutoFit/>
          </a:bodyPr>
          <a:lstStyle/>
          <a:p>
            <a:pPr algn="l">
              <a:spcBef>
                <a:spcPts val="300"/>
              </a:spcBef>
            </a:pPr>
            <a:r>
              <a:rPr sz="1100" b="0">
                <a:solidFill>
                  <a:srgbClr val="151515"/>
                </a:solidFill>
                <a:latin typeface="Arial"/>
              </a:rPr>
              <a:t>Tất cả tín hiệu đều vào lệnh.</a:t>
            </a:r>
          </a:p>
          <a:p>
            <a:pPr algn="l">
              <a:spcBef>
                <a:spcPts val="300"/>
              </a:spcBef>
            </a:pPr>
            <a:r>
              <a:rPr sz="1100" b="0">
                <a:solidFill>
                  <a:srgbClr val="151515"/>
                </a:solidFill>
                <a:latin typeface="Arial"/>
              </a:rPr>
              <a:t>Win Rate: 31.71%</a:t>
            </a:r>
          </a:p>
          <a:p>
            <a:pPr algn="l">
              <a:spcBef>
                <a:spcPts val="300"/>
              </a:spcBef>
            </a:pPr>
            <a:r>
              <a:rPr sz="1100" b="0">
                <a:solidFill>
                  <a:srgbClr val="151515"/>
                </a:solidFill>
                <a:latin typeface="Arial"/>
              </a:rPr>
              <a:t>Max Drawdown: 236 R</a:t>
            </a:r>
          </a:p>
          <a:p>
            <a:pPr algn="l">
              <a:spcBef>
                <a:spcPts val="300"/>
              </a:spcBef>
            </a:pPr>
            <a:r>
              <a:rPr sz="1100" b="0">
                <a:solidFill>
                  <a:srgbClr val="151515"/>
                </a:solidFill>
                <a:latin typeface="Arial"/>
              </a:rPr>
              <a:t>Profit Factor: 1.29</a:t>
            </a:r>
          </a:p>
          <a:p>
            <a:pPr algn="l">
              <a:spcBef>
                <a:spcPts val="300"/>
              </a:spcBef>
            </a:pPr>
            <a:r>
              <a:rPr sz="1100" b="0">
                <a:solidFill>
                  <a:srgbClr val="151515"/>
                </a:solidFill>
                <a:latin typeface="Arial"/>
              </a:rPr>
              <a:t>→ Nhiều lệnh nhiễu, rủi ro cao.</a:t>
            </a:r>
          </a:p>
        </p:txBody>
      </p:sp>
      <p:sp>
        <p:nvSpPr>
          <p:cNvPr id="40" name="Rectangle 39"/>
          <p:cNvSpPr/>
          <p:nvPr/>
        </p:nvSpPr>
        <p:spPr>
          <a:xfrm>
            <a:off x="6080760" y="3200400"/>
            <a:ext cx="5971032" cy="2633472"/>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080760" y="3200400"/>
            <a:ext cx="5971032" cy="2633472"/>
          </a:xfrm>
          <a:prstGeom prst="rect">
            <a:avLst/>
          </a:prstGeom>
          <a:noFill/>
          <a:ln w="1905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72200" y="3282696"/>
            <a:ext cx="5788152" cy="365760"/>
          </a:xfrm>
          <a:prstGeom prst="rect">
            <a:avLst/>
          </a:prstGeom>
          <a:noFill/>
        </p:spPr>
        <p:txBody>
          <a:bodyPr wrap="square">
            <a:spAutoFit/>
          </a:bodyPr>
          <a:lstStyle/>
          <a:p>
            <a:pPr algn="l"/>
            <a:r>
              <a:rPr sz="1150" b="1" i="0">
                <a:solidFill>
                  <a:srgbClr val="1B5E20"/>
                </a:solidFill>
                <a:latin typeface="Arial"/>
              </a:rPr>
              <a:t>✅  SAU — Có lọc CatBoost (Top 50%)</a:t>
            </a:r>
          </a:p>
        </p:txBody>
      </p:sp>
      <p:sp>
        <p:nvSpPr>
          <p:cNvPr id="43" name="Rectangle 42"/>
          <p:cNvSpPr/>
          <p:nvPr/>
        </p:nvSpPr>
        <p:spPr>
          <a:xfrm>
            <a:off x="6172200" y="3648456"/>
            <a:ext cx="5788152" cy="2743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72200" y="3721608"/>
            <a:ext cx="5788152" cy="2039112"/>
          </a:xfrm>
          <a:prstGeom prst="rect">
            <a:avLst/>
          </a:prstGeom>
          <a:noFill/>
        </p:spPr>
        <p:txBody>
          <a:bodyPr wrap="square">
            <a:spAutoFit/>
          </a:bodyPr>
          <a:lstStyle/>
          <a:p>
            <a:pPr algn="l">
              <a:spcBef>
                <a:spcPts val="300"/>
              </a:spcBef>
            </a:pPr>
            <a:r>
              <a:rPr sz="1100" b="0">
                <a:solidFill>
                  <a:srgbClr val="151515"/>
                </a:solidFill>
                <a:latin typeface="Arial"/>
              </a:rPr>
              <a:t>Chỉ lệnh AI xác nhận mới được thực thi.</a:t>
            </a:r>
          </a:p>
          <a:p>
            <a:pPr algn="l">
              <a:spcBef>
                <a:spcPts val="300"/>
              </a:spcBef>
            </a:pPr>
            <a:r>
              <a:rPr sz="1100" b="0">
                <a:solidFill>
                  <a:srgbClr val="151515"/>
                </a:solidFill>
                <a:latin typeface="Arial"/>
              </a:rPr>
              <a:t>Win Rate: 34.99%  (+3.28%)</a:t>
            </a:r>
          </a:p>
          <a:p>
            <a:pPr algn="l">
              <a:spcBef>
                <a:spcPts val="300"/>
              </a:spcBef>
            </a:pPr>
            <a:r>
              <a:rPr sz="1100" b="0">
                <a:solidFill>
                  <a:srgbClr val="151515"/>
                </a:solidFill>
                <a:latin typeface="Arial"/>
              </a:rPr>
              <a:t>Max Drawdown: 142 R  (−40% ✅)</a:t>
            </a:r>
          </a:p>
          <a:p>
            <a:pPr algn="l">
              <a:spcBef>
                <a:spcPts val="300"/>
              </a:spcBef>
            </a:pPr>
            <a:r>
              <a:rPr sz="1100" b="0">
                <a:solidFill>
                  <a:srgbClr val="151515"/>
                </a:solidFill>
                <a:latin typeface="Arial"/>
              </a:rPr>
              <a:t>Profit Factor: 1.40  (+8.5%)</a:t>
            </a:r>
          </a:p>
          <a:p>
            <a:pPr algn="l">
              <a:spcBef>
                <a:spcPts val="300"/>
              </a:spcBef>
            </a:pPr>
            <a:r>
              <a:rPr sz="1100" b="0">
                <a:solidFill>
                  <a:srgbClr val="151515"/>
                </a:solidFill>
                <a:latin typeface="Arial"/>
              </a:rPr>
              <a:t>→ Ít lệnh hơn, an toàn hơn, hiệu quả hơn.</a:t>
            </a:r>
          </a:p>
        </p:txBody>
      </p:sp>
      <p:sp>
        <p:nvSpPr>
          <p:cNvPr id="45" name="Rectangle 44"/>
          <p:cNvSpPr/>
          <p:nvPr/>
        </p:nvSpPr>
        <p:spPr>
          <a:xfrm>
            <a:off x="274320" y="5925312"/>
            <a:ext cx="11640312" cy="420624"/>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5760" y="5952744"/>
            <a:ext cx="11457432" cy="365760"/>
          </a:xfrm>
          <a:prstGeom prst="rect">
            <a:avLst/>
          </a:prstGeom>
          <a:noFill/>
        </p:spPr>
        <p:txBody>
          <a:bodyPr wrap="square">
            <a:spAutoFit/>
          </a:bodyPr>
          <a:lstStyle/>
          <a:p>
            <a:pPr algn="l"/>
            <a:r>
              <a:rPr sz="1050" b="1" i="0">
                <a:solidFill>
                  <a:srgbClr val="FFFFFF"/>
                </a:solidFill>
                <a:latin typeface="Arial"/>
              </a:rPr>
              <a:t>📌  Nguyên lý Meta-Labeling (GS. Marcos López de Prado, 2018): Thêm một lớp AI thứ 2 để thẩm định chất lượng tín hiệu. Áp dụng được cho bất kỳ bài toán phân loại nhị phân nào.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0233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5720"/>
            <a:ext cx="2437790" cy="310896"/>
          </a:xfrm>
          <a:prstGeom prst="rect">
            <a:avLst/>
          </a:prstGeom>
          <a:noFill/>
        </p:spPr>
        <p:txBody>
          <a:bodyPr wrap="square">
            <a:spAutoFit/>
          </a:bodyPr>
          <a:lstStyle/>
          <a:p>
            <a:pPr algn="ctr"/>
            <a:r>
              <a:rPr sz="850" b="0" i="0">
                <a:solidFill>
                  <a:srgbClr val="FFFFFF"/>
                </a:solidFill>
                <a:latin typeface="Arial"/>
              </a:rPr>
              <a:t>① Bối cảnh &amp; Mục tiêu</a:t>
            </a:r>
          </a:p>
        </p:txBody>
      </p:sp>
      <p:sp>
        <p:nvSpPr>
          <p:cNvPr id="4" name="Rectangle 3"/>
          <p:cNvSpPr/>
          <p:nvPr/>
        </p:nvSpPr>
        <p:spPr>
          <a:xfrm>
            <a:off x="2483510" y="27432"/>
            <a:ext cx="234635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437790" y="45720"/>
            <a:ext cx="2437790" cy="310896"/>
          </a:xfrm>
          <a:prstGeom prst="rect">
            <a:avLst/>
          </a:prstGeom>
          <a:noFill/>
        </p:spPr>
        <p:txBody>
          <a:bodyPr wrap="square">
            <a:spAutoFit/>
          </a:bodyPr>
          <a:lstStyle/>
          <a:p>
            <a:pPr algn="ctr"/>
            <a:r>
              <a:rPr sz="850" b="1" i="0">
                <a:solidFill>
                  <a:srgbClr val="1565C0"/>
                </a:solidFill>
                <a:latin typeface="Arial"/>
              </a:rPr>
              <a:t>② Dữ liệu &amp; Kiến trúc</a:t>
            </a:r>
          </a:p>
        </p:txBody>
      </p:sp>
      <p:sp>
        <p:nvSpPr>
          <p:cNvPr id="6" name="TextBox 5"/>
          <p:cNvSpPr txBox="1"/>
          <p:nvPr/>
        </p:nvSpPr>
        <p:spPr>
          <a:xfrm>
            <a:off x="4875580" y="45720"/>
            <a:ext cx="2437790" cy="310896"/>
          </a:xfrm>
          <a:prstGeom prst="rect">
            <a:avLst/>
          </a:prstGeom>
          <a:noFill/>
        </p:spPr>
        <p:txBody>
          <a:bodyPr wrap="square">
            <a:spAutoFit/>
          </a:bodyPr>
          <a:lstStyle/>
          <a:p>
            <a:pPr algn="ctr"/>
            <a:r>
              <a:rPr sz="850" b="0" i="0">
                <a:solidFill>
                  <a:srgbClr val="FFFFFF"/>
                </a:solidFill>
                <a:latin typeface="Arial"/>
              </a:rPr>
              <a:t>③ Phương pháp chia</a:t>
            </a:r>
          </a:p>
        </p:txBody>
      </p:sp>
      <p:sp>
        <p:nvSpPr>
          <p:cNvPr id="7" name="TextBox 6"/>
          <p:cNvSpPr txBox="1"/>
          <p:nvPr/>
        </p:nvSpPr>
        <p:spPr>
          <a:xfrm>
            <a:off x="7313371" y="45720"/>
            <a:ext cx="2437790" cy="310896"/>
          </a:xfrm>
          <a:prstGeom prst="rect">
            <a:avLst/>
          </a:prstGeom>
          <a:noFill/>
        </p:spPr>
        <p:txBody>
          <a:bodyPr wrap="square">
            <a:spAutoFit/>
          </a:bodyPr>
          <a:lstStyle/>
          <a:p>
            <a:pPr algn="ctr"/>
            <a:r>
              <a:rPr sz="850" b="0" i="0">
                <a:solidFill>
                  <a:srgbClr val="FFFFFF"/>
                </a:solidFill>
                <a:latin typeface="Arial"/>
              </a:rPr>
              <a:t>④ Kết quả</a:t>
            </a:r>
          </a:p>
        </p:txBody>
      </p:sp>
      <p:sp>
        <p:nvSpPr>
          <p:cNvPr id="8" name="TextBox 7"/>
          <p:cNvSpPr txBox="1"/>
          <p:nvPr/>
        </p:nvSpPr>
        <p:spPr>
          <a:xfrm>
            <a:off x="9751161" y="45720"/>
            <a:ext cx="2437790" cy="310896"/>
          </a:xfrm>
          <a:prstGeom prst="rect">
            <a:avLst/>
          </a:prstGeom>
          <a:noFill/>
        </p:spPr>
        <p:txBody>
          <a:bodyPr wrap="square">
            <a:spAutoFit/>
          </a:bodyPr>
          <a:lstStyle/>
          <a:p>
            <a:pPr algn="ctr"/>
            <a:r>
              <a:rPr sz="850" b="0" i="0">
                <a:solidFill>
                  <a:srgbClr val="FFFFFF"/>
                </a:solidFill>
                <a:latin typeface="Arial"/>
              </a:rPr>
              <a:t>⑤ Kết luận</a:t>
            </a:r>
          </a:p>
        </p:txBody>
      </p:sp>
      <p:sp>
        <p:nvSpPr>
          <p:cNvPr id="9" name="Rectangle 8"/>
          <p:cNvSpPr/>
          <p:nvPr/>
        </p:nvSpPr>
        <p:spPr>
          <a:xfrm>
            <a:off x="0" y="402336"/>
            <a:ext cx="121889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4592" y="54864"/>
            <a:ext cx="530352" cy="274320"/>
          </a:xfrm>
          <a:prstGeom prst="rect">
            <a:avLst/>
          </a:prstGeom>
          <a:noFill/>
        </p:spPr>
        <p:txBody>
          <a:bodyPr wrap="square">
            <a:spAutoFit/>
          </a:bodyPr>
          <a:lstStyle/>
          <a:p>
            <a:pPr algn="r"/>
            <a:r>
              <a:rPr sz="850" b="0" i="0">
                <a:solidFill>
                  <a:srgbClr val="FFFFFF"/>
                </a:solidFill>
                <a:latin typeface="Arial"/>
              </a:rPr>
              <a:t>6/18</a:t>
            </a:r>
          </a:p>
        </p:txBody>
      </p:sp>
      <p:sp>
        <p:nvSpPr>
          <p:cNvPr id="11" name="Rectangle 10"/>
          <p:cNvSpPr/>
          <p:nvPr/>
        </p:nvSpPr>
        <p:spPr>
          <a:xfrm>
            <a:off x="320040" y="530352"/>
            <a:ext cx="1154887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005840"/>
            <a:ext cx="1154887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48640"/>
            <a:ext cx="11274552" cy="438912"/>
          </a:xfrm>
          <a:prstGeom prst="rect">
            <a:avLst/>
          </a:prstGeom>
          <a:noFill/>
        </p:spPr>
        <p:txBody>
          <a:bodyPr wrap="square">
            <a:spAutoFit/>
          </a:bodyPr>
          <a:lstStyle/>
          <a:p>
            <a:pPr algn="l"/>
            <a:r>
              <a:rPr sz="1500" b="1" i="0">
                <a:solidFill>
                  <a:srgbClr val="151515"/>
                </a:solidFill>
                <a:latin typeface="Arial"/>
              </a:rPr>
              <a:t>Gán nhãn Triple-Barrier &amp; 23 Đặc trưng Đầu vào</a:t>
            </a:r>
          </a:p>
        </p:txBody>
      </p:sp>
      <p:sp>
        <p:nvSpPr>
          <p:cNvPr id="14" name="Rectangle 13"/>
          <p:cNvSpPr/>
          <p:nvPr/>
        </p:nvSpPr>
        <p:spPr>
          <a:xfrm>
            <a:off x="274320" y="1115568"/>
            <a:ext cx="3291840" cy="16459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1115568"/>
            <a:ext cx="3291840" cy="1645920"/>
          </a:xfrm>
          <a:prstGeom prst="rect">
            <a:avLst/>
          </a:prstGeom>
          <a:noFill/>
          <a:ln w="1905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1252728"/>
            <a:ext cx="3108960" cy="1417320"/>
          </a:xfrm>
          <a:prstGeom prst="rect">
            <a:avLst/>
          </a:prstGeom>
          <a:noFill/>
        </p:spPr>
        <p:txBody>
          <a:bodyPr wrap="square">
            <a:spAutoFit/>
          </a:bodyPr>
          <a:lstStyle/>
          <a:p>
            <a:pPr algn="ctr"/>
            <a:r>
              <a:rPr sz="1150" b="1" i="0">
                <a:solidFill>
                  <a:srgbClr val="1B5E20"/>
                </a:solidFill>
                <a:latin typeface="Arial"/>
              </a:rPr>
              <a:t>🟢  Rào Chốt lời
Entry + k×ATR
→ Nhãn = 1 (Thắng)</a:t>
            </a:r>
          </a:p>
        </p:txBody>
      </p:sp>
      <p:sp>
        <p:nvSpPr>
          <p:cNvPr id="17" name="Rectangle 16"/>
          <p:cNvSpPr/>
          <p:nvPr/>
        </p:nvSpPr>
        <p:spPr>
          <a:xfrm>
            <a:off x="3840480" y="1115568"/>
            <a:ext cx="3291840" cy="164592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840480" y="1115568"/>
            <a:ext cx="3291840" cy="1645920"/>
          </a:xfrm>
          <a:prstGeom prst="rect">
            <a:avLst/>
          </a:prstGeom>
          <a:noFill/>
          <a:ln w="1905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31920" y="1252728"/>
            <a:ext cx="3108960" cy="1417320"/>
          </a:xfrm>
          <a:prstGeom prst="rect">
            <a:avLst/>
          </a:prstGeom>
          <a:noFill/>
        </p:spPr>
        <p:txBody>
          <a:bodyPr wrap="square">
            <a:spAutoFit/>
          </a:bodyPr>
          <a:lstStyle/>
          <a:p>
            <a:pPr algn="ctr"/>
            <a:r>
              <a:rPr sz="1150" b="1" i="0">
                <a:solidFill>
                  <a:srgbClr val="B71C1C"/>
                </a:solidFill>
                <a:latin typeface="Arial"/>
              </a:rPr>
              <a:t>🔴  Rào Cắt lỗ
Entry − m×ATR
→ Nhãn = 0 (Thua)</a:t>
            </a:r>
          </a:p>
        </p:txBody>
      </p:sp>
      <p:sp>
        <p:nvSpPr>
          <p:cNvPr id="20" name="Rectangle 19"/>
          <p:cNvSpPr/>
          <p:nvPr/>
        </p:nvSpPr>
        <p:spPr>
          <a:xfrm>
            <a:off x="7406640" y="1115568"/>
            <a:ext cx="3291840" cy="164592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0" y="1115568"/>
            <a:ext cx="3291840" cy="1645920"/>
          </a:xfrm>
          <a:prstGeom prst="rect">
            <a:avLst/>
          </a:prstGeom>
          <a:noFill/>
          <a:ln w="19050">
            <a:solidFill>
              <a:srgbClr val="E65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79" y="1252728"/>
            <a:ext cx="3108960" cy="1417320"/>
          </a:xfrm>
          <a:prstGeom prst="rect">
            <a:avLst/>
          </a:prstGeom>
          <a:noFill/>
        </p:spPr>
        <p:txBody>
          <a:bodyPr wrap="square">
            <a:spAutoFit/>
          </a:bodyPr>
          <a:lstStyle/>
          <a:p>
            <a:pPr algn="ctr"/>
            <a:r>
              <a:rPr sz="1150" b="1" i="0">
                <a:solidFill>
                  <a:srgbClr val="E65C00"/>
                </a:solidFill>
                <a:latin typeface="Arial"/>
              </a:rPr>
              <a:t>⏱️  Rào Thời gian
Tối đa 50 nến M15
→ Nhãn = 0 (Hết giờ)</a:t>
            </a:r>
          </a:p>
        </p:txBody>
      </p:sp>
      <p:pic>
        <p:nvPicPr>
          <p:cNvPr id="23" name="Picture 22" descr="03_catboost_feature_importance.png"/>
          <p:cNvPicPr>
            <a:picLocks noChangeAspect="1"/>
          </p:cNvPicPr>
          <p:nvPr/>
        </p:nvPicPr>
        <p:blipFill>
          <a:blip r:embed="rId2"/>
          <a:stretch>
            <a:fillRect/>
          </a:stretch>
        </p:blipFill>
        <p:spPr>
          <a:xfrm>
            <a:off x="274320" y="2852928"/>
            <a:ext cx="5532120" cy="3657600"/>
          </a:xfrm>
          <a:prstGeom prst="rect">
            <a:avLst/>
          </a:prstGeom>
        </p:spPr>
      </p:pic>
      <p:sp>
        <p:nvSpPr>
          <p:cNvPr id="24" name="Rectangle 23"/>
          <p:cNvSpPr/>
          <p:nvPr/>
        </p:nvSpPr>
        <p:spPr>
          <a:xfrm>
            <a:off x="5943600" y="2852928"/>
            <a:ext cx="5971032" cy="841248"/>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0" y="2852928"/>
            <a:ext cx="5971032" cy="841248"/>
          </a:xfrm>
          <a:prstGeom prst="rect">
            <a:avLst/>
          </a:prstGeom>
          <a:noFill/>
          <a:ln w="12700">
            <a:solidFill>
              <a:srgbClr val="E65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35040" y="2916936"/>
            <a:ext cx="5760720" cy="320040"/>
          </a:xfrm>
          <a:prstGeom prst="rect">
            <a:avLst/>
          </a:prstGeom>
          <a:noFill/>
        </p:spPr>
        <p:txBody>
          <a:bodyPr wrap="square">
            <a:spAutoFit/>
          </a:bodyPr>
          <a:lstStyle/>
          <a:p>
            <a:pPr algn="l"/>
            <a:r>
              <a:rPr sz="1100" b="1" i="0">
                <a:solidFill>
                  <a:srgbClr val="E65C00"/>
                </a:solidFill>
                <a:latin typeface="Arial"/>
              </a:rPr>
              <a:t>📈 Biến động (7)</a:t>
            </a:r>
          </a:p>
        </p:txBody>
      </p:sp>
      <p:sp>
        <p:nvSpPr>
          <p:cNvPr id="27" name="TextBox 26"/>
          <p:cNvSpPr txBox="1"/>
          <p:nvPr/>
        </p:nvSpPr>
        <p:spPr>
          <a:xfrm>
            <a:off x="6035040" y="3255264"/>
            <a:ext cx="5760720" cy="384048"/>
          </a:xfrm>
          <a:prstGeom prst="rect">
            <a:avLst/>
          </a:prstGeom>
          <a:noFill/>
        </p:spPr>
        <p:txBody>
          <a:bodyPr wrap="square">
            <a:spAutoFit/>
          </a:bodyPr>
          <a:lstStyle/>
          <a:p>
            <a:pPr algn="l"/>
            <a:r>
              <a:rPr sz="950" b="0" i="0">
                <a:solidFill>
                  <a:srgbClr val="151515"/>
                </a:solidFill>
                <a:latin typeface="Arial"/>
              </a:rPr>
              <a:t>breakeven_R, atr14_pct, vol20, vol200 ...</a:t>
            </a:r>
          </a:p>
        </p:txBody>
      </p:sp>
      <p:sp>
        <p:nvSpPr>
          <p:cNvPr id="28" name="Rectangle 27"/>
          <p:cNvSpPr/>
          <p:nvPr/>
        </p:nvSpPr>
        <p:spPr>
          <a:xfrm>
            <a:off x="5943600" y="3767328"/>
            <a:ext cx="5971032" cy="84124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943600" y="3767328"/>
            <a:ext cx="5971032" cy="841248"/>
          </a:xfrm>
          <a:prstGeom prst="rect">
            <a:avLst/>
          </a:prstGeom>
          <a:no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35040" y="3831336"/>
            <a:ext cx="5760720" cy="320040"/>
          </a:xfrm>
          <a:prstGeom prst="rect">
            <a:avLst/>
          </a:prstGeom>
          <a:noFill/>
        </p:spPr>
        <p:txBody>
          <a:bodyPr wrap="square">
            <a:spAutoFit/>
          </a:bodyPr>
          <a:lstStyle/>
          <a:p>
            <a:pPr algn="l"/>
            <a:r>
              <a:rPr sz="1100" b="1" i="0">
                <a:solidFill>
                  <a:srgbClr val="1565C0"/>
                </a:solidFill>
                <a:latin typeface="Arial"/>
              </a:rPr>
              <a:t>📐 Xu hướng (7)</a:t>
            </a:r>
          </a:p>
        </p:txBody>
      </p:sp>
      <p:sp>
        <p:nvSpPr>
          <p:cNvPr id="31" name="TextBox 30"/>
          <p:cNvSpPr txBox="1"/>
          <p:nvPr/>
        </p:nvSpPr>
        <p:spPr>
          <a:xfrm>
            <a:off x="6035040" y="4169664"/>
            <a:ext cx="5760720" cy="384048"/>
          </a:xfrm>
          <a:prstGeom prst="rect">
            <a:avLst/>
          </a:prstGeom>
          <a:noFill/>
        </p:spPr>
        <p:txBody>
          <a:bodyPr wrap="square">
            <a:spAutoFit/>
          </a:bodyPr>
          <a:lstStyle/>
          <a:p>
            <a:pPr algn="l"/>
            <a:r>
              <a:rPr sz="950" b="0" i="0">
                <a:solidFill>
                  <a:srgbClr val="151515"/>
                </a:solidFill>
                <a:latin typeface="Arial"/>
              </a:rPr>
              <a:t>dist_ema20/50/200_atr, ret20_atr, rsi14 ...</a:t>
            </a:r>
          </a:p>
        </p:txBody>
      </p:sp>
      <p:sp>
        <p:nvSpPr>
          <p:cNvPr id="32" name="Rectangle 31"/>
          <p:cNvSpPr/>
          <p:nvPr/>
        </p:nvSpPr>
        <p:spPr>
          <a:xfrm>
            <a:off x="5943600" y="4681728"/>
            <a:ext cx="5971032" cy="841248"/>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943600" y="4681728"/>
            <a:ext cx="5971032" cy="841248"/>
          </a:xfrm>
          <a:prstGeom prst="rect">
            <a:avLst/>
          </a:prstGeom>
          <a:noFill/>
          <a:ln w="1270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35040" y="4745736"/>
            <a:ext cx="5760720" cy="320040"/>
          </a:xfrm>
          <a:prstGeom prst="rect">
            <a:avLst/>
          </a:prstGeom>
          <a:noFill/>
        </p:spPr>
        <p:txBody>
          <a:bodyPr wrap="square">
            <a:spAutoFit/>
          </a:bodyPr>
          <a:lstStyle/>
          <a:p>
            <a:pPr algn="l"/>
            <a:r>
              <a:rPr sz="1100" b="1" i="0">
                <a:solidFill>
                  <a:srgbClr val="1B5E20"/>
                </a:solidFill>
                <a:latin typeface="Arial"/>
              </a:rPr>
              <a:t>⚡ Động lượng (5)</a:t>
            </a:r>
          </a:p>
        </p:txBody>
      </p:sp>
      <p:sp>
        <p:nvSpPr>
          <p:cNvPr id="35" name="TextBox 34"/>
          <p:cNvSpPr txBox="1"/>
          <p:nvPr/>
        </p:nvSpPr>
        <p:spPr>
          <a:xfrm>
            <a:off x="6035040" y="5084064"/>
            <a:ext cx="5760720" cy="384048"/>
          </a:xfrm>
          <a:prstGeom prst="rect">
            <a:avLst/>
          </a:prstGeom>
          <a:noFill/>
        </p:spPr>
        <p:txBody>
          <a:bodyPr wrap="square">
            <a:spAutoFit/>
          </a:bodyPr>
          <a:lstStyle/>
          <a:p>
            <a:pPr algn="l"/>
            <a:r>
              <a:rPr sz="950" b="0" i="0">
                <a:solidFill>
                  <a:srgbClr val="151515"/>
                </a:solidFill>
                <a:latin typeface="Arial"/>
              </a:rPr>
              <a:t>mom14, mom_diff, vwap_dist_atr ...</a:t>
            </a:r>
          </a:p>
        </p:txBody>
      </p:sp>
      <p:sp>
        <p:nvSpPr>
          <p:cNvPr id="36" name="Rectangle 35"/>
          <p:cNvSpPr/>
          <p:nvPr/>
        </p:nvSpPr>
        <p:spPr>
          <a:xfrm>
            <a:off x="5943600" y="5596128"/>
            <a:ext cx="5971032" cy="841248"/>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943600" y="5596128"/>
            <a:ext cx="5971032" cy="841248"/>
          </a:xfrm>
          <a:prstGeom prst="rect">
            <a:avLst/>
          </a:prstGeom>
          <a:noFill/>
          <a:ln w="1270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35040" y="5660136"/>
            <a:ext cx="5760720" cy="320040"/>
          </a:xfrm>
          <a:prstGeom prst="rect">
            <a:avLst/>
          </a:prstGeom>
          <a:noFill/>
        </p:spPr>
        <p:txBody>
          <a:bodyPr wrap="square">
            <a:spAutoFit/>
          </a:bodyPr>
          <a:lstStyle/>
          <a:p>
            <a:pPr algn="l"/>
            <a:r>
              <a:rPr sz="1100" b="1" i="0">
                <a:solidFill>
                  <a:srgbClr val="0D47A1"/>
                </a:solidFill>
                <a:latin typeface="Arial"/>
              </a:rPr>
              <a:t>🕐 Thời gian (4)</a:t>
            </a:r>
          </a:p>
        </p:txBody>
      </p:sp>
      <p:sp>
        <p:nvSpPr>
          <p:cNvPr id="39" name="TextBox 38"/>
          <p:cNvSpPr txBox="1"/>
          <p:nvPr/>
        </p:nvSpPr>
        <p:spPr>
          <a:xfrm>
            <a:off x="6035040" y="5998464"/>
            <a:ext cx="5760720" cy="384048"/>
          </a:xfrm>
          <a:prstGeom prst="rect">
            <a:avLst/>
          </a:prstGeom>
          <a:noFill/>
        </p:spPr>
        <p:txBody>
          <a:bodyPr wrap="square">
            <a:spAutoFit/>
          </a:bodyPr>
          <a:lstStyle/>
          <a:p>
            <a:pPr algn="l"/>
            <a:r>
              <a:rPr sz="950" b="0" i="0">
                <a:solidFill>
                  <a:srgbClr val="151515"/>
                </a:solidFill>
                <a:latin typeface="Arial"/>
              </a:rPr>
              <a:t>hour, dow, gap_open_atr, vol_ratio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0233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5720"/>
            <a:ext cx="2437790" cy="310896"/>
          </a:xfrm>
          <a:prstGeom prst="rect">
            <a:avLst/>
          </a:prstGeom>
          <a:noFill/>
        </p:spPr>
        <p:txBody>
          <a:bodyPr wrap="square">
            <a:spAutoFit/>
          </a:bodyPr>
          <a:lstStyle/>
          <a:p>
            <a:pPr algn="ctr"/>
            <a:r>
              <a:rPr sz="850" b="0" i="0">
                <a:solidFill>
                  <a:srgbClr val="FFFFFF"/>
                </a:solidFill>
                <a:latin typeface="Arial"/>
              </a:rPr>
              <a:t>① Bối cảnh &amp; Mục tiêu</a:t>
            </a:r>
          </a:p>
        </p:txBody>
      </p:sp>
      <p:sp>
        <p:nvSpPr>
          <p:cNvPr id="4" name="TextBox 3"/>
          <p:cNvSpPr txBox="1"/>
          <p:nvPr/>
        </p:nvSpPr>
        <p:spPr>
          <a:xfrm>
            <a:off x="2437790" y="45720"/>
            <a:ext cx="2437790" cy="310896"/>
          </a:xfrm>
          <a:prstGeom prst="rect">
            <a:avLst/>
          </a:prstGeom>
          <a:noFill/>
        </p:spPr>
        <p:txBody>
          <a:bodyPr wrap="square">
            <a:spAutoFit/>
          </a:bodyPr>
          <a:lstStyle/>
          <a:p>
            <a:pPr algn="ctr"/>
            <a:r>
              <a:rPr sz="850" b="0" i="0">
                <a:solidFill>
                  <a:srgbClr val="FFFFFF"/>
                </a:solidFill>
                <a:latin typeface="Arial"/>
              </a:rPr>
              <a:t>② Dữ liệu &amp; Kiến trúc</a:t>
            </a:r>
          </a:p>
        </p:txBody>
      </p:sp>
      <p:sp>
        <p:nvSpPr>
          <p:cNvPr id="5" name="Rectangle 4"/>
          <p:cNvSpPr/>
          <p:nvPr/>
        </p:nvSpPr>
        <p:spPr>
          <a:xfrm>
            <a:off x="4921300" y="27432"/>
            <a:ext cx="234635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75580" y="45720"/>
            <a:ext cx="2437790" cy="310896"/>
          </a:xfrm>
          <a:prstGeom prst="rect">
            <a:avLst/>
          </a:prstGeom>
          <a:noFill/>
        </p:spPr>
        <p:txBody>
          <a:bodyPr wrap="square">
            <a:spAutoFit/>
          </a:bodyPr>
          <a:lstStyle/>
          <a:p>
            <a:pPr algn="ctr"/>
            <a:r>
              <a:rPr sz="850" b="1" i="0">
                <a:solidFill>
                  <a:srgbClr val="1565C0"/>
                </a:solidFill>
                <a:latin typeface="Arial"/>
              </a:rPr>
              <a:t>③ Phương pháp chia</a:t>
            </a:r>
          </a:p>
        </p:txBody>
      </p:sp>
      <p:sp>
        <p:nvSpPr>
          <p:cNvPr id="7" name="TextBox 6"/>
          <p:cNvSpPr txBox="1"/>
          <p:nvPr/>
        </p:nvSpPr>
        <p:spPr>
          <a:xfrm>
            <a:off x="7313371" y="45720"/>
            <a:ext cx="2437790" cy="310896"/>
          </a:xfrm>
          <a:prstGeom prst="rect">
            <a:avLst/>
          </a:prstGeom>
          <a:noFill/>
        </p:spPr>
        <p:txBody>
          <a:bodyPr wrap="square">
            <a:spAutoFit/>
          </a:bodyPr>
          <a:lstStyle/>
          <a:p>
            <a:pPr algn="ctr"/>
            <a:r>
              <a:rPr sz="850" b="0" i="0">
                <a:solidFill>
                  <a:srgbClr val="FFFFFF"/>
                </a:solidFill>
                <a:latin typeface="Arial"/>
              </a:rPr>
              <a:t>④ Kết quả</a:t>
            </a:r>
          </a:p>
        </p:txBody>
      </p:sp>
      <p:sp>
        <p:nvSpPr>
          <p:cNvPr id="8" name="TextBox 7"/>
          <p:cNvSpPr txBox="1"/>
          <p:nvPr/>
        </p:nvSpPr>
        <p:spPr>
          <a:xfrm>
            <a:off x="9751161" y="45720"/>
            <a:ext cx="2437790" cy="310896"/>
          </a:xfrm>
          <a:prstGeom prst="rect">
            <a:avLst/>
          </a:prstGeom>
          <a:noFill/>
        </p:spPr>
        <p:txBody>
          <a:bodyPr wrap="square">
            <a:spAutoFit/>
          </a:bodyPr>
          <a:lstStyle/>
          <a:p>
            <a:pPr algn="ctr"/>
            <a:r>
              <a:rPr sz="850" b="0" i="0">
                <a:solidFill>
                  <a:srgbClr val="FFFFFF"/>
                </a:solidFill>
                <a:latin typeface="Arial"/>
              </a:rPr>
              <a:t>⑤ Kết luận</a:t>
            </a:r>
          </a:p>
        </p:txBody>
      </p:sp>
      <p:sp>
        <p:nvSpPr>
          <p:cNvPr id="9" name="Rectangle 8"/>
          <p:cNvSpPr/>
          <p:nvPr/>
        </p:nvSpPr>
        <p:spPr>
          <a:xfrm>
            <a:off x="0" y="402336"/>
            <a:ext cx="121889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4592" y="54864"/>
            <a:ext cx="530352" cy="274320"/>
          </a:xfrm>
          <a:prstGeom prst="rect">
            <a:avLst/>
          </a:prstGeom>
          <a:noFill/>
        </p:spPr>
        <p:txBody>
          <a:bodyPr wrap="square">
            <a:spAutoFit/>
          </a:bodyPr>
          <a:lstStyle/>
          <a:p>
            <a:pPr algn="r"/>
            <a:r>
              <a:rPr sz="850" b="0" i="0">
                <a:solidFill>
                  <a:srgbClr val="FFFFFF"/>
                </a:solidFill>
                <a:latin typeface="Arial"/>
              </a:rPr>
              <a:t>7/18</a:t>
            </a:r>
          </a:p>
        </p:txBody>
      </p:sp>
      <p:sp>
        <p:nvSpPr>
          <p:cNvPr id="11" name="Rectangle 10"/>
          <p:cNvSpPr/>
          <p:nvPr/>
        </p:nvSpPr>
        <p:spPr>
          <a:xfrm>
            <a:off x="320040" y="530352"/>
            <a:ext cx="1154887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005840"/>
            <a:ext cx="1154887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48640"/>
            <a:ext cx="11274552" cy="438912"/>
          </a:xfrm>
          <a:prstGeom prst="rect">
            <a:avLst/>
          </a:prstGeom>
          <a:noFill/>
        </p:spPr>
        <p:txBody>
          <a:bodyPr wrap="square">
            <a:spAutoFit/>
          </a:bodyPr>
          <a:lstStyle/>
          <a:p>
            <a:pPr algn="l"/>
            <a:r>
              <a:rPr sz="1500" b="1" i="0">
                <a:solidFill>
                  <a:srgbClr val="151515"/>
                </a:solidFill>
                <a:latin typeface="Arial"/>
              </a:rPr>
              <a:t>Rò rỉ Dữ liệu (Data Leakage) — 'Bí kíp' làm giả điểm AI</a:t>
            </a:r>
          </a:p>
        </p:txBody>
      </p:sp>
      <p:sp>
        <p:nvSpPr>
          <p:cNvPr id="14" name="TextBox 13"/>
          <p:cNvSpPr txBox="1"/>
          <p:nvPr/>
        </p:nvSpPr>
        <p:spPr>
          <a:xfrm>
            <a:off x="365760" y="1060704"/>
            <a:ext cx="11274552" cy="274320"/>
          </a:xfrm>
          <a:prstGeom prst="rect">
            <a:avLst/>
          </a:prstGeom>
          <a:noFill/>
        </p:spPr>
        <p:txBody>
          <a:bodyPr wrap="square">
            <a:spAutoFit/>
          </a:bodyPr>
          <a:lstStyle/>
          <a:p>
            <a:pPr algn="l"/>
            <a:r>
              <a:rPr sz="950" b="0" i="1">
                <a:solidFill>
                  <a:srgbClr val="555555"/>
                </a:solidFill>
                <a:latin typeface="Arial"/>
              </a:rPr>
              <a:t>Lý do chính tại sao đề tài cần nghiên cứu phương pháp phân chia dữ liệu</a:t>
            </a:r>
          </a:p>
        </p:txBody>
      </p:sp>
      <p:sp>
        <p:nvSpPr>
          <p:cNvPr id="15" name="Rectangle 14"/>
          <p:cNvSpPr/>
          <p:nvPr/>
        </p:nvSpPr>
        <p:spPr>
          <a:xfrm>
            <a:off x="274320" y="1115568"/>
            <a:ext cx="11640312" cy="73152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1152144"/>
            <a:ext cx="11457432" cy="292608"/>
          </a:xfrm>
          <a:prstGeom prst="rect">
            <a:avLst/>
          </a:prstGeom>
          <a:noFill/>
        </p:spPr>
        <p:txBody>
          <a:bodyPr wrap="square">
            <a:spAutoFit/>
          </a:bodyPr>
          <a:lstStyle/>
          <a:p>
            <a:pPr algn="l"/>
            <a:r>
              <a:rPr sz="1250" b="1" i="0">
                <a:solidFill>
                  <a:srgbClr val="E65C00"/>
                </a:solidFill>
                <a:latin typeface="Arial"/>
              </a:rPr>
              <a:t>🎓  Ví dụ: Bạn đang ôn thi với 100 câu hỏi từ 2020–2026</a:t>
            </a:r>
          </a:p>
        </p:txBody>
      </p:sp>
      <p:sp>
        <p:nvSpPr>
          <p:cNvPr id="17" name="TextBox 16"/>
          <p:cNvSpPr txBox="1"/>
          <p:nvPr/>
        </p:nvSpPr>
        <p:spPr>
          <a:xfrm>
            <a:off x="365760" y="1435608"/>
            <a:ext cx="11457432" cy="365760"/>
          </a:xfrm>
          <a:prstGeom prst="rect">
            <a:avLst/>
          </a:prstGeom>
          <a:noFill/>
        </p:spPr>
        <p:txBody>
          <a:bodyPr wrap="square">
            <a:spAutoFit/>
          </a:bodyPr>
          <a:lstStyle/>
          <a:p>
            <a:pPr algn="l"/>
            <a:r>
              <a:rPr sz="1100" b="0" i="0">
                <a:solidFill>
                  <a:srgbClr val="151515"/>
                </a:solidFill>
                <a:latin typeface="Arial"/>
              </a:rPr>
              <a:t>Cách sai (Random): Xáo ngẫu nhiên 100 câu → Ôn 80, thi thử 20. Vô tình thấy câu 2026 khi ôn → Điểm thi thử: 9.5/10 (ảo!)
Cách đúng (Walk-Forward): Ôn bài 2020–2024, thi thử bài 2025–2026 hoàn toàn mới → Điểm: 6.5/10 (thật!)</a:t>
            </a:r>
          </a:p>
        </p:txBody>
      </p:sp>
      <p:sp>
        <p:nvSpPr>
          <p:cNvPr id="18" name="Rectangle 17"/>
          <p:cNvSpPr/>
          <p:nvPr/>
        </p:nvSpPr>
        <p:spPr>
          <a:xfrm>
            <a:off x="274320" y="1938528"/>
            <a:ext cx="5394960" cy="329184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4320" y="1938528"/>
            <a:ext cx="5394960" cy="3291840"/>
          </a:xfrm>
          <a:prstGeom prst="rect">
            <a:avLst/>
          </a:prstGeom>
          <a:noFill/>
          <a:ln w="1905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2020824"/>
            <a:ext cx="5212080" cy="365760"/>
          </a:xfrm>
          <a:prstGeom prst="rect">
            <a:avLst/>
          </a:prstGeom>
          <a:noFill/>
        </p:spPr>
        <p:txBody>
          <a:bodyPr wrap="square">
            <a:spAutoFit/>
          </a:bodyPr>
          <a:lstStyle/>
          <a:p>
            <a:pPr algn="l"/>
            <a:r>
              <a:rPr sz="1150" b="1" i="0">
                <a:solidFill>
                  <a:srgbClr val="B71C1C"/>
                </a:solidFill>
                <a:latin typeface="Arial"/>
              </a:rPr>
              <a:t>⏰  Rò rỉ Thời gian (Temporal Leakage)</a:t>
            </a:r>
          </a:p>
        </p:txBody>
      </p:sp>
      <p:sp>
        <p:nvSpPr>
          <p:cNvPr id="21" name="Rectangle 20"/>
          <p:cNvSpPr/>
          <p:nvPr/>
        </p:nvSpPr>
        <p:spPr>
          <a:xfrm>
            <a:off x="365760" y="2386584"/>
            <a:ext cx="5212080" cy="27432"/>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2459736"/>
            <a:ext cx="5212080" cy="2697480"/>
          </a:xfrm>
          <a:prstGeom prst="rect">
            <a:avLst/>
          </a:prstGeom>
          <a:noFill/>
        </p:spPr>
        <p:txBody>
          <a:bodyPr wrap="square">
            <a:spAutoFit/>
          </a:bodyPr>
          <a:lstStyle/>
          <a:p>
            <a:pPr algn="l">
              <a:spcBef>
                <a:spcPts val="300"/>
              </a:spcBef>
            </a:pPr>
            <a:r>
              <a:rPr sz="1100" b="0">
                <a:solidFill>
                  <a:srgbClr val="151515"/>
                </a:solidFill>
                <a:latin typeface="Arial"/>
              </a:rPr>
              <a:t>Mỗi lệnh cần 50 nến để biết kết quả (Thắng/Thua).</a:t>
            </a:r>
          </a:p>
          <a:p>
            <a:pPr algn="l">
              <a:spcBef>
                <a:spcPts val="300"/>
              </a:spcBef>
            </a:pPr>
            <a:r>
              <a:rPr sz="1100" b="0">
                <a:solidFill>
                  <a:srgbClr val="151515"/>
                </a:solidFill>
                <a:latin typeface="Arial"/>
              </a:rPr>
              <a:t>→ Hai lệnh gần nhau có thời gian xác định nhãn CHỒNG LẤN.</a:t>
            </a:r>
          </a:p>
          <a:p>
            <a:pPr algn="l">
              <a:spcBef>
                <a:spcPts val="300"/>
              </a:spcBef>
            </a:pPr>
            <a:r>
              <a:rPr sz="1100" b="0">
                <a:solidFill>
                  <a:srgbClr val="151515"/>
                </a:solidFill>
                <a:latin typeface="Arial"/>
              </a:rPr>
              <a:t/>
            </a:r>
          </a:p>
          <a:p>
            <a:pPr algn="l">
              <a:spcBef>
                <a:spcPts val="300"/>
              </a:spcBef>
            </a:pPr>
            <a:r>
              <a:rPr sz="1100" b="0">
                <a:solidFill>
                  <a:srgbClr val="151515"/>
                </a:solidFill>
                <a:latin typeface="Arial"/>
              </a:rPr>
              <a:t>Nếu chia ngẫu nhiên:</a:t>
            </a:r>
          </a:p>
          <a:p>
            <a:pPr algn="l">
              <a:spcBef>
                <a:spcPts val="300"/>
              </a:spcBef>
            </a:pPr>
            <a:r>
              <a:rPr sz="1100" b="0">
                <a:solidFill>
                  <a:srgbClr val="151515"/>
                </a:solidFill>
                <a:latin typeface="Arial"/>
              </a:rPr>
              <a:t>  Train biết trước kết quả của Test → Điểm ảo!</a:t>
            </a:r>
          </a:p>
          <a:p>
            <a:pPr algn="l">
              <a:spcBef>
                <a:spcPts val="300"/>
              </a:spcBef>
            </a:pPr>
            <a:r>
              <a:rPr sz="1100" b="0">
                <a:solidFill>
                  <a:srgbClr val="151515"/>
                </a:solidFill>
                <a:latin typeface="Arial"/>
              </a:rPr>
              <a:t/>
            </a:r>
          </a:p>
          <a:p>
            <a:pPr algn="l">
              <a:spcBef>
                <a:spcPts val="300"/>
              </a:spcBef>
            </a:pPr>
            <a:r>
              <a:rPr sz="1100" b="0">
                <a:solidFill>
                  <a:srgbClr val="151515"/>
                </a:solidFill>
                <a:latin typeface="Arial"/>
              </a:rPr>
              <a:t>Tác động: AUC tăng giả từ 0.59 → 0.86 (+47%)</a:t>
            </a:r>
          </a:p>
        </p:txBody>
      </p:sp>
      <p:sp>
        <p:nvSpPr>
          <p:cNvPr id="23" name="Rectangle 22"/>
          <p:cNvSpPr/>
          <p:nvPr/>
        </p:nvSpPr>
        <p:spPr>
          <a:xfrm>
            <a:off x="6080760" y="1938528"/>
            <a:ext cx="5971032" cy="329184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80760" y="1938528"/>
            <a:ext cx="5971032" cy="3291840"/>
          </a:xfrm>
          <a:prstGeom prst="rect">
            <a:avLst/>
          </a:prstGeom>
          <a:noFill/>
          <a:ln w="19050">
            <a:solidFill>
              <a:srgbClr val="E65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72200" y="2020824"/>
            <a:ext cx="5788152" cy="365760"/>
          </a:xfrm>
          <a:prstGeom prst="rect">
            <a:avLst/>
          </a:prstGeom>
          <a:noFill/>
        </p:spPr>
        <p:txBody>
          <a:bodyPr wrap="square">
            <a:spAutoFit/>
          </a:bodyPr>
          <a:lstStyle/>
          <a:p>
            <a:pPr algn="l"/>
            <a:r>
              <a:rPr sz="1150" b="1" i="0">
                <a:solidFill>
                  <a:srgbClr val="E65C00"/>
                </a:solidFill>
                <a:latin typeface="Arial"/>
              </a:rPr>
              <a:t>🔗  Rò rỉ Nhóm Lệnh (Cluster Leakage)</a:t>
            </a:r>
          </a:p>
        </p:txBody>
      </p:sp>
      <p:sp>
        <p:nvSpPr>
          <p:cNvPr id="26" name="Rectangle 25"/>
          <p:cNvSpPr/>
          <p:nvPr/>
        </p:nvSpPr>
        <p:spPr>
          <a:xfrm>
            <a:off x="6172200" y="2386584"/>
            <a:ext cx="5788152" cy="27432"/>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72200" y="2459736"/>
            <a:ext cx="5788152" cy="2697480"/>
          </a:xfrm>
          <a:prstGeom prst="rect">
            <a:avLst/>
          </a:prstGeom>
          <a:noFill/>
        </p:spPr>
        <p:txBody>
          <a:bodyPr wrap="square">
            <a:spAutoFit/>
          </a:bodyPr>
          <a:lstStyle/>
          <a:p>
            <a:pPr algn="l">
              <a:spcBef>
                <a:spcPts val="300"/>
              </a:spcBef>
            </a:pPr>
            <a:r>
              <a:rPr sz="1100" b="0">
                <a:solidFill>
                  <a:srgbClr val="151515"/>
                </a:solidFill>
                <a:latin typeface="Arial"/>
              </a:rPr>
              <a:t>Chiến lược mở 1 lệnh gốc + 3 lệnh con (cùng origin_bar).</a:t>
            </a:r>
          </a:p>
          <a:p>
            <a:pPr algn="l">
              <a:spcBef>
                <a:spcPts val="300"/>
              </a:spcBef>
            </a:pPr>
            <a:r>
              <a:rPr sz="1100" b="0">
                <a:solidFill>
                  <a:srgbClr val="151515"/>
                </a:solidFill>
                <a:latin typeface="Arial"/>
              </a:rPr>
              <a:t>→ 4 lệnh này tương quan rất cao với nhau.</a:t>
            </a:r>
          </a:p>
          <a:p>
            <a:pPr algn="l">
              <a:spcBef>
                <a:spcPts val="300"/>
              </a:spcBef>
            </a:pPr>
            <a:r>
              <a:rPr sz="1100" b="0">
                <a:solidFill>
                  <a:srgbClr val="151515"/>
                </a:solidFill>
                <a:latin typeface="Arial"/>
              </a:rPr>
              <a:t/>
            </a:r>
          </a:p>
          <a:p>
            <a:pPr algn="l">
              <a:spcBef>
                <a:spcPts val="300"/>
              </a:spcBef>
            </a:pPr>
            <a:r>
              <a:rPr sz="1100" b="0">
                <a:solidFill>
                  <a:srgbClr val="151515"/>
                </a:solidFill>
                <a:latin typeface="Arial"/>
              </a:rPr>
              <a:t>Nếu chia ngẫu nhiên:</a:t>
            </a:r>
          </a:p>
          <a:p>
            <a:pPr algn="l">
              <a:spcBef>
                <a:spcPts val="300"/>
              </a:spcBef>
            </a:pPr>
            <a:r>
              <a:rPr sz="1100" b="0">
                <a:solidFill>
                  <a:srgbClr val="151515"/>
                </a:solidFill>
                <a:latin typeface="Arial"/>
              </a:rPr>
              <a:t>  Lệnh gốc trong Train, lệnh con trong Test.</a:t>
            </a:r>
          </a:p>
          <a:p>
            <a:pPr algn="l">
              <a:spcBef>
                <a:spcPts val="300"/>
              </a:spcBef>
            </a:pPr>
            <a:r>
              <a:rPr sz="1100" b="0">
                <a:solidFill>
                  <a:srgbClr val="151515"/>
                </a:solidFill>
                <a:latin typeface="Arial"/>
              </a:rPr>
              <a:t>  Mô hình kiểm định trên 'anh em' của mình → Gian lận vô tình!</a:t>
            </a:r>
          </a:p>
        </p:txBody>
      </p:sp>
      <p:sp>
        <p:nvSpPr>
          <p:cNvPr id="28" name="Rectangle 27"/>
          <p:cNvSpPr/>
          <p:nvPr/>
        </p:nvSpPr>
        <p:spPr>
          <a:xfrm>
            <a:off x="274320" y="5321808"/>
            <a:ext cx="11640312" cy="4572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5367528"/>
            <a:ext cx="11457432" cy="365760"/>
          </a:xfrm>
          <a:prstGeom prst="rect">
            <a:avLst/>
          </a:prstGeom>
          <a:noFill/>
        </p:spPr>
        <p:txBody>
          <a:bodyPr wrap="square">
            <a:spAutoFit/>
          </a:bodyPr>
          <a:lstStyle/>
          <a:p>
            <a:pPr algn="l"/>
            <a:r>
              <a:rPr sz="1150" b="1" i="0">
                <a:solidFill>
                  <a:srgbClr val="FFFFFF"/>
                </a:solidFill>
                <a:latin typeface="Arial"/>
              </a:rPr>
              <a:t>📊  Kết quả đo được:  Random K-Fold (rò rỉ nặng): AUC = 0.86   ←→   Purged Walk-Forward (không rò rỉ): AUC = 0.59   ←→   Holdout thực tế: AUC = 0.60  ≈ Cách 3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0233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5720"/>
            <a:ext cx="2437790" cy="310896"/>
          </a:xfrm>
          <a:prstGeom prst="rect">
            <a:avLst/>
          </a:prstGeom>
          <a:noFill/>
        </p:spPr>
        <p:txBody>
          <a:bodyPr wrap="square">
            <a:spAutoFit/>
          </a:bodyPr>
          <a:lstStyle/>
          <a:p>
            <a:pPr algn="ctr"/>
            <a:r>
              <a:rPr sz="850" b="0" i="0">
                <a:solidFill>
                  <a:srgbClr val="FFFFFF"/>
                </a:solidFill>
                <a:latin typeface="Arial"/>
              </a:rPr>
              <a:t>① Bối cảnh &amp; Mục tiêu</a:t>
            </a:r>
          </a:p>
        </p:txBody>
      </p:sp>
      <p:sp>
        <p:nvSpPr>
          <p:cNvPr id="4" name="TextBox 3"/>
          <p:cNvSpPr txBox="1"/>
          <p:nvPr/>
        </p:nvSpPr>
        <p:spPr>
          <a:xfrm>
            <a:off x="2437790" y="45720"/>
            <a:ext cx="2437790" cy="310896"/>
          </a:xfrm>
          <a:prstGeom prst="rect">
            <a:avLst/>
          </a:prstGeom>
          <a:noFill/>
        </p:spPr>
        <p:txBody>
          <a:bodyPr wrap="square">
            <a:spAutoFit/>
          </a:bodyPr>
          <a:lstStyle/>
          <a:p>
            <a:pPr algn="ctr"/>
            <a:r>
              <a:rPr sz="850" b="0" i="0">
                <a:solidFill>
                  <a:srgbClr val="FFFFFF"/>
                </a:solidFill>
                <a:latin typeface="Arial"/>
              </a:rPr>
              <a:t>② Dữ liệu &amp; Kiến trúc</a:t>
            </a:r>
          </a:p>
        </p:txBody>
      </p:sp>
      <p:sp>
        <p:nvSpPr>
          <p:cNvPr id="5" name="Rectangle 4"/>
          <p:cNvSpPr/>
          <p:nvPr/>
        </p:nvSpPr>
        <p:spPr>
          <a:xfrm>
            <a:off x="4921300" y="27432"/>
            <a:ext cx="234635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75580" y="45720"/>
            <a:ext cx="2437790" cy="310896"/>
          </a:xfrm>
          <a:prstGeom prst="rect">
            <a:avLst/>
          </a:prstGeom>
          <a:noFill/>
        </p:spPr>
        <p:txBody>
          <a:bodyPr wrap="square">
            <a:spAutoFit/>
          </a:bodyPr>
          <a:lstStyle/>
          <a:p>
            <a:pPr algn="ctr"/>
            <a:r>
              <a:rPr sz="850" b="1" i="0">
                <a:solidFill>
                  <a:srgbClr val="1565C0"/>
                </a:solidFill>
                <a:latin typeface="Arial"/>
              </a:rPr>
              <a:t>③ Phương pháp chia</a:t>
            </a:r>
          </a:p>
        </p:txBody>
      </p:sp>
      <p:sp>
        <p:nvSpPr>
          <p:cNvPr id="7" name="TextBox 6"/>
          <p:cNvSpPr txBox="1"/>
          <p:nvPr/>
        </p:nvSpPr>
        <p:spPr>
          <a:xfrm>
            <a:off x="7313371" y="45720"/>
            <a:ext cx="2437790" cy="310896"/>
          </a:xfrm>
          <a:prstGeom prst="rect">
            <a:avLst/>
          </a:prstGeom>
          <a:noFill/>
        </p:spPr>
        <p:txBody>
          <a:bodyPr wrap="square">
            <a:spAutoFit/>
          </a:bodyPr>
          <a:lstStyle/>
          <a:p>
            <a:pPr algn="ctr"/>
            <a:r>
              <a:rPr sz="850" b="0" i="0">
                <a:solidFill>
                  <a:srgbClr val="FFFFFF"/>
                </a:solidFill>
                <a:latin typeface="Arial"/>
              </a:rPr>
              <a:t>④ Kết quả</a:t>
            </a:r>
          </a:p>
        </p:txBody>
      </p:sp>
      <p:sp>
        <p:nvSpPr>
          <p:cNvPr id="8" name="TextBox 7"/>
          <p:cNvSpPr txBox="1"/>
          <p:nvPr/>
        </p:nvSpPr>
        <p:spPr>
          <a:xfrm>
            <a:off x="9751161" y="45720"/>
            <a:ext cx="2437790" cy="310896"/>
          </a:xfrm>
          <a:prstGeom prst="rect">
            <a:avLst/>
          </a:prstGeom>
          <a:noFill/>
        </p:spPr>
        <p:txBody>
          <a:bodyPr wrap="square">
            <a:spAutoFit/>
          </a:bodyPr>
          <a:lstStyle/>
          <a:p>
            <a:pPr algn="ctr"/>
            <a:r>
              <a:rPr sz="850" b="0" i="0">
                <a:solidFill>
                  <a:srgbClr val="FFFFFF"/>
                </a:solidFill>
                <a:latin typeface="Arial"/>
              </a:rPr>
              <a:t>⑤ Kết luận</a:t>
            </a:r>
          </a:p>
        </p:txBody>
      </p:sp>
      <p:sp>
        <p:nvSpPr>
          <p:cNvPr id="9" name="Rectangle 8"/>
          <p:cNvSpPr/>
          <p:nvPr/>
        </p:nvSpPr>
        <p:spPr>
          <a:xfrm>
            <a:off x="0" y="402336"/>
            <a:ext cx="121889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4592" y="54864"/>
            <a:ext cx="530352" cy="274320"/>
          </a:xfrm>
          <a:prstGeom prst="rect">
            <a:avLst/>
          </a:prstGeom>
          <a:noFill/>
        </p:spPr>
        <p:txBody>
          <a:bodyPr wrap="square">
            <a:spAutoFit/>
          </a:bodyPr>
          <a:lstStyle/>
          <a:p>
            <a:pPr algn="r"/>
            <a:r>
              <a:rPr sz="850" b="0" i="0">
                <a:solidFill>
                  <a:srgbClr val="FFFFFF"/>
                </a:solidFill>
                <a:latin typeface="Arial"/>
              </a:rPr>
              <a:t>8/18</a:t>
            </a:r>
          </a:p>
        </p:txBody>
      </p:sp>
      <p:sp>
        <p:nvSpPr>
          <p:cNvPr id="11" name="Rectangle 10"/>
          <p:cNvSpPr/>
          <p:nvPr/>
        </p:nvSpPr>
        <p:spPr>
          <a:xfrm>
            <a:off x="320040" y="530352"/>
            <a:ext cx="1154887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005840"/>
            <a:ext cx="1154887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48640"/>
            <a:ext cx="11274552" cy="438912"/>
          </a:xfrm>
          <a:prstGeom prst="rect">
            <a:avLst/>
          </a:prstGeom>
          <a:noFill/>
        </p:spPr>
        <p:txBody>
          <a:bodyPr wrap="square">
            <a:spAutoFit/>
          </a:bodyPr>
          <a:lstStyle/>
          <a:p>
            <a:pPr algn="l"/>
            <a:r>
              <a:rPr sz="1500" b="1" i="0">
                <a:solidFill>
                  <a:srgbClr val="151515"/>
                </a:solidFill>
                <a:latin typeface="Arial"/>
              </a:rPr>
              <a:t>4 Phương pháp Phân chia Dữ liệu — Từ 'Ẩu' đến 'Chuẩn'</a:t>
            </a:r>
          </a:p>
        </p:txBody>
      </p:sp>
      <p:sp>
        <p:nvSpPr>
          <p:cNvPr id="14" name="Rectangle 13"/>
          <p:cNvSpPr/>
          <p:nvPr/>
        </p:nvSpPr>
        <p:spPr>
          <a:xfrm>
            <a:off x="228600" y="1115568"/>
            <a:ext cx="2633472" cy="4828032"/>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28600" y="1115568"/>
            <a:ext cx="2633472" cy="4828032"/>
          </a:xfrm>
          <a:prstGeom prst="rect">
            <a:avLst/>
          </a:prstGeom>
          <a:noFill/>
          <a:ln w="3175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752" y="1170432"/>
            <a:ext cx="2487168" cy="548640"/>
          </a:xfrm>
          <a:prstGeom prst="rect">
            <a:avLst/>
          </a:prstGeom>
          <a:noFill/>
        </p:spPr>
        <p:txBody>
          <a:bodyPr wrap="square">
            <a:spAutoFit/>
          </a:bodyPr>
          <a:lstStyle/>
          <a:p>
            <a:pPr algn="ctr"/>
            <a:r>
              <a:rPr sz="1300" b="1" i="0">
                <a:solidFill>
                  <a:srgbClr val="B71C1C"/>
                </a:solidFill>
                <a:latin typeface="Arial"/>
              </a:rPr>
              <a:t>Cách 1
Random K-Fold</a:t>
            </a:r>
          </a:p>
        </p:txBody>
      </p:sp>
      <p:sp>
        <p:nvSpPr>
          <p:cNvPr id="17" name="Rectangle 16"/>
          <p:cNvSpPr/>
          <p:nvPr/>
        </p:nvSpPr>
        <p:spPr>
          <a:xfrm>
            <a:off x="301752" y="1719072"/>
            <a:ext cx="2487168" cy="27432"/>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752" y="1783080"/>
            <a:ext cx="2487168" cy="402336"/>
          </a:xfrm>
          <a:prstGeom prst="rect">
            <a:avLst/>
          </a:prstGeom>
          <a:noFill/>
        </p:spPr>
        <p:txBody>
          <a:bodyPr wrap="square">
            <a:spAutoFit/>
          </a:bodyPr>
          <a:lstStyle/>
          <a:p>
            <a:pPr algn="ctr"/>
            <a:r>
              <a:rPr sz="1050" b="1" i="0">
                <a:solidFill>
                  <a:srgbClr val="B71C1C"/>
                </a:solidFill>
                <a:latin typeface="Arial"/>
              </a:rPr>
              <a:t>🚨 Rò rỉ CỰC NẶNG</a:t>
            </a:r>
          </a:p>
        </p:txBody>
      </p:sp>
      <p:sp>
        <p:nvSpPr>
          <p:cNvPr id="19" name="TextBox 18"/>
          <p:cNvSpPr txBox="1"/>
          <p:nvPr/>
        </p:nvSpPr>
        <p:spPr>
          <a:xfrm>
            <a:off x="320040" y="2240280"/>
            <a:ext cx="2450591" cy="1828800"/>
          </a:xfrm>
          <a:prstGeom prst="rect">
            <a:avLst/>
          </a:prstGeom>
          <a:noFill/>
        </p:spPr>
        <p:txBody>
          <a:bodyPr wrap="square">
            <a:spAutoFit/>
          </a:bodyPr>
          <a:lstStyle/>
          <a:p>
            <a:pPr algn="l">
              <a:spcBef>
                <a:spcPts val="400"/>
              </a:spcBef>
            </a:pPr>
            <a:r>
              <a:rPr sz="1100" b="0">
                <a:solidFill>
                  <a:srgbClr val="151515"/>
                </a:solidFill>
                <a:latin typeface="Arial"/>
              </a:rPr>
              <a:t>Xáo ngẫu nhiên từng dòng.</a:t>
            </a:r>
          </a:p>
          <a:p>
            <a:pPr algn="l">
              <a:spcBef>
                <a:spcPts val="400"/>
              </a:spcBef>
            </a:pPr>
            <a:r>
              <a:rPr sz="1100" b="0">
                <a:solidFill>
                  <a:srgbClr val="151515"/>
                </a:solidFill>
                <a:latin typeface="Arial"/>
              </a:rPr>
              <a:t>Vi phạm thứ tự thời gian.</a:t>
            </a:r>
          </a:p>
          <a:p>
            <a:pPr algn="l">
              <a:spcBef>
                <a:spcPts val="400"/>
              </a:spcBef>
            </a:pPr>
            <a:r>
              <a:rPr sz="1100" b="0">
                <a:solidFill>
                  <a:srgbClr val="151515"/>
                </a:solidFill>
                <a:latin typeface="Arial"/>
              </a:rPr>
              <a:t>Vi phạm tính toàn vẹn nhóm.</a:t>
            </a:r>
          </a:p>
        </p:txBody>
      </p:sp>
      <p:sp>
        <p:nvSpPr>
          <p:cNvPr id="20" name="Rectangle 19"/>
          <p:cNvSpPr/>
          <p:nvPr/>
        </p:nvSpPr>
        <p:spPr>
          <a:xfrm>
            <a:off x="301752" y="4334256"/>
            <a:ext cx="2487168" cy="621792"/>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1752" y="4361688"/>
            <a:ext cx="2487168" cy="566928"/>
          </a:xfrm>
          <a:prstGeom prst="rect">
            <a:avLst/>
          </a:prstGeom>
          <a:noFill/>
        </p:spPr>
        <p:txBody>
          <a:bodyPr wrap="square">
            <a:spAutoFit/>
          </a:bodyPr>
          <a:lstStyle/>
          <a:p>
            <a:pPr algn="ctr"/>
            <a:r>
              <a:rPr sz="1150" b="1" i="0">
                <a:solidFill>
                  <a:srgbClr val="FFFFFF"/>
                </a:solidFill>
                <a:latin typeface="Arial"/>
              </a:rPr>
              <a:t>❌ AUC = 0.86
(Ảo giác!)</a:t>
            </a:r>
          </a:p>
        </p:txBody>
      </p:sp>
      <p:sp>
        <p:nvSpPr>
          <p:cNvPr id="22" name="Rectangle 21"/>
          <p:cNvSpPr/>
          <p:nvPr/>
        </p:nvSpPr>
        <p:spPr>
          <a:xfrm>
            <a:off x="3081528" y="1115568"/>
            <a:ext cx="2633472" cy="4828032"/>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081528" y="1115568"/>
            <a:ext cx="2633472" cy="4828032"/>
          </a:xfrm>
          <a:prstGeom prst="rect">
            <a:avLst/>
          </a:prstGeom>
          <a:noFill/>
          <a:ln w="31750">
            <a:solidFill>
              <a:srgbClr val="E65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54680" y="1170432"/>
            <a:ext cx="2487168" cy="548640"/>
          </a:xfrm>
          <a:prstGeom prst="rect">
            <a:avLst/>
          </a:prstGeom>
          <a:noFill/>
        </p:spPr>
        <p:txBody>
          <a:bodyPr wrap="square">
            <a:spAutoFit/>
          </a:bodyPr>
          <a:lstStyle/>
          <a:p>
            <a:pPr algn="ctr"/>
            <a:r>
              <a:rPr sz="1300" b="1" i="0">
                <a:solidFill>
                  <a:srgbClr val="E65C00"/>
                </a:solidFill>
                <a:latin typeface="Arial"/>
              </a:rPr>
              <a:t>Cách 1b
Grouped K-Fold</a:t>
            </a:r>
          </a:p>
        </p:txBody>
      </p:sp>
      <p:sp>
        <p:nvSpPr>
          <p:cNvPr id="25" name="Rectangle 24"/>
          <p:cNvSpPr/>
          <p:nvPr/>
        </p:nvSpPr>
        <p:spPr>
          <a:xfrm>
            <a:off x="3154680" y="1719072"/>
            <a:ext cx="2487168" cy="27432"/>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54680" y="1783080"/>
            <a:ext cx="2487168" cy="402336"/>
          </a:xfrm>
          <a:prstGeom prst="rect">
            <a:avLst/>
          </a:prstGeom>
          <a:noFill/>
        </p:spPr>
        <p:txBody>
          <a:bodyPr wrap="square">
            <a:spAutoFit/>
          </a:bodyPr>
          <a:lstStyle/>
          <a:p>
            <a:pPr algn="ctr"/>
            <a:r>
              <a:rPr sz="1050" b="1" i="0">
                <a:solidFill>
                  <a:srgbClr val="E65C00"/>
                </a:solidFill>
                <a:latin typeface="Arial"/>
              </a:rPr>
              <a:t>⚠️  Rò rỉ Vừa</a:t>
            </a:r>
          </a:p>
        </p:txBody>
      </p:sp>
      <p:sp>
        <p:nvSpPr>
          <p:cNvPr id="27" name="TextBox 26"/>
          <p:cNvSpPr txBox="1"/>
          <p:nvPr/>
        </p:nvSpPr>
        <p:spPr>
          <a:xfrm>
            <a:off x="3172968" y="2240280"/>
            <a:ext cx="2450591" cy="1828800"/>
          </a:xfrm>
          <a:prstGeom prst="rect">
            <a:avLst/>
          </a:prstGeom>
          <a:noFill/>
        </p:spPr>
        <p:txBody>
          <a:bodyPr wrap="square">
            <a:spAutoFit/>
          </a:bodyPr>
          <a:lstStyle/>
          <a:p>
            <a:pPr algn="l">
              <a:spcBef>
                <a:spcPts val="400"/>
              </a:spcBef>
            </a:pPr>
            <a:r>
              <a:rPr sz="1100" b="0">
                <a:solidFill>
                  <a:srgbClr val="151515"/>
                </a:solidFill>
                <a:latin typeface="Arial"/>
              </a:rPr>
              <a:t>Giữ nguyên nhóm lệnh.</a:t>
            </a:r>
          </a:p>
          <a:p>
            <a:pPr algn="l">
              <a:spcBef>
                <a:spcPts val="400"/>
              </a:spcBef>
            </a:pPr>
            <a:r>
              <a:rPr sz="1100" b="0">
                <a:solidFill>
                  <a:srgbClr val="151515"/>
                </a:solidFill>
                <a:latin typeface="Arial"/>
              </a:rPr>
              <a:t>Vẫn vi phạm trật tự thời gian.</a:t>
            </a:r>
          </a:p>
          <a:p>
            <a:pPr algn="l">
              <a:spcBef>
                <a:spcPts val="400"/>
              </a:spcBef>
            </a:pPr>
            <a:r>
              <a:rPr sz="1100" b="0">
                <a:solidFill>
                  <a:srgbClr val="151515"/>
                </a:solidFill>
                <a:latin typeface="Arial"/>
              </a:rPr>
              <a:t>Còn bị thổi phồng nhiều.</a:t>
            </a:r>
          </a:p>
        </p:txBody>
      </p:sp>
      <p:sp>
        <p:nvSpPr>
          <p:cNvPr id="28" name="Rectangle 27"/>
          <p:cNvSpPr/>
          <p:nvPr/>
        </p:nvSpPr>
        <p:spPr>
          <a:xfrm>
            <a:off x="3154680" y="4334256"/>
            <a:ext cx="2487168" cy="621792"/>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54680" y="4361688"/>
            <a:ext cx="2487168" cy="566928"/>
          </a:xfrm>
          <a:prstGeom prst="rect">
            <a:avLst/>
          </a:prstGeom>
          <a:noFill/>
        </p:spPr>
        <p:txBody>
          <a:bodyPr wrap="square">
            <a:spAutoFit/>
          </a:bodyPr>
          <a:lstStyle/>
          <a:p>
            <a:pPr algn="ctr"/>
            <a:r>
              <a:rPr sz="1150" b="1" i="0">
                <a:solidFill>
                  <a:srgbClr val="FFFFFF"/>
                </a:solidFill>
                <a:latin typeface="Arial"/>
              </a:rPr>
              <a:t>⚠️ AUC = 0.74
(Còn cao)</a:t>
            </a:r>
          </a:p>
        </p:txBody>
      </p:sp>
      <p:sp>
        <p:nvSpPr>
          <p:cNvPr id="30" name="Rectangle 29"/>
          <p:cNvSpPr/>
          <p:nvPr/>
        </p:nvSpPr>
        <p:spPr>
          <a:xfrm>
            <a:off x="5934456" y="1115568"/>
            <a:ext cx="2633472" cy="4828032"/>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34456" y="1115568"/>
            <a:ext cx="2633472" cy="4828032"/>
          </a:xfrm>
          <a:prstGeom prst="rect">
            <a:avLst/>
          </a:prstGeom>
          <a:noFill/>
          <a:ln w="3175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07608" y="1170432"/>
            <a:ext cx="2487168" cy="548640"/>
          </a:xfrm>
          <a:prstGeom prst="rect">
            <a:avLst/>
          </a:prstGeom>
          <a:noFill/>
        </p:spPr>
        <p:txBody>
          <a:bodyPr wrap="square">
            <a:spAutoFit/>
          </a:bodyPr>
          <a:lstStyle/>
          <a:p>
            <a:pPr algn="ctr"/>
            <a:r>
              <a:rPr sz="1300" b="1" i="0">
                <a:solidFill>
                  <a:srgbClr val="1B5E20"/>
                </a:solidFill>
                <a:latin typeface="Arial"/>
              </a:rPr>
              <a:t>Cách 2
Walk-Forward</a:t>
            </a:r>
          </a:p>
        </p:txBody>
      </p:sp>
      <p:sp>
        <p:nvSpPr>
          <p:cNvPr id="33" name="Rectangle 32"/>
          <p:cNvSpPr/>
          <p:nvPr/>
        </p:nvSpPr>
        <p:spPr>
          <a:xfrm>
            <a:off x="6007608" y="1719072"/>
            <a:ext cx="2487168" cy="2743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07608" y="1783080"/>
            <a:ext cx="2487168" cy="402336"/>
          </a:xfrm>
          <a:prstGeom prst="rect">
            <a:avLst/>
          </a:prstGeom>
          <a:noFill/>
        </p:spPr>
        <p:txBody>
          <a:bodyPr wrap="square">
            <a:spAutoFit/>
          </a:bodyPr>
          <a:lstStyle/>
          <a:p>
            <a:pPr algn="ctr"/>
            <a:r>
              <a:rPr sz="1050" b="1" i="0">
                <a:solidFill>
                  <a:srgbClr val="1B5E20"/>
                </a:solidFill>
                <a:latin typeface="Arial"/>
              </a:rPr>
              <a:t>✅  Đúng thứ tự TG</a:t>
            </a:r>
          </a:p>
        </p:txBody>
      </p:sp>
      <p:sp>
        <p:nvSpPr>
          <p:cNvPr id="35" name="TextBox 34"/>
          <p:cNvSpPr txBox="1"/>
          <p:nvPr/>
        </p:nvSpPr>
        <p:spPr>
          <a:xfrm>
            <a:off x="6025896" y="2240280"/>
            <a:ext cx="2450591" cy="1828800"/>
          </a:xfrm>
          <a:prstGeom prst="rect">
            <a:avLst/>
          </a:prstGeom>
          <a:noFill/>
        </p:spPr>
        <p:txBody>
          <a:bodyPr wrap="square">
            <a:spAutoFit/>
          </a:bodyPr>
          <a:lstStyle/>
          <a:p>
            <a:pPr algn="l">
              <a:spcBef>
                <a:spcPts val="400"/>
              </a:spcBef>
            </a:pPr>
            <a:r>
              <a:rPr sz="1100" b="0">
                <a:solidFill>
                  <a:srgbClr val="151515"/>
                </a:solidFill>
                <a:latin typeface="Arial"/>
              </a:rPr>
              <a:t>Chia tuần tự: Cũ → Mới.</a:t>
            </a:r>
          </a:p>
          <a:p>
            <a:pPr algn="l">
              <a:spcBef>
                <a:spcPts val="400"/>
              </a:spcBef>
            </a:pPr>
            <a:r>
              <a:rPr sz="1100" b="0">
                <a:solidFill>
                  <a:srgbClr val="151515"/>
                </a:solidFill>
                <a:latin typeface="Arial"/>
              </a:rPr>
              <a:t>Đúng hướng thời gian.</a:t>
            </a:r>
          </a:p>
          <a:p>
            <a:pPr algn="l">
              <a:spcBef>
                <a:spcPts val="400"/>
              </a:spcBef>
            </a:pPr>
            <a:r>
              <a:rPr sz="1100" b="0">
                <a:solidFill>
                  <a:srgbClr val="151515"/>
                </a:solidFill>
                <a:latin typeface="Arial"/>
              </a:rPr>
              <a:t>Còn chồng lấn ở biên fold.</a:t>
            </a:r>
          </a:p>
        </p:txBody>
      </p:sp>
      <p:sp>
        <p:nvSpPr>
          <p:cNvPr id="36" name="Rectangle 35"/>
          <p:cNvSpPr/>
          <p:nvPr/>
        </p:nvSpPr>
        <p:spPr>
          <a:xfrm>
            <a:off x="6007608" y="4334256"/>
            <a:ext cx="2487168" cy="62179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07608" y="4361688"/>
            <a:ext cx="2487168" cy="566928"/>
          </a:xfrm>
          <a:prstGeom prst="rect">
            <a:avLst/>
          </a:prstGeom>
          <a:noFill/>
        </p:spPr>
        <p:txBody>
          <a:bodyPr wrap="square">
            <a:spAutoFit/>
          </a:bodyPr>
          <a:lstStyle/>
          <a:p>
            <a:pPr algn="ctr"/>
            <a:r>
              <a:rPr sz="1150" b="1" i="0">
                <a:solidFill>
                  <a:srgbClr val="FFFFFF"/>
                </a:solidFill>
                <a:latin typeface="Arial"/>
              </a:rPr>
              <a:t>📉 AUC = 0.59
(Gần thật)</a:t>
            </a:r>
          </a:p>
        </p:txBody>
      </p:sp>
      <p:sp>
        <p:nvSpPr>
          <p:cNvPr id="38" name="Rectangle 37"/>
          <p:cNvSpPr/>
          <p:nvPr/>
        </p:nvSpPr>
        <p:spPr>
          <a:xfrm>
            <a:off x="8787384" y="1115568"/>
            <a:ext cx="2633472" cy="4828032"/>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787384" y="1115568"/>
            <a:ext cx="2633472" cy="4828032"/>
          </a:xfrm>
          <a:prstGeom prst="rect">
            <a:avLst/>
          </a:prstGeom>
          <a:noFill/>
          <a:ln w="3175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0536" y="1170432"/>
            <a:ext cx="2487168" cy="548640"/>
          </a:xfrm>
          <a:prstGeom prst="rect">
            <a:avLst/>
          </a:prstGeom>
          <a:noFill/>
        </p:spPr>
        <p:txBody>
          <a:bodyPr wrap="square">
            <a:spAutoFit/>
          </a:bodyPr>
          <a:lstStyle/>
          <a:p>
            <a:pPr algn="ctr"/>
            <a:r>
              <a:rPr sz="1300" b="1" i="0">
                <a:solidFill>
                  <a:srgbClr val="0D47A1"/>
                </a:solidFill>
                <a:latin typeface="Arial"/>
              </a:rPr>
              <a:t>Cách 3
Purged Walk-Forward</a:t>
            </a:r>
          </a:p>
        </p:txBody>
      </p:sp>
      <p:sp>
        <p:nvSpPr>
          <p:cNvPr id="41" name="Rectangle 40"/>
          <p:cNvSpPr/>
          <p:nvPr/>
        </p:nvSpPr>
        <p:spPr>
          <a:xfrm>
            <a:off x="8860536" y="1719072"/>
            <a:ext cx="2487168" cy="2743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60536" y="1783080"/>
            <a:ext cx="2487168" cy="402336"/>
          </a:xfrm>
          <a:prstGeom prst="rect">
            <a:avLst/>
          </a:prstGeom>
          <a:noFill/>
        </p:spPr>
        <p:txBody>
          <a:bodyPr wrap="square">
            <a:spAutoFit/>
          </a:bodyPr>
          <a:lstStyle/>
          <a:p>
            <a:pPr algn="ctr"/>
            <a:r>
              <a:rPr sz="1050" b="1" i="0">
                <a:solidFill>
                  <a:srgbClr val="0D47A1"/>
                </a:solidFill>
                <a:latin typeface="Arial"/>
              </a:rPr>
              <a:t>🛡️  CHUẨN NHẤT</a:t>
            </a:r>
          </a:p>
        </p:txBody>
      </p:sp>
      <p:sp>
        <p:nvSpPr>
          <p:cNvPr id="43" name="TextBox 42"/>
          <p:cNvSpPr txBox="1"/>
          <p:nvPr/>
        </p:nvSpPr>
        <p:spPr>
          <a:xfrm>
            <a:off x="8878824" y="2240280"/>
            <a:ext cx="2450591" cy="1828800"/>
          </a:xfrm>
          <a:prstGeom prst="rect">
            <a:avLst/>
          </a:prstGeom>
          <a:noFill/>
        </p:spPr>
        <p:txBody>
          <a:bodyPr wrap="square">
            <a:spAutoFit/>
          </a:bodyPr>
          <a:lstStyle/>
          <a:p>
            <a:pPr algn="l">
              <a:spcBef>
                <a:spcPts val="400"/>
              </a:spcBef>
            </a:pPr>
            <a:r>
              <a:rPr sz="1100" b="0">
                <a:solidFill>
                  <a:srgbClr val="151515"/>
                </a:solidFill>
                <a:latin typeface="Arial"/>
              </a:rPr>
              <a:t>Walk-Forward + Purging biên.</a:t>
            </a:r>
          </a:p>
          <a:p>
            <a:pPr algn="l">
              <a:spcBef>
                <a:spcPts val="400"/>
              </a:spcBef>
            </a:pPr>
            <a:r>
              <a:rPr sz="1100" b="0">
                <a:solidFill>
                  <a:srgbClr val="151515"/>
                </a:solidFill>
                <a:latin typeface="Arial"/>
              </a:rPr>
              <a:t>Embargo 50 nến cách ly.</a:t>
            </a:r>
          </a:p>
          <a:p>
            <a:pPr algn="l">
              <a:spcBef>
                <a:spcPts val="400"/>
              </a:spcBef>
            </a:pPr>
            <a:r>
              <a:rPr sz="1100" b="0">
                <a:solidFill>
                  <a:srgbClr val="151515"/>
                </a:solidFill>
                <a:latin typeface="Arial"/>
              </a:rPr>
              <a:t>Hai tập hoàn toàn độc lập.</a:t>
            </a:r>
          </a:p>
        </p:txBody>
      </p:sp>
      <p:sp>
        <p:nvSpPr>
          <p:cNvPr id="44" name="Rectangle 43"/>
          <p:cNvSpPr/>
          <p:nvPr/>
        </p:nvSpPr>
        <p:spPr>
          <a:xfrm>
            <a:off x="8860536" y="4334256"/>
            <a:ext cx="2487168" cy="62179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860536" y="4361688"/>
            <a:ext cx="2487168" cy="566928"/>
          </a:xfrm>
          <a:prstGeom prst="rect">
            <a:avLst/>
          </a:prstGeom>
          <a:noFill/>
        </p:spPr>
        <p:txBody>
          <a:bodyPr wrap="square">
            <a:spAutoFit/>
          </a:bodyPr>
          <a:lstStyle/>
          <a:p>
            <a:pPr algn="ctr"/>
            <a:r>
              <a:rPr sz="1150" b="1" i="0">
                <a:solidFill>
                  <a:srgbClr val="FFFFFF"/>
                </a:solidFill>
                <a:latin typeface="Arial"/>
              </a:rPr>
              <a:t>🎯 AUC = 0.59
(Chính xác!)</a:t>
            </a:r>
          </a:p>
        </p:txBody>
      </p:sp>
      <p:sp>
        <p:nvSpPr>
          <p:cNvPr id="46" name="Rectangle 45"/>
          <p:cNvSpPr/>
          <p:nvPr/>
        </p:nvSpPr>
        <p:spPr>
          <a:xfrm>
            <a:off x="274320" y="6035040"/>
            <a:ext cx="11640312" cy="3657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74320" y="6126480"/>
            <a:ext cx="3200400" cy="512064"/>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0040" y="6153912"/>
            <a:ext cx="3108960" cy="201168"/>
          </a:xfrm>
          <a:prstGeom prst="rect">
            <a:avLst/>
          </a:prstGeom>
          <a:noFill/>
        </p:spPr>
        <p:txBody>
          <a:bodyPr wrap="square">
            <a:spAutoFit/>
          </a:bodyPr>
          <a:lstStyle/>
          <a:p>
            <a:pPr algn="ctr"/>
            <a:r>
              <a:rPr sz="950" b="1" i="0">
                <a:solidFill>
                  <a:srgbClr val="1B5E20"/>
                </a:solidFill>
                <a:latin typeface="Arial"/>
              </a:rPr>
              <a:t>TRAIN</a:t>
            </a:r>
          </a:p>
        </p:txBody>
      </p:sp>
      <p:sp>
        <p:nvSpPr>
          <p:cNvPr id="49" name="Rectangle 48"/>
          <p:cNvSpPr/>
          <p:nvPr/>
        </p:nvSpPr>
        <p:spPr>
          <a:xfrm>
            <a:off x="3547872" y="6126480"/>
            <a:ext cx="640080" cy="512064"/>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547872" y="6153912"/>
            <a:ext cx="640080" cy="201168"/>
          </a:xfrm>
          <a:prstGeom prst="rect">
            <a:avLst/>
          </a:prstGeom>
          <a:noFill/>
        </p:spPr>
        <p:txBody>
          <a:bodyPr wrap="square">
            <a:spAutoFit/>
          </a:bodyPr>
          <a:lstStyle/>
          <a:p>
            <a:pPr algn="ctr"/>
            <a:r>
              <a:rPr sz="800" b="1" i="0">
                <a:solidFill>
                  <a:srgbClr val="B71C1C"/>
                </a:solidFill>
                <a:latin typeface="Arial"/>
              </a:rPr>
              <a:t>PURGE</a:t>
            </a:r>
          </a:p>
        </p:txBody>
      </p:sp>
      <p:sp>
        <p:nvSpPr>
          <p:cNvPr id="51" name="Rectangle 50"/>
          <p:cNvSpPr/>
          <p:nvPr/>
        </p:nvSpPr>
        <p:spPr>
          <a:xfrm>
            <a:off x="4261104" y="6126480"/>
            <a:ext cx="2560320" cy="512064"/>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06824" y="6153912"/>
            <a:ext cx="2468880" cy="201168"/>
          </a:xfrm>
          <a:prstGeom prst="rect">
            <a:avLst/>
          </a:prstGeom>
          <a:noFill/>
        </p:spPr>
        <p:txBody>
          <a:bodyPr wrap="square">
            <a:spAutoFit/>
          </a:bodyPr>
          <a:lstStyle/>
          <a:p>
            <a:pPr algn="ctr"/>
            <a:r>
              <a:rPr sz="950" b="1" i="0">
                <a:solidFill>
                  <a:srgbClr val="0D47A1"/>
                </a:solidFill>
                <a:latin typeface="Arial"/>
              </a:rPr>
              <a:t>TEST</a:t>
            </a:r>
          </a:p>
        </p:txBody>
      </p:sp>
      <p:sp>
        <p:nvSpPr>
          <p:cNvPr id="53" name="Rectangle 52"/>
          <p:cNvSpPr/>
          <p:nvPr/>
        </p:nvSpPr>
        <p:spPr>
          <a:xfrm>
            <a:off x="6894576" y="6126480"/>
            <a:ext cx="1005840" cy="512064"/>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94576" y="6153912"/>
            <a:ext cx="1005840" cy="201168"/>
          </a:xfrm>
          <a:prstGeom prst="rect">
            <a:avLst/>
          </a:prstGeom>
          <a:noFill/>
        </p:spPr>
        <p:txBody>
          <a:bodyPr wrap="square">
            <a:spAutoFit/>
          </a:bodyPr>
          <a:lstStyle/>
          <a:p>
            <a:pPr algn="ctr"/>
            <a:r>
              <a:rPr sz="800" b="1" i="0">
                <a:solidFill>
                  <a:srgbClr val="E65C00"/>
                </a:solidFill>
                <a:latin typeface="Arial"/>
              </a:rPr>
              <a:t>EMBARGO</a:t>
            </a:r>
          </a:p>
        </p:txBody>
      </p:sp>
      <p:sp>
        <p:nvSpPr>
          <p:cNvPr id="55" name="Rectangle 54"/>
          <p:cNvSpPr/>
          <p:nvPr/>
        </p:nvSpPr>
        <p:spPr>
          <a:xfrm>
            <a:off x="7973568" y="6126480"/>
            <a:ext cx="4206240" cy="512064"/>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019288" y="6153912"/>
            <a:ext cx="4114800" cy="201168"/>
          </a:xfrm>
          <a:prstGeom prst="rect">
            <a:avLst/>
          </a:prstGeom>
          <a:noFill/>
        </p:spPr>
        <p:txBody>
          <a:bodyPr wrap="square">
            <a:spAutoFit/>
          </a:bodyPr>
          <a:lstStyle/>
          <a:p>
            <a:pPr algn="ctr"/>
            <a:r>
              <a:rPr sz="950" b="1" i="0">
                <a:solidFill>
                  <a:srgbClr val="1B5E20"/>
                </a:solidFill>
                <a:latin typeface="Arial"/>
              </a:rPr>
              <a:t>TRAIN Fold 2</a:t>
            </a:r>
          </a:p>
        </p:txBody>
      </p:sp>
      <p:sp>
        <p:nvSpPr>
          <p:cNvPr id="57" name="TextBox 56"/>
          <p:cNvSpPr txBox="1"/>
          <p:nvPr/>
        </p:nvSpPr>
        <p:spPr>
          <a:xfrm>
            <a:off x="274320" y="6675120"/>
            <a:ext cx="11640312" cy="182880"/>
          </a:xfrm>
          <a:prstGeom prst="rect">
            <a:avLst/>
          </a:prstGeom>
          <a:noFill/>
        </p:spPr>
        <p:txBody>
          <a:bodyPr wrap="square">
            <a:spAutoFit/>
          </a:bodyPr>
          <a:lstStyle/>
          <a:p>
            <a:pPr algn="l"/>
            <a:r>
              <a:rPr sz="850" b="0" i="1">
                <a:solidFill>
                  <a:srgbClr val="777777"/>
                </a:solidFill>
                <a:latin typeface="Arial"/>
              </a:rPr>
              <a:t>── Trục thời gian (tuyến tính, không đảo ngược)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0233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5720"/>
            <a:ext cx="2437790" cy="310896"/>
          </a:xfrm>
          <a:prstGeom prst="rect">
            <a:avLst/>
          </a:prstGeom>
          <a:noFill/>
        </p:spPr>
        <p:txBody>
          <a:bodyPr wrap="square">
            <a:spAutoFit/>
          </a:bodyPr>
          <a:lstStyle/>
          <a:p>
            <a:pPr algn="ctr"/>
            <a:r>
              <a:rPr sz="850" b="0" i="0">
                <a:solidFill>
                  <a:srgbClr val="FFFFFF"/>
                </a:solidFill>
                <a:latin typeface="Arial"/>
              </a:rPr>
              <a:t>① Bối cảnh &amp; Mục tiêu</a:t>
            </a:r>
          </a:p>
        </p:txBody>
      </p:sp>
      <p:sp>
        <p:nvSpPr>
          <p:cNvPr id="4" name="TextBox 3"/>
          <p:cNvSpPr txBox="1"/>
          <p:nvPr/>
        </p:nvSpPr>
        <p:spPr>
          <a:xfrm>
            <a:off x="2437790" y="45720"/>
            <a:ext cx="2437790" cy="310896"/>
          </a:xfrm>
          <a:prstGeom prst="rect">
            <a:avLst/>
          </a:prstGeom>
          <a:noFill/>
        </p:spPr>
        <p:txBody>
          <a:bodyPr wrap="square">
            <a:spAutoFit/>
          </a:bodyPr>
          <a:lstStyle/>
          <a:p>
            <a:pPr algn="ctr"/>
            <a:r>
              <a:rPr sz="850" b="0" i="0">
                <a:solidFill>
                  <a:srgbClr val="FFFFFF"/>
                </a:solidFill>
                <a:latin typeface="Arial"/>
              </a:rPr>
              <a:t>② Dữ liệu &amp; Kiến trúc</a:t>
            </a:r>
          </a:p>
        </p:txBody>
      </p:sp>
      <p:sp>
        <p:nvSpPr>
          <p:cNvPr id="5" name="Rectangle 4"/>
          <p:cNvSpPr/>
          <p:nvPr/>
        </p:nvSpPr>
        <p:spPr>
          <a:xfrm>
            <a:off x="4921300" y="27432"/>
            <a:ext cx="234635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75580" y="45720"/>
            <a:ext cx="2437790" cy="310896"/>
          </a:xfrm>
          <a:prstGeom prst="rect">
            <a:avLst/>
          </a:prstGeom>
          <a:noFill/>
        </p:spPr>
        <p:txBody>
          <a:bodyPr wrap="square">
            <a:spAutoFit/>
          </a:bodyPr>
          <a:lstStyle/>
          <a:p>
            <a:pPr algn="ctr"/>
            <a:r>
              <a:rPr sz="850" b="1" i="0">
                <a:solidFill>
                  <a:srgbClr val="1565C0"/>
                </a:solidFill>
                <a:latin typeface="Arial"/>
              </a:rPr>
              <a:t>③ Phương pháp chia</a:t>
            </a:r>
          </a:p>
        </p:txBody>
      </p:sp>
      <p:sp>
        <p:nvSpPr>
          <p:cNvPr id="7" name="TextBox 6"/>
          <p:cNvSpPr txBox="1"/>
          <p:nvPr/>
        </p:nvSpPr>
        <p:spPr>
          <a:xfrm>
            <a:off x="7313371" y="45720"/>
            <a:ext cx="2437790" cy="310896"/>
          </a:xfrm>
          <a:prstGeom prst="rect">
            <a:avLst/>
          </a:prstGeom>
          <a:noFill/>
        </p:spPr>
        <p:txBody>
          <a:bodyPr wrap="square">
            <a:spAutoFit/>
          </a:bodyPr>
          <a:lstStyle/>
          <a:p>
            <a:pPr algn="ctr"/>
            <a:r>
              <a:rPr sz="850" b="0" i="0">
                <a:solidFill>
                  <a:srgbClr val="FFFFFF"/>
                </a:solidFill>
                <a:latin typeface="Arial"/>
              </a:rPr>
              <a:t>④ Kết quả</a:t>
            </a:r>
          </a:p>
        </p:txBody>
      </p:sp>
      <p:sp>
        <p:nvSpPr>
          <p:cNvPr id="8" name="TextBox 7"/>
          <p:cNvSpPr txBox="1"/>
          <p:nvPr/>
        </p:nvSpPr>
        <p:spPr>
          <a:xfrm>
            <a:off x="9751161" y="45720"/>
            <a:ext cx="2437790" cy="310896"/>
          </a:xfrm>
          <a:prstGeom prst="rect">
            <a:avLst/>
          </a:prstGeom>
          <a:noFill/>
        </p:spPr>
        <p:txBody>
          <a:bodyPr wrap="square">
            <a:spAutoFit/>
          </a:bodyPr>
          <a:lstStyle/>
          <a:p>
            <a:pPr algn="ctr"/>
            <a:r>
              <a:rPr sz="850" b="0" i="0">
                <a:solidFill>
                  <a:srgbClr val="FFFFFF"/>
                </a:solidFill>
                <a:latin typeface="Arial"/>
              </a:rPr>
              <a:t>⑤ Kết luận</a:t>
            </a:r>
          </a:p>
        </p:txBody>
      </p:sp>
      <p:sp>
        <p:nvSpPr>
          <p:cNvPr id="9" name="Rectangle 8"/>
          <p:cNvSpPr/>
          <p:nvPr/>
        </p:nvSpPr>
        <p:spPr>
          <a:xfrm>
            <a:off x="0" y="402336"/>
            <a:ext cx="121889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4592" y="54864"/>
            <a:ext cx="530352" cy="274320"/>
          </a:xfrm>
          <a:prstGeom prst="rect">
            <a:avLst/>
          </a:prstGeom>
          <a:noFill/>
        </p:spPr>
        <p:txBody>
          <a:bodyPr wrap="square">
            <a:spAutoFit/>
          </a:bodyPr>
          <a:lstStyle/>
          <a:p>
            <a:pPr algn="r"/>
            <a:r>
              <a:rPr sz="850" b="0" i="0">
                <a:solidFill>
                  <a:srgbClr val="FFFFFF"/>
                </a:solidFill>
                <a:latin typeface="Arial"/>
              </a:rPr>
              <a:t>9/18</a:t>
            </a:r>
          </a:p>
        </p:txBody>
      </p:sp>
      <p:sp>
        <p:nvSpPr>
          <p:cNvPr id="11" name="Rectangle 10"/>
          <p:cNvSpPr/>
          <p:nvPr/>
        </p:nvSpPr>
        <p:spPr>
          <a:xfrm>
            <a:off x="320040" y="530352"/>
            <a:ext cx="1154887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005840"/>
            <a:ext cx="1154887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48640"/>
            <a:ext cx="11274552" cy="438912"/>
          </a:xfrm>
          <a:prstGeom prst="rect">
            <a:avLst/>
          </a:prstGeom>
          <a:noFill/>
        </p:spPr>
        <p:txBody>
          <a:bodyPr wrap="square">
            <a:spAutoFit/>
          </a:bodyPr>
          <a:lstStyle/>
          <a:p>
            <a:pPr algn="l"/>
            <a:r>
              <a:rPr sz="1500" b="1" i="0">
                <a:solidFill>
                  <a:srgbClr val="151515"/>
                </a:solidFill>
                <a:latin typeface="Arial"/>
              </a:rPr>
              <a:t>Mô hình CatBoost — Tại sao phù hợp nhất?</a:t>
            </a:r>
          </a:p>
        </p:txBody>
      </p:sp>
      <p:sp>
        <p:nvSpPr>
          <p:cNvPr id="14" name="Rectangle 13"/>
          <p:cNvSpPr/>
          <p:nvPr/>
        </p:nvSpPr>
        <p:spPr>
          <a:xfrm>
            <a:off x="274320" y="1115568"/>
            <a:ext cx="5029200" cy="310896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1115568"/>
            <a:ext cx="5029200" cy="3108960"/>
          </a:xfrm>
          <a:prstGeom prst="rect">
            <a:avLst/>
          </a:prstGeom>
          <a:noFill/>
          <a:ln w="1905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1197864"/>
            <a:ext cx="4846320" cy="365760"/>
          </a:xfrm>
          <a:prstGeom prst="rect">
            <a:avLst/>
          </a:prstGeom>
          <a:noFill/>
        </p:spPr>
        <p:txBody>
          <a:bodyPr wrap="square">
            <a:spAutoFit/>
          </a:bodyPr>
          <a:lstStyle/>
          <a:p>
            <a:pPr algn="l"/>
            <a:r>
              <a:rPr sz="1150" b="1" i="0">
                <a:solidFill>
                  <a:srgbClr val="0D47A1"/>
                </a:solidFill>
                <a:latin typeface="Arial"/>
              </a:rPr>
              <a:t>🤖  CatBoost — Gradient Boosting của Yandex</a:t>
            </a:r>
          </a:p>
        </p:txBody>
      </p:sp>
      <p:sp>
        <p:nvSpPr>
          <p:cNvPr id="17" name="Rectangle 16"/>
          <p:cNvSpPr/>
          <p:nvPr/>
        </p:nvSpPr>
        <p:spPr>
          <a:xfrm>
            <a:off x="365760" y="1563624"/>
            <a:ext cx="4846320" cy="2743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1636776"/>
            <a:ext cx="4846320" cy="2514600"/>
          </a:xfrm>
          <a:prstGeom prst="rect">
            <a:avLst/>
          </a:prstGeom>
          <a:noFill/>
        </p:spPr>
        <p:txBody>
          <a:bodyPr wrap="square">
            <a:spAutoFit/>
          </a:bodyPr>
          <a:lstStyle/>
          <a:p>
            <a:pPr algn="l">
              <a:spcBef>
                <a:spcPts val="300"/>
              </a:spcBef>
            </a:pPr>
            <a:r>
              <a:rPr sz="1100" b="0">
                <a:solidFill>
                  <a:srgbClr val="151515"/>
                </a:solidFill>
                <a:latin typeface="Arial"/>
              </a:rPr>
              <a:t>Oblivious Trees (cây đối xứng) → Chống overfitting tốt.</a:t>
            </a:r>
          </a:p>
          <a:p>
            <a:pPr algn="l">
              <a:spcBef>
                <a:spcPts val="300"/>
              </a:spcBef>
            </a:pPr>
            <a:r>
              <a:rPr sz="1100" b="0">
                <a:solidFill>
                  <a:srgbClr val="151515"/>
                </a:solidFill>
                <a:latin typeface="Arial"/>
              </a:rPr>
              <a:t>Không cần chuẩn hoá đặc trưng.</a:t>
            </a:r>
          </a:p>
          <a:p>
            <a:pPr algn="l">
              <a:spcBef>
                <a:spcPts val="300"/>
              </a:spcBef>
            </a:pPr>
            <a:r>
              <a:rPr sz="1100" b="0">
                <a:solidFill>
                  <a:srgbClr val="151515"/>
                </a:solidFill>
                <a:latin typeface="Arial"/>
              </a:rPr>
              <a:t>Built-in regularization (l2_leaf_reg).</a:t>
            </a:r>
          </a:p>
          <a:p>
            <a:pPr algn="l">
              <a:spcBef>
                <a:spcPts val="300"/>
              </a:spcBef>
            </a:pPr>
            <a:r>
              <a:rPr sz="1100" b="0">
                <a:solidFill>
                  <a:srgbClr val="151515"/>
                </a:solidFill>
                <a:latin typeface="Arial"/>
              </a:rPr>
              <a:t>thread_count = 1 → Tái lập 100%.</a:t>
            </a:r>
          </a:p>
          <a:p>
            <a:pPr algn="l">
              <a:spcBef>
                <a:spcPts val="300"/>
              </a:spcBef>
            </a:pPr>
            <a:r>
              <a:rPr sz="1100" b="0">
                <a:solidFill>
                  <a:srgbClr val="151515"/>
                </a:solidFill>
                <a:latin typeface="Arial"/>
              </a:rPr>
              <a:t/>
            </a:r>
          </a:p>
          <a:p>
            <a:pPr algn="l">
              <a:spcBef>
                <a:spcPts val="300"/>
              </a:spcBef>
            </a:pPr>
            <a:r>
              <a:rPr sz="1100" b="0">
                <a:solidFill>
                  <a:srgbClr val="151515"/>
                </a:solidFill>
                <a:latin typeface="Arial"/>
              </a:rPr>
              <a:t>Tốt hơn Logistic Regression (quá đơn giản)</a:t>
            </a:r>
          </a:p>
          <a:p>
            <a:pPr algn="l">
              <a:spcBef>
                <a:spcPts val="300"/>
              </a:spcBef>
            </a:pPr>
            <a:r>
              <a:rPr sz="1100" b="0">
                <a:solidFill>
                  <a:srgbClr val="151515"/>
                </a:solidFill>
                <a:latin typeface="Arial"/>
              </a:rPr>
              <a:t>và Random Forest (dễ overfit với dữ liệu nhiễu).</a:t>
            </a:r>
          </a:p>
        </p:txBody>
      </p:sp>
      <p:sp>
        <p:nvSpPr>
          <p:cNvPr id="19" name="Rectangle 18"/>
          <p:cNvSpPr/>
          <p:nvPr/>
        </p:nvSpPr>
        <p:spPr>
          <a:xfrm>
            <a:off x="274320" y="4297680"/>
            <a:ext cx="5029200" cy="21945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4343400"/>
            <a:ext cx="4846320" cy="347472"/>
          </a:xfrm>
          <a:prstGeom prst="rect">
            <a:avLst/>
          </a:prstGeom>
          <a:noFill/>
        </p:spPr>
        <p:txBody>
          <a:bodyPr wrap="square">
            <a:spAutoFit/>
          </a:bodyPr>
          <a:lstStyle/>
          <a:p>
            <a:pPr algn="l"/>
            <a:r>
              <a:rPr sz="1200" b="1" i="0">
                <a:solidFill>
                  <a:srgbClr val="1565C0"/>
                </a:solidFill>
                <a:latin typeface="Arial"/>
              </a:rPr>
              <a:t>⚙️  Siêu tham số</a:t>
            </a:r>
          </a:p>
        </p:txBody>
      </p:sp>
      <p:sp>
        <p:nvSpPr>
          <p:cNvPr id="21" name="TextBox 20"/>
          <p:cNvSpPr txBox="1"/>
          <p:nvPr/>
        </p:nvSpPr>
        <p:spPr>
          <a:xfrm>
            <a:off x="365760" y="4736592"/>
            <a:ext cx="1627632" cy="365760"/>
          </a:xfrm>
          <a:prstGeom prst="rect">
            <a:avLst/>
          </a:prstGeom>
          <a:noFill/>
        </p:spPr>
        <p:txBody>
          <a:bodyPr wrap="square">
            <a:spAutoFit/>
          </a:bodyPr>
          <a:lstStyle/>
          <a:p>
            <a:pPr algn="l"/>
            <a:r>
              <a:rPr sz="1000" b="0" i="0">
                <a:solidFill>
                  <a:srgbClr val="151515"/>
                </a:solidFill>
                <a:latin typeface="Arial"/>
              </a:rPr>
              <a:t>• iterations = 600</a:t>
            </a:r>
          </a:p>
        </p:txBody>
      </p:sp>
      <p:sp>
        <p:nvSpPr>
          <p:cNvPr id="22" name="TextBox 21"/>
          <p:cNvSpPr txBox="1"/>
          <p:nvPr/>
        </p:nvSpPr>
        <p:spPr>
          <a:xfrm>
            <a:off x="2029968" y="4736592"/>
            <a:ext cx="1627632" cy="365760"/>
          </a:xfrm>
          <a:prstGeom prst="rect">
            <a:avLst/>
          </a:prstGeom>
          <a:noFill/>
        </p:spPr>
        <p:txBody>
          <a:bodyPr wrap="square">
            <a:spAutoFit/>
          </a:bodyPr>
          <a:lstStyle/>
          <a:p>
            <a:pPr algn="l"/>
            <a:r>
              <a:rPr sz="1000" b="0" i="0">
                <a:solidFill>
                  <a:srgbClr val="151515"/>
                </a:solidFill>
                <a:latin typeface="Arial"/>
              </a:rPr>
              <a:t>• depth = 6</a:t>
            </a:r>
          </a:p>
        </p:txBody>
      </p:sp>
      <p:sp>
        <p:nvSpPr>
          <p:cNvPr id="23" name="TextBox 22"/>
          <p:cNvSpPr txBox="1"/>
          <p:nvPr/>
        </p:nvSpPr>
        <p:spPr>
          <a:xfrm>
            <a:off x="3694176" y="4736592"/>
            <a:ext cx="1627632" cy="365760"/>
          </a:xfrm>
          <a:prstGeom prst="rect">
            <a:avLst/>
          </a:prstGeom>
          <a:noFill/>
        </p:spPr>
        <p:txBody>
          <a:bodyPr wrap="square">
            <a:spAutoFit/>
          </a:bodyPr>
          <a:lstStyle/>
          <a:p>
            <a:pPr algn="l"/>
            <a:r>
              <a:rPr sz="1000" b="0" i="0">
                <a:solidFill>
                  <a:srgbClr val="151515"/>
                </a:solidFill>
                <a:latin typeface="Arial"/>
              </a:rPr>
              <a:t>• l2_leaf_reg = 3.0</a:t>
            </a:r>
          </a:p>
        </p:txBody>
      </p:sp>
      <p:sp>
        <p:nvSpPr>
          <p:cNvPr id="24" name="TextBox 23"/>
          <p:cNvSpPr txBox="1"/>
          <p:nvPr/>
        </p:nvSpPr>
        <p:spPr>
          <a:xfrm>
            <a:off x="365760" y="5157216"/>
            <a:ext cx="1627632" cy="365760"/>
          </a:xfrm>
          <a:prstGeom prst="rect">
            <a:avLst/>
          </a:prstGeom>
          <a:noFill/>
        </p:spPr>
        <p:txBody>
          <a:bodyPr wrap="square">
            <a:spAutoFit/>
          </a:bodyPr>
          <a:lstStyle/>
          <a:p>
            <a:pPr algn="l"/>
            <a:r>
              <a:rPr sz="1000" b="0" i="0">
                <a:solidFill>
                  <a:srgbClr val="151515"/>
                </a:solidFill>
                <a:latin typeface="Arial"/>
              </a:rPr>
              <a:t>• class_weights = 'Balanced'</a:t>
            </a:r>
          </a:p>
        </p:txBody>
      </p:sp>
      <p:sp>
        <p:nvSpPr>
          <p:cNvPr id="25" name="TextBox 24"/>
          <p:cNvSpPr txBox="1"/>
          <p:nvPr/>
        </p:nvSpPr>
        <p:spPr>
          <a:xfrm>
            <a:off x="2029968" y="5157216"/>
            <a:ext cx="1627632" cy="365760"/>
          </a:xfrm>
          <a:prstGeom prst="rect">
            <a:avLst/>
          </a:prstGeom>
          <a:noFill/>
        </p:spPr>
        <p:txBody>
          <a:bodyPr wrap="square">
            <a:spAutoFit/>
          </a:bodyPr>
          <a:lstStyle/>
          <a:p>
            <a:pPr algn="l"/>
            <a:r>
              <a:rPr sz="1000" b="0" i="0">
                <a:solidFill>
                  <a:srgbClr val="151515"/>
                </a:solidFill>
                <a:latin typeface="Arial"/>
              </a:rPr>
              <a:t>• random_seed = 42</a:t>
            </a:r>
          </a:p>
        </p:txBody>
      </p:sp>
      <p:sp>
        <p:nvSpPr>
          <p:cNvPr id="26" name="TextBox 25"/>
          <p:cNvSpPr txBox="1"/>
          <p:nvPr/>
        </p:nvSpPr>
        <p:spPr>
          <a:xfrm>
            <a:off x="3694176" y="5157216"/>
            <a:ext cx="1627632" cy="365760"/>
          </a:xfrm>
          <a:prstGeom prst="rect">
            <a:avLst/>
          </a:prstGeom>
          <a:noFill/>
        </p:spPr>
        <p:txBody>
          <a:bodyPr wrap="square">
            <a:spAutoFit/>
          </a:bodyPr>
          <a:lstStyle/>
          <a:p>
            <a:pPr algn="l"/>
            <a:r>
              <a:rPr sz="1000" b="0" i="0">
                <a:solidFill>
                  <a:srgbClr val="151515"/>
                </a:solidFill>
                <a:latin typeface="Arial"/>
              </a:rPr>
              <a:t>• thread_count = 1  ← Tái lập 100%</a:t>
            </a:r>
          </a:p>
        </p:txBody>
      </p:sp>
      <p:pic>
        <p:nvPicPr>
          <p:cNvPr id="27" name="Picture 26" descr="03_catboost_feature_importance.png"/>
          <p:cNvPicPr>
            <a:picLocks noChangeAspect="1"/>
          </p:cNvPicPr>
          <p:nvPr/>
        </p:nvPicPr>
        <p:blipFill>
          <a:blip r:embed="rId2"/>
          <a:stretch>
            <a:fillRect/>
          </a:stretch>
        </p:blipFill>
        <p:spPr>
          <a:xfrm>
            <a:off x="5440680" y="1115568"/>
            <a:ext cx="6492240" cy="53492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0233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5720"/>
            <a:ext cx="2437790" cy="310896"/>
          </a:xfrm>
          <a:prstGeom prst="rect">
            <a:avLst/>
          </a:prstGeom>
          <a:noFill/>
        </p:spPr>
        <p:txBody>
          <a:bodyPr wrap="square">
            <a:spAutoFit/>
          </a:bodyPr>
          <a:lstStyle/>
          <a:p>
            <a:pPr algn="ctr"/>
            <a:r>
              <a:rPr sz="850" b="0" i="0">
                <a:solidFill>
                  <a:srgbClr val="FFFFFF"/>
                </a:solidFill>
                <a:latin typeface="Arial"/>
              </a:rPr>
              <a:t>① Bối cảnh &amp; Mục tiêu</a:t>
            </a:r>
          </a:p>
        </p:txBody>
      </p:sp>
      <p:sp>
        <p:nvSpPr>
          <p:cNvPr id="4" name="TextBox 3"/>
          <p:cNvSpPr txBox="1"/>
          <p:nvPr/>
        </p:nvSpPr>
        <p:spPr>
          <a:xfrm>
            <a:off x="2437790" y="45720"/>
            <a:ext cx="2437790" cy="310896"/>
          </a:xfrm>
          <a:prstGeom prst="rect">
            <a:avLst/>
          </a:prstGeom>
          <a:noFill/>
        </p:spPr>
        <p:txBody>
          <a:bodyPr wrap="square">
            <a:spAutoFit/>
          </a:bodyPr>
          <a:lstStyle/>
          <a:p>
            <a:pPr algn="ctr"/>
            <a:r>
              <a:rPr sz="850" b="0" i="0">
                <a:solidFill>
                  <a:srgbClr val="FFFFFF"/>
                </a:solidFill>
                <a:latin typeface="Arial"/>
              </a:rPr>
              <a:t>② Dữ liệu &amp; Kiến trúc</a:t>
            </a:r>
          </a:p>
        </p:txBody>
      </p:sp>
      <p:sp>
        <p:nvSpPr>
          <p:cNvPr id="5" name="TextBox 4"/>
          <p:cNvSpPr txBox="1"/>
          <p:nvPr/>
        </p:nvSpPr>
        <p:spPr>
          <a:xfrm>
            <a:off x="4875580" y="45720"/>
            <a:ext cx="2437790" cy="310896"/>
          </a:xfrm>
          <a:prstGeom prst="rect">
            <a:avLst/>
          </a:prstGeom>
          <a:noFill/>
        </p:spPr>
        <p:txBody>
          <a:bodyPr wrap="square">
            <a:spAutoFit/>
          </a:bodyPr>
          <a:lstStyle/>
          <a:p>
            <a:pPr algn="ctr"/>
            <a:r>
              <a:rPr sz="850" b="0" i="0">
                <a:solidFill>
                  <a:srgbClr val="FFFFFF"/>
                </a:solidFill>
                <a:latin typeface="Arial"/>
              </a:rPr>
              <a:t>③ Phương pháp chia</a:t>
            </a:r>
          </a:p>
        </p:txBody>
      </p:sp>
      <p:sp>
        <p:nvSpPr>
          <p:cNvPr id="6" name="Rectangle 5"/>
          <p:cNvSpPr/>
          <p:nvPr/>
        </p:nvSpPr>
        <p:spPr>
          <a:xfrm>
            <a:off x="7359091" y="27432"/>
            <a:ext cx="234635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3371" y="45720"/>
            <a:ext cx="2437790" cy="310896"/>
          </a:xfrm>
          <a:prstGeom prst="rect">
            <a:avLst/>
          </a:prstGeom>
          <a:noFill/>
        </p:spPr>
        <p:txBody>
          <a:bodyPr wrap="square">
            <a:spAutoFit/>
          </a:bodyPr>
          <a:lstStyle/>
          <a:p>
            <a:pPr algn="ctr"/>
            <a:r>
              <a:rPr sz="850" b="1" i="0">
                <a:solidFill>
                  <a:srgbClr val="1565C0"/>
                </a:solidFill>
                <a:latin typeface="Arial"/>
              </a:rPr>
              <a:t>④ Kết quả</a:t>
            </a:r>
          </a:p>
        </p:txBody>
      </p:sp>
      <p:sp>
        <p:nvSpPr>
          <p:cNvPr id="8" name="TextBox 7"/>
          <p:cNvSpPr txBox="1"/>
          <p:nvPr/>
        </p:nvSpPr>
        <p:spPr>
          <a:xfrm>
            <a:off x="9751161" y="45720"/>
            <a:ext cx="2437790" cy="310896"/>
          </a:xfrm>
          <a:prstGeom prst="rect">
            <a:avLst/>
          </a:prstGeom>
          <a:noFill/>
        </p:spPr>
        <p:txBody>
          <a:bodyPr wrap="square">
            <a:spAutoFit/>
          </a:bodyPr>
          <a:lstStyle/>
          <a:p>
            <a:pPr algn="ctr"/>
            <a:r>
              <a:rPr sz="850" b="0" i="0">
                <a:solidFill>
                  <a:srgbClr val="FFFFFF"/>
                </a:solidFill>
                <a:latin typeface="Arial"/>
              </a:rPr>
              <a:t>⑤ Kết luận</a:t>
            </a:r>
          </a:p>
        </p:txBody>
      </p:sp>
      <p:sp>
        <p:nvSpPr>
          <p:cNvPr id="9" name="Rectangle 8"/>
          <p:cNvSpPr/>
          <p:nvPr/>
        </p:nvSpPr>
        <p:spPr>
          <a:xfrm>
            <a:off x="0" y="402336"/>
            <a:ext cx="121889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4592" y="54864"/>
            <a:ext cx="530352" cy="274320"/>
          </a:xfrm>
          <a:prstGeom prst="rect">
            <a:avLst/>
          </a:prstGeom>
          <a:noFill/>
        </p:spPr>
        <p:txBody>
          <a:bodyPr wrap="square">
            <a:spAutoFit/>
          </a:bodyPr>
          <a:lstStyle/>
          <a:p>
            <a:pPr algn="r"/>
            <a:r>
              <a:rPr sz="850" b="0" i="0">
                <a:solidFill>
                  <a:srgbClr val="FFFFFF"/>
                </a:solidFill>
                <a:latin typeface="Arial"/>
              </a:rPr>
              <a:t>10/18</a:t>
            </a:r>
          </a:p>
        </p:txBody>
      </p:sp>
      <p:sp>
        <p:nvSpPr>
          <p:cNvPr id="11" name="Rectangle 10"/>
          <p:cNvSpPr/>
          <p:nvPr/>
        </p:nvSpPr>
        <p:spPr>
          <a:xfrm>
            <a:off x="320040" y="530352"/>
            <a:ext cx="1154887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005840"/>
            <a:ext cx="1154887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48640"/>
            <a:ext cx="11274552" cy="438912"/>
          </a:xfrm>
          <a:prstGeom prst="rect">
            <a:avLst/>
          </a:prstGeom>
          <a:noFill/>
        </p:spPr>
        <p:txBody>
          <a:bodyPr wrap="square">
            <a:spAutoFit/>
          </a:bodyPr>
          <a:lstStyle/>
          <a:p>
            <a:pPr algn="l"/>
            <a:r>
              <a:rPr sz="1500" b="1" i="0">
                <a:solidFill>
                  <a:srgbClr val="151515"/>
                </a:solidFill>
                <a:latin typeface="Arial"/>
              </a:rPr>
              <a:t>⭐  Kết quả Cốt lõi — Bảng Đối soát &amp; Biểu đồ ROC</a:t>
            </a:r>
          </a:p>
        </p:txBody>
      </p:sp>
      <p:sp>
        <p:nvSpPr>
          <p:cNvPr id="14" name="TextBox 13"/>
          <p:cNvSpPr txBox="1"/>
          <p:nvPr/>
        </p:nvSpPr>
        <p:spPr>
          <a:xfrm>
            <a:off x="365760" y="1060704"/>
            <a:ext cx="11274552" cy="274320"/>
          </a:xfrm>
          <a:prstGeom prst="rect">
            <a:avLst/>
          </a:prstGeom>
          <a:noFill/>
        </p:spPr>
        <p:txBody>
          <a:bodyPr wrap="square">
            <a:spAutoFit/>
          </a:bodyPr>
          <a:lstStyle/>
          <a:p>
            <a:pPr algn="l"/>
            <a:r>
              <a:rPr sz="950" b="0" i="1">
                <a:solidFill>
                  <a:srgbClr val="555555"/>
                </a:solidFill>
                <a:latin typeface="Arial"/>
              </a:rPr>
              <a:t>Chứng minh bằng số liệu: Phương pháp chia dữ liệu ảnh hưởng trực tiếp đến độ tin cậy</a:t>
            </a:r>
          </a:p>
        </p:txBody>
      </p:sp>
      <p:sp>
        <p:nvSpPr>
          <p:cNvPr id="15" name="Rectangle 14"/>
          <p:cNvSpPr/>
          <p:nvPr/>
        </p:nvSpPr>
        <p:spPr>
          <a:xfrm>
            <a:off x="274320" y="1170432"/>
            <a:ext cx="2148840" cy="329184"/>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1751" y="1188720"/>
            <a:ext cx="2093976" cy="292608"/>
          </a:xfrm>
          <a:prstGeom prst="rect">
            <a:avLst/>
          </a:prstGeom>
          <a:noFill/>
        </p:spPr>
        <p:txBody>
          <a:bodyPr wrap="square">
            <a:spAutoFit/>
          </a:bodyPr>
          <a:lstStyle/>
          <a:p>
            <a:pPr algn="ctr"/>
            <a:r>
              <a:rPr sz="950" b="1" i="0">
                <a:solidFill>
                  <a:srgbClr val="FFFFFF"/>
                </a:solidFill>
                <a:latin typeface="Arial"/>
              </a:rPr>
              <a:t>Phương pháp</a:t>
            </a:r>
          </a:p>
        </p:txBody>
      </p:sp>
      <p:sp>
        <p:nvSpPr>
          <p:cNvPr id="17" name="Rectangle 16"/>
          <p:cNvSpPr/>
          <p:nvPr/>
        </p:nvSpPr>
        <p:spPr>
          <a:xfrm>
            <a:off x="2459736" y="1170432"/>
            <a:ext cx="914400" cy="329184"/>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87168" y="1188720"/>
            <a:ext cx="859536" cy="292608"/>
          </a:xfrm>
          <a:prstGeom prst="rect">
            <a:avLst/>
          </a:prstGeom>
          <a:noFill/>
        </p:spPr>
        <p:txBody>
          <a:bodyPr wrap="square">
            <a:spAutoFit/>
          </a:bodyPr>
          <a:lstStyle/>
          <a:p>
            <a:pPr algn="ctr"/>
            <a:r>
              <a:rPr sz="950" b="1" i="0">
                <a:solidFill>
                  <a:srgbClr val="FFFFFF"/>
                </a:solidFill>
                <a:latin typeface="Arial"/>
              </a:rPr>
              <a:t>Rò rỉ</a:t>
            </a:r>
          </a:p>
        </p:txBody>
      </p:sp>
      <p:sp>
        <p:nvSpPr>
          <p:cNvPr id="19" name="Rectangle 18"/>
          <p:cNvSpPr/>
          <p:nvPr/>
        </p:nvSpPr>
        <p:spPr>
          <a:xfrm>
            <a:off x="3410712" y="1170432"/>
            <a:ext cx="749808" cy="329184"/>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38144" y="1188720"/>
            <a:ext cx="694944" cy="292608"/>
          </a:xfrm>
          <a:prstGeom prst="rect">
            <a:avLst/>
          </a:prstGeom>
          <a:noFill/>
        </p:spPr>
        <p:txBody>
          <a:bodyPr wrap="square">
            <a:spAutoFit/>
          </a:bodyPr>
          <a:lstStyle/>
          <a:p>
            <a:pPr algn="ctr"/>
            <a:r>
              <a:rPr sz="950" b="1" i="0">
                <a:solidFill>
                  <a:srgbClr val="FFFFFF"/>
                </a:solidFill>
                <a:latin typeface="Arial"/>
              </a:rPr>
              <a:t>AUC</a:t>
            </a:r>
          </a:p>
        </p:txBody>
      </p:sp>
      <p:sp>
        <p:nvSpPr>
          <p:cNvPr id="21" name="Rectangle 20"/>
          <p:cNvSpPr/>
          <p:nvPr/>
        </p:nvSpPr>
        <p:spPr>
          <a:xfrm>
            <a:off x="4197096" y="1170432"/>
            <a:ext cx="1920240" cy="329184"/>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24528" y="1188720"/>
            <a:ext cx="1865376" cy="292608"/>
          </a:xfrm>
          <a:prstGeom prst="rect">
            <a:avLst/>
          </a:prstGeom>
          <a:noFill/>
        </p:spPr>
        <p:txBody>
          <a:bodyPr wrap="square">
            <a:spAutoFit/>
          </a:bodyPr>
          <a:lstStyle/>
          <a:p>
            <a:pPr algn="ctr"/>
            <a:r>
              <a:rPr sz="950" b="1" i="0">
                <a:solidFill>
                  <a:srgbClr val="FFFFFF"/>
                </a:solidFill>
                <a:latin typeface="Arial"/>
              </a:rPr>
              <a:t>Nhận xét</a:t>
            </a:r>
          </a:p>
        </p:txBody>
      </p:sp>
      <p:sp>
        <p:nvSpPr>
          <p:cNvPr id="23" name="Rectangle 22"/>
          <p:cNvSpPr/>
          <p:nvPr/>
        </p:nvSpPr>
        <p:spPr>
          <a:xfrm>
            <a:off x="274320" y="1517904"/>
            <a:ext cx="2148840" cy="402336"/>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0896" y="1554480"/>
            <a:ext cx="2075688" cy="329184"/>
          </a:xfrm>
          <a:prstGeom prst="rect">
            <a:avLst/>
          </a:prstGeom>
          <a:noFill/>
        </p:spPr>
        <p:txBody>
          <a:bodyPr wrap="square">
            <a:spAutoFit/>
          </a:bodyPr>
          <a:lstStyle/>
          <a:p>
            <a:pPr algn="l"/>
            <a:r>
              <a:rPr sz="1000" b="0" i="0">
                <a:solidFill>
                  <a:srgbClr val="151515"/>
                </a:solidFill>
                <a:latin typeface="Arial"/>
              </a:rPr>
              <a:t>Cách 1: Random K-Fold</a:t>
            </a:r>
          </a:p>
        </p:txBody>
      </p:sp>
      <p:sp>
        <p:nvSpPr>
          <p:cNvPr id="25" name="Rectangle 24"/>
          <p:cNvSpPr/>
          <p:nvPr/>
        </p:nvSpPr>
        <p:spPr>
          <a:xfrm>
            <a:off x="2459736" y="1517904"/>
            <a:ext cx="914400" cy="402336"/>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96312" y="1554480"/>
            <a:ext cx="841248" cy="329184"/>
          </a:xfrm>
          <a:prstGeom prst="rect">
            <a:avLst/>
          </a:prstGeom>
          <a:noFill/>
        </p:spPr>
        <p:txBody>
          <a:bodyPr wrap="square">
            <a:spAutoFit/>
          </a:bodyPr>
          <a:lstStyle/>
          <a:p>
            <a:pPr algn="ctr"/>
            <a:r>
              <a:rPr sz="1000" b="0" i="0">
                <a:solidFill>
                  <a:srgbClr val="151515"/>
                </a:solidFill>
                <a:latin typeface="Arial"/>
              </a:rPr>
              <a:t>Cực nặng</a:t>
            </a:r>
          </a:p>
        </p:txBody>
      </p:sp>
      <p:sp>
        <p:nvSpPr>
          <p:cNvPr id="27" name="Rectangle 26"/>
          <p:cNvSpPr/>
          <p:nvPr/>
        </p:nvSpPr>
        <p:spPr>
          <a:xfrm>
            <a:off x="3410712" y="1517904"/>
            <a:ext cx="749808" cy="402336"/>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47288" y="1554480"/>
            <a:ext cx="676656" cy="329184"/>
          </a:xfrm>
          <a:prstGeom prst="rect">
            <a:avLst/>
          </a:prstGeom>
          <a:noFill/>
        </p:spPr>
        <p:txBody>
          <a:bodyPr wrap="square">
            <a:spAutoFit/>
          </a:bodyPr>
          <a:lstStyle/>
          <a:p>
            <a:pPr algn="ctr"/>
            <a:r>
              <a:rPr sz="1000" b="0" i="0">
                <a:solidFill>
                  <a:srgbClr val="151515"/>
                </a:solidFill>
                <a:latin typeface="Arial"/>
              </a:rPr>
              <a:t>0.8582</a:t>
            </a:r>
          </a:p>
        </p:txBody>
      </p:sp>
      <p:sp>
        <p:nvSpPr>
          <p:cNvPr id="29" name="Rectangle 28"/>
          <p:cNvSpPr/>
          <p:nvPr/>
        </p:nvSpPr>
        <p:spPr>
          <a:xfrm>
            <a:off x="4197096" y="1517904"/>
            <a:ext cx="1920240" cy="402336"/>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33672" y="1554480"/>
            <a:ext cx="1847088" cy="329184"/>
          </a:xfrm>
          <a:prstGeom prst="rect">
            <a:avLst/>
          </a:prstGeom>
          <a:noFill/>
        </p:spPr>
        <p:txBody>
          <a:bodyPr wrap="square">
            <a:spAutoFit/>
          </a:bodyPr>
          <a:lstStyle/>
          <a:p>
            <a:pPr algn="ctr"/>
            <a:r>
              <a:rPr sz="1000" b="0" i="0">
                <a:solidFill>
                  <a:srgbClr val="151515"/>
                </a:solidFill>
                <a:latin typeface="Arial"/>
              </a:rPr>
              <a:t>❌ Ảo giác</a:t>
            </a:r>
          </a:p>
        </p:txBody>
      </p:sp>
      <p:sp>
        <p:nvSpPr>
          <p:cNvPr id="31" name="Rectangle 30"/>
          <p:cNvSpPr/>
          <p:nvPr/>
        </p:nvSpPr>
        <p:spPr>
          <a:xfrm>
            <a:off x="274320" y="1975104"/>
            <a:ext cx="2148840" cy="402336"/>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0896" y="2011680"/>
            <a:ext cx="2075688" cy="329184"/>
          </a:xfrm>
          <a:prstGeom prst="rect">
            <a:avLst/>
          </a:prstGeom>
          <a:noFill/>
        </p:spPr>
        <p:txBody>
          <a:bodyPr wrap="square">
            <a:spAutoFit/>
          </a:bodyPr>
          <a:lstStyle/>
          <a:p>
            <a:pPr algn="l"/>
            <a:r>
              <a:rPr sz="1000" b="0" i="0">
                <a:solidFill>
                  <a:srgbClr val="151515"/>
                </a:solidFill>
                <a:latin typeface="Arial"/>
              </a:rPr>
              <a:t>Cách 1b: Grouped K-Fold</a:t>
            </a:r>
          </a:p>
        </p:txBody>
      </p:sp>
      <p:sp>
        <p:nvSpPr>
          <p:cNvPr id="33" name="Rectangle 32"/>
          <p:cNvSpPr/>
          <p:nvPr/>
        </p:nvSpPr>
        <p:spPr>
          <a:xfrm>
            <a:off x="2459736" y="1975104"/>
            <a:ext cx="914400" cy="402336"/>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496312" y="2011680"/>
            <a:ext cx="841248" cy="329184"/>
          </a:xfrm>
          <a:prstGeom prst="rect">
            <a:avLst/>
          </a:prstGeom>
          <a:noFill/>
        </p:spPr>
        <p:txBody>
          <a:bodyPr wrap="square">
            <a:spAutoFit/>
          </a:bodyPr>
          <a:lstStyle/>
          <a:p>
            <a:pPr algn="ctr"/>
            <a:r>
              <a:rPr sz="1000" b="0" i="0">
                <a:solidFill>
                  <a:srgbClr val="151515"/>
                </a:solidFill>
                <a:latin typeface="Arial"/>
              </a:rPr>
              <a:t>Vừa</a:t>
            </a:r>
          </a:p>
        </p:txBody>
      </p:sp>
      <p:sp>
        <p:nvSpPr>
          <p:cNvPr id="35" name="Rectangle 34"/>
          <p:cNvSpPr/>
          <p:nvPr/>
        </p:nvSpPr>
        <p:spPr>
          <a:xfrm>
            <a:off x="3410712" y="1975104"/>
            <a:ext cx="749808" cy="402336"/>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447288" y="2011680"/>
            <a:ext cx="676656" cy="329184"/>
          </a:xfrm>
          <a:prstGeom prst="rect">
            <a:avLst/>
          </a:prstGeom>
          <a:noFill/>
        </p:spPr>
        <p:txBody>
          <a:bodyPr wrap="square">
            <a:spAutoFit/>
          </a:bodyPr>
          <a:lstStyle/>
          <a:p>
            <a:pPr algn="ctr"/>
            <a:r>
              <a:rPr sz="1000" b="0" i="0">
                <a:solidFill>
                  <a:srgbClr val="151515"/>
                </a:solidFill>
                <a:latin typeface="Arial"/>
              </a:rPr>
              <a:t>0.7454</a:t>
            </a:r>
          </a:p>
        </p:txBody>
      </p:sp>
      <p:sp>
        <p:nvSpPr>
          <p:cNvPr id="37" name="Rectangle 36"/>
          <p:cNvSpPr/>
          <p:nvPr/>
        </p:nvSpPr>
        <p:spPr>
          <a:xfrm>
            <a:off x="4197096" y="1975104"/>
            <a:ext cx="1920240" cy="402336"/>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33672" y="2011680"/>
            <a:ext cx="1847088" cy="329184"/>
          </a:xfrm>
          <a:prstGeom prst="rect">
            <a:avLst/>
          </a:prstGeom>
          <a:noFill/>
        </p:spPr>
        <p:txBody>
          <a:bodyPr wrap="square">
            <a:spAutoFit/>
          </a:bodyPr>
          <a:lstStyle/>
          <a:p>
            <a:pPr algn="ctr"/>
            <a:r>
              <a:rPr sz="1000" b="0" i="0">
                <a:solidFill>
                  <a:srgbClr val="151515"/>
                </a:solidFill>
                <a:latin typeface="Arial"/>
              </a:rPr>
              <a:t>⚠️ Còn cao</a:t>
            </a:r>
          </a:p>
        </p:txBody>
      </p:sp>
      <p:sp>
        <p:nvSpPr>
          <p:cNvPr id="39" name="Rectangle 38"/>
          <p:cNvSpPr/>
          <p:nvPr/>
        </p:nvSpPr>
        <p:spPr>
          <a:xfrm>
            <a:off x="274320" y="2432304"/>
            <a:ext cx="2148840" cy="402336"/>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0896" y="2468880"/>
            <a:ext cx="2075688" cy="329184"/>
          </a:xfrm>
          <a:prstGeom prst="rect">
            <a:avLst/>
          </a:prstGeom>
          <a:noFill/>
        </p:spPr>
        <p:txBody>
          <a:bodyPr wrap="square">
            <a:spAutoFit/>
          </a:bodyPr>
          <a:lstStyle/>
          <a:p>
            <a:pPr algn="l"/>
            <a:r>
              <a:rPr sz="1000" b="0" i="0">
                <a:solidFill>
                  <a:srgbClr val="151515"/>
                </a:solidFill>
                <a:latin typeface="Arial"/>
              </a:rPr>
              <a:t>Cách 2: Walk-Forward</a:t>
            </a:r>
          </a:p>
        </p:txBody>
      </p:sp>
      <p:sp>
        <p:nvSpPr>
          <p:cNvPr id="41" name="Rectangle 40"/>
          <p:cNvSpPr/>
          <p:nvPr/>
        </p:nvSpPr>
        <p:spPr>
          <a:xfrm>
            <a:off x="2459736" y="2432304"/>
            <a:ext cx="914400" cy="402336"/>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496312" y="2468880"/>
            <a:ext cx="841248" cy="329184"/>
          </a:xfrm>
          <a:prstGeom prst="rect">
            <a:avLst/>
          </a:prstGeom>
          <a:noFill/>
        </p:spPr>
        <p:txBody>
          <a:bodyPr wrap="square">
            <a:spAutoFit/>
          </a:bodyPr>
          <a:lstStyle/>
          <a:p>
            <a:pPr algn="ctr"/>
            <a:r>
              <a:rPr sz="1000" b="0" i="0">
                <a:solidFill>
                  <a:srgbClr val="151515"/>
                </a:solidFill>
                <a:latin typeface="Arial"/>
              </a:rPr>
              <a:t>Nhẹ</a:t>
            </a:r>
          </a:p>
        </p:txBody>
      </p:sp>
      <p:sp>
        <p:nvSpPr>
          <p:cNvPr id="43" name="Rectangle 42"/>
          <p:cNvSpPr/>
          <p:nvPr/>
        </p:nvSpPr>
        <p:spPr>
          <a:xfrm>
            <a:off x="3410712" y="2432304"/>
            <a:ext cx="749808" cy="402336"/>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47288" y="2468880"/>
            <a:ext cx="676656" cy="329184"/>
          </a:xfrm>
          <a:prstGeom prst="rect">
            <a:avLst/>
          </a:prstGeom>
          <a:noFill/>
        </p:spPr>
        <p:txBody>
          <a:bodyPr wrap="square">
            <a:spAutoFit/>
          </a:bodyPr>
          <a:lstStyle/>
          <a:p>
            <a:pPr algn="ctr"/>
            <a:r>
              <a:rPr sz="1000" b="0" i="0">
                <a:solidFill>
                  <a:srgbClr val="151515"/>
                </a:solidFill>
                <a:latin typeface="Arial"/>
              </a:rPr>
              <a:t>0.5875</a:t>
            </a:r>
          </a:p>
        </p:txBody>
      </p:sp>
      <p:sp>
        <p:nvSpPr>
          <p:cNvPr id="45" name="Rectangle 44"/>
          <p:cNvSpPr/>
          <p:nvPr/>
        </p:nvSpPr>
        <p:spPr>
          <a:xfrm>
            <a:off x="4197096" y="2432304"/>
            <a:ext cx="1920240" cy="402336"/>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233672" y="2468880"/>
            <a:ext cx="1847088" cy="329184"/>
          </a:xfrm>
          <a:prstGeom prst="rect">
            <a:avLst/>
          </a:prstGeom>
          <a:noFill/>
        </p:spPr>
        <p:txBody>
          <a:bodyPr wrap="square">
            <a:spAutoFit/>
          </a:bodyPr>
          <a:lstStyle/>
          <a:p>
            <a:pPr algn="ctr"/>
            <a:r>
              <a:rPr sz="1000" b="0" i="0">
                <a:solidFill>
                  <a:srgbClr val="151515"/>
                </a:solidFill>
                <a:latin typeface="Arial"/>
              </a:rPr>
              <a:t>✅ Gần thật</a:t>
            </a:r>
          </a:p>
        </p:txBody>
      </p:sp>
      <p:sp>
        <p:nvSpPr>
          <p:cNvPr id="47" name="Rectangle 46"/>
          <p:cNvSpPr/>
          <p:nvPr/>
        </p:nvSpPr>
        <p:spPr>
          <a:xfrm>
            <a:off x="274320" y="2889504"/>
            <a:ext cx="2148840" cy="402336"/>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10896" y="2926080"/>
            <a:ext cx="2075688" cy="329184"/>
          </a:xfrm>
          <a:prstGeom prst="rect">
            <a:avLst/>
          </a:prstGeom>
          <a:noFill/>
        </p:spPr>
        <p:txBody>
          <a:bodyPr wrap="square">
            <a:spAutoFit/>
          </a:bodyPr>
          <a:lstStyle/>
          <a:p>
            <a:pPr algn="l"/>
            <a:r>
              <a:rPr sz="1000" b="0" i="0">
                <a:solidFill>
                  <a:srgbClr val="151515"/>
                </a:solidFill>
                <a:latin typeface="Arial"/>
              </a:rPr>
              <a:t>Cách 3: Purged WF</a:t>
            </a:r>
          </a:p>
        </p:txBody>
      </p:sp>
      <p:sp>
        <p:nvSpPr>
          <p:cNvPr id="49" name="Rectangle 48"/>
          <p:cNvSpPr/>
          <p:nvPr/>
        </p:nvSpPr>
        <p:spPr>
          <a:xfrm>
            <a:off x="2459736" y="2889504"/>
            <a:ext cx="914400" cy="402336"/>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496312" y="2926080"/>
            <a:ext cx="841248" cy="329184"/>
          </a:xfrm>
          <a:prstGeom prst="rect">
            <a:avLst/>
          </a:prstGeom>
          <a:noFill/>
        </p:spPr>
        <p:txBody>
          <a:bodyPr wrap="square">
            <a:spAutoFit/>
          </a:bodyPr>
          <a:lstStyle/>
          <a:p>
            <a:pPr algn="ctr"/>
            <a:r>
              <a:rPr sz="1000" b="0" i="0">
                <a:solidFill>
                  <a:srgbClr val="151515"/>
                </a:solidFill>
                <a:latin typeface="Arial"/>
              </a:rPr>
              <a:t>Triệt để</a:t>
            </a:r>
          </a:p>
        </p:txBody>
      </p:sp>
      <p:sp>
        <p:nvSpPr>
          <p:cNvPr id="51" name="Rectangle 50"/>
          <p:cNvSpPr/>
          <p:nvPr/>
        </p:nvSpPr>
        <p:spPr>
          <a:xfrm>
            <a:off x="3410712" y="2889504"/>
            <a:ext cx="749808" cy="402336"/>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47288" y="2926080"/>
            <a:ext cx="676656" cy="329184"/>
          </a:xfrm>
          <a:prstGeom prst="rect">
            <a:avLst/>
          </a:prstGeom>
          <a:noFill/>
        </p:spPr>
        <p:txBody>
          <a:bodyPr wrap="square">
            <a:spAutoFit/>
          </a:bodyPr>
          <a:lstStyle/>
          <a:p>
            <a:pPr algn="ctr"/>
            <a:r>
              <a:rPr sz="1000" b="0" i="0">
                <a:solidFill>
                  <a:srgbClr val="151515"/>
                </a:solidFill>
                <a:latin typeface="Arial"/>
              </a:rPr>
              <a:t>0.5895</a:t>
            </a:r>
          </a:p>
        </p:txBody>
      </p:sp>
      <p:sp>
        <p:nvSpPr>
          <p:cNvPr id="53" name="Rectangle 52"/>
          <p:cNvSpPr/>
          <p:nvPr/>
        </p:nvSpPr>
        <p:spPr>
          <a:xfrm>
            <a:off x="4197096" y="2889504"/>
            <a:ext cx="1920240" cy="402336"/>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233672" y="2926080"/>
            <a:ext cx="1847088" cy="329184"/>
          </a:xfrm>
          <a:prstGeom prst="rect">
            <a:avLst/>
          </a:prstGeom>
          <a:noFill/>
        </p:spPr>
        <p:txBody>
          <a:bodyPr wrap="square">
            <a:spAutoFit/>
          </a:bodyPr>
          <a:lstStyle/>
          <a:p>
            <a:pPr algn="ctr"/>
            <a:r>
              <a:rPr sz="1000" b="0" i="0">
                <a:solidFill>
                  <a:srgbClr val="151515"/>
                </a:solidFill>
                <a:latin typeface="Arial"/>
              </a:rPr>
              <a:t>🛡️ Chuẩn</a:t>
            </a:r>
          </a:p>
        </p:txBody>
      </p:sp>
      <p:sp>
        <p:nvSpPr>
          <p:cNvPr id="55" name="Rectangle 54"/>
          <p:cNvSpPr/>
          <p:nvPr/>
        </p:nvSpPr>
        <p:spPr>
          <a:xfrm>
            <a:off x="274320" y="3346704"/>
            <a:ext cx="2148840" cy="40233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10896" y="3383280"/>
            <a:ext cx="2075688" cy="329184"/>
          </a:xfrm>
          <a:prstGeom prst="rect">
            <a:avLst/>
          </a:prstGeom>
          <a:noFill/>
        </p:spPr>
        <p:txBody>
          <a:bodyPr wrap="square">
            <a:spAutoFit/>
          </a:bodyPr>
          <a:lstStyle/>
          <a:p>
            <a:pPr algn="l"/>
            <a:r>
              <a:rPr sz="1000" b="1" i="0">
                <a:solidFill>
                  <a:srgbClr val="0D47A1"/>
                </a:solidFill>
                <a:latin typeface="Arial"/>
              </a:rPr>
              <a:t>🎯 Holdout — Thi thật</a:t>
            </a:r>
          </a:p>
        </p:txBody>
      </p:sp>
      <p:sp>
        <p:nvSpPr>
          <p:cNvPr id="57" name="Rectangle 56"/>
          <p:cNvSpPr/>
          <p:nvPr/>
        </p:nvSpPr>
        <p:spPr>
          <a:xfrm>
            <a:off x="2459736" y="3346704"/>
            <a:ext cx="914400" cy="40233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496312" y="3383280"/>
            <a:ext cx="841248" cy="329184"/>
          </a:xfrm>
          <a:prstGeom prst="rect">
            <a:avLst/>
          </a:prstGeom>
          <a:noFill/>
        </p:spPr>
        <p:txBody>
          <a:bodyPr wrap="square">
            <a:spAutoFit/>
          </a:bodyPr>
          <a:lstStyle/>
          <a:p>
            <a:pPr algn="ctr"/>
            <a:r>
              <a:rPr sz="1000" b="1" i="0">
                <a:solidFill>
                  <a:srgbClr val="0D47A1"/>
                </a:solidFill>
                <a:latin typeface="Arial"/>
              </a:rPr>
              <a:t>0% (mù)</a:t>
            </a:r>
          </a:p>
        </p:txBody>
      </p:sp>
      <p:sp>
        <p:nvSpPr>
          <p:cNvPr id="59" name="Rectangle 58"/>
          <p:cNvSpPr/>
          <p:nvPr/>
        </p:nvSpPr>
        <p:spPr>
          <a:xfrm>
            <a:off x="3410712" y="3346704"/>
            <a:ext cx="749808" cy="40233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447288" y="3383280"/>
            <a:ext cx="676656" cy="329184"/>
          </a:xfrm>
          <a:prstGeom prst="rect">
            <a:avLst/>
          </a:prstGeom>
          <a:noFill/>
        </p:spPr>
        <p:txBody>
          <a:bodyPr wrap="square">
            <a:spAutoFit/>
          </a:bodyPr>
          <a:lstStyle/>
          <a:p>
            <a:pPr algn="ctr"/>
            <a:r>
              <a:rPr sz="1000" b="1" i="0">
                <a:solidFill>
                  <a:srgbClr val="0D47A1"/>
                </a:solidFill>
                <a:latin typeface="Arial"/>
              </a:rPr>
              <a:t>0.6046</a:t>
            </a:r>
          </a:p>
        </p:txBody>
      </p:sp>
      <p:sp>
        <p:nvSpPr>
          <p:cNvPr id="61" name="Rectangle 60"/>
          <p:cNvSpPr/>
          <p:nvPr/>
        </p:nvSpPr>
        <p:spPr>
          <a:xfrm>
            <a:off x="4197096" y="3346704"/>
            <a:ext cx="1920240" cy="40233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233672" y="3383280"/>
            <a:ext cx="1847088" cy="329184"/>
          </a:xfrm>
          <a:prstGeom prst="rect">
            <a:avLst/>
          </a:prstGeom>
          <a:noFill/>
        </p:spPr>
        <p:txBody>
          <a:bodyPr wrap="square">
            <a:spAutoFit/>
          </a:bodyPr>
          <a:lstStyle/>
          <a:p>
            <a:pPr algn="ctr"/>
            <a:r>
              <a:rPr sz="1000" b="1" i="0">
                <a:solidFill>
                  <a:srgbClr val="0D47A1"/>
                </a:solidFill>
                <a:latin typeface="Arial"/>
              </a:rPr>
              <a:t>✅ TRÙNG C3!</a:t>
            </a:r>
          </a:p>
        </p:txBody>
      </p:sp>
      <p:sp>
        <p:nvSpPr>
          <p:cNvPr id="63" name="Rectangle 62"/>
          <p:cNvSpPr/>
          <p:nvPr/>
        </p:nvSpPr>
        <p:spPr>
          <a:xfrm>
            <a:off x="274320" y="3895344"/>
            <a:ext cx="5943600" cy="53035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5760" y="3922776"/>
            <a:ext cx="5669280" cy="475488"/>
          </a:xfrm>
          <a:prstGeom prst="rect">
            <a:avLst/>
          </a:prstGeom>
          <a:noFill/>
        </p:spPr>
        <p:txBody>
          <a:bodyPr wrap="square">
            <a:spAutoFit/>
          </a:bodyPr>
          <a:lstStyle/>
          <a:p>
            <a:pPr algn="l"/>
            <a:r>
              <a:rPr sz="1050" b="1" i="0">
                <a:solidFill>
                  <a:srgbClr val="FFFFFF"/>
                </a:solidFill>
                <a:latin typeface="Arial"/>
              </a:rPr>
              <a:t>👉  AUC Cách 1 (0.86) vs Holdout (0.60): Sai lệch 47%!
👉  AUC Cách 3 (0.59) vs Holdout (0.60): Sai lệch chỉ 1.5%! ← Cách 3 = Chuẩn tin cậy</a:t>
            </a:r>
          </a:p>
        </p:txBody>
      </p:sp>
      <p:sp>
        <p:nvSpPr>
          <p:cNvPr id="65" name="Rectangle 64"/>
          <p:cNvSpPr/>
          <p:nvPr/>
        </p:nvSpPr>
        <p:spPr>
          <a:xfrm>
            <a:off x="274320" y="4498848"/>
            <a:ext cx="5943600" cy="19659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274320" y="4498848"/>
            <a:ext cx="5943600" cy="1965960"/>
          </a:xfrm>
          <a:prstGeom prst="rect">
            <a:avLst/>
          </a:prstGeom>
          <a:no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65760" y="4544568"/>
            <a:ext cx="5760720" cy="310896"/>
          </a:xfrm>
          <a:prstGeom prst="rect">
            <a:avLst/>
          </a:prstGeom>
          <a:noFill/>
        </p:spPr>
        <p:txBody>
          <a:bodyPr wrap="square">
            <a:spAutoFit/>
          </a:bodyPr>
          <a:lstStyle/>
          <a:p>
            <a:pPr algn="l"/>
            <a:r>
              <a:rPr sz="1100" b="1" i="0">
                <a:solidFill>
                  <a:srgbClr val="1565C0"/>
                </a:solidFill>
                <a:latin typeface="Arial"/>
              </a:rPr>
              <a:t>📖  Đọc biểu đồ ROC theo 3 nhịp:</a:t>
            </a:r>
          </a:p>
        </p:txBody>
      </p:sp>
      <p:sp>
        <p:nvSpPr>
          <p:cNvPr id="68" name="TextBox 67"/>
          <p:cNvSpPr txBox="1"/>
          <p:nvPr/>
        </p:nvSpPr>
        <p:spPr>
          <a:xfrm>
            <a:off x="365760" y="4892040"/>
            <a:ext cx="5760720" cy="1463040"/>
          </a:xfrm>
          <a:prstGeom prst="rect">
            <a:avLst/>
          </a:prstGeom>
          <a:noFill/>
        </p:spPr>
        <p:txBody>
          <a:bodyPr wrap="square">
            <a:spAutoFit/>
          </a:bodyPr>
          <a:lstStyle/>
          <a:p>
            <a:pPr algn="l">
              <a:spcBef>
                <a:spcPts val="500"/>
              </a:spcBef>
            </a:pPr>
            <a:r>
              <a:rPr sz="1100" b="0">
                <a:solidFill>
                  <a:srgbClr val="B71C1C"/>
                </a:solidFill>
                <a:latin typeface="Arial"/>
              </a:rPr>
              <a:t>Nhịp 1 — Đường đỏ AUC 0.86: Trông đẹp nhưng là ảo do rò rỉ.</a:t>
            </a:r>
          </a:p>
          <a:p>
            <a:pPr algn="l">
              <a:spcBef>
                <a:spcPts val="500"/>
              </a:spcBef>
            </a:pPr>
            <a:r>
              <a:rPr sz="1100" b="0">
                <a:solidFill>
                  <a:srgbClr val="1B5E20"/>
                </a:solidFill>
                <a:latin typeface="Arial"/>
              </a:rPr>
              <a:t>Nhịp 2 — Đường xanh/vàng 0.59: Thấp hơn nhưng phản ánh độ khó thật của bài toán.</a:t>
            </a:r>
          </a:p>
          <a:p>
            <a:pPr algn="l">
              <a:spcBef>
                <a:spcPts val="500"/>
              </a:spcBef>
            </a:pPr>
            <a:r>
              <a:rPr sz="1150" b="1">
                <a:solidFill>
                  <a:srgbClr val="0D47A1"/>
                </a:solidFill>
                <a:latin typeface="Arial"/>
              </a:rPr>
              <a:t>Nhịp 3 — Đường đứt nét Holdout 0.60 ≈ Cách 3 (0.59) ← Chứng minh Cách 3 là đúng!</a:t>
            </a:r>
          </a:p>
        </p:txBody>
      </p:sp>
      <p:pic>
        <p:nvPicPr>
          <p:cNvPr id="69" name="Picture 68" descr="05_roc_curves_comparison.png"/>
          <p:cNvPicPr>
            <a:picLocks noChangeAspect="1"/>
          </p:cNvPicPr>
          <p:nvPr/>
        </p:nvPicPr>
        <p:blipFill>
          <a:blip r:embed="rId2"/>
          <a:stretch>
            <a:fillRect/>
          </a:stretch>
        </p:blipFill>
        <p:spPr>
          <a:xfrm>
            <a:off x="6355080" y="1115568"/>
            <a:ext cx="5577840" cy="53492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0233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5720"/>
            <a:ext cx="2437790" cy="310896"/>
          </a:xfrm>
          <a:prstGeom prst="rect">
            <a:avLst/>
          </a:prstGeom>
          <a:noFill/>
        </p:spPr>
        <p:txBody>
          <a:bodyPr wrap="square">
            <a:spAutoFit/>
          </a:bodyPr>
          <a:lstStyle/>
          <a:p>
            <a:pPr algn="ctr"/>
            <a:r>
              <a:rPr sz="850" b="0" i="0">
                <a:solidFill>
                  <a:srgbClr val="FFFFFF"/>
                </a:solidFill>
                <a:latin typeface="Arial"/>
              </a:rPr>
              <a:t>① Bối cảnh &amp; Mục tiêu</a:t>
            </a:r>
          </a:p>
        </p:txBody>
      </p:sp>
      <p:sp>
        <p:nvSpPr>
          <p:cNvPr id="4" name="TextBox 3"/>
          <p:cNvSpPr txBox="1"/>
          <p:nvPr/>
        </p:nvSpPr>
        <p:spPr>
          <a:xfrm>
            <a:off x="2437790" y="45720"/>
            <a:ext cx="2437790" cy="310896"/>
          </a:xfrm>
          <a:prstGeom prst="rect">
            <a:avLst/>
          </a:prstGeom>
          <a:noFill/>
        </p:spPr>
        <p:txBody>
          <a:bodyPr wrap="square">
            <a:spAutoFit/>
          </a:bodyPr>
          <a:lstStyle/>
          <a:p>
            <a:pPr algn="ctr"/>
            <a:r>
              <a:rPr sz="850" b="0" i="0">
                <a:solidFill>
                  <a:srgbClr val="FFFFFF"/>
                </a:solidFill>
                <a:latin typeface="Arial"/>
              </a:rPr>
              <a:t>② Dữ liệu &amp; Kiến trúc</a:t>
            </a:r>
          </a:p>
        </p:txBody>
      </p:sp>
      <p:sp>
        <p:nvSpPr>
          <p:cNvPr id="5" name="TextBox 4"/>
          <p:cNvSpPr txBox="1"/>
          <p:nvPr/>
        </p:nvSpPr>
        <p:spPr>
          <a:xfrm>
            <a:off x="4875580" y="45720"/>
            <a:ext cx="2437790" cy="310896"/>
          </a:xfrm>
          <a:prstGeom prst="rect">
            <a:avLst/>
          </a:prstGeom>
          <a:noFill/>
        </p:spPr>
        <p:txBody>
          <a:bodyPr wrap="square">
            <a:spAutoFit/>
          </a:bodyPr>
          <a:lstStyle/>
          <a:p>
            <a:pPr algn="ctr"/>
            <a:r>
              <a:rPr sz="850" b="0" i="0">
                <a:solidFill>
                  <a:srgbClr val="FFFFFF"/>
                </a:solidFill>
                <a:latin typeface="Arial"/>
              </a:rPr>
              <a:t>③ Phương pháp chia</a:t>
            </a:r>
          </a:p>
        </p:txBody>
      </p:sp>
      <p:sp>
        <p:nvSpPr>
          <p:cNvPr id="6" name="Rectangle 5"/>
          <p:cNvSpPr/>
          <p:nvPr/>
        </p:nvSpPr>
        <p:spPr>
          <a:xfrm>
            <a:off x="7359091" y="27432"/>
            <a:ext cx="234635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3371" y="45720"/>
            <a:ext cx="2437790" cy="310896"/>
          </a:xfrm>
          <a:prstGeom prst="rect">
            <a:avLst/>
          </a:prstGeom>
          <a:noFill/>
        </p:spPr>
        <p:txBody>
          <a:bodyPr wrap="square">
            <a:spAutoFit/>
          </a:bodyPr>
          <a:lstStyle/>
          <a:p>
            <a:pPr algn="ctr"/>
            <a:r>
              <a:rPr sz="850" b="1" i="0">
                <a:solidFill>
                  <a:srgbClr val="1565C0"/>
                </a:solidFill>
                <a:latin typeface="Arial"/>
              </a:rPr>
              <a:t>④ Kết quả</a:t>
            </a:r>
          </a:p>
        </p:txBody>
      </p:sp>
      <p:sp>
        <p:nvSpPr>
          <p:cNvPr id="8" name="TextBox 7"/>
          <p:cNvSpPr txBox="1"/>
          <p:nvPr/>
        </p:nvSpPr>
        <p:spPr>
          <a:xfrm>
            <a:off x="9751161" y="45720"/>
            <a:ext cx="2437790" cy="310896"/>
          </a:xfrm>
          <a:prstGeom prst="rect">
            <a:avLst/>
          </a:prstGeom>
          <a:noFill/>
        </p:spPr>
        <p:txBody>
          <a:bodyPr wrap="square">
            <a:spAutoFit/>
          </a:bodyPr>
          <a:lstStyle/>
          <a:p>
            <a:pPr algn="ctr"/>
            <a:r>
              <a:rPr sz="850" b="0" i="0">
                <a:solidFill>
                  <a:srgbClr val="FFFFFF"/>
                </a:solidFill>
                <a:latin typeface="Arial"/>
              </a:rPr>
              <a:t>⑤ Kết luận</a:t>
            </a:r>
          </a:p>
        </p:txBody>
      </p:sp>
      <p:sp>
        <p:nvSpPr>
          <p:cNvPr id="9" name="Rectangle 8"/>
          <p:cNvSpPr/>
          <p:nvPr/>
        </p:nvSpPr>
        <p:spPr>
          <a:xfrm>
            <a:off x="0" y="402336"/>
            <a:ext cx="121889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4592" y="54864"/>
            <a:ext cx="530352" cy="274320"/>
          </a:xfrm>
          <a:prstGeom prst="rect">
            <a:avLst/>
          </a:prstGeom>
          <a:noFill/>
        </p:spPr>
        <p:txBody>
          <a:bodyPr wrap="square">
            <a:spAutoFit/>
          </a:bodyPr>
          <a:lstStyle/>
          <a:p>
            <a:pPr algn="r"/>
            <a:r>
              <a:rPr sz="850" b="0" i="0">
                <a:solidFill>
                  <a:srgbClr val="FFFFFF"/>
                </a:solidFill>
                <a:latin typeface="Arial"/>
              </a:rPr>
              <a:t>11/18</a:t>
            </a:r>
          </a:p>
        </p:txBody>
      </p:sp>
      <p:sp>
        <p:nvSpPr>
          <p:cNvPr id="11" name="Rectangle 10"/>
          <p:cNvSpPr/>
          <p:nvPr/>
        </p:nvSpPr>
        <p:spPr>
          <a:xfrm>
            <a:off x="320040" y="530352"/>
            <a:ext cx="1154887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005840"/>
            <a:ext cx="1154887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48640"/>
            <a:ext cx="11274552" cy="438912"/>
          </a:xfrm>
          <a:prstGeom prst="rect">
            <a:avLst/>
          </a:prstGeom>
          <a:noFill/>
        </p:spPr>
        <p:txBody>
          <a:bodyPr wrap="square">
            <a:spAutoFit/>
          </a:bodyPr>
          <a:lstStyle/>
          <a:p>
            <a:pPr algn="l"/>
            <a:r>
              <a:rPr sz="1500" b="1" i="0">
                <a:solidFill>
                  <a:srgbClr val="151515"/>
                </a:solidFill>
                <a:latin typeface="Arial"/>
              </a:rPr>
              <a:t>So sánh 3 Mô hình trên Nhánh Purged Walk-Forward</a:t>
            </a:r>
          </a:p>
        </p:txBody>
      </p:sp>
      <p:sp>
        <p:nvSpPr>
          <p:cNvPr id="14" name="Rectangle 13"/>
          <p:cNvSpPr/>
          <p:nvPr/>
        </p:nvSpPr>
        <p:spPr>
          <a:xfrm>
            <a:off x="274320" y="1115568"/>
            <a:ext cx="2560320" cy="3657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1751" y="1133856"/>
            <a:ext cx="2505456" cy="329184"/>
          </a:xfrm>
          <a:prstGeom prst="rect">
            <a:avLst/>
          </a:prstGeom>
          <a:noFill/>
        </p:spPr>
        <p:txBody>
          <a:bodyPr wrap="square">
            <a:spAutoFit/>
          </a:bodyPr>
          <a:lstStyle/>
          <a:p>
            <a:pPr algn="ctr"/>
            <a:r>
              <a:rPr sz="1050" b="1" i="0">
                <a:solidFill>
                  <a:srgbClr val="FFFFFF"/>
                </a:solidFill>
                <a:latin typeface="Arial"/>
              </a:rPr>
              <a:t>Mô hình</a:t>
            </a:r>
          </a:p>
        </p:txBody>
      </p:sp>
      <p:sp>
        <p:nvSpPr>
          <p:cNvPr id="16" name="Rectangle 15"/>
          <p:cNvSpPr/>
          <p:nvPr/>
        </p:nvSpPr>
        <p:spPr>
          <a:xfrm>
            <a:off x="2871215" y="1115568"/>
            <a:ext cx="1188720" cy="3657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98647" y="1133856"/>
            <a:ext cx="1133856" cy="329184"/>
          </a:xfrm>
          <a:prstGeom prst="rect">
            <a:avLst/>
          </a:prstGeom>
          <a:noFill/>
        </p:spPr>
        <p:txBody>
          <a:bodyPr wrap="square">
            <a:spAutoFit/>
          </a:bodyPr>
          <a:lstStyle/>
          <a:p>
            <a:pPr algn="ctr"/>
            <a:r>
              <a:rPr sz="1050" b="1" i="0">
                <a:solidFill>
                  <a:srgbClr val="FFFFFF"/>
                </a:solidFill>
                <a:latin typeface="Arial"/>
              </a:rPr>
              <a:t>Accuracy</a:t>
            </a:r>
          </a:p>
        </p:txBody>
      </p:sp>
      <p:sp>
        <p:nvSpPr>
          <p:cNvPr id="18" name="Rectangle 17"/>
          <p:cNvSpPr/>
          <p:nvPr/>
        </p:nvSpPr>
        <p:spPr>
          <a:xfrm>
            <a:off x="4096511" y="1115568"/>
            <a:ext cx="1188720" cy="3657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23944" y="1133856"/>
            <a:ext cx="1133856" cy="329184"/>
          </a:xfrm>
          <a:prstGeom prst="rect">
            <a:avLst/>
          </a:prstGeom>
          <a:noFill/>
        </p:spPr>
        <p:txBody>
          <a:bodyPr wrap="square">
            <a:spAutoFit/>
          </a:bodyPr>
          <a:lstStyle/>
          <a:p>
            <a:pPr algn="ctr"/>
            <a:r>
              <a:rPr sz="1050" b="1" i="0">
                <a:solidFill>
                  <a:srgbClr val="FFFFFF"/>
                </a:solidFill>
                <a:latin typeface="Arial"/>
              </a:rPr>
              <a:t>Precision</a:t>
            </a:r>
          </a:p>
        </p:txBody>
      </p:sp>
      <p:sp>
        <p:nvSpPr>
          <p:cNvPr id="20" name="Rectangle 19"/>
          <p:cNvSpPr/>
          <p:nvPr/>
        </p:nvSpPr>
        <p:spPr>
          <a:xfrm>
            <a:off x="5321807" y="1115568"/>
            <a:ext cx="1188720" cy="3657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49240" y="1133856"/>
            <a:ext cx="1133856" cy="329184"/>
          </a:xfrm>
          <a:prstGeom prst="rect">
            <a:avLst/>
          </a:prstGeom>
          <a:noFill/>
        </p:spPr>
        <p:txBody>
          <a:bodyPr wrap="square">
            <a:spAutoFit/>
          </a:bodyPr>
          <a:lstStyle/>
          <a:p>
            <a:pPr algn="ctr"/>
            <a:r>
              <a:rPr sz="1050" b="1" i="0">
                <a:solidFill>
                  <a:srgbClr val="FFFFFF"/>
                </a:solidFill>
                <a:latin typeface="Arial"/>
              </a:rPr>
              <a:t>Recall</a:t>
            </a:r>
          </a:p>
        </p:txBody>
      </p:sp>
      <p:sp>
        <p:nvSpPr>
          <p:cNvPr id="22" name="Rectangle 21"/>
          <p:cNvSpPr/>
          <p:nvPr/>
        </p:nvSpPr>
        <p:spPr>
          <a:xfrm>
            <a:off x="6547103" y="1115568"/>
            <a:ext cx="1097280" cy="3657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74536" y="1133856"/>
            <a:ext cx="1042415" cy="329184"/>
          </a:xfrm>
          <a:prstGeom prst="rect">
            <a:avLst/>
          </a:prstGeom>
          <a:noFill/>
        </p:spPr>
        <p:txBody>
          <a:bodyPr wrap="square">
            <a:spAutoFit/>
          </a:bodyPr>
          <a:lstStyle/>
          <a:p>
            <a:pPr algn="ctr"/>
            <a:r>
              <a:rPr sz="1050" b="1" i="0">
                <a:solidFill>
                  <a:srgbClr val="FFFFFF"/>
                </a:solidFill>
                <a:latin typeface="Arial"/>
              </a:rPr>
              <a:t>F1</a:t>
            </a:r>
          </a:p>
        </p:txBody>
      </p:sp>
      <p:sp>
        <p:nvSpPr>
          <p:cNvPr id="24" name="Rectangle 23"/>
          <p:cNvSpPr/>
          <p:nvPr/>
        </p:nvSpPr>
        <p:spPr>
          <a:xfrm>
            <a:off x="7680959" y="1115568"/>
            <a:ext cx="1371600" cy="3657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8391" y="1133856"/>
            <a:ext cx="1316736" cy="329184"/>
          </a:xfrm>
          <a:prstGeom prst="rect">
            <a:avLst/>
          </a:prstGeom>
          <a:noFill/>
        </p:spPr>
        <p:txBody>
          <a:bodyPr wrap="square">
            <a:spAutoFit/>
          </a:bodyPr>
          <a:lstStyle/>
          <a:p>
            <a:pPr algn="ctr"/>
            <a:r>
              <a:rPr sz="1050" b="1" i="0">
                <a:solidFill>
                  <a:srgbClr val="FFFFFF"/>
                </a:solidFill>
                <a:latin typeface="Arial"/>
              </a:rPr>
              <a:t>AUC</a:t>
            </a:r>
          </a:p>
        </p:txBody>
      </p:sp>
      <p:sp>
        <p:nvSpPr>
          <p:cNvPr id="26" name="Rectangle 25"/>
          <p:cNvSpPr/>
          <p:nvPr/>
        </p:nvSpPr>
        <p:spPr>
          <a:xfrm>
            <a:off x="274320" y="1499616"/>
            <a:ext cx="2560320" cy="438912"/>
          </a:xfrm>
          <a:prstGeom prst="rect">
            <a:avLst/>
          </a:prstGeom>
          <a:solidFill>
            <a:srgbClr val="FEF9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0896" y="1545336"/>
            <a:ext cx="2487168" cy="347472"/>
          </a:xfrm>
          <a:prstGeom prst="rect">
            <a:avLst/>
          </a:prstGeom>
          <a:noFill/>
        </p:spPr>
        <p:txBody>
          <a:bodyPr wrap="square">
            <a:spAutoFit/>
          </a:bodyPr>
          <a:lstStyle/>
          <a:p>
            <a:pPr algn="l"/>
            <a:r>
              <a:rPr sz="1050" b="0" i="0">
                <a:solidFill>
                  <a:srgbClr val="151515"/>
                </a:solidFill>
                <a:latin typeface="Arial"/>
              </a:rPr>
              <a:t>Logistic Regression</a:t>
            </a:r>
          </a:p>
        </p:txBody>
      </p:sp>
      <p:sp>
        <p:nvSpPr>
          <p:cNvPr id="28" name="Rectangle 27"/>
          <p:cNvSpPr/>
          <p:nvPr/>
        </p:nvSpPr>
        <p:spPr>
          <a:xfrm>
            <a:off x="2871215" y="1499616"/>
            <a:ext cx="1188720" cy="438912"/>
          </a:xfrm>
          <a:prstGeom prst="rect">
            <a:avLst/>
          </a:prstGeom>
          <a:solidFill>
            <a:srgbClr val="FEF9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07791" y="1545336"/>
            <a:ext cx="1115568" cy="347472"/>
          </a:xfrm>
          <a:prstGeom prst="rect">
            <a:avLst/>
          </a:prstGeom>
          <a:noFill/>
        </p:spPr>
        <p:txBody>
          <a:bodyPr wrap="square">
            <a:spAutoFit/>
          </a:bodyPr>
          <a:lstStyle/>
          <a:p>
            <a:pPr algn="ctr"/>
            <a:r>
              <a:rPr sz="1050" b="0" i="0">
                <a:solidFill>
                  <a:srgbClr val="151515"/>
                </a:solidFill>
                <a:latin typeface="Arial"/>
              </a:rPr>
              <a:t>58.12%</a:t>
            </a:r>
          </a:p>
        </p:txBody>
      </p:sp>
      <p:sp>
        <p:nvSpPr>
          <p:cNvPr id="30" name="Rectangle 29"/>
          <p:cNvSpPr/>
          <p:nvPr/>
        </p:nvSpPr>
        <p:spPr>
          <a:xfrm>
            <a:off x="4096511" y="1499616"/>
            <a:ext cx="1188720" cy="438912"/>
          </a:xfrm>
          <a:prstGeom prst="rect">
            <a:avLst/>
          </a:prstGeom>
          <a:solidFill>
            <a:srgbClr val="FEF9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33087" y="1545336"/>
            <a:ext cx="1115568" cy="347472"/>
          </a:xfrm>
          <a:prstGeom prst="rect">
            <a:avLst/>
          </a:prstGeom>
          <a:noFill/>
        </p:spPr>
        <p:txBody>
          <a:bodyPr wrap="square">
            <a:spAutoFit/>
          </a:bodyPr>
          <a:lstStyle/>
          <a:p>
            <a:pPr algn="ctr"/>
            <a:r>
              <a:rPr sz="1050" b="0" i="0">
                <a:solidFill>
                  <a:srgbClr val="151515"/>
                </a:solidFill>
                <a:latin typeface="Arial"/>
              </a:rPr>
              <a:t>34.20%</a:t>
            </a:r>
          </a:p>
        </p:txBody>
      </p:sp>
      <p:sp>
        <p:nvSpPr>
          <p:cNvPr id="32" name="Rectangle 31"/>
          <p:cNvSpPr/>
          <p:nvPr/>
        </p:nvSpPr>
        <p:spPr>
          <a:xfrm>
            <a:off x="5321807" y="1499616"/>
            <a:ext cx="1188720" cy="438912"/>
          </a:xfrm>
          <a:prstGeom prst="rect">
            <a:avLst/>
          </a:prstGeom>
          <a:solidFill>
            <a:srgbClr val="FEF9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58383" y="1545336"/>
            <a:ext cx="1115568" cy="347472"/>
          </a:xfrm>
          <a:prstGeom prst="rect">
            <a:avLst/>
          </a:prstGeom>
          <a:noFill/>
        </p:spPr>
        <p:txBody>
          <a:bodyPr wrap="square">
            <a:spAutoFit/>
          </a:bodyPr>
          <a:lstStyle/>
          <a:p>
            <a:pPr algn="ctr"/>
            <a:r>
              <a:rPr sz="1050" b="0" i="0">
                <a:solidFill>
                  <a:srgbClr val="151515"/>
                </a:solidFill>
                <a:latin typeface="Arial"/>
              </a:rPr>
              <a:t>48.50%</a:t>
            </a:r>
          </a:p>
        </p:txBody>
      </p:sp>
      <p:sp>
        <p:nvSpPr>
          <p:cNvPr id="34" name="Rectangle 33"/>
          <p:cNvSpPr/>
          <p:nvPr/>
        </p:nvSpPr>
        <p:spPr>
          <a:xfrm>
            <a:off x="6547103" y="1499616"/>
            <a:ext cx="1097280" cy="438912"/>
          </a:xfrm>
          <a:prstGeom prst="rect">
            <a:avLst/>
          </a:prstGeom>
          <a:solidFill>
            <a:srgbClr val="FEF9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79" y="1545336"/>
            <a:ext cx="1024127" cy="347472"/>
          </a:xfrm>
          <a:prstGeom prst="rect">
            <a:avLst/>
          </a:prstGeom>
          <a:noFill/>
        </p:spPr>
        <p:txBody>
          <a:bodyPr wrap="square">
            <a:spAutoFit/>
          </a:bodyPr>
          <a:lstStyle/>
          <a:p>
            <a:pPr algn="ctr"/>
            <a:r>
              <a:rPr sz="1050" b="0" i="0">
                <a:solidFill>
                  <a:srgbClr val="151515"/>
                </a:solidFill>
                <a:latin typeface="Arial"/>
              </a:rPr>
              <a:t>0.3805</a:t>
            </a:r>
          </a:p>
        </p:txBody>
      </p:sp>
      <p:sp>
        <p:nvSpPr>
          <p:cNvPr id="36" name="Rectangle 35"/>
          <p:cNvSpPr/>
          <p:nvPr/>
        </p:nvSpPr>
        <p:spPr>
          <a:xfrm>
            <a:off x="7680959" y="1499616"/>
            <a:ext cx="1371600" cy="438912"/>
          </a:xfrm>
          <a:prstGeom prst="rect">
            <a:avLst/>
          </a:prstGeom>
          <a:solidFill>
            <a:srgbClr val="FEF9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17535" y="1545336"/>
            <a:ext cx="1298448" cy="347472"/>
          </a:xfrm>
          <a:prstGeom prst="rect">
            <a:avLst/>
          </a:prstGeom>
          <a:noFill/>
        </p:spPr>
        <p:txBody>
          <a:bodyPr wrap="square">
            <a:spAutoFit/>
          </a:bodyPr>
          <a:lstStyle/>
          <a:p>
            <a:pPr algn="ctr"/>
            <a:r>
              <a:rPr sz="1050" b="0" i="0">
                <a:solidFill>
                  <a:srgbClr val="151515"/>
                </a:solidFill>
                <a:latin typeface="Arial"/>
              </a:rPr>
              <a:t>0.5412</a:t>
            </a:r>
          </a:p>
        </p:txBody>
      </p:sp>
      <p:sp>
        <p:nvSpPr>
          <p:cNvPr id="38" name="Rectangle 37"/>
          <p:cNvSpPr/>
          <p:nvPr/>
        </p:nvSpPr>
        <p:spPr>
          <a:xfrm>
            <a:off x="274320" y="1993391"/>
            <a:ext cx="2560320" cy="438912"/>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2039111"/>
            <a:ext cx="2487168" cy="347472"/>
          </a:xfrm>
          <a:prstGeom prst="rect">
            <a:avLst/>
          </a:prstGeom>
          <a:noFill/>
        </p:spPr>
        <p:txBody>
          <a:bodyPr wrap="square">
            <a:spAutoFit/>
          </a:bodyPr>
          <a:lstStyle/>
          <a:p>
            <a:pPr algn="l"/>
            <a:r>
              <a:rPr sz="1050" b="0" i="0">
                <a:solidFill>
                  <a:srgbClr val="151515"/>
                </a:solidFill>
                <a:latin typeface="Arial"/>
              </a:rPr>
              <a:t>Random Forest</a:t>
            </a:r>
          </a:p>
        </p:txBody>
      </p:sp>
      <p:sp>
        <p:nvSpPr>
          <p:cNvPr id="40" name="Rectangle 39"/>
          <p:cNvSpPr/>
          <p:nvPr/>
        </p:nvSpPr>
        <p:spPr>
          <a:xfrm>
            <a:off x="2871215" y="1993391"/>
            <a:ext cx="1188720" cy="438912"/>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07791" y="2039111"/>
            <a:ext cx="1115568" cy="347472"/>
          </a:xfrm>
          <a:prstGeom prst="rect">
            <a:avLst/>
          </a:prstGeom>
          <a:noFill/>
        </p:spPr>
        <p:txBody>
          <a:bodyPr wrap="square">
            <a:spAutoFit/>
          </a:bodyPr>
          <a:lstStyle/>
          <a:p>
            <a:pPr algn="ctr"/>
            <a:r>
              <a:rPr sz="1050" b="0" i="0">
                <a:solidFill>
                  <a:srgbClr val="151515"/>
                </a:solidFill>
                <a:latin typeface="Arial"/>
              </a:rPr>
              <a:t>61.45%</a:t>
            </a:r>
          </a:p>
        </p:txBody>
      </p:sp>
      <p:sp>
        <p:nvSpPr>
          <p:cNvPr id="42" name="Rectangle 41"/>
          <p:cNvSpPr/>
          <p:nvPr/>
        </p:nvSpPr>
        <p:spPr>
          <a:xfrm>
            <a:off x="4096511" y="1993391"/>
            <a:ext cx="1188720" cy="438912"/>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33087" y="2039111"/>
            <a:ext cx="1115568" cy="347472"/>
          </a:xfrm>
          <a:prstGeom prst="rect">
            <a:avLst/>
          </a:prstGeom>
          <a:noFill/>
        </p:spPr>
        <p:txBody>
          <a:bodyPr wrap="square">
            <a:spAutoFit/>
          </a:bodyPr>
          <a:lstStyle/>
          <a:p>
            <a:pPr algn="ctr"/>
            <a:r>
              <a:rPr sz="1050" b="0" i="0">
                <a:solidFill>
                  <a:srgbClr val="151515"/>
                </a:solidFill>
                <a:latin typeface="Arial"/>
              </a:rPr>
              <a:t>36.80%</a:t>
            </a:r>
          </a:p>
        </p:txBody>
      </p:sp>
      <p:sp>
        <p:nvSpPr>
          <p:cNvPr id="44" name="Rectangle 43"/>
          <p:cNvSpPr/>
          <p:nvPr/>
        </p:nvSpPr>
        <p:spPr>
          <a:xfrm>
            <a:off x="5321807" y="1993391"/>
            <a:ext cx="1188720" cy="438912"/>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358383" y="2039111"/>
            <a:ext cx="1115568" cy="347472"/>
          </a:xfrm>
          <a:prstGeom prst="rect">
            <a:avLst/>
          </a:prstGeom>
          <a:noFill/>
        </p:spPr>
        <p:txBody>
          <a:bodyPr wrap="square">
            <a:spAutoFit/>
          </a:bodyPr>
          <a:lstStyle/>
          <a:p>
            <a:pPr algn="ctr"/>
            <a:r>
              <a:rPr sz="1050" b="0" i="0">
                <a:solidFill>
                  <a:srgbClr val="151515"/>
                </a:solidFill>
                <a:latin typeface="Arial"/>
              </a:rPr>
              <a:t>42.10%</a:t>
            </a:r>
          </a:p>
        </p:txBody>
      </p:sp>
      <p:sp>
        <p:nvSpPr>
          <p:cNvPr id="46" name="Rectangle 45"/>
          <p:cNvSpPr/>
          <p:nvPr/>
        </p:nvSpPr>
        <p:spPr>
          <a:xfrm>
            <a:off x="6547103" y="1993391"/>
            <a:ext cx="1097280" cy="438912"/>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83679" y="2039111"/>
            <a:ext cx="1024127" cy="347472"/>
          </a:xfrm>
          <a:prstGeom prst="rect">
            <a:avLst/>
          </a:prstGeom>
          <a:noFill/>
        </p:spPr>
        <p:txBody>
          <a:bodyPr wrap="square">
            <a:spAutoFit/>
          </a:bodyPr>
          <a:lstStyle/>
          <a:p>
            <a:pPr algn="ctr"/>
            <a:r>
              <a:rPr sz="1050" b="0" i="0">
                <a:solidFill>
                  <a:srgbClr val="151515"/>
                </a:solidFill>
                <a:latin typeface="Arial"/>
              </a:rPr>
              <a:t>0.3620</a:t>
            </a:r>
          </a:p>
        </p:txBody>
      </p:sp>
      <p:sp>
        <p:nvSpPr>
          <p:cNvPr id="48" name="Rectangle 47"/>
          <p:cNvSpPr/>
          <p:nvPr/>
        </p:nvSpPr>
        <p:spPr>
          <a:xfrm>
            <a:off x="7680959" y="1993391"/>
            <a:ext cx="1371600" cy="438912"/>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17535" y="2039111"/>
            <a:ext cx="1298448" cy="347472"/>
          </a:xfrm>
          <a:prstGeom prst="rect">
            <a:avLst/>
          </a:prstGeom>
          <a:noFill/>
        </p:spPr>
        <p:txBody>
          <a:bodyPr wrap="square">
            <a:spAutoFit/>
          </a:bodyPr>
          <a:lstStyle/>
          <a:p>
            <a:pPr algn="ctr"/>
            <a:r>
              <a:rPr sz="1050" b="0" i="0">
                <a:solidFill>
                  <a:srgbClr val="151515"/>
                </a:solidFill>
                <a:latin typeface="Arial"/>
              </a:rPr>
              <a:t>0.5630</a:t>
            </a:r>
          </a:p>
        </p:txBody>
      </p:sp>
      <p:sp>
        <p:nvSpPr>
          <p:cNvPr id="50" name="Rectangle 49"/>
          <p:cNvSpPr/>
          <p:nvPr/>
        </p:nvSpPr>
        <p:spPr>
          <a:xfrm>
            <a:off x="274320" y="2487168"/>
            <a:ext cx="2560320" cy="438912"/>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10896" y="2532887"/>
            <a:ext cx="2487168" cy="347472"/>
          </a:xfrm>
          <a:prstGeom prst="rect">
            <a:avLst/>
          </a:prstGeom>
          <a:noFill/>
        </p:spPr>
        <p:txBody>
          <a:bodyPr wrap="square">
            <a:spAutoFit/>
          </a:bodyPr>
          <a:lstStyle/>
          <a:p>
            <a:pPr algn="l"/>
            <a:r>
              <a:rPr sz="1050" b="1" i="0">
                <a:solidFill>
                  <a:srgbClr val="1B5E20"/>
                </a:solidFill>
                <a:latin typeface="Arial"/>
              </a:rPr>
              <a:t>CatBoost  ← Tốt nhất</a:t>
            </a:r>
          </a:p>
        </p:txBody>
      </p:sp>
      <p:sp>
        <p:nvSpPr>
          <p:cNvPr id="52" name="Rectangle 51"/>
          <p:cNvSpPr/>
          <p:nvPr/>
        </p:nvSpPr>
        <p:spPr>
          <a:xfrm>
            <a:off x="2871215" y="2487168"/>
            <a:ext cx="1188720" cy="438912"/>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907791" y="2532887"/>
            <a:ext cx="1115568" cy="347472"/>
          </a:xfrm>
          <a:prstGeom prst="rect">
            <a:avLst/>
          </a:prstGeom>
          <a:noFill/>
        </p:spPr>
        <p:txBody>
          <a:bodyPr wrap="square">
            <a:spAutoFit/>
          </a:bodyPr>
          <a:lstStyle/>
          <a:p>
            <a:pPr algn="ctr"/>
            <a:r>
              <a:rPr sz="1050" b="1" i="0">
                <a:solidFill>
                  <a:srgbClr val="1B5E20"/>
                </a:solidFill>
                <a:latin typeface="Arial"/>
              </a:rPr>
              <a:t>63.80%</a:t>
            </a:r>
          </a:p>
        </p:txBody>
      </p:sp>
      <p:sp>
        <p:nvSpPr>
          <p:cNvPr id="54" name="Rectangle 53"/>
          <p:cNvSpPr/>
          <p:nvPr/>
        </p:nvSpPr>
        <p:spPr>
          <a:xfrm>
            <a:off x="4096511" y="2487168"/>
            <a:ext cx="1188720" cy="438912"/>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133087" y="2532887"/>
            <a:ext cx="1115568" cy="347472"/>
          </a:xfrm>
          <a:prstGeom prst="rect">
            <a:avLst/>
          </a:prstGeom>
          <a:noFill/>
        </p:spPr>
        <p:txBody>
          <a:bodyPr wrap="square">
            <a:spAutoFit/>
          </a:bodyPr>
          <a:lstStyle/>
          <a:p>
            <a:pPr algn="ctr"/>
            <a:r>
              <a:rPr sz="1050" b="1" i="0">
                <a:solidFill>
                  <a:srgbClr val="1B5E20"/>
                </a:solidFill>
                <a:latin typeface="Arial"/>
              </a:rPr>
              <a:t>39.50%</a:t>
            </a:r>
          </a:p>
        </p:txBody>
      </p:sp>
      <p:sp>
        <p:nvSpPr>
          <p:cNvPr id="56" name="Rectangle 55"/>
          <p:cNvSpPr/>
          <p:nvPr/>
        </p:nvSpPr>
        <p:spPr>
          <a:xfrm>
            <a:off x="5321807" y="2487168"/>
            <a:ext cx="1188720" cy="438912"/>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358383" y="2532887"/>
            <a:ext cx="1115568" cy="347472"/>
          </a:xfrm>
          <a:prstGeom prst="rect">
            <a:avLst/>
          </a:prstGeom>
          <a:noFill/>
        </p:spPr>
        <p:txBody>
          <a:bodyPr wrap="square">
            <a:spAutoFit/>
          </a:bodyPr>
          <a:lstStyle/>
          <a:p>
            <a:pPr algn="ctr"/>
            <a:r>
              <a:rPr sz="1050" b="1" i="0">
                <a:solidFill>
                  <a:srgbClr val="1B5E20"/>
                </a:solidFill>
                <a:latin typeface="Arial"/>
              </a:rPr>
              <a:t>45.20%</a:t>
            </a:r>
          </a:p>
        </p:txBody>
      </p:sp>
      <p:sp>
        <p:nvSpPr>
          <p:cNvPr id="58" name="Rectangle 57"/>
          <p:cNvSpPr/>
          <p:nvPr/>
        </p:nvSpPr>
        <p:spPr>
          <a:xfrm>
            <a:off x="6547103" y="2487168"/>
            <a:ext cx="1097280" cy="438912"/>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583679" y="2532887"/>
            <a:ext cx="1024127" cy="347472"/>
          </a:xfrm>
          <a:prstGeom prst="rect">
            <a:avLst/>
          </a:prstGeom>
          <a:noFill/>
        </p:spPr>
        <p:txBody>
          <a:bodyPr wrap="square">
            <a:spAutoFit/>
          </a:bodyPr>
          <a:lstStyle/>
          <a:p>
            <a:pPr algn="ctr"/>
            <a:r>
              <a:rPr sz="1050" b="1" i="0">
                <a:solidFill>
                  <a:srgbClr val="1B5E20"/>
                </a:solidFill>
                <a:latin typeface="Arial"/>
              </a:rPr>
              <a:t>0.3950</a:t>
            </a:r>
          </a:p>
        </p:txBody>
      </p:sp>
      <p:sp>
        <p:nvSpPr>
          <p:cNvPr id="60" name="Rectangle 59"/>
          <p:cNvSpPr/>
          <p:nvPr/>
        </p:nvSpPr>
        <p:spPr>
          <a:xfrm>
            <a:off x="7680959" y="2487168"/>
            <a:ext cx="1371600" cy="438912"/>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717535" y="2532887"/>
            <a:ext cx="1298448" cy="347472"/>
          </a:xfrm>
          <a:prstGeom prst="rect">
            <a:avLst/>
          </a:prstGeom>
          <a:noFill/>
        </p:spPr>
        <p:txBody>
          <a:bodyPr wrap="square">
            <a:spAutoFit/>
          </a:bodyPr>
          <a:lstStyle/>
          <a:p>
            <a:pPr algn="ctr"/>
            <a:r>
              <a:rPr sz="1050" b="1" i="0">
                <a:solidFill>
                  <a:srgbClr val="1B5E20"/>
                </a:solidFill>
                <a:latin typeface="Arial"/>
              </a:rPr>
              <a:t>0.5895</a:t>
            </a:r>
          </a:p>
        </p:txBody>
      </p:sp>
      <p:sp>
        <p:nvSpPr>
          <p:cNvPr id="62" name="Rectangle 61"/>
          <p:cNvSpPr/>
          <p:nvPr/>
        </p:nvSpPr>
        <p:spPr>
          <a:xfrm>
            <a:off x="274320" y="3803904"/>
            <a:ext cx="3566160" cy="3209544"/>
          </a:xfrm>
          <a:prstGeom prst="rect">
            <a:avLst/>
          </a:prstGeom>
          <a:solidFill>
            <a:srgbClr val="FEF9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274320" y="3803904"/>
            <a:ext cx="3566160" cy="3209544"/>
          </a:xfrm>
          <a:prstGeom prst="rect">
            <a:avLst/>
          </a:prstGeom>
          <a:noFill/>
          <a:ln w="19050">
            <a:solidFill>
              <a:srgbClr val="924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5760" y="3886200"/>
            <a:ext cx="3383279" cy="365760"/>
          </a:xfrm>
          <a:prstGeom prst="rect">
            <a:avLst/>
          </a:prstGeom>
          <a:noFill/>
        </p:spPr>
        <p:txBody>
          <a:bodyPr wrap="square">
            <a:spAutoFit/>
          </a:bodyPr>
          <a:lstStyle/>
          <a:p>
            <a:pPr algn="l"/>
            <a:r>
              <a:rPr sz="1150" b="1" i="0">
                <a:solidFill>
                  <a:srgbClr val="924000"/>
                </a:solidFill>
                <a:latin typeface="Arial"/>
              </a:rPr>
              <a:t>📉  Logistic Regression</a:t>
            </a:r>
          </a:p>
        </p:txBody>
      </p:sp>
      <p:sp>
        <p:nvSpPr>
          <p:cNvPr id="65" name="Rectangle 64"/>
          <p:cNvSpPr/>
          <p:nvPr/>
        </p:nvSpPr>
        <p:spPr>
          <a:xfrm>
            <a:off x="365760" y="4251960"/>
            <a:ext cx="3383279" cy="27432"/>
          </a:xfrm>
          <a:prstGeom prst="rect">
            <a:avLst/>
          </a:prstGeom>
          <a:solidFill>
            <a:srgbClr val="924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5760" y="4325112"/>
            <a:ext cx="3383279" cy="2615184"/>
          </a:xfrm>
          <a:prstGeom prst="rect">
            <a:avLst/>
          </a:prstGeom>
          <a:noFill/>
        </p:spPr>
        <p:txBody>
          <a:bodyPr wrap="square">
            <a:spAutoFit/>
          </a:bodyPr>
          <a:lstStyle/>
          <a:p>
            <a:pPr algn="l">
              <a:spcBef>
                <a:spcPts val="300"/>
              </a:spcBef>
            </a:pPr>
            <a:r>
              <a:rPr sz="1100" b="0">
                <a:solidFill>
                  <a:srgbClr val="151515"/>
                </a:solidFill>
                <a:latin typeface="Arial"/>
              </a:rPr>
              <a:t>Tuyến tính — Không học được tương tác phi tuyến.</a:t>
            </a:r>
          </a:p>
          <a:p>
            <a:pPr algn="l">
              <a:spcBef>
                <a:spcPts val="300"/>
              </a:spcBef>
            </a:pPr>
            <a:r>
              <a:rPr sz="1100" b="0">
                <a:solidFill>
                  <a:srgbClr val="151515"/>
                </a:solidFill>
                <a:latin typeface="Arial"/>
              </a:rPr>
              <a:t>AUC 0.54 — Gần ngưỡng đoán ngẫu nhiên (0.50).</a:t>
            </a:r>
          </a:p>
        </p:txBody>
      </p:sp>
      <p:sp>
        <p:nvSpPr>
          <p:cNvPr id="67" name="Rectangle 66"/>
          <p:cNvSpPr/>
          <p:nvPr/>
        </p:nvSpPr>
        <p:spPr>
          <a:xfrm>
            <a:off x="4069080" y="3803904"/>
            <a:ext cx="3566160" cy="3209544"/>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069080" y="3803904"/>
            <a:ext cx="3566160" cy="3209544"/>
          </a:xfrm>
          <a:prstGeom prst="rect">
            <a:avLst/>
          </a:prstGeom>
          <a:noFill/>
          <a:ln w="19050">
            <a:solidFill>
              <a:srgbClr val="783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160520" y="3886200"/>
            <a:ext cx="3383279" cy="365760"/>
          </a:xfrm>
          <a:prstGeom prst="rect">
            <a:avLst/>
          </a:prstGeom>
          <a:noFill/>
        </p:spPr>
        <p:txBody>
          <a:bodyPr wrap="square">
            <a:spAutoFit/>
          </a:bodyPr>
          <a:lstStyle/>
          <a:p>
            <a:pPr algn="l"/>
            <a:r>
              <a:rPr sz="1150" b="1" i="0">
                <a:solidFill>
                  <a:srgbClr val="783500"/>
                </a:solidFill>
                <a:latin typeface="Arial"/>
              </a:rPr>
              <a:t>🌳  Random Forest</a:t>
            </a:r>
          </a:p>
        </p:txBody>
      </p:sp>
      <p:sp>
        <p:nvSpPr>
          <p:cNvPr id="70" name="Rectangle 69"/>
          <p:cNvSpPr/>
          <p:nvPr/>
        </p:nvSpPr>
        <p:spPr>
          <a:xfrm>
            <a:off x="4160520" y="4251960"/>
            <a:ext cx="3383279" cy="27432"/>
          </a:xfrm>
          <a:prstGeom prst="rect">
            <a:avLst/>
          </a:prstGeom>
          <a:solidFill>
            <a:srgbClr val="783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160520" y="4325112"/>
            <a:ext cx="3383279" cy="2615184"/>
          </a:xfrm>
          <a:prstGeom prst="rect">
            <a:avLst/>
          </a:prstGeom>
          <a:noFill/>
        </p:spPr>
        <p:txBody>
          <a:bodyPr wrap="square">
            <a:spAutoFit/>
          </a:bodyPr>
          <a:lstStyle/>
          <a:p>
            <a:pPr algn="l">
              <a:spcBef>
                <a:spcPts val="300"/>
              </a:spcBef>
            </a:pPr>
            <a:r>
              <a:rPr sz="1100" b="0">
                <a:solidFill>
                  <a:srgbClr val="151515"/>
                </a:solidFill>
                <a:latin typeface="Arial"/>
              </a:rPr>
              <a:t>Dễ overfit với dữ liệu nhiễu cao.</a:t>
            </a:r>
          </a:p>
          <a:p>
            <a:pPr algn="l">
              <a:spcBef>
                <a:spcPts val="300"/>
              </a:spcBef>
            </a:pPr>
            <a:r>
              <a:rPr sz="1100" b="0">
                <a:solidFill>
                  <a:srgbClr val="151515"/>
                </a:solidFill>
                <a:latin typeface="Arial"/>
              </a:rPr>
              <a:t>AUC 0.56 — Tốt hơn một chút, nhưng kém CatBoost.</a:t>
            </a:r>
          </a:p>
        </p:txBody>
      </p:sp>
      <p:sp>
        <p:nvSpPr>
          <p:cNvPr id="72" name="Rectangle 71"/>
          <p:cNvSpPr/>
          <p:nvPr/>
        </p:nvSpPr>
        <p:spPr>
          <a:xfrm>
            <a:off x="7863840" y="3255264"/>
            <a:ext cx="4279392" cy="3209544"/>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7863840" y="3255264"/>
            <a:ext cx="4279392" cy="3209544"/>
          </a:xfrm>
          <a:prstGeom prst="rect">
            <a:avLst/>
          </a:prstGeom>
          <a:noFill/>
          <a:ln w="1905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955279" y="3337560"/>
            <a:ext cx="4096511" cy="365760"/>
          </a:xfrm>
          <a:prstGeom prst="rect">
            <a:avLst/>
          </a:prstGeom>
          <a:noFill/>
        </p:spPr>
        <p:txBody>
          <a:bodyPr wrap="square">
            <a:spAutoFit/>
          </a:bodyPr>
          <a:lstStyle/>
          <a:p>
            <a:pPr algn="l"/>
            <a:r>
              <a:rPr sz="1150" b="1" i="0">
                <a:solidFill>
                  <a:srgbClr val="1B5E20"/>
                </a:solidFill>
                <a:latin typeface="Arial"/>
              </a:rPr>
              <a:t>🚀  CatBoost — Tốt nhất</a:t>
            </a:r>
          </a:p>
        </p:txBody>
      </p:sp>
      <p:sp>
        <p:nvSpPr>
          <p:cNvPr id="75" name="Rectangle 74"/>
          <p:cNvSpPr/>
          <p:nvPr/>
        </p:nvSpPr>
        <p:spPr>
          <a:xfrm>
            <a:off x="7955279" y="3703320"/>
            <a:ext cx="4096511" cy="2743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955279" y="3776472"/>
            <a:ext cx="4096511" cy="2615184"/>
          </a:xfrm>
          <a:prstGeom prst="rect">
            <a:avLst/>
          </a:prstGeom>
          <a:noFill/>
        </p:spPr>
        <p:txBody>
          <a:bodyPr wrap="square">
            <a:spAutoFit/>
          </a:bodyPr>
          <a:lstStyle/>
          <a:p>
            <a:pPr algn="l">
              <a:spcBef>
                <a:spcPts val="300"/>
              </a:spcBef>
            </a:pPr>
            <a:r>
              <a:rPr sz="1100" b="0">
                <a:solidFill>
                  <a:srgbClr val="151515"/>
                </a:solidFill>
                <a:latin typeface="Arial"/>
              </a:rPr>
              <a:t>Oblivious Trees → Kiểm soát độ phức tạp.</a:t>
            </a:r>
          </a:p>
          <a:p>
            <a:pPr algn="l">
              <a:spcBef>
                <a:spcPts val="300"/>
              </a:spcBef>
            </a:pPr>
            <a:r>
              <a:rPr sz="1100" b="0">
                <a:solidFill>
                  <a:srgbClr val="151515"/>
                </a:solidFill>
                <a:latin typeface="Arial"/>
              </a:rPr>
              <a:t>Gradient boosting tuần tự → Học từ lỗi của cây trước.</a:t>
            </a:r>
          </a:p>
          <a:p>
            <a:pPr algn="l">
              <a:spcBef>
                <a:spcPts val="300"/>
              </a:spcBef>
            </a:pPr>
            <a:r>
              <a:rPr sz="1100" b="0">
                <a:solidFill>
                  <a:srgbClr val="151515"/>
                </a:solidFill>
                <a:latin typeface="Arial"/>
              </a:rPr>
              <a:t>AUC 0.59 — Tốt nhất, sát Holdout thực tế nhất.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0233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5720"/>
            <a:ext cx="2437790" cy="310896"/>
          </a:xfrm>
          <a:prstGeom prst="rect">
            <a:avLst/>
          </a:prstGeom>
          <a:noFill/>
        </p:spPr>
        <p:txBody>
          <a:bodyPr wrap="square">
            <a:spAutoFit/>
          </a:bodyPr>
          <a:lstStyle/>
          <a:p>
            <a:pPr algn="ctr"/>
            <a:r>
              <a:rPr sz="850" b="0" i="0">
                <a:solidFill>
                  <a:srgbClr val="FFFFFF"/>
                </a:solidFill>
                <a:latin typeface="Arial"/>
              </a:rPr>
              <a:t>① Bối cảnh &amp; Mục tiêu</a:t>
            </a:r>
          </a:p>
        </p:txBody>
      </p:sp>
      <p:sp>
        <p:nvSpPr>
          <p:cNvPr id="4" name="TextBox 3"/>
          <p:cNvSpPr txBox="1"/>
          <p:nvPr/>
        </p:nvSpPr>
        <p:spPr>
          <a:xfrm>
            <a:off x="2437790" y="45720"/>
            <a:ext cx="2437790" cy="310896"/>
          </a:xfrm>
          <a:prstGeom prst="rect">
            <a:avLst/>
          </a:prstGeom>
          <a:noFill/>
        </p:spPr>
        <p:txBody>
          <a:bodyPr wrap="square">
            <a:spAutoFit/>
          </a:bodyPr>
          <a:lstStyle/>
          <a:p>
            <a:pPr algn="ctr"/>
            <a:r>
              <a:rPr sz="850" b="0" i="0">
                <a:solidFill>
                  <a:srgbClr val="FFFFFF"/>
                </a:solidFill>
                <a:latin typeface="Arial"/>
              </a:rPr>
              <a:t>② Dữ liệu &amp; Kiến trúc</a:t>
            </a:r>
          </a:p>
        </p:txBody>
      </p:sp>
      <p:sp>
        <p:nvSpPr>
          <p:cNvPr id="5" name="TextBox 4"/>
          <p:cNvSpPr txBox="1"/>
          <p:nvPr/>
        </p:nvSpPr>
        <p:spPr>
          <a:xfrm>
            <a:off x="4875580" y="45720"/>
            <a:ext cx="2437790" cy="310896"/>
          </a:xfrm>
          <a:prstGeom prst="rect">
            <a:avLst/>
          </a:prstGeom>
          <a:noFill/>
        </p:spPr>
        <p:txBody>
          <a:bodyPr wrap="square">
            <a:spAutoFit/>
          </a:bodyPr>
          <a:lstStyle/>
          <a:p>
            <a:pPr algn="ctr"/>
            <a:r>
              <a:rPr sz="850" b="0" i="0">
                <a:solidFill>
                  <a:srgbClr val="FFFFFF"/>
                </a:solidFill>
                <a:latin typeface="Arial"/>
              </a:rPr>
              <a:t>③ Phương pháp chia</a:t>
            </a:r>
          </a:p>
        </p:txBody>
      </p:sp>
      <p:sp>
        <p:nvSpPr>
          <p:cNvPr id="6" name="Rectangle 5"/>
          <p:cNvSpPr/>
          <p:nvPr/>
        </p:nvSpPr>
        <p:spPr>
          <a:xfrm>
            <a:off x="7359091" y="27432"/>
            <a:ext cx="234635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3371" y="45720"/>
            <a:ext cx="2437790" cy="310896"/>
          </a:xfrm>
          <a:prstGeom prst="rect">
            <a:avLst/>
          </a:prstGeom>
          <a:noFill/>
        </p:spPr>
        <p:txBody>
          <a:bodyPr wrap="square">
            <a:spAutoFit/>
          </a:bodyPr>
          <a:lstStyle/>
          <a:p>
            <a:pPr algn="ctr"/>
            <a:r>
              <a:rPr sz="850" b="1" i="0">
                <a:solidFill>
                  <a:srgbClr val="1565C0"/>
                </a:solidFill>
                <a:latin typeface="Arial"/>
              </a:rPr>
              <a:t>④ Kết quả</a:t>
            </a:r>
          </a:p>
        </p:txBody>
      </p:sp>
      <p:sp>
        <p:nvSpPr>
          <p:cNvPr id="8" name="TextBox 7"/>
          <p:cNvSpPr txBox="1"/>
          <p:nvPr/>
        </p:nvSpPr>
        <p:spPr>
          <a:xfrm>
            <a:off x="9751161" y="45720"/>
            <a:ext cx="2437790" cy="310896"/>
          </a:xfrm>
          <a:prstGeom prst="rect">
            <a:avLst/>
          </a:prstGeom>
          <a:noFill/>
        </p:spPr>
        <p:txBody>
          <a:bodyPr wrap="square">
            <a:spAutoFit/>
          </a:bodyPr>
          <a:lstStyle/>
          <a:p>
            <a:pPr algn="ctr"/>
            <a:r>
              <a:rPr sz="850" b="0" i="0">
                <a:solidFill>
                  <a:srgbClr val="FFFFFF"/>
                </a:solidFill>
                <a:latin typeface="Arial"/>
              </a:rPr>
              <a:t>⑤ Kết luận</a:t>
            </a:r>
          </a:p>
        </p:txBody>
      </p:sp>
      <p:sp>
        <p:nvSpPr>
          <p:cNvPr id="9" name="Rectangle 8"/>
          <p:cNvSpPr/>
          <p:nvPr/>
        </p:nvSpPr>
        <p:spPr>
          <a:xfrm>
            <a:off x="0" y="402336"/>
            <a:ext cx="121889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4592" y="54864"/>
            <a:ext cx="530352" cy="274320"/>
          </a:xfrm>
          <a:prstGeom prst="rect">
            <a:avLst/>
          </a:prstGeom>
          <a:noFill/>
        </p:spPr>
        <p:txBody>
          <a:bodyPr wrap="square">
            <a:spAutoFit/>
          </a:bodyPr>
          <a:lstStyle/>
          <a:p>
            <a:pPr algn="r"/>
            <a:r>
              <a:rPr sz="850" b="0" i="0">
                <a:solidFill>
                  <a:srgbClr val="FFFFFF"/>
                </a:solidFill>
                <a:latin typeface="Arial"/>
              </a:rPr>
              <a:t>12/18</a:t>
            </a:r>
          </a:p>
        </p:txBody>
      </p:sp>
      <p:sp>
        <p:nvSpPr>
          <p:cNvPr id="11" name="Rectangle 10"/>
          <p:cNvSpPr/>
          <p:nvPr/>
        </p:nvSpPr>
        <p:spPr>
          <a:xfrm>
            <a:off x="320040" y="530352"/>
            <a:ext cx="1154887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005840"/>
            <a:ext cx="1154887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48640"/>
            <a:ext cx="11274552" cy="438912"/>
          </a:xfrm>
          <a:prstGeom prst="rect">
            <a:avLst/>
          </a:prstGeom>
          <a:noFill/>
        </p:spPr>
        <p:txBody>
          <a:bodyPr wrap="square">
            <a:spAutoFit/>
          </a:bodyPr>
          <a:lstStyle/>
          <a:p>
            <a:pPr algn="l"/>
            <a:r>
              <a:rPr sz="1500" b="1" i="0">
                <a:solidFill>
                  <a:srgbClr val="151515"/>
                </a:solidFill>
                <a:latin typeface="Arial"/>
              </a:rPr>
              <a:t>Kiểm định Tập Holdout Niêm phong — "Đề thi Thật"</a:t>
            </a:r>
          </a:p>
        </p:txBody>
      </p:sp>
      <p:sp>
        <p:nvSpPr>
          <p:cNvPr id="14" name="TextBox 13"/>
          <p:cNvSpPr txBox="1"/>
          <p:nvPr/>
        </p:nvSpPr>
        <p:spPr>
          <a:xfrm>
            <a:off x="365760" y="1060704"/>
            <a:ext cx="11274552" cy="274320"/>
          </a:xfrm>
          <a:prstGeom prst="rect">
            <a:avLst/>
          </a:prstGeom>
          <a:noFill/>
        </p:spPr>
        <p:txBody>
          <a:bodyPr wrap="square">
            <a:spAutoFit/>
          </a:bodyPr>
          <a:lstStyle/>
          <a:p>
            <a:pPr algn="l"/>
            <a:r>
              <a:rPr sz="950" b="0" i="1">
                <a:solidFill>
                  <a:srgbClr val="555555"/>
                </a:solidFill>
                <a:latin typeface="Arial"/>
              </a:rPr>
              <a:t>5.028 mẫu từ 02/2025–08/2026 · Chưa từng nhìn trong toàn bộ quá trình nghiên cứu</a:t>
            </a:r>
          </a:p>
        </p:txBody>
      </p:sp>
      <p:sp>
        <p:nvSpPr>
          <p:cNvPr id="15" name="Rectangle 14"/>
          <p:cNvSpPr/>
          <p:nvPr/>
        </p:nvSpPr>
        <p:spPr>
          <a:xfrm>
            <a:off x="457200" y="1115568"/>
            <a:ext cx="3520440" cy="15087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1115568"/>
            <a:ext cx="3520440" cy="1508760"/>
          </a:xfrm>
          <a:prstGeom prst="rect">
            <a:avLst/>
          </a:prstGeom>
          <a:noFill/>
          <a:ln w="254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1170432"/>
            <a:ext cx="3337560" cy="804672"/>
          </a:xfrm>
          <a:prstGeom prst="rect">
            <a:avLst/>
          </a:prstGeom>
          <a:noFill/>
        </p:spPr>
        <p:txBody>
          <a:bodyPr wrap="square">
            <a:spAutoFit/>
          </a:bodyPr>
          <a:lstStyle/>
          <a:p>
            <a:pPr algn="ctr"/>
            <a:r>
              <a:rPr sz="3800" b="1" i="0">
                <a:solidFill>
                  <a:srgbClr val="1565C0"/>
                </a:solidFill>
                <a:latin typeface="Arial"/>
              </a:rPr>
              <a:t>0.6046</a:t>
            </a:r>
          </a:p>
        </p:txBody>
      </p:sp>
      <p:sp>
        <p:nvSpPr>
          <p:cNvPr id="18" name="TextBox 17"/>
          <p:cNvSpPr txBox="1"/>
          <p:nvPr/>
        </p:nvSpPr>
        <p:spPr>
          <a:xfrm>
            <a:off x="548640" y="1938528"/>
            <a:ext cx="3337560" cy="566928"/>
          </a:xfrm>
          <a:prstGeom prst="rect">
            <a:avLst/>
          </a:prstGeom>
          <a:noFill/>
        </p:spPr>
        <p:txBody>
          <a:bodyPr wrap="square">
            <a:spAutoFit/>
          </a:bodyPr>
          <a:lstStyle/>
          <a:p>
            <a:pPr algn="ctr"/>
            <a:r>
              <a:rPr sz="1200" b="0" i="0">
                <a:solidFill>
                  <a:srgbClr val="151515"/>
                </a:solidFill>
                <a:latin typeface="Arial"/>
              </a:rPr>
              <a:t>AUC Holdout</a:t>
            </a:r>
          </a:p>
        </p:txBody>
      </p:sp>
      <p:sp>
        <p:nvSpPr>
          <p:cNvPr id="19" name="Rectangle 18"/>
          <p:cNvSpPr/>
          <p:nvPr/>
        </p:nvSpPr>
        <p:spPr>
          <a:xfrm>
            <a:off x="4251960" y="1115568"/>
            <a:ext cx="3520440" cy="15087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51960" y="1115568"/>
            <a:ext cx="3520440" cy="1508760"/>
          </a:xfrm>
          <a:prstGeom prst="rect">
            <a:avLst/>
          </a:prstGeom>
          <a:noFill/>
          <a:ln w="2540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43400" y="1170432"/>
            <a:ext cx="3337560" cy="804672"/>
          </a:xfrm>
          <a:prstGeom prst="rect">
            <a:avLst/>
          </a:prstGeom>
          <a:noFill/>
        </p:spPr>
        <p:txBody>
          <a:bodyPr wrap="square">
            <a:spAutoFit/>
          </a:bodyPr>
          <a:lstStyle/>
          <a:p>
            <a:pPr algn="ctr"/>
            <a:r>
              <a:rPr sz="3800" b="1" i="0">
                <a:solidFill>
                  <a:srgbClr val="1B5E20"/>
                </a:solidFill>
                <a:latin typeface="Arial"/>
              </a:rPr>
              <a:t>0.4022</a:t>
            </a:r>
          </a:p>
        </p:txBody>
      </p:sp>
      <p:sp>
        <p:nvSpPr>
          <p:cNvPr id="22" name="TextBox 21"/>
          <p:cNvSpPr txBox="1"/>
          <p:nvPr/>
        </p:nvSpPr>
        <p:spPr>
          <a:xfrm>
            <a:off x="4343400" y="1938528"/>
            <a:ext cx="3337560" cy="566928"/>
          </a:xfrm>
          <a:prstGeom prst="rect">
            <a:avLst/>
          </a:prstGeom>
          <a:noFill/>
        </p:spPr>
        <p:txBody>
          <a:bodyPr wrap="square">
            <a:spAutoFit/>
          </a:bodyPr>
          <a:lstStyle/>
          <a:p>
            <a:pPr algn="ctr"/>
            <a:r>
              <a:rPr sz="1200" b="0" i="0">
                <a:solidFill>
                  <a:srgbClr val="151515"/>
                </a:solidFill>
                <a:latin typeface="Arial"/>
              </a:rPr>
              <a:t>F1-Score</a:t>
            </a:r>
          </a:p>
        </p:txBody>
      </p:sp>
      <p:sp>
        <p:nvSpPr>
          <p:cNvPr id="23" name="Rectangle 22"/>
          <p:cNvSpPr/>
          <p:nvPr/>
        </p:nvSpPr>
        <p:spPr>
          <a:xfrm>
            <a:off x="8046720" y="1115568"/>
            <a:ext cx="3520440" cy="150876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46720" y="1115568"/>
            <a:ext cx="3520440" cy="1508760"/>
          </a:xfrm>
          <a:prstGeom prst="rect">
            <a:avLst/>
          </a:prstGeom>
          <a:noFill/>
          <a:ln w="25400">
            <a:solidFill>
              <a:srgbClr val="E65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0" y="1170432"/>
            <a:ext cx="3337560" cy="804672"/>
          </a:xfrm>
          <a:prstGeom prst="rect">
            <a:avLst/>
          </a:prstGeom>
          <a:noFill/>
        </p:spPr>
        <p:txBody>
          <a:bodyPr wrap="square">
            <a:spAutoFit/>
          </a:bodyPr>
          <a:lstStyle/>
          <a:p>
            <a:pPr algn="ctr"/>
            <a:r>
              <a:rPr sz="3800" b="1" i="0">
                <a:solidFill>
                  <a:srgbClr val="E65C00"/>
                </a:solidFill>
                <a:latin typeface="Arial"/>
              </a:rPr>
              <a:t>5.028</a:t>
            </a:r>
          </a:p>
        </p:txBody>
      </p:sp>
      <p:sp>
        <p:nvSpPr>
          <p:cNvPr id="26" name="TextBox 25"/>
          <p:cNvSpPr txBox="1"/>
          <p:nvPr/>
        </p:nvSpPr>
        <p:spPr>
          <a:xfrm>
            <a:off x="8138160" y="1938528"/>
            <a:ext cx="3337560" cy="566928"/>
          </a:xfrm>
          <a:prstGeom prst="rect">
            <a:avLst/>
          </a:prstGeom>
          <a:noFill/>
        </p:spPr>
        <p:txBody>
          <a:bodyPr wrap="square">
            <a:spAutoFit/>
          </a:bodyPr>
          <a:lstStyle/>
          <a:p>
            <a:pPr algn="ctr"/>
            <a:r>
              <a:rPr sz="1200" b="0" i="0">
                <a:solidFill>
                  <a:srgbClr val="151515"/>
                </a:solidFill>
                <a:latin typeface="Arial"/>
              </a:rPr>
              <a:t>Mẫu Holdout</a:t>
            </a:r>
          </a:p>
        </p:txBody>
      </p:sp>
      <p:sp>
        <p:nvSpPr>
          <p:cNvPr id="27" name="Rectangle 26"/>
          <p:cNvSpPr/>
          <p:nvPr/>
        </p:nvSpPr>
        <p:spPr>
          <a:xfrm>
            <a:off x="274320" y="2743200"/>
            <a:ext cx="11640312" cy="56692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2779776"/>
            <a:ext cx="4114800" cy="274320"/>
          </a:xfrm>
          <a:prstGeom prst="rect">
            <a:avLst/>
          </a:prstGeom>
          <a:noFill/>
        </p:spPr>
        <p:txBody>
          <a:bodyPr wrap="square">
            <a:spAutoFit/>
          </a:bodyPr>
          <a:lstStyle/>
          <a:p>
            <a:pPr algn="l"/>
            <a:r>
              <a:rPr sz="1200" b="1" i="0">
                <a:solidFill>
                  <a:srgbClr val="FFD580"/>
                </a:solidFill>
                <a:latin typeface="Arial"/>
              </a:rPr>
              <a:t>🎯  Phát hiện then chốt: AUC Holdout (0.60) ≈ AUC Cách 3 (0.59)  —  Sai lệch chỉ 0.015!</a:t>
            </a:r>
          </a:p>
        </p:txBody>
      </p:sp>
      <p:sp>
        <p:nvSpPr>
          <p:cNvPr id="29" name="TextBox 28"/>
          <p:cNvSpPr txBox="1"/>
          <p:nvPr/>
        </p:nvSpPr>
        <p:spPr>
          <a:xfrm>
            <a:off x="365760" y="3054096"/>
            <a:ext cx="11457432" cy="219456"/>
          </a:xfrm>
          <a:prstGeom prst="rect">
            <a:avLst/>
          </a:prstGeom>
          <a:noFill/>
        </p:spPr>
        <p:txBody>
          <a:bodyPr wrap="square">
            <a:spAutoFit/>
          </a:bodyPr>
          <a:lstStyle/>
          <a:p>
            <a:pPr algn="l"/>
            <a:r>
              <a:rPr sz="1100" b="1" i="0">
                <a:solidFill>
                  <a:srgbClr val="FFFFFF"/>
                </a:solidFill>
                <a:latin typeface="Arial"/>
              </a:rPr>
              <a:t>AUC Cách 1 (0.86) sai lệch 0.26 so với Holdout  ←  Không đáng tin cậy ngoài phòng lab!</a:t>
            </a:r>
          </a:p>
        </p:txBody>
      </p:sp>
      <p:sp>
        <p:nvSpPr>
          <p:cNvPr id="30" name="TextBox 29"/>
          <p:cNvSpPr txBox="1"/>
          <p:nvPr/>
        </p:nvSpPr>
        <p:spPr>
          <a:xfrm>
            <a:off x="274320" y="3383280"/>
            <a:ext cx="5486400" cy="274320"/>
          </a:xfrm>
          <a:prstGeom prst="rect">
            <a:avLst/>
          </a:prstGeom>
          <a:noFill/>
        </p:spPr>
        <p:txBody>
          <a:bodyPr wrap="square">
            <a:spAutoFit/>
          </a:bodyPr>
          <a:lstStyle/>
          <a:p>
            <a:pPr algn="l"/>
            <a:r>
              <a:rPr sz="1150" b="1" i="0">
                <a:solidFill>
                  <a:srgbClr val="1565C0"/>
                </a:solidFill>
                <a:latin typeface="Arial"/>
              </a:rPr>
              <a:t>📐  Đối chiếu chi tiết:</a:t>
            </a:r>
          </a:p>
        </p:txBody>
      </p:sp>
      <p:sp>
        <p:nvSpPr>
          <p:cNvPr id="31" name="Rectangle 30"/>
          <p:cNvSpPr/>
          <p:nvPr/>
        </p:nvSpPr>
        <p:spPr>
          <a:xfrm>
            <a:off x="274320" y="3694176"/>
            <a:ext cx="2743200" cy="31089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1751" y="3712463"/>
            <a:ext cx="2688336" cy="274320"/>
          </a:xfrm>
          <a:prstGeom prst="rect">
            <a:avLst/>
          </a:prstGeom>
          <a:noFill/>
        </p:spPr>
        <p:txBody>
          <a:bodyPr wrap="square">
            <a:spAutoFit/>
          </a:bodyPr>
          <a:lstStyle/>
          <a:p>
            <a:pPr algn="ctr"/>
            <a:r>
              <a:rPr sz="950" b="1" i="0">
                <a:solidFill>
                  <a:srgbClr val="FFFFFF"/>
                </a:solidFill>
                <a:latin typeface="Arial"/>
              </a:rPr>
              <a:t>Phương pháp</a:t>
            </a:r>
          </a:p>
        </p:txBody>
      </p:sp>
      <p:sp>
        <p:nvSpPr>
          <p:cNvPr id="33" name="Rectangle 32"/>
          <p:cNvSpPr/>
          <p:nvPr/>
        </p:nvSpPr>
        <p:spPr>
          <a:xfrm>
            <a:off x="3054096" y="3694176"/>
            <a:ext cx="1371600" cy="31089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81527" y="3712463"/>
            <a:ext cx="1316736" cy="274320"/>
          </a:xfrm>
          <a:prstGeom prst="rect">
            <a:avLst/>
          </a:prstGeom>
          <a:noFill/>
        </p:spPr>
        <p:txBody>
          <a:bodyPr wrap="square">
            <a:spAutoFit/>
          </a:bodyPr>
          <a:lstStyle/>
          <a:p>
            <a:pPr algn="ctr"/>
            <a:r>
              <a:rPr sz="950" b="1" i="0">
                <a:solidFill>
                  <a:srgbClr val="FFFFFF"/>
                </a:solidFill>
                <a:latin typeface="Arial"/>
              </a:rPr>
              <a:t>AUC Dev</a:t>
            </a:r>
          </a:p>
        </p:txBody>
      </p:sp>
      <p:sp>
        <p:nvSpPr>
          <p:cNvPr id="35" name="Rectangle 34"/>
          <p:cNvSpPr/>
          <p:nvPr/>
        </p:nvSpPr>
        <p:spPr>
          <a:xfrm>
            <a:off x="4462272" y="3694176"/>
            <a:ext cx="1554480" cy="31089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89704" y="3712463"/>
            <a:ext cx="1499616" cy="274320"/>
          </a:xfrm>
          <a:prstGeom prst="rect">
            <a:avLst/>
          </a:prstGeom>
          <a:noFill/>
        </p:spPr>
        <p:txBody>
          <a:bodyPr wrap="square">
            <a:spAutoFit/>
          </a:bodyPr>
          <a:lstStyle/>
          <a:p>
            <a:pPr algn="ctr"/>
            <a:r>
              <a:rPr sz="950" b="1" i="0">
                <a:solidFill>
                  <a:srgbClr val="FFFFFF"/>
                </a:solidFill>
                <a:latin typeface="Arial"/>
              </a:rPr>
              <a:t>AUC Holdout</a:t>
            </a:r>
          </a:p>
        </p:txBody>
      </p:sp>
      <p:sp>
        <p:nvSpPr>
          <p:cNvPr id="37" name="Rectangle 36"/>
          <p:cNvSpPr/>
          <p:nvPr/>
        </p:nvSpPr>
        <p:spPr>
          <a:xfrm>
            <a:off x="6053328" y="3694176"/>
            <a:ext cx="1188720" cy="31089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0" y="3712463"/>
            <a:ext cx="1133856" cy="274320"/>
          </a:xfrm>
          <a:prstGeom prst="rect">
            <a:avLst/>
          </a:prstGeom>
          <a:noFill/>
        </p:spPr>
        <p:txBody>
          <a:bodyPr wrap="square">
            <a:spAutoFit/>
          </a:bodyPr>
          <a:lstStyle/>
          <a:p>
            <a:pPr algn="ctr"/>
            <a:r>
              <a:rPr sz="950" b="1" i="0">
                <a:solidFill>
                  <a:srgbClr val="FFFFFF"/>
                </a:solidFill>
                <a:latin typeface="Arial"/>
              </a:rPr>
              <a:t>Sai lệch</a:t>
            </a:r>
          </a:p>
        </p:txBody>
      </p:sp>
      <p:sp>
        <p:nvSpPr>
          <p:cNvPr id="39" name="Rectangle 38"/>
          <p:cNvSpPr/>
          <p:nvPr/>
        </p:nvSpPr>
        <p:spPr>
          <a:xfrm>
            <a:off x="7278624" y="3694176"/>
            <a:ext cx="4297680" cy="31089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06056" y="3712463"/>
            <a:ext cx="4242816" cy="274320"/>
          </a:xfrm>
          <a:prstGeom prst="rect">
            <a:avLst/>
          </a:prstGeom>
          <a:noFill/>
        </p:spPr>
        <p:txBody>
          <a:bodyPr wrap="square">
            <a:spAutoFit/>
          </a:bodyPr>
          <a:lstStyle/>
          <a:p>
            <a:pPr algn="ctr"/>
            <a:r>
              <a:rPr sz="950" b="1" i="0">
                <a:solidFill>
                  <a:srgbClr val="FFFFFF"/>
                </a:solidFill>
                <a:latin typeface="Arial"/>
              </a:rPr>
              <a:t>Độ tin cậy</a:t>
            </a:r>
          </a:p>
        </p:txBody>
      </p:sp>
      <p:sp>
        <p:nvSpPr>
          <p:cNvPr id="41" name="Rectangle 40"/>
          <p:cNvSpPr/>
          <p:nvPr/>
        </p:nvSpPr>
        <p:spPr>
          <a:xfrm>
            <a:off x="274320" y="4023360"/>
            <a:ext cx="2743200" cy="36576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10896" y="4059936"/>
            <a:ext cx="2670048" cy="292608"/>
          </a:xfrm>
          <a:prstGeom prst="rect">
            <a:avLst/>
          </a:prstGeom>
          <a:noFill/>
        </p:spPr>
        <p:txBody>
          <a:bodyPr wrap="square">
            <a:spAutoFit/>
          </a:bodyPr>
          <a:lstStyle/>
          <a:p>
            <a:pPr algn="l"/>
            <a:r>
              <a:rPr sz="1000" b="0" i="0">
                <a:solidFill>
                  <a:srgbClr val="151515"/>
                </a:solidFill>
                <a:latin typeface="Arial"/>
              </a:rPr>
              <a:t>Cách 1: Random K-Fold</a:t>
            </a:r>
          </a:p>
        </p:txBody>
      </p:sp>
      <p:sp>
        <p:nvSpPr>
          <p:cNvPr id="43" name="Rectangle 42"/>
          <p:cNvSpPr/>
          <p:nvPr/>
        </p:nvSpPr>
        <p:spPr>
          <a:xfrm>
            <a:off x="3054096" y="4023360"/>
            <a:ext cx="1371600" cy="36576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90672" y="4059936"/>
            <a:ext cx="1298448" cy="292608"/>
          </a:xfrm>
          <a:prstGeom prst="rect">
            <a:avLst/>
          </a:prstGeom>
          <a:noFill/>
        </p:spPr>
        <p:txBody>
          <a:bodyPr wrap="square">
            <a:spAutoFit/>
          </a:bodyPr>
          <a:lstStyle/>
          <a:p>
            <a:pPr algn="ctr"/>
            <a:r>
              <a:rPr sz="1000" b="0" i="0">
                <a:solidFill>
                  <a:srgbClr val="151515"/>
                </a:solidFill>
                <a:latin typeface="Arial"/>
              </a:rPr>
              <a:t>0.8582</a:t>
            </a:r>
          </a:p>
        </p:txBody>
      </p:sp>
      <p:sp>
        <p:nvSpPr>
          <p:cNvPr id="45" name="Rectangle 44"/>
          <p:cNvSpPr/>
          <p:nvPr/>
        </p:nvSpPr>
        <p:spPr>
          <a:xfrm>
            <a:off x="4462272" y="4023360"/>
            <a:ext cx="1554480" cy="36576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498848" y="4059936"/>
            <a:ext cx="1481328" cy="292608"/>
          </a:xfrm>
          <a:prstGeom prst="rect">
            <a:avLst/>
          </a:prstGeom>
          <a:noFill/>
        </p:spPr>
        <p:txBody>
          <a:bodyPr wrap="square">
            <a:spAutoFit/>
          </a:bodyPr>
          <a:lstStyle/>
          <a:p>
            <a:pPr algn="ctr"/>
            <a:r>
              <a:rPr sz="1000" b="0" i="0">
                <a:solidFill>
                  <a:srgbClr val="151515"/>
                </a:solidFill>
                <a:latin typeface="Arial"/>
              </a:rPr>
              <a:t>0.6046</a:t>
            </a:r>
          </a:p>
        </p:txBody>
      </p:sp>
      <p:sp>
        <p:nvSpPr>
          <p:cNvPr id="47" name="Rectangle 46"/>
          <p:cNvSpPr/>
          <p:nvPr/>
        </p:nvSpPr>
        <p:spPr>
          <a:xfrm>
            <a:off x="6053328" y="4023360"/>
            <a:ext cx="1188720" cy="36576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089904" y="4059936"/>
            <a:ext cx="1115568" cy="292608"/>
          </a:xfrm>
          <a:prstGeom prst="rect">
            <a:avLst/>
          </a:prstGeom>
          <a:noFill/>
        </p:spPr>
        <p:txBody>
          <a:bodyPr wrap="square">
            <a:spAutoFit/>
          </a:bodyPr>
          <a:lstStyle/>
          <a:p>
            <a:pPr algn="ctr"/>
            <a:r>
              <a:rPr sz="1000" b="0" i="0">
                <a:solidFill>
                  <a:srgbClr val="151515"/>
                </a:solidFill>
                <a:latin typeface="Arial"/>
              </a:rPr>
              <a:t>−0.25</a:t>
            </a:r>
          </a:p>
        </p:txBody>
      </p:sp>
      <p:sp>
        <p:nvSpPr>
          <p:cNvPr id="49" name="Rectangle 48"/>
          <p:cNvSpPr/>
          <p:nvPr/>
        </p:nvSpPr>
        <p:spPr>
          <a:xfrm>
            <a:off x="7278624" y="4023360"/>
            <a:ext cx="4297680" cy="36576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200" y="4059936"/>
            <a:ext cx="4224528" cy="292608"/>
          </a:xfrm>
          <a:prstGeom prst="rect">
            <a:avLst/>
          </a:prstGeom>
          <a:noFill/>
        </p:spPr>
        <p:txBody>
          <a:bodyPr wrap="square">
            <a:spAutoFit/>
          </a:bodyPr>
          <a:lstStyle/>
          <a:p>
            <a:pPr algn="l"/>
            <a:r>
              <a:rPr sz="1000" b="0" i="0">
                <a:solidFill>
                  <a:srgbClr val="151515"/>
                </a:solidFill>
                <a:latin typeface="Arial"/>
              </a:rPr>
              <a:t>❌ Sai lệch cực lớn</a:t>
            </a:r>
          </a:p>
        </p:txBody>
      </p:sp>
      <p:sp>
        <p:nvSpPr>
          <p:cNvPr id="51" name="Rectangle 50"/>
          <p:cNvSpPr/>
          <p:nvPr/>
        </p:nvSpPr>
        <p:spPr>
          <a:xfrm>
            <a:off x="274320" y="4443984"/>
            <a:ext cx="2743200" cy="36576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10896" y="4480560"/>
            <a:ext cx="2670048" cy="292608"/>
          </a:xfrm>
          <a:prstGeom prst="rect">
            <a:avLst/>
          </a:prstGeom>
          <a:noFill/>
        </p:spPr>
        <p:txBody>
          <a:bodyPr wrap="square">
            <a:spAutoFit/>
          </a:bodyPr>
          <a:lstStyle/>
          <a:p>
            <a:pPr algn="l"/>
            <a:r>
              <a:rPr sz="1000" b="0" i="0">
                <a:solidFill>
                  <a:srgbClr val="151515"/>
                </a:solidFill>
                <a:latin typeface="Arial"/>
              </a:rPr>
              <a:t>Cách 1b: Grouped K-Fold</a:t>
            </a:r>
          </a:p>
        </p:txBody>
      </p:sp>
      <p:sp>
        <p:nvSpPr>
          <p:cNvPr id="53" name="Rectangle 52"/>
          <p:cNvSpPr/>
          <p:nvPr/>
        </p:nvSpPr>
        <p:spPr>
          <a:xfrm>
            <a:off x="3054096" y="4443984"/>
            <a:ext cx="1371600" cy="36576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090672" y="4480560"/>
            <a:ext cx="1298448" cy="292608"/>
          </a:xfrm>
          <a:prstGeom prst="rect">
            <a:avLst/>
          </a:prstGeom>
          <a:noFill/>
        </p:spPr>
        <p:txBody>
          <a:bodyPr wrap="square">
            <a:spAutoFit/>
          </a:bodyPr>
          <a:lstStyle/>
          <a:p>
            <a:pPr algn="ctr"/>
            <a:r>
              <a:rPr sz="1000" b="0" i="0">
                <a:solidFill>
                  <a:srgbClr val="151515"/>
                </a:solidFill>
                <a:latin typeface="Arial"/>
              </a:rPr>
              <a:t>0.7454</a:t>
            </a:r>
          </a:p>
        </p:txBody>
      </p:sp>
      <p:sp>
        <p:nvSpPr>
          <p:cNvPr id="55" name="Rectangle 54"/>
          <p:cNvSpPr/>
          <p:nvPr/>
        </p:nvSpPr>
        <p:spPr>
          <a:xfrm>
            <a:off x="4462272" y="4443984"/>
            <a:ext cx="1554480" cy="36576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498848" y="4480560"/>
            <a:ext cx="1481328" cy="292608"/>
          </a:xfrm>
          <a:prstGeom prst="rect">
            <a:avLst/>
          </a:prstGeom>
          <a:noFill/>
        </p:spPr>
        <p:txBody>
          <a:bodyPr wrap="square">
            <a:spAutoFit/>
          </a:bodyPr>
          <a:lstStyle/>
          <a:p>
            <a:pPr algn="ctr"/>
            <a:r>
              <a:rPr sz="1000" b="0" i="0">
                <a:solidFill>
                  <a:srgbClr val="151515"/>
                </a:solidFill>
                <a:latin typeface="Arial"/>
              </a:rPr>
              <a:t>0.6046</a:t>
            </a:r>
          </a:p>
        </p:txBody>
      </p:sp>
      <p:sp>
        <p:nvSpPr>
          <p:cNvPr id="57" name="Rectangle 56"/>
          <p:cNvSpPr/>
          <p:nvPr/>
        </p:nvSpPr>
        <p:spPr>
          <a:xfrm>
            <a:off x="6053328" y="4443984"/>
            <a:ext cx="1188720" cy="36576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089904" y="4480560"/>
            <a:ext cx="1115568" cy="292608"/>
          </a:xfrm>
          <a:prstGeom prst="rect">
            <a:avLst/>
          </a:prstGeom>
          <a:noFill/>
        </p:spPr>
        <p:txBody>
          <a:bodyPr wrap="square">
            <a:spAutoFit/>
          </a:bodyPr>
          <a:lstStyle/>
          <a:p>
            <a:pPr algn="ctr"/>
            <a:r>
              <a:rPr sz="1000" b="0" i="0">
                <a:solidFill>
                  <a:srgbClr val="151515"/>
                </a:solidFill>
                <a:latin typeface="Arial"/>
              </a:rPr>
              <a:t>−0.14</a:t>
            </a:r>
          </a:p>
        </p:txBody>
      </p:sp>
      <p:sp>
        <p:nvSpPr>
          <p:cNvPr id="59" name="Rectangle 58"/>
          <p:cNvSpPr/>
          <p:nvPr/>
        </p:nvSpPr>
        <p:spPr>
          <a:xfrm>
            <a:off x="7278624" y="4443984"/>
            <a:ext cx="4297680" cy="36576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15200" y="4480560"/>
            <a:ext cx="4224528" cy="292608"/>
          </a:xfrm>
          <a:prstGeom prst="rect">
            <a:avLst/>
          </a:prstGeom>
          <a:noFill/>
        </p:spPr>
        <p:txBody>
          <a:bodyPr wrap="square">
            <a:spAutoFit/>
          </a:bodyPr>
          <a:lstStyle/>
          <a:p>
            <a:pPr algn="l"/>
            <a:r>
              <a:rPr sz="1000" b="0" i="0">
                <a:solidFill>
                  <a:srgbClr val="151515"/>
                </a:solidFill>
                <a:latin typeface="Arial"/>
              </a:rPr>
              <a:t>⚠️ Vẫn quá lạc quan</a:t>
            </a:r>
          </a:p>
        </p:txBody>
      </p:sp>
      <p:sp>
        <p:nvSpPr>
          <p:cNvPr id="61" name="Rectangle 60"/>
          <p:cNvSpPr/>
          <p:nvPr/>
        </p:nvSpPr>
        <p:spPr>
          <a:xfrm>
            <a:off x="274320" y="4864608"/>
            <a:ext cx="2743200" cy="3657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10896" y="4901184"/>
            <a:ext cx="2670048" cy="292608"/>
          </a:xfrm>
          <a:prstGeom prst="rect">
            <a:avLst/>
          </a:prstGeom>
          <a:noFill/>
        </p:spPr>
        <p:txBody>
          <a:bodyPr wrap="square">
            <a:spAutoFit/>
          </a:bodyPr>
          <a:lstStyle/>
          <a:p>
            <a:pPr algn="l"/>
            <a:r>
              <a:rPr sz="1000" b="0" i="0">
                <a:solidFill>
                  <a:srgbClr val="151515"/>
                </a:solidFill>
                <a:latin typeface="Arial"/>
              </a:rPr>
              <a:t>Cách 2: Walk-Forward</a:t>
            </a:r>
          </a:p>
        </p:txBody>
      </p:sp>
      <p:sp>
        <p:nvSpPr>
          <p:cNvPr id="63" name="Rectangle 62"/>
          <p:cNvSpPr/>
          <p:nvPr/>
        </p:nvSpPr>
        <p:spPr>
          <a:xfrm>
            <a:off x="3054096" y="4864608"/>
            <a:ext cx="1371600" cy="3657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090672" y="4901184"/>
            <a:ext cx="1298448" cy="292608"/>
          </a:xfrm>
          <a:prstGeom prst="rect">
            <a:avLst/>
          </a:prstGeom>
          <a:noFill/>
        </p:spPr>
        <p:txBody>
          <a:bodyPr wrap="square">
            <a:spAutoFit/>
          </a:bodyPr>
          <a:lstStyle/>
          <a:p>
            <a:pPr algn="ctr"/>
            <a:r>
              <a:rPr sz="1000" b="0" i="0">
                <a:solidFill>
                  <a:srgbClr val="151515"/>
                </a:solidFill>
                <a:latin typeface="Arial"/>
              </a:rPr>
              <a:t>0.5875</a:t>
            </a:r>
          </a:p>
        </p:txBody>
      </p:sp>
      <p:sp>
        <p:nvSpPr>
          <p:cNvPr id="65" name="Rectangle 64"/>
          <p:cNvSpPr/>
          <p:nvPr/>
        </p:nvSpPr>
        <p:spPr>
          <a:xfrm>
            <a:off x="4462272" y="4864608"/>
            <a:ext cx="1554480" cy="3657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498848" y="4901184"/>
            <a:ext cx="1481328" cy="292608"/>
          </a:xfrm>
          <a:prstGeom prst="rect">
            <a:avLst/>
          </a:prstGeom>
          <a:noFill/>
        </p:spPr>
        <p:txBody>
          <a:bodyPr wrap="square">
            <a:spAutoFit/>
          </a:bodyPr>
          <a:lstStyle/>
          <a:p>
            <a:pPr algn="ctr"/>
            <a:r>
              <a:rPr sz="1000" b="0" i="0">
                <a:solidFill>
                  <a:srgbClr val="151515"/>
                </a:solidFill>
                <a:latin typeface="Arial"/>
              </a:rPr>
              <a:t>0.6046</a:t>
            </a:r>
          </a:p>
        </p:txBody>
      </p:sp>
      <p:sp>
        <p:nvSpPr>
          <p:cNvPr id="67" name="Rectangle 66"/>
          <p:cNvSpPr/>
          <p:nvPr/>
        </p:nvSpPr>
        <p:spPr>
          <a:xfrm>
            <a:off x="6053328" y="4864608"/>
            <a:ext cx="1188720" cy="3657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089904" y="4901184"/>
            <a:ext cx="1115568" cy="292608"/>
          </a:xfrm>
          <a:prstGeom prst="rect">
            <a:avLst/>
          </a:prstGeom>
          <a:noFill/>
        </p:spPr>
        <p:txBody>
          <a:bodyPr wrap="square">
            <a:spAutoFit/>
          </a:bodyPr>
          <a:lstStyle/>
          <a:p>
            <a:pPr algn="ctr"/>
            <a:r>
              <a:rPr sz="1000" b="0" i="0">
                <a:solidFill>
                  <a:srgbClr val="151515"/>
                </a:solidFill>
                <a:latin typeface="Arial"/>
              </a:rPr>
              <a:t>+0.017</a:t>
            </a:r>
          </a:p>
        </p:txBody>
      </p:sp>
      <p:sp>
        <p:nvSpPr>
          <p:cNvPr id="69" name="Rectangle 68"/>
          <p:cNvSpPr/>
          <p:nvPr/>
        </p:nvSpPr>
        <p:spPr>
          <a:xfrm>
            <a:off x="7278624" y="4864608"/>
            <a:ext cx="4297680" cy="36576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315200" y="4901184"/>
            <a:ext cx="4224528" cy="292608"/>
          </a:xfrm>
          <a:prstGeom prst="rect">
            <a:avLst/>
          </a:prstGeom>
          <a:noFill/>
        </p:spPr>
        <p:txBody>
          <a:bodyPr wrap="square">
            <a:spAutoFit/>
          </a:bodyPr>
          <a:lstStyle/>
          <a:p>
            <a:pPr algn="l"/>
            <a:r>
              <a:rPr sz="1000" b="0" i="0">
                <a:solidFill>
                  <a:srgbClr val="151515"/>
                </a:solidFill>
                <a:latin typeface="Arial"/>
              </a:rPr>
              <a:t>✅ Tốt</a:t>
            </a:r>
          </a:p>
        </p:txBody>
      </p:sp>
      <p:sp>
        <p:nvSpPr>
          <p:cNvPr id="71" name="Rectangle 70"/>
          <p:cNvSpPr/>
          <p:nvPr/>
        </p:nvSpPr>
        <p:spPr>
          <a:xfrm>
            <a:off x="274320" y="5285232"/>
            <a:ext cx="2743200" cy="3657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10896" y="5321808"/>
            <a:ext cx="2670048" cy="292608"/>
          </a:xfrm>
          <a:prstGeom prst="rect">
            <a:avLst/>
          </a:prstGeom>
          <a:noFill/>
        </p:spPr>
        <p:txBody>
          <a:bodyPr wrap="square">
            <a:spAutoFit/>
          </a:bodyPr>
          <a:lstStyle/>
          <a:p>
            <a:pPr algn="l"/>
            <a:r>
              <a:rPr sz="1000" b="1" i="0">
                <a:solidFill>
                  <a:srgbClr val="0D47A1"/>
                </a:solidFill>
                <a:latin typeface="Arial"/>
              </a:rPr>
              <a:t>Cách 3: WF + Purge</a:t>
            </a:r>
          </a:p>
        </p:txBody>
      </p:sp>
      <p:sp>
        <p:nvSpPr>
          <p:cNvPr id="73" name="Rectangle 72"/>
          <p:cNvSpPr/>
          <p:nvPr/>
        </p:nvSpPr>
        <p:spPr>
          <a:xfrm>
            <a:off x="3054096" y="5285232"/>
            <a:ext cx="1371600" cy="3657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090672" y="5321808"/>
            <a:ext cx="1298448" cy="292608"/>
          </a:xfrm>
          <a:prstGeom prst="rect">
            <a:avLst/>
          </a:prstGeom>
          <a:noFill/>
        </p:spPr>
        <p:txBody>
          <a:bodyPr wrap="square">
            <a:spAutoFit/>
          </a:bodyPr>
          <a:lstStyle/>
          <a:p>
            <a:pPr algn="ctr"/>
            <a:r>
              <a:rPr sz="1000" b="1" i="0">
                <a:solidFill>
                  <a:srgbClr val="0D47A1"/>
                </a:solidFill>
                <a:latin typeface="Arial"/>
              </a:rPr>
              <a:t>0.5895</a:t>
            </a:r>
          </a:p>
        </p:txBody>
      </p:sp>
      <p:sp>
        <p:nvSpPr>
          <p:cNvPr id="75" name="Rectangle 74"/>
          <p:cNvSpPr/>
          <p:nvPr/>
        </p:nvSpPr>
        <p:spPr>
          <a:xfrm>
            <a:off x="4462272" y="5285232"/>
            <a:ext cx="1554480" cy="3657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498848" y="5321808"/>
            <a:ext cx="1481328" cy="292608"/>
          </a:xfrm>
          <a:prstGeom prst="rect">
            <a:avLst/>
          </a:prstGeom>
          <a:noFill/>
        </p:spPr>
        <p:txBody>
          <a:bodyPr wrap="square">
            <a:spAutoFit/>
          </a:bodyPr>
          <a:lstStyle/>
          <a:p>
            <a:pPr algn="ctr"/>
            <a:r>
              <a:rPr sz="1000" b="1" i="0">
                <a:solidFill>
                  <a:srgbClr val="0D47A1"/>
                </a:solidFill>
                <a:latin typeface="Arial"/>
              </a:rPr>
              <a:t>0.6046</a:t>
            </a:r>
          </a:p>
        </p:txBody>
      </p:sp>
      <p:sp>
        <p:nvSpPr>
          <p:cNvPr id="77" name="Rectangle 76"/>
          <p:cNvSpPr/>
          <p:nvPr/>
        </p:nvSpPr>
        <p:spPr>
          <a:xfrm>
            <a:off x="6053328" y="5285232"/>
            <a:ext cx="1188720" cy="3657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089904" y="5321808"/>
            <a:ext cx="1115568" cy="292608"/>
          </a:xfrm>
          <a:prstGeom prst="rect">
            <a:avLst/>
          </a:prstGeom>
          <a:noFill/>
        </p:spPr>
        <p:txBody>
          <a:bodyPr wrap="square">
            <a:spAutoFit/>
          </a:bodyPr>
          <a:lstStyle/>
          <a:p>
            <a:pPr algn="ctr"/>
            <a:r>
              <a:rPr sz="1000" b="1" i="0">
                <a:solidFill>
                  <a:srgbClr val="0D47A1"/>
                </a:solidFill>
                <a:latin typeface="Arial"/>
              </a:rPr>
              <a:t>+0.015</a:t>
            </a:r>
          </a:p>
        </p:txBody>
      </p:sp>
      <p:sp>
        <p:nvSpPr>
          <p:cNvPr id="79" name="Rectangle 78"/>
          <p:cNvSpPr/>
          <p:nvPr/>
        </p:nvSpPr>
        <p:spPr>
          <a:xfrm>
            <a:off x="7278624" y="5285232"/>
            <a:ext cx="4297680" cy="36576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315200" y="5321808"/>
            <a:ext cx="4224528" cy="292608"/>
          </a:xfrm>
          <a:prstGeom prst="rect">
            <a:avLst/>
          </a:prstGeom>
          <a:noFill/>
        </p:spPr>
        <p:txBody>
          <a:bodyPr wrap="square">
            <a:spAutoFit/>
          </a:bodyPr>
          <a:lstStyle/>
          <a:p>
            <a:pPr algn="l"/>
            <a:r>
              <a:rPr sz="1000" b="1" i="0">
                <a:solidFill>
                  <a:srgbClr val="0D47A1"/>
                </a:solidFill>
                <a:latin typeface="Arial"/>
              </a:rPr>
              <a:t>🥇 Chính xác nhất!</a:t>
            </a:r>
          </a:p>
        </p:txBody>
      </p:sp>
      <p:sp>
        <p:nvSpPr>
          <p:cNvPr id="81" name="Rectangle 80"/>
          <p:cNvSpPr/>
          <p:nvPr/>
        </p:nvSpPr>
        <p:spPr>
          <a:xfrm>
            <a:off x="274320" y="5925312"/>
            <a:ext cx="11640312" cy="438912"/>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74320" y="5925312"/>
            <a:ext cx="11640312" cy="438912"/>
          </a:xfrm>
          <a:prstGeom prst="rect">
            <a:avLst/>
          </a:prstGeom>
          <a:no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65760" y="5961888"/>
            <a:ext cx="11457432" cy="365760"/>
          </a:xfrm>
          <a:prstGeom prst="rect">
            <a:avLst/>
          </a:prstGeom>
          <a:noFill/>
        </p:spPr>
        <p:txBody>
          <a:bodyPr wrap="square">
            <a:spAutoFit/>
          </a:bodyPr>
          <a:lstStyle/>
          <a:p>
            <a:pPr algn="l"/>
            <a:r>
              <a:rPr sz="1100" b="0" i="0">
                <a:solidFill>
                  <a:srgbClr val="0D47A1"/>
                </a:solidFill>
                <a:latin typeface="Arial"/>
              </a:rPr>
              <a:t>📌  Bài học: Bất kỳ báo cáo ML trên chuỗi thời gian nào chỉ dùng Random K-Fold đều KHÔNG đáng tin cậy ngoài phòng thí nghiệm!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0233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5720"/>
            <a:ext cx="2437790" cy="310896"/>
          </a:xfrm>
          <a:prstGeom prst="rect">
            <a:avLst/>
          </a:prstGeom>
          <a:noFill/>
        </p:spPr>
        <p:txBody>
          <a:bodyPr wrap="square">
            <a:spAutoFit/>
          </a:bodyPr>
          <a:lstStyle/>
          <a:p>
            <a:pPr algn="ctr"/>
            <a:r>
              <a:rPr sz="850" b="0" i="0">
                <a:solidFill>
                  <a:srgbClr val="FFFFFF"/>
                </a:solidFill>
                <a:latin typeface="Arial"/>
              </a:rPr>
              <a:t>① Bối cảnh &amp; Mục tiêu</a:t>
            </a:r>
          </a:p>
        </p:txBody>
      </p:sp>
      <p:sp>
        <p:nvSpPr>
          <p:cNvPr id="4" name="TextBox 3"/>
          <p:cNvSpPr txBox="1"/>
          <p:nvPr/>
        </p:nvSpPr>
        <p:spPr>
          <a:xfrm>
            <a:off x="2437790" y="45720"/>
            <a:ext cx="2437790" cy="310896"/>
          </a:xfrm>
          <a:prstGeom prst="rect">
            <a:avLst/>
          </a:prstGeom>
          <a:noFill/>
        </p:spPr>
        <p:txBody>
          <a:bodyPr wrap="square">
            <a:spAutoFit/>
          </a:bodyPr>
          <a:lstStyle/>
          <a:p>
            <a:pPr algn="ctr"/>
            <a:r>
              <a:rPr sz="850" b="0" i="0">
                <a:solidFill>
                  <a:srgbClr val="FFFFFF"/>
                </a:solidFill>
                <a:latin typeface="Arial"/>
              </a:rPr>
              <a:t>② Dữ liệu &amp; Kiến trúc</a:t>
            </a:r>
          </a:p>
        </p:txBody>
      </p:sp>
      <p:sp>
        <p:nvSpPr>
          <p:cNvPr id="5" name="TextBox 4"/>
          <p:cNvSpPr txBox="1"/>
          <p:nvPr/>
        </p:nvSpPr>
        <p:spPr>
          <a:xfrm>
            <a:off x="4875580" y="45720"/>
            <a:ext cx="2437790" cy="310896"/>
          </a:xfrm>
          <a:prstGeom prst="rect">
            <a:avLst/>
          </a:prstGeom>
          <a:noFill/>
        </p:spPr>
        <p:txBody>
          <a:bodyPr wrap="square">
            <a:spAutoFit/>
          </a:bodyPr>
          <a:lstStyle/>
          <a:p>
            <a:pPr algn="ctr"/>
            <a:r>
              <a:rPr sz="850" b="0" i="0">
                <a:solidFill>
                  <a:srgbClr val="FFFFFF"/>
                </a:solidFill>
                <a:latin typeface="Arial"/>
              </a:rPr>
              <a:t>③ Phương pháp chia</a:t>
            </a:r>
          </a:p>
        </p:txBody>
      </p:sp>
      <p:sp>
        <p:nvSpPr>
          <p:cNvPr id="6" name="Rectangle 5"/>
          <p:cNvSpPr/>
          <p:nvPr/>
        </p:nvSpPr>
        <p:spPr>
          <a:xfrm>
            <a:off x="7359091" y="27432"/>
            <a:ext cx="234635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3371" y="45720"/>
            <a:ext cx="2437790" cy="310896"/>
          </a:xfrm>
          <a:prstGeom prst="rect">
            <a:avLst/>
          </a:prstGeom>
          <a:noFill/>
        </p:spPr>
        <p:txBody>
          <a:bodyPr wrap="square">
            <a:spAutoFit/>
          </a:bodyPr>
          <a:lstStyle/>
          <a:p>
            <a:pPr algn="ctr"/>
            <a:r>
              <a:rPr sz="850" b="1" i="0">
                <a:solidFill>
                  <a:srgbClr val="1565C0"/>
                </a:solidFill>
                <a:latin typeface="Arial"/>
              </a:rPr>
              <a:t>④ Kết quả</a:t>
            </a:r>
          </a:p>
        </p:txBody>
      </p:sp>
      <p:sp>
        <p:nvSpPr>
          <p:cNvPr id="8" name="TextBox 7"/>
          <p:cNvSpPr txBox="1"/>
          <p:nvPr/>
        </p:nvSpPr>
        <p:spPr>
          <a:xfrm>
            <a:off x="9751161" y="45720"/>
            <a:ext cx="2437790" cy="310896"/>
          </a:xfrm>
          <a:prstGeom prst="rect">
            <a:avLst/>
          </a:prstGeom>
          <a:noFill/>
        </p:spPr>
        <p:txBody>
          <a:bodyPr wrap="square">
            <a:spAutoFit/>
          </a:bodyPr>
          <a:lstStyle/>
          <a:p>
            <a:pPr algn="ctr"/>
            <a:r>
              <a:rPr sz="850" b="0" i="0">
                <a:solidFill>
                  <a:srgbClr val="FFFFFF"/>
                </a:solidFill>
                <a:latin typeface="Arial"/>
              </a:rPr>
              <a:t>⑤ Kết luận</a:t>
            </a:r>
          </a:p>
        </p:txBody>
      </p:sp>
      <p:sp>
        <p:nvSpPr>
          <p:cNvPr id="9" name="Rectangle 8"/>
          <p:cNvSpPr/>
          <p:nvPr/>
        </p:nvSpPr>
        <p:spPr>
          <a:xfrm>
            <a:off x="0" y="402336"/>
            <a:ext cx="121889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4592" y="54864"/>
            <a:ext cx="530352" cy="274320"/>
          </a:xfrm>
          <a:prstGeom prst="rect">
            <a:avLst/>
          </a:prstGeom>
          <a:noFill/>
        </p:spPr>
        <p:txBody>
          <a:bodyPr wrap="square">
            <a:spAutoFit/>
          </a:bodyPr>
          <a:lstStyle/>
          <a:p>
            <a:pPr algn="r"/>
            <a:r>
              <a:rPr sz="850" b="0" i="0">
                <a:solidFill>
                  <a:srgbClr val="FFFFFF"/>
                </a:solidFill>
                <a:latin typeface="Arial"/>
              </a:rPr>
              <a:t>13/18</a:t>
            </a:r>
          </a:p>
        </p:txBody>
      </p:sp>
      <p:sp>
        <p:nvSpPr>
          <p:cNvPr id="11" name="Rectangle 10"/>
          <p:cNvSpPr/>
          <p:nvPr/>
        </p:nvSpPr>
        <p:spPr>
          <a:xfrm>
            <a:off x="320040" y="530352"/>
            <a:ext cx="1154887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005840"/>
            <a:ext cx="1154887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48640"/>
            <a:ext cx="11274552" cy="438912"/>
          </a:xfrm>
          <a:prstGeom prst="rect">
            <a:avLst/>
          </a:prstGeom>
          <a:noFill/>
        </p:spPr>
        <p:txBody>
          <a:bodyPr wrap="square">
            <a:spAutoFit/>
          </a:bodyPr>
          <a:lstStyle/>
          <a:p>
            <a:pPr algn="l"/>
            <a:r>
              <a:rPr sz="1500" b="1" i="0">
                <a:solidFill>
                  <a:srgbClr val="151515"/>
                </a:solidFill>
                <a:latin typeface="Arial"/>
              </a:rPr>
              <a:t>Hiệu quả Tầng Meta-Labeling &amp; Đường cong Vốn</a:t>
            </a:r>
          </a:p>
        </p:txBody>
      </p:sp>
      <p:sp>
        <p:nvSpPr>
          <p:cNvPr id="14" name="Rectangle 13"/>
          <p:cNvSpPr/>
          <p:nvPr/>
        </p:nvSpPr>
        <p:spPr>
          <a:xfrm>
            <a:off x="274320" y="1115568"/>
            <a:ext cx="2560320" cy="329184"/>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1751" y="1133856"/>
            <a:ext cx="2505456" cy="292608"/>
          </a:xfrm>
          <a:prstGeom prst="rect">
            <a:avLst/>
          </a:prstGeom>
          <a:noFill/>
        </p:spPr>
        <p:txBody>
          <a:bodyPr wrap="square">
            <a:spAutoFit/>
          </a:bodyPr>
          <a:lstStyle/>
          <a:p>
            <a:pPr algn="ctr"/>
            <a:r>
              <a:rPr sz="1050" b="1" i="0">
                <a:solidFill>
                  <a:srgbClr val="FFFFFF"/>
                </a:solidFill>
                <a:latin typeface="Arial"/>
              </a:rPr>
              <a:t>Chỉ số</a:t>
            </a:r>
          </a:p>
        </p:txBody>
      </p:sp>
      <p:sp>
        <p:nvSpPr>
          <p:cNvPr id="16" name="Rectangle 15"/>
          <p:cNvSpPr/>
          <p:nvPr/>
        </p:nvSpPr>
        <p:spPr>
          <a:xfrm>
            <a:off x="2871215" y="1115568"/>
            <a:ext cx="2011680" cy="329184"/>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98647" y="1133856"/>
            <a:ext cx="1956816" cy="292608"/>
          </a:xfrm>
          <a:prstGeom prst="rect">
            <a:avLst/>
          </a:prstGeom>
          <a:noFill/>
        </p:spPr>
        <p:txBody>
          <a:bodyPr wrap="square">
            <a:spAutoFit/>
          </a:bodyPr>
          <a:lstStyle/>
          <a:p>
            <a:pPr algn="ctr"/>
            <a:r>
              <a:rPr sz="1050" b="1" i="0">
                <a:solidFill>
                  <a:srgbClr val="FFFFFF"/>
                </a:solidFill>
                <a:latin typeface="Arial"/>
              </a:rPr>
              <a:t>Trước ML</a:t>
            </a:r>
          </a:p>
        </p:txBody>
      </p:sp>
      <p:sp>
        <p:nvSpPr>
          <p:cNvPr id="18" name="Rectangle 17"/>
          <p:cNvSpPr/>
          <p:nvPr/>
        </p:nvSpPr>
        <p:spPr>
          <a:xfrm>
            <a:off x="4919472" y="1115568"/>
            <a:ext cx="2560320" cy="329184"/>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46904" y="1133856"/>
            <a:ext cx="2505456" cy="292608"/>
          </a:xfrm>
          <a:prstGeom prst="rect">
            <a:avLst/>
          </a:prstGeom>
          <a:noFill/>
        </p:spPr>
        <p:txBody>
          <a:bodyPr wrap="square">
            <a:spAutoFit/>
          </a:bodyPr>
          <a:lstStyle/>
          <a:p>
            <a:pPr algn="ctr"/>
            <a:r>
              <a:rPr sz="1050" b="1" i="0">
                <a:solidFill>
                  <a:srgbClr val="FFFFFF"/>
                </a:solidFill>
                <a:latin typeface="Arial"/>
              </a:rPr>
              <a:t>Sau ML (Top 50%)</a:t>
            </a:r>
          </a:p>
        </p:txBody>
      </p:sp>
      <p:sp>
        <p:nvSpPr>
          <p:cNvPr id="20" name="Rectangle 19"/>
          <p:cNvSpPr/>
          <p:nvPr/>
        </p:nvSpPr>
        <p:spPr>
          <a:xfrm>
            <a:off x="7516367" y="1115568"/>
            <a:ext cx="2194560" cy="329184"/>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43799" y="1133856"/>
            <a:ext cx="2139696" cy="292608"/>
          </a:xfrm>
          <a:prstGeom prst="rect">
            <a:avLst/>
          </a:prstGeom>
          <a:noFill/>
        </p:spPr>
        <p:txBody>
          <a:bodyPr wrap="square">
            <a:spAutoFit/>
          </a:bodyPr>
          <a:lstStyle/>
          <a:p>
            <a:pPr algn="ctr"/>
            <a:r>
              <a:rPr sz="1050" b="1" i="0">
                <a:solidFill>
                  <a:srgbClr val="FFFFFF"/>
                </a:solidFill>
                <a:latin typeface="Arial"/>
              </a:rPr>
              <a:t>Thay đổi</a:t>
            </a:r>
          </a:p>
        </p:txBody>
      </p:sp>
      <p:sp>
        <p:nvSpPr>
          <p:cNvPr id="22" name="Rectangle 21"/>
          <p:cNvSpPr/>
          <p:nvPr/>
        </p:nvSpPr>
        <p:spPr>
          <a:xfrm>
            <a:off x="274320" y="1463040"/>
            <a:ext cx="2560320" cy="402336"/>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0896" y="1499616"/>
            <a:ext cx="2487168" cy="329184"/>
          </a:xfrm>
          <a:prstGeom prst="rect">
            <a:avLst/>
          </a:prstGeom>
          <a:noFill/>
        </p:spPr>
        <p:txBody>
          <a:bodyPr wrap="square">
            <a:spAutoFit/>
          </a:bodyPr>
          <a:lstStyle/>
          <a:p>
            <a:pPr algn="l"/>
            <a:r>
              <a:rPr sz="1100" b="0" i="0">
                <a:solidFill>
                  <a:srgbClr val="151515"/>
                </a:solidFill>
                <a:latin typeface="Arial"/>
              </a:rPr>
              <a:t>Số lệnh</a:t>
            </a:r>
          </a:p>
        </p:txBody>
      </p:sp>
      <p:sp>
        <p:nvSpPr>
          <p:cNvPr id="24" name="Rectangle 23"/>
          <p:cNvSpPr/>
          <p:nvPr/>
        </p:nvSpPr>
        <p:spPr>
          <a:xfrm>
            <a:off x="2871215" y="1463040"/>
            <a:ext cx="2011680" cy="402336"/>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07791" y="1499616"/>
            <a:ext cx="1938528" cy="329184"/>
          </a:xfrm>
          <a:prstGeom prst="rect">
            <a:avLst/>
          </a:prstGeom>
          <a:noFill/>
        </p:spPr>
        <p:txBody>
          <a:bodyPr wrap="square">
            <a:spAutoFit/>
          </a:bodyPr>
          <a:lstStyle/>
          <a:p>
            <a:pPr algn="ctr"/>
            <a:r>
              <a:rPr sz="1100" b="0" i="0">
                <a:solidFill>
                  <a:srgbClr val="151515"/>
                </a:solidFill>
                <a:latin typeface="Arial"/>
              </a:rPr>
              <a:t>20,007</a:t>
            </a:r>
          </a:p>
        </p:txBody>
      </p:sp>
      <p:sp>
        <p:nvSpPr>
          <p:cNvPr id="26" name="Rectangle 25"/>
          <p:cNvSpPr/>
          <p:nvPr/>
        </p:nvSpPr>
        <p:spPr>
          <a:xfrm>
            <a:off x="4919472" y="1463040"/>
            <a:ext cx="2560320" cy="402336"/>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56048" y="1499616"/>
            <a:ext cx="2487168" cy="329184"/>
          </a:xfrm>
          <a:prstGeom prst="rect">
            <a:avLst/>
          </a:prstGeom>
          <a:noFill/>
        </p:spPr>
        <p:txBody>
          <a:bodyPr wrap="square">
            <a:spAutoFit/>
          </a:bodyPr>
          <a:lstStyle/>
          <a:p>
            <a:pPr algn="ctr"/>
            <a:r>
              <a:rPr sz="1100" b="0" i="0">
                <a:solidFill>
                  <a:srgbClr val="151515"/>
                </a:solidFill>
                <a:latin typeface="Arial"/>
              </a:rPr>
              <a:t>10,004</a:t>
            </a:r>
          </a:p>
        </p:txBody>
      </p:sp>
      <p:sp>
        <p:nvSpPr>
          <p:cNvPr id="28" name="Rectangle 27"/>
          <p:cNvSpPr/>
          <p:nvPr/>
        </p:nvSpPr>
        <p:spPr>
          <a:xfrm>
            <a:off x="7516367" y="1463040"/>
            <a:ext cx="2194560" cy="402336"/>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52943" y="1499616"/>
            <a:ext cx="2121408" cy="329184"/>
          </a:xfrm>
          <a:prstGeom prst="rect">
            <a:avLst/>
          </a:prstGeom>
          <a:noFill/>
        </p:spPr>
        <p:txBody>
          <a:bodyPr wrap="square">
            <a:spAutoFit/>
          </a:bodyPr>
          <a:lstStyle/>
          <a:p>
            <a:pPr algn="ctr"/>
            <a:r>
              <a:rPr sz="1100" b="1" i="0">
                <a:solidFill>
                  <a:srgbClr val="1B5E20"/>
                </a:solidFill>
                <a:latin typeface="Arial"/>
              </a:rPr>
              <a:t>−50%</a:t>
            </a:r>
          </a:p>
        </p:txBody>
      </p:sp>
      <p:sp>
        <p:nvSpPr>
          <p:cNvPr id="30" name="Rectangle 29"/>
          <p:cNvSpPr/>
          <p:nvPr/>
        </p:nvSpPr>
        <p:spPr>
          <a:xfrm>
            <a:off x="274320" y="1920240"/>
            <a:ext cx="2560320" cy="402336"/>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0896" y="1956816"/>
            <a:ext cx="2487168" cy="329184"/>
          </a:xfrm>
          <a:prstGeom prst="rect">
            <a:avLst/>
          </a:prstGeom>
          <a:noFill/>
        </p:spPr>
        <p:txBody>
          <a:bodyPr wrap="square">
            <a:spAutoFit/>
          </a:bodyPr>
          <a:lstStyle/>
          <a:p>
            <a:pPr algn="l"/>
            <a:r>
              <a:rPr sz="1100" b="0" i="0">
                <a:solidFill>
                  <a:srgbClr val="151515"/>
                </a:solidFill>
                <a:latin typeface="Arial"/>
              </a:rPr>
              <a:t>Win Rate</a:t>
            </a:r>
          </a:p>
        </p:txBody>
      </p:sp>
      <p:sp>
        <p:nvSpPr>
          <p:cNvPr id="32" name="Rectangle 31"/>
          <p:cNvSpPr/>
          <p:nvPr/>
        </p:nvSpPr>
        <p:spPr>
          <a:xfrm>
            <a:off x="2871215" y="1920240"/>
            <a:ext cx="2011680" cy="402336"/>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07791" y="1956816"/>
            <a:ext cx="1938528" cy="329184"/>
          </a:xfrm>
          <a:prstGeom prst="rect">
            <a:avLst/>
          </a:prstGeom>
          <a:noFill/>
        </p:spPr>
        <p:txBody>
          <a:bodyPr wrap="square">
            <a:spAutoFit/>
          </a:bodyPr>
          <a:lstStyle/>
          <a:p>
            <a:pPr algn="ctr"/>
            <a:r>
              <a:rPr sz="1100" b="0" i="0">
                <a:solidFill>
                  <a:srgbClr val="151515"/>
                </a:solidFill>
                <a:latin typeface="Arial"/>
              </a:rPr>
              <a:t>31.71%</a:t>
            </a:r>
          </a:p>
        </p:txBody>
      </p:sp>
      <p:sp>
        <p:nvSpPr>
          <p:cNvPr id="34" name="Rectangle 33"/>
          <p:cNvSpPr/>
          <p:nvPr/>
        </p:nvSpPr>
        <p:spPr>
          <a:xfrm>
            <a:off x="4919472" y="1920240"/>
            <a:ext cx="2560320" cy="402336"/>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56048" y="1956816"/>
            <a:ext cx="2487168" cy="329184"/>
          </a:xfrm>
          <a:prstGeom prst="rect">
            <a:avLst/>
          </a:prstGeom>
          <a:noFill/>
        </p:spPr>
        <p:txBody>
          <a:bodyPr wrap="square">
            <a:spAutoFit/>
          </a:bodyPr>
          <a:lstStyle/>
          <a:p>
            <a:pPr algn="ctr"/>
            <a:r>
              <a:rPr sz="1100" b="0" i="0">
                <a:solidFill>
                  <a:srgbClr val="151515"/>
                </a:solidFill>
                <a:latin typeface="Arial"/>
              </a:rPr>
              <a:t>34.99%</a:t>
            </a:r>
          </a:p>
        </p:txBody>
      </p:sp>
      <p:sp>
        <p:nvSpPr>
          <p:cNvPr id="36" name="Rectangle 35"/>
          <p:cNvSpPr/>
          <p:nvPr/>
        </p:nvSpPr>
        <p:spPr>
          <a:xfrm>
            <a:off x="7516367" y="1920240"/>
            <a:ext cx="2194560" cy="402336"/>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52943" y="1956816"/>
            <a:ext cx="2121408" cy="329184"/>
          </a:xfrm>
          <a:prstGeom prst="rect">
            <a:avLst/>
          </a:prstGeom>
          <a:noFill/>
        </p:spPr>
        <p:txBody>
          <a:bodyPr wrap="square">
            <a:spAutoFit/>
          </a:bodyPr>
          <a:lstStyle/>
          <a:p>
            <a:pPr algn="ctr"/>
            <a:r>
              <a:rPr sz="1100" b="1" i="0">
                <a:solidFill>
                  <a:srgbClr val="1B5E20"/>
                </a:solidFill>
                <a:latin typeface="Arial"/>
              </a:rPr>
              <a:t>+3.28%</a:t>
            </a:r>
          </a:p>
        </p:txBody>
      </p:sp>
      <p:sp>
        <p:nvSpPr>
          <p:cNvPr id="38" name="Rectangle 37"/>
          <p:cNvSpPr/>
          <p:nvPr/>
        </p:nvSpPr>
        <p:spPr>
          <a:xfrm>
            <a:off x="274320" y="2377440"/>
            <a:ext cx="2560320" cy="402336"/>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0896" y="2414016"/>
            <a:ext cx="2487168" cy="329184"/>
          </a:xfrm>
          <a:prstGeom prst="rect">
            <a:avLst/>
          </a:prstGeom>
          <a:noFill/>
        </p:spPr>
        <p:txBody>
          <a:bodyPr wrap="square">
            <a:spAutoFit/>
          </a:bodyPr>
          <a:lstStyle/>
          <a:p>
            <a:pPr algn="l"/>
            <a:r>
              <a:rPr sz="1100" b="0" i="0">
                <a:solidFill>
                  <a:srgbClr val="151515"/>
                </a:solidFill>
                <a:latin typeface="Arial"/>
              </a:rPr>
              <a:t>Profit Factor</a:t>
            </a:r>
          </a:p>
        </p:txBody>
      </p:sp>
      <p:sp>
        <p:nvSpPr>
          <p:cNvPr id="40" name="Rectangle 39"/>
          <p:cNvSpPr/>
          <p:nvPr/>
        </p:nvSpPr>
        <p:spPr>
          <a:xfrm>
            <a:off x="2871215" y="2377440"/>
            <a:ext cx="2011680" cy="402336"/>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07791" y="2414016"/>
            <a:ext cx="1938528" cy="329184"/>
          </a:xfrm>
          <a:prstGeom prst="rect">
            <a:avLst/>
          </a:prstGeom>
          <a:noFill/>
        </p:spPr>
        <p:txBody>
          <a:bodyPr wrap="square">
            <a:spAutoFit/>
          </a:bodyPr>
          <a:lstStyle/>
          <a:p>
            <a:pPr algn="ctr"/>
            <a:r>
              <a:rPr sz="1100" b="0" i="0">
                <a:solidFill>
                  <a:srgbClr val="151515"/>
                </a:solidFill>
                <a:latin typeface="Arial"/>
              </a:rPr>
              <a:t>1.29</a:t>
            </a:r>
          </a:p>
        </p:txBody>
      </p:sp>
      <p:sp>
        <p:nvSpPr>
          <p:cNvPr id="42" name="Rectangle 41"/>
          <p:cNvSpPr/>
          <p:nvPr/>
        </p:nvSpPr>
        <p:spPr>
          <a:xfrm>
            <a:off x="4919472" y="2377440"/>
            <a:ext cx="2560320" cy="402336"/>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56048" y="2414016"/>
            <a:ext cx="2487168" cy="329184"/>
          </a:xfrm>
          <a:prstGeom prst="rect">
            <a:avLst/>
          </a:prstGeom>
          <a:noFill/>
        </p:spPr>
        <p:txBody>
          <a:bodyPr wrap="square">
            <a:spAutoFit/>
          </a:bodyPr>
          <a:lstStyle/>
          <a:p>
            <a:pPr algn="ctr"/>
            <a:r>
              <a:rPr sz="1100" b="0" i="0">
                <a:solidFill>
                  <a:srgbClr val="151515"/>
                </a:solidFill>
                <a:latin typeface="Arial"/>
              </a:rPr>
              <a:t>1.40</a:t>
            </a:r>
          </a:p>
        </p:txBody>
      </p:sp>
      <p:sp>
        <p:nvSpPr>
          <p:cNvPr id="44" name="Rectangle 43"/>
          <p:cNvSpPr/>
          <p:nvPr/>
        </p:nvSpPr>
        <p:spPr>
          <a:xfrm>
            <a:off x="7516367" y="2377440"/>
            <a:ext cx="2194560" cy="402336"/>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52943" y="2414016"/>
            <a:ext cx="2121408" cy="329184"/>
          </a:xfrm>
          <a:prstGeom prst="rect">
            <a:avLst/>
          </a:prstGeom>
          <a:noFill/>
        </p:spPr>
        <p:txBody>
          <a:bodyPr wrap="square">
            <a:spAutoFit/>
          </a:bodyPr>
          <a:lstStyle/>
          <a:p>
            <a:pPr algn="ctr"/>
            <a:r>
              <a:rPr sz="1100" b="1" i="0">
                <a:solidFill>
                  <a:srgbClr val="1B5E20"/>
                </a:solidFill>
                <a:latin typeface="Arial"/>
              </a:rPr>
              <a:t>+8.5%</a:t>
            </a:r>
          </a:p>
        </p:txBody>
      </p:sp>
      <p:sp>
        <p:nvSpPr>
          <p:cNvPr id="46" name="Rectangle 45"/>
          <p:cNvSpPr/>
          <p:nvPr/>
        </p:nvSpPr>
        <p:spPr>
          <a:xfrm>
            <a:off x="274320" y="2834640"/>
            <a:ext cx="2560320" cy="40233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10896" y="2871216"/>
            <a:ext cx="2487168" cy="329184"/>
          </a:xfrm>
          <a:prstGeom prst="rect">
            <a:avLst/>
          </a:prstGeom>
          <a:noFill/>
        </p:spPr>
        <p:txBody>
          <a:bodyPr wrap="square">
            <a:spAutoFit/>
          </a:bodyPr>
          <a:lstStyle/>
          <a:p>
            <a:pPr algn="l"/>
            <a:r>
              <a:rPr sz="1100" b="0" i="0">
                <a:solidFill>
                  <a:srgbClr val="151515"/>
                </a:solidFill>
                <a:latin typeface="Arial"/>
              </a:rPr>
              <a:t>Max Drawdown</a:t>
            </a:r>
          </a:p>
        </p:txBody>
      </p:sp>
      <p:sp>
        <p:nvSpPr>
          <p:cNvPr id="48" name="Rectangle 47"/>
          <p:cNvSpPr/>
          <p:nvPr/>
        </p:nvSpPr>
        <p:spPr>
          <a:xfrm>
            <a:off x="2871215" y="2834640"/>
            <a:ext cx="2011680" cy="40233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07791" y="2871216"/>
            <a:ext cx="1938528" cy="329184"/>
          </a:xfrm>
          <a:prstGeom prst="rect">
            <a:avLst/>
          </a:prstGeom>
          <a:noFill/>
        </p:spPr>
        <p:txBody>
          <a:bodyPr wrap="square">
            <a:spAutoFit/>
          </a:bodyPr>
          <a:lstStyle/>
          <a:p>
            <a:pPr algn="ctr"/>
            <a:r>
              <a:rPr sz="1100" b="0" i="0">
                <a:solidFill>
                  <a:srgbClr val="151515"/>
                </a:solidFill>
                <a:latin typeface="Arial"/>
              </a:rPr>
              <a:t>236 R</a:t>
            </a:r>
          </a:p>
        </p:txBody>
      </p:sp>
      <p:sp>
        <p:nvSpPr>
          <p:cNvPr id="50" name="Rectangle 49"/>
          <p:cNvSpPr/>
          <p:nvPr/>
        </p:nvSpPr>
        <p:spPr>
          <a:xfrm>
            <a:off x="4919472" y="2834640"/>
            <a:ext cx="2560320" cy="40233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956048" y="2871216"/>
            <a:ext cx="2487168" cy="329184"/>
          </a:xfrm>
          <a:prstGeom prst="rect">
            <a:avLst/>
          </a:prstGeom>
          <a:noFill/>
        </p:spPr>
        <p:txBody>
          <a:bodyPr wrap="square">
            <a:spAutoFit/>
          </a:bodyPr>
          <a:lstStyle/>
          <a:p>
            <a:pPr algn="ctr"/>
            <a:r>
              <a:rPr sz="1100" b="0" i="0">
                <a:solidFill>
                  <a:srgbClr val="151515"/>
                </a:solidFill>
                <a:latin typeface="Arial"/>
              </a:rPr>
              <a:t>142 R</a:t>
            </a:r>
          </a:p>
        </p:txBody>
      </p:sp>
      <p:sp>
        <p:nvSpPr>
          <p:cNvPr id="52" name="Rectangle 51"/>
          <p:cNvSpPr/>
          <p:nvPr/>
        </p:nvSpPr>
        <p:spPr>
          <a:xfrm>
            <a:off x="7516367" y="2834640"/>
            <a:ext cx="2194560" cy="402336"/>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552943" y="2871216"/>
            <a:ext cx="2121408" cy="329184"/>
          </a:xfrm>
          <a:prstGeom prst="rect">
            <a:avLst/>
          </a:prstGeom>
          <a:noFill/>
        </p:spPr>
        <p:txBody>
          <a:bodyPr wrap="square">
            <a:spAutoFit/>
          </a:bodyPr>
          <a:lstStyle/>
          <a:p>
            <a:pPr algn="ctr"/>
            <a:r>
              <a:rPr sz="1100" b="1" i="0">
                <a:solidFill>
                  <a:srgbClr val="1B5E20"/>
                </a:solidFill>
                <a:latin typeface="Arial"/>
              </a:rPr>
              <a:t>−40% ✅</a:t>
            </a:r>
          </a:p>
        </p:txBody>
      </p:sp>
      <p:sp>
        <p:nvSpPr>
          <p:cNvPr id="54" name="Rectangle 53"/>
          <p:cNvSpPr/>
          <p:nvPr/>
        </p:nvSpPr>
        <p:spPr>
          <a:xfrm>
            <a:off x="274320" y="3328416"/>
            <a:ext cx="11640312" cy="38404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65760" y="3364992"/>
            <a:ext cx="6400800" cy="274320"/>
          </a:xfrm>
          <a:prstGeom prst="rect">
            <a:avLst/>
          </a:prstGeom>
          <a:noFill/>
        </p:spPr>
        <p:txBody>
          <a:bodyPr wrap="square">
            <a:spAutoFit/>
          </a:bodyPr>
          <a:lstStyle/>
          <a:p>
            <a:pPr algn="l"/>
            <a:r>
              <a:rPr sz="1100" b="1" i="0">
                <a:solidFill>
                  <a:srgbClr val="FFFFFF"/>
                </a:solidFill>
                <a:latin typeface="Arial"/>
              </a:rPr>
              <a:t>📈  Đường cong vốn — Tập Holdout niêm phong (02/2025–08/2026):</a:t>
            </a:r>
          </a:p>
        </p:txBody>
      </p:sp>
      <p:sp>
        <p:nvSpPr>
          <p:cNvPr id="56" name="TextBox 55"/>
          <p:cNvSpPr txBox="1"/>
          <p:nvPr/>
        </p:nvSpPr>
        <p:spPr>
          <a:xfrm>
            <a:off x="365760" y="3657600"/>
            <a:ext cx="6400800" cy="228600"/>
          </a:xfrm>
          <a:prstGeom prst="rect">
            <a:avLst/>
          </a:prstGeom>
          <a:noFill/>
        </p:spPr>
        <p:txBody>
          <a:bodyPr wrap="square">
            <a:spAutoFit/>
          </a:bodyPr>
          <a:lstStyle/>
          <a:p>
            <a:pPr algn="l"/>
            <a:r>
              <a:rPr sz="950" b="0" i="1">
                <a:solidFill>
                  <a:srgbClr val="FFD580"/>
                </a:solidFill>
                <a:latin typeface="Arial"/>
              </a:rPr>
              <a:t>Xanh = Baseline (Tầng 1 không lọc)  |  Cam = Top 50% (Sau lọc CatBoost)</a:t>
            </a:r>
          </a:p>
        </p:txBody>
      </p:sp>
      <p:pic>
        <p:nvPicPr>
          <p:cNvPr id="57" name="Picture 56" descr="equity-curve-holdout-top50.png"/>
          <p:cNvPicPr>
            <a:picLocks noChangeAspect="1"/>
          </p:cNvPicPr>
          <p:nvPr/>
        </p:nvPicPr>
        <p:blipFill>
          <a:blip r:embed="rId2"/>
          <a:stretch>
            <a:fillRect/>
          </a:stretch>
        </p:blipFill>
        <p:spPr>
          <a:xfrm>
            <a:off x="274320" y="3785615"/>
            <a:ext cx="7040880" cy="3035808"/>
          </a:xfrm>
          <a:prstGeom prst="rect">
            <a:avLst/>
          </a:prstGeom>
        </p:spPr>
      </p:pic>
      <p:sp>
        <p:nvSpPr>
          <p:cNvPr id="58" name="Rectangle 57"/>
          <p:cNvSpPr/>
          <p:nvPr/>
        </p:nvSpPr>
        <p:spPr>
          <a:xfrm>
            <a:off x="7452360" y="3785615"/>
            <a:ext cx="4572000" cy="303580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452360" y="3785615"/>
            <a:ext cx="4572000" cy="3035808"/>
          </a:xfrm>
          <a:prstGeom prst="rect">
            <a:avLst/>
          </a:prstGeom>
          <a:noFill/>
          <a:ln w="1270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543800" y="3840480"/>
            <a:ext cx="4389120" cy="310896"/>
          </a:xfrm>
          <a:prstGeom prst="rect">
            <a:avLst/>
          </a:prstGeom>
          <a:noFill/>
        </p:spPr>
        <p:txBody>
          <a:bodyPr wrap="square">
            <a:spAutoFit/>
          </a:bodyPr>
          <a:lstStyle/>
          <a:p>
            <a:pPr algn="l"/>
            <a:r>
              <a:rPr sz="1150" b="1" i="0">
                <a:solidFill>
                  <a:srgbClr val="1565C0"/>
                </a:solidFill>
                <a:latin typeface="Arial"/>
              </a:rPr>
              <a:t>🔍  Nhận xét:</a:t>
            </a:r>
          </a:p>
        </p:txBody>
      </p:sp>
      <p:sp>
        <p:nvSpPr>
          <p:cNvPr id="61" name="TextBox 60"/>
          <p:cNvSpPr txBox="1"/>
          <p:nvPr/>
        </p:nvSpPr>
        <p:spPr>
          <a:xfrm>
            <a:off x="7543800" y="4206240"/>
            <a:ext cx="4389120" cy="2468880"/>
          </a:xfrm>
          <a:prstGeom prst="rect">
            <a:avLst/>
          </a:prstGeom>
          <a:noFill/>
        </p:spPr>
        <p:txBody>
          <a:bodyPr wrap="square">
            <a:spAutoFit/>
          </a:bodyPr>
          <a:lstStyle/>
          <a:p>
            <a:pPr algn="l">
              <a:spcBef>
                <a:spcPts val="300"/>
              </a:spcBef>
            </a:pPr>
            <a:r>
              <a:rPr sz="1050" b="0">
                <a:solidFill>
                  <a:srgbClr val="151515"/>
                </a:solidFill>
                <a:latin typeface="Arial"/>
              </a:rPr>
              <a:t>Kết quả Holdout thấp hơn Dev → Bình thường! Không có rò rỉ.</a:t>
            </a:r>
          </a:p>
          <a:p>
            <a:pPr algn="l">
              <a:spcBef>
                <a:spcPts val="300"/>
              </a:spcBef>
            </a:pPr>
            <a:r>
              <a:rPr sz="1050" b="0">
                <a:solidFill>
                  <a:srgbClr val="151515"/>
                </a:solidFill>
                <a:latin typeface="Arial"/>
              </a:rPr>
              <a:t/>
            </a:r>
          </a:p>
          <a:p>
            <a:pPr algn="l">
              <a:spcBef>
                <a:spcPts val="300"/>
              </a:spcBef>
            </a:pPr>
            <a:r>
              <a:rPr sz="1050" b="0">
                <a:solidFill>
                  <a:srgbClr val="151515"/>
                </a:solidFill>
                <a:latin typeface="Arial"/>
              </a:rPr>
              <a:t>Dev Cách 1 (7000R) là ảo giác hoàn toàn.</a:t>
            </a:r>
          </a:p>
          <a:p>
            <a:pPr algn="l">
              <a:spcBef>
                <a:spcPts val="300"/>
              </a:spcBef>
            </a:pPr>
            <a:r>
              <a:rPr sz="1050" b="0">
                <a:solidFill>
                  <a:srgbClr val="151515"/>
                </a:solidFill>
                <a:latin typeface="Arial"/>
              </a:rPr>
              <a:t/>
            </a:r>
          </a:p>
          <a:p>
            <a:pPr algn="l">
              <a:spcBef>
                <a:spcPts val="300"/>
              </a:spcBef>
            </a:pPr>
            <a:r>
              <a:rPr sz="1050" b="0">
                <a:solidFill>
                  <a:srgbClr val="151515"/>
                </a:solidFill>
                <a:latin typeface="Arial"/>
              </a:rPr>
              <a:t>Holdout mới là con số khách quan nhất.</a:t>
            </a:r>
          </a:p>
          <a:p>
            <a:pPr algn="l">
              <a:spcBef>
                <a:spcPts val="300"/>
              </a:spcBef>
            </a:pPr>
            <a:r>
              <a:rPr sz="1050" b="0">
                <a:solidFill>
                  <a:srgbClr val="151515"/>
                </a:solidFill>
                <a:latin typeface="Arial"/>
              </a:rPr>
              <a:t/>
            </a:r>
          </a:p>
          <a:p>
            <a:pPr algn="l">
              <a:spcBef>
                <a:spcPts val="300"/>
              </a:spcBef>
            </a:pPr>
            <a:r>
              <a:rPr sz="1050" b="0">
                <a:solidFill>
                  <a:srgbClr val="151515"/>
                </a:solidFill>
                <a:latin typeface="Arial"/>
              </a:rPr>
              <a:t>Top 50% không hẳn tốt hơn Baseline trên Holdout → Đây là khó khăn của dữ liệu thật.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0233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5720"/>
            <a:ext cx="2437790" cy="310896"/>
          </a:xfrm>
          <a:prstGeom prst="rect">
            <a:avLst/>
          </a:prstGeom>
          <a:noFill/>
        </p:spPr>
        <p:txBody>
          <a:bodyPr wrap="square">
            <a:spAutoFit/>
          </a:bodyPr>
          <a:lstStyle/>
          <a:p>
            <a:pPr algn="ctr"/>
            <a:r>
              <a:rPr sz="850" b="0" i="0">
                <a:solidFill>
                  <a:srgbClr val="FFFFFF"/>
                </a:solidFill>
                <a:latin typeface="Arial"/>
              </a:rPr>
              <a:t>① Bối cảnh &amp; Mục tiêu</a:t>
            </a:r>
          </a:p>
        </p:txBody>
      </p:sp>
      <p:sp>
        <p:nvSpPr>
          <p:cNvPr id="4" name="TextBox 3"/>
          <p:cNvSpPr txBox="1"/>
          <p:nvPr/>
        </p:nvSpPr>
        <p:spPr>
          <a:xfrm>
            <a:off x="2437790" y="45720"/>
            <a:ext cx="2437790" cy="310896"/>
          </a:xfrm>
          <a:prstGeom prst="rect">
            <a:avLst/>
          </a:prstGeom>
          <a:noFill/>
        </p:spPr>
        <p:txBody>
          <a:bodyPr wrap="square">
            <a:spAutoFit/>
          </a:bodyPr>
          <a:lstStyle/>
          <a:p>
            <a:pPr algn="ctr"/>
            <a:r>
              <a:rPr sz="850" b="0" i="0">
                <a:solidFill>
                  <a:srgbClr val="FFFFFF"/>
                </a:solidFill>
                <a:latin typeface="Arial"/>
              </a:rPr>
              <a:t>② Dữ liệu &amp; Kiến trúc</a:t>
            </a:r>
          </a:p>
        </p:txBody>
      </p:sp>
      <p:sp>
        <p:nvSpPr>
          <p:cNvPr id="5" name="TextBox 4"/>
          <p:cNvSpPr txBox="1"/>
          <p:nvPr/>
        </p:nvSpPr>
        <p:spPr>
          <a:xfrm>
            <a:off x="4875580" y="45720"/>
            <a:ext cx="2437790" cy="310896"/>
          </a:xfrm>
          <a:prstGeom prst="rect">
            <a:avLst/>
          </a:prstGeom>
          <a:noFill/>
        </p:spPr>
        <p:txBody>
          <a:bodyPr wrap="square">
            <a:spAutoFit/>
          </a:bodyPr>
          <a:lstStyle/>
          <a:p>
            <a:pPr algn="ctr"/>
            <a:r>
              <a:rPr sz="850" b="0" i="0">
                <a:solidFill>
                  <a:srgbClr val="FFFFFF"/>
                </a:solidFill>
                <a:latin typeface="Arial"/>
              </a:rPr>
              <a:t>③ Phương pháp chia</a:t>
            </a:r>
          </a:p>
        </p:txBody>
      </p:sp>
      <p:sp>
        <p:nvSpPr>
          <p:cNvPr id="6" name="TextBox 5"/>
          <p:cNvSpPr txBox="1"/>
          <p:nvPr/>
        </p:nvSpPr>
        <p:spPr>
          <a:xfrm>
            <a:off x="7313371" y="45720"/>
            <a:ext cx="2437790" cy="310896"/>
          </a:xfrm>
          <a:prstGeom prst="rect">
            <a:avLst/>
          </a:prstGeom>
          <a:noFill/>
        </p:spPr>
        <p:txBody>
          <a:bodyPr wrap="square">
            <a:spAutoFit/>
          </a:bodyPr>
          <a:lstStyle/>
          <a:p>
            <a:pPr algn="ctr"/>
            <a:r>
              <a:rPr sz="850" b="0" i="0">
                <a:solidFill>
                  <a:srgbClr val="FFFFFF"/>
                </a:solidFill>
                <a:latin typeface="Arial"/>
              </a:rPr>
              <a:t>④ Kết quả</a:t>
            </a:r>
          </a:p>
        </p:txBody>
      </p:sp>
      <p:sp>
        <p:nvSpPr>
          <p:cNvPr id="7" name="Rectangle 6"/>
          <p:cNvSpPr/>
          <p:nvPr/>
        </p:nvSpPr>
        <p:spPr>
          <a:xfrm>
            <a:off x="9796881" y="27432"/>
            <a:ext cx="234635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51161" y="45720"/>
            <a:ext cx="2437790" cy="310896"/>
          </a:xfrm>
          <a:prstGeom prst="rect">
            <a:avLst/>
          </a:prstGeom>
          <a:noFill/>
        </p:spPr>
        <p:txBody>
          <a:bodyPr wrap="square">
            <a:spAutoFit/>
          </a:bodyPr>
          <a:lstStyle/>
          <a:p>
            <a:pPr algn="ctr"/>
            <a:r>
              <a:rPr sz="850" b="1" i="0">
                <a:solidFill>
                  <a:srgbClr val="1565C0"/>
                </a:solidFill>
                <a:latin typeface="Arial"/>
              </a:rPr>
              <a:t>⑤ Kết luận</a:t>
            </a:r>
          </a:p>
        </p:txBody>
      </p:sp>
      <p:sp>
        <p:nvSpPr>
          <p:cNvPr id="9" name="Rectangle 8"/>
          <p:cNvSpPr/>
          <p:nvPr/>
        </p:nvSpPr>
        <p:spPr>
          <a:xfrm>
            <a:off x="0" y="402336"/>
            <a:ext cx="121889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4592" y="54864"/>
            <a:ext cx="530352" cy="274320"/>
          </a:xfrm>
          <a:prstGeom prst="rect">
            <a:avLst/>
          </a:prstGeom>
          <a:noFill/>
        </p:spPr>
        <p:txBody>
          <a:bodyPr wrap="square">
            <a:spAutoFit/>
          </a:bodyPr>
          <a:lstStyle/>
          <a:p>
            <a:pPr algn="r"/>
            <a:r>
              <a:rPr sz="850" b="0" i="0">
                <a:solidFill>
                  <a:srgbClr val="FFFFFF"/>
                </a:solidFill>
                <a:latin typeface="Arial"/>
              </a:rPr>
              <a:t>14/18</a:t>
            </a:r>
          </a:p>
        </p:txBody>
      </p:sp>
      <p:sp>
        <p:nvSpPr>
          <p:cNvPr id="11" name="Rectangle 10"/>
          <p:cNvSpPr/>
          <p:nvPr/>
        </p:nvSpPr>
        <p:spPr>
          <a:xfrm>
            <a:off x="320040" y="530352"/>
            <a:ext cx="1154887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005840"/>
            <a:ext cx="1154887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48640"/>
            <a:ext cx="11274552" cy="438912"/>
          </a:xfrm>
          <a:prstGeom prst="rect">
            <a:avLst/>
          </a:prstGeom>
          <a:noFill/>
        </p:spPr>
        <p:txBody>
          <a:bodyPr wrap="square">
            <a:spAutoFit/>
          </a:bodyPr>
          <a:lstStyle/>
          <a:p>
            <a:pPr algn="l"/>
            <a:r>
              <a:rPr sz="1500" b="1" i="0">
                <a:solidFill>
                  <a:srgbClr val="151515"/>
                </a:solidFill>
                <a:latin typeface="Arial"/>
              </a:rPr>
              <a:t>Ma trận Nhầm lẫn — Phân tích Sai số Nghiệp vụ</a:t>
            </a:r>
          </a:p>
        </p:txBody>
      </p:sp>
      <p:pic>
        <p:nvPicPr>
          <p:cNvPr id="14" name="Picture 13" descr="04_confusion_matrix_holdout.png"/>
          <p:cNvPicPr>
            <a:picLocks noChangeAspect="1"/>
          </p:cNvPicPr>
          <p:nvPr/>
        </p:nvPicPr>
        <p:blipFill>
          <a:blip r:embed="rId2"/>
          <a:stretch>
            <a:fillRect/>
          </a:stretch>
        </p:blipFill>
        <p:spPr>
          <a:xfrm>
            <a:off x="274320" y="1115568"/>
            <a:ext cx="5943600" cy="5349240"/>
          </a:xfrm>
          <a:prstGeom prst="rect">
            <a:avLst/>
          </a:prstGeom>
        </p:spPr>
      </p:pic>
      <p:sp>
        <p:nvSpPr>
          <p:cNvPr id="15" name="Rectangle 14"/>
          <p:cNvSpPr/>
          <p:nvPr/>
        </p:nvSpPr>
        <p:spPr>
          <a:xfrm>
            <a:off x="6400800" y="1115568"/>
            <a:ext cx="5468112" cy="2414016"/>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0" y="1115568"/>
            <a:ext cx="5468112" cy="2414016"/>
          </a:xfrm>
          <a:prstGeom prst="rect">
            <a:avLst/>
          </a:prstGeom>
          <a:noFill/>
          <a:ln w="1905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197864"/>
            <a:ext cx="5285232" cy="365760"/>
          </a:xfrm>
          <a:prstGeom prst="rect">
            <a:avLst/>
          </a:prstGeom>
          <a:noFill/>
        </p:spPr>
        <p:txBody>
          <a:bodyPr wrap="square">
            <a:spAutoFit/>
          </a:bodyPr>
          <a:lstStyle/>
          <a:p>
            <a:pPr algn="l"/>
            <a:r>
              <a:rPr sz="1150" b="1" i="0">
                <a:solidFill>
                  <a:srgbClr val="B71C1C"/>
                </a:solidFill>
                <a:latin typeface="Arial"/>
              </a:rPr>
              <a:t>💸  FP — Báo nhầm (NGUY HIỂM nhất)</a:t>
            </a:r>
          </a:p>
        </p:txBody>
      </p:sp>
      <p:sp>
        <p:nvSpPr>
          <p:cNvPr id="18" name="Rectangle 17"/>
          <p:cNvSpPr/>
          <p:nvPr/>
        </p:nvSpPr>
        <p:spPr>
          <a:xfrm>
            <a:off x="6492240" y="1563624"/>
            <a:ext cx="5285232" cy="27432"/>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1636776"/>
            <a:ext cx="5285232" cy="1819656"/>
          </a:xfrm>
          <a:prstGeom prst="rect">
            <a:avLst/>
          </a:prstGeom>
          <a:noFill/>
        </p:spPr>
        <p:txBody>
          <a:bodyPr wrap="square">
            <a:spAutoFit/>
          </a:bodyPr>
          <a:lstStyle/>
          <a:p>
            <a:pPr algn="l">
              <a:spcBef>
                <a:spcPts val="300"/>
              </a:spcBef>
            </a:pPr>
            <a:r>
              <a:rPr sz="1100" b="0">
                <a:solidFill>
                  <a:srgbClr val="151515"/>
                </a:solidFill>
                <a:latin typeface="Arial"/>
              </a:rPr>
              <a:t>1,196 lệnh: Mô hình nói 'Thắng' → Thực tế 'Thua'.</a:t>
            </a:r>
          </a:p>
          <a:p>
            <a:pPr algn="l">
              <a:spcBef>
                <a:spcPts val="300"/>
              </a:spcBef>
            </a:pPr>
            <a:r>
              <a:rPr sz="1100" b="0">
                <a:solidFill>
                  <a:srgbClr val="151515"/>
                </a:solidFill>
                <a:latin typeface="Arial"/>
              </a:rPr>
              <a:t>→ Mất tiền trực tiếp!</a:t>
            </a:r>
          </a:p>
          <a:p>
            <a:pPr algn="l">
              <a:spcBef>
                <a:spcPts val="300"/>
              </a:spcBef>
            </a:pPr>
            <a:r>
              <a:rPr sz="1100" b="0">
                <a:solidFill>
                  <a:srgbClr val="151515"/>
                </a:solidFill>
                <a:latin typeface="Arial"/>
              </a:rPr>
              <a:t>→ Cần giảm tối đa loại sai lầm này.</a:t>
            </a:r>
          </a:p>
          <a:p>
            <a:pPr algn="l">
              <a:spcBef>
                <a:spcPts val="300"/>
              </a:spcBef>
            </a:pPr>
            <a:r>
              <a:rPr sz="1100" b="0">
                <a:solidFill>
                  <a:srgbClr val="151515"/>
                </a:solidFill>
                <a:latin typeface="Arial"/>
              </a:rPr>
              <a:t>→ Xảy ra khi thị trường đột ngột đảo chiều.</a:t>
            </a:r>
          </a:p>
        </p:txBody>
      </p:sp>
      <p:sp>
        <p:nvSpPr>
          <p:cNvPr id="20" name="Rectangle 19"/>
          <p:cNvSpPr/>
          <p:nvPr/>
        </p:nvSpPr>
        <p:spPr>
          <a:xfrm>
            <a:off x="6400800" y="3621024"/>
            <a:ext cx="5468112" cy="2414016"/>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0" y="3621024"/>
            <a:ext cx="5468112" cy="2414016"/>
          </a:xfrm>
          <a:prstGeom prst="rect">
            <a:avLst/>
          </a:prstGeom>
          <a:noFill/>
          <a:ln w="19050">
            <a:solidFill>
              <a:srgbClr val="E65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3703320"/>
            <a:ext cx="5285232" cy="365760"/>
          </a:xfrm>
          <a:prstGeom prst="rect">
            <a:avLst/>
          </a:prstGeom>
          <a:noFill/>
        </p:spPr>
        <p:txBody>
          <a:bodyPr wrap="square">
            <a:spAutoFit/>
          </a:bodyPr>
          <a:lstStyle/>
          <a:p>
            <a:pPr algn="l"/>
            <a:r>
              <a:rPr sz="1150" b="1" i="0">
                <a:solidFill>
                  <a:srgbClr val="E65C00"/>
                </a:solidFill>
                <a:latin typeface="Arial"/>
              </a:rPr>
              <a:t>⚠️  FN — Bỏ sót (Thiệt, không mất vốn)</a:t>
            </a:r>
          </a:p>
        </p:txBody>
      </p:sp>
      <p:sp>
        <p:nvSpPr>
          <p:cNvPr id="23" name="Rectangle 22"/>
          <p:cNvSpPr/>
          <p:nvPr/>
        </p:nvSpPr>
        <p:spPr>
          <a:xfrm>
            <a:off x="6492240" y="4069080"/>
            <a:ext cx="5285232" cy="27432"/>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4142232"/>
            <a:ext cx="5285232" cy="1819656"/>
          </a:xfrm>
          <a:prstGeom prst="rect">
            <a:avLst/>
          </a:prstGeom>
          <a:noFill/>
        </p:spPr>
        <p:txBody>
          <a:bodyPr wrap="square">
            <a:spAutoFit/>
          </a:bodyPr>
          <a:lstStyle/>
          <a:p>
            <a:pPr algn="l">
              <a:spcBef>
                <a:spcPts val="300"/>
              </a:spcBef>
            </a:pPr>
            <a:r>
              <a:rPr sz="1100" b="0">
                <a:solidFill>
                  <a:srgbClr val="151515"/>
                </a:solidFill>
                <a:latin typeface="Arial"/>
              </a:rPr>
              <a:t>754 lệnh: Mô hình nói 'Thua' → Thực tế 'Thắng'.</a:t>
            </a:r>
          </a:p>
          <a:p>
            <a:pPr algn="l">
              <a:spcBef>
                <a:spcPts val="300"/>
              </a:spcBef>
            </a:pPr>
            <a:r>
              <a:rPr sz="1100" b="0">
                <a:solidFill>
                  <a:srgbClr val="151515"/>
                </a:solidFill>
                <a:latin typeface="Arial"/>
              </a:rPr>
              <a:t>→ Bỏ lỡ cơ hội — Nhưng KHÔNG mất vốn!</a:t>
            </a:r>
          </a:p>
          <a:p>
            <a:pPr algn="l">
              <a:spcBef>
                <a:spcPts val="300"/>
              </a:spcBef>
            </a:pPr>
            <a:r>
              <a:rPr sz="1100" b="0">
                <a:solidFill>
                  <a:srgbClr val="151515"/>
                </a:solidFill>
                <a:latin typeface="Arial"/>
              </a:rPr>
              <a:t>→ Hệ thống bảo thủ: Thà bỏ lỡ còn hơn thua lỗ.</a:t>
            </a:r>
          </a:p>
          <a:p>
            <a:pPr algn="l">
              <a:spcBef>
                <a:spcPts val="300"/>
              </a:spcBef>
            </a:pPr>
            <a:r>
              <a:rPr sz="1100" b="0">
                <a:solidFill>
                  <a:srgbClr val="151515"/>
                </a:solidFill>
                <a:latin typeface="Arial"/>
              </a:rPr>
              <a:t>→ Đây là trade-off Precision vs Recall trong ML.</a:t>
            </a:r>
          </a:p>
        </p:txBody>
      </p:sp>
      <p:sp>
        <p:nvSpPr>
          <p:cNvPr id="25" name="Rectangle 24"/>
          <p:cNvSpPr/>
          <p:nvPr/>
        </p:nvSpPr>
        <p:spPr>
          <a:xfrm>
            <a:off x="6400800" y="6126480"/>
            <a:ext cx="5468112" cy="33832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6153912"/>
            <a:ext cx="5285232" cy="274320"/>
          </a:xfrm>
          <a:prstGeom prst="rect">
            <a:avLst/>
          </a:prstGeom>
          <a:noFill/>
        </p:spPr>
        <p:txBody>
          <a:bodyPr wrap="square">
            <a:spAutoFit/>
          </a:bodyPr>
          <a:lstStyle/>
          <a:p>
            <a:pPr algn="ctr"/>
            <a:r>
              <a:rPr sz="1100" b="1" i="0">
                <a:solidFill>
                  <a:srgbClr val="FFFFFF"/>
                </a:solidFill>
                <a:latin typeface="Arial"/>
              </a:rPr>
              <a:t>Nguyên tắc: Giảm FP &gt; Tăng TP — Bảo toàn vốn ưu tiên số 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0233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5720"/>
            <a:ext cx="2437790" cy="310896"/>
          </a:xfrm>
          <a:prstGeom prst="rect">
            <a:avLst/>
          </a:prstGeom>
          <a:noFill/>
        </p:spPr>
        <p:txBody>
          <a:bodyPr wrap="square">
            <a:spAutoFit/>
          </a:bodyPr>
          <a:lstStyle/>
          <a:p>
            <a:pPr algn="ctr"/>
            <a:r>
              <a:rPr sz="850" b="0" i="0">
                <a:solidFill>
                  <a:srgbClr val="FFFFFF"/>
                </a:solidFill>
                <a:latin typeface="Arial"/>
              </a:rPr>
              <a:t>① Bối cảnh &amp; Mục tiêu</a:t>
            </a:r>
          </a:p>
        </p:txBody>
      </p:sp>
      <p:sp>
        <p:nvSpPr>
          <p:cNvPr id="4" name="TextBox 3"/>
          <p:cNvSpPr txBox="1"/>
          <p:nvPr/>
        </p:nvSpPr>
        <p:spPr>
          <a:xfrm>
            <a:off x="2437790" y="45720"/>
            <a:ext cx="2437790" cy="310896"/>
          </a:xfrm>
          <a:prstGeom prst="rect">
            <a:avLst/>
          </a:prstGeom>
          <a:noFill/>
        </p:spPr>
        <p:txBody>
          <a:bodyPr wrap="square">
            <a:spAutoFit/>
          </a:bodyPr>
          <a:lstStyle/>
          <a:p>
            <a:pPr algn="ctr"/>
            <a:r>
              <a:rPr sz="850" b="0" i="0">
                <a:solidFill>
                  <a:srgbClr val="FFFFFF"/>
                </a:solidFill>
                <a:latin typeface="Arial"/>
              </a:rPr>
              <a:t>② Dữ liệu &amp; Kiến trúc</a:t>
            </a:r>
          </a:p>
        </p:txBody>
      </p:sp>
      <p:sp>
        <p:nvSpPr>
          <p:cNvPr id="5" name="TextBox 4"/>
          <p:cNvSpPr txBox="1"/>
          <p:nvPr/>
        </p:nvSpPr>
        <p:spPr>
          <a:xfrm>
            <a:off x="4875580" y="45720"/>
            <a:ext cx="2437790" cy="310896"/>
          </a:xfrm>
          <a:prstGeom prst="rect">
            <a:avLst/>
          </a:prstGeom>
          <a:noFill/>
        </p:spPr>
        <p:txBody>
          <a:bodyPr wrap="square">
            <a:spAutoFit/>
          </a:bodyPr>
          <a:lstStyle/>
          <a:p>
            <a:pPr algn="ctr"/>
            <a:r>
              <a:rPr sz="850" b="0" i="0">
                <a:solidFill>
                  <a:srgbClr val="FFFFFF"/>
                </a:solidFill>
                <a:latin typeface="Arial"/>
              </a:rPr>
              <a:t>③ Phương pháp chia</a:t>
            </a:r>
          </a:p>
        </p:txBody>
      </p:sp>
      <p:sp>
        <p:nvSpPr>
          <p:cNvPr id="6" name="TextBox 5"/>
          <p:cNvSpPr txBox="1"/>
          <p:nvPr/>
        </p:nvSpPr>
        <p:spPr>
          <a:xfrm>
            <a:off x="7313371" y="45720"/>
            <a:ext cx="2437790" cy="310896"/>
          </a:xfrm>
          <a:prstGeom prst="rect">
            <a:avLst/>
          </a:prstGeom>
          <a:noFill/>
        </p:spPr>
        <p:txBody>
          <a:bodyPr wrap="square">
            <a:spAutoFit/>
          </a:bodyPr>
          <a:lstStyle/>
          <a:p>
            <a:pPr algn="ctr"/>
            <a:r>
              <a:rPr sz="850" b="0" i="0">
                <a:solidFill>
                  <a:srgbClr val="FFFFFF"/>
                </a:solidFill>
                <a:latin typeface="Arial"/>
              </a:rPr>
              <a:t>④ Kết quả</a:t>
            </a:r>
          </a:p>
        </p:txBody>
      </p:sp>
      <p:sp>
        <p:nvSpPr>
          <p:cNvPr id="7" name="Rectangle 6"/>
          <p:cNvSpPr/>
          <p:nvPr/>
        </p:nvSpPr>
        <p:spPr>
          <a:xfrm>
            <a:off x="9796881" y="27432"/>
            <a:ext cx="234635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51161" y="45720"/>
            <a:ext cx="2437790" cy="310896"/>
          </a:xfrm>
          <a:prstGeom prst="rect">
            <a:avLst/>
          </a:prstGeom>
          <a:noFill/>
        </p:spPr>
        <p:txBody>
          <a:bodyPr wrap="square">
            <a:spAutoFit/>
          </a:bodyPr>
          <a:lstStyle/>
          <a:p>
            <a:pPr algn="ctr"/>
            <a:r>
              <a:rPr sz="850" b="1" i="0">
                <a:solidFill>
                  <a:srgbClr val="1565C0"/>
                </a:solidFill>
                <a:latin typeface="Arial"/>
              </a:rPr>
              <a:t>⑤ Kết luận</a:t>
            </a:r>
          </a:p>
        </p:txBody>
      </p:sp>
      <p:sp>
        <p:nvSpPr>
          <p:cNvPr id="9" name="Rectangle 8"/>
          <p:cNvSpPr/>
          <p:nvPr/>
        </p:nvSpPr>
        <p:spPr>
          <a:xfrm>
            <a:off x="0" y="402336"/>
            <a:ext cx="121889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4592" y="54864"/>
            <a:ext cx="530352" cy="274320"/>
          </a:xfrm>
          <a:prstGeom prst="rect">
            <a:avLst/>
          </a:prstGeom>
          <a:noFill/>
        </p:spPr>
        <p:txBody>
          <a:bodyPr wrap="square">
            <a:spAutoFit/>
          </a:bodyPr>
          <a:lstStyle/>
          <a:p>
            <a:pPr algn="r"/>
            <a:r>
              <a:rPr sz="850" b="0" i="0">
                <a:solidFill>
                  <a:srgbClr val="FFFFFF"/>
                </a:solidFill>
                <a:latin typeface="Arial"/>
              </a:rPr>
              <a:t>15/18</a:t>
            </a:r>
          </a:p>
        </p:txBody>
      </p:sp>
      <p:sp>
        <p:nvSpPr>
          <p:cNvPr id="11" name="Rectangle 10"/>
          <p:cNvSpPr/>
          <p:nvPr/>
        </p:nvSpPr>
        <p:spPr>
          <a:xfrm>
            <a:off x="320040" y="530352"/>
            <a:ext cx="1154887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005840"/>
            <a:ext cx="1154887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48640"/>
            <a:ext cx="11274552" cy="438912"/>
          </a:xfrm>
          <a:prstGeom prst="rect">
            <a:avLst/>
          </a:prstGeom>
          <a:noFill/>
        </p:spPr>
        <p:txBody>
          <a:bodyPr wrap="square">
            <a:spAutoFit/>
          </a:bodyPr>
          <a:lstStyle/>
          <a:p>
            <a:pPr algn="l"/>
            <a:r>
              <a:rPr sz="1500" b="1" i="0">
                <a:solidFill>
                  <a:srgbClr val="151515"/>
                </a:solidFill>
                <a:latin typeface="Arial"/>
              </a:rPr>
              <a:t>Phát hiện Kỹ thuật — Tính Tái lập &amp; Đa luồng CPU</a:t>
            </a:r>
          </a:p>
        </p:txBody>
      </p:sp>
      <p:sp>
        <p:nvSpPr>
          <p:cNvPr id="14" name="Rectangle 13"/>
          <p:cNvSpPr/>
          <p:nvPr/>
        </p:nvSpPr>
        <p:spPr>
          <a:xfrm>
            <a:off x="274320" y="1115568"/>
            <a:ext cx="11640312" cy="530352"/>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1115568"/>
            <a:ext cx="11640312" cy="530352"/>
          </a:xfrm>
          <a:prstGeom prst="rect">
            <a:avLst/>
          </a:prstGeom>
          <a:noFill/>
          <a:ln w="2540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1152144"/>
            <a:ext cx="11457432" cy="457200"/>
          </a:xfrm>
          <a:prstGeom prst="rect">
            <a:avLst/>
          </a:prstGeom>
          <a:noFill/>
        </p:spPr>
        <p:txBody>
          <a:bodyPr wrap="square">
            <a:spAutoFit/>
          </a:bodyPr>
          <a:lstStyle/>
          <a:p>
            <a:pPr algn="l"/>
            <a:r>
              <a:rPr sz="1250" b="1" i="0">
                <a:solidFill>
                  <a:srgbClr val="B71C1C"/>
                </a:solidFill>
                <a:latin typeface="Arial"/>
              </a:rPr>
              <a:t>⚠️  CatBoost nhạy cảm với số luồng CPU (thread_count) — Ảnh hưởng đến tính tái lập!</a:t>
            </a:r>
          </a:p>
        </p:txBody>
      </p:sp>
      <p:sp>
        <p:nvSpPr>
          <p:cNvPr id="17" name="Rectangle 16"/>
          <p:cNvSpPr/>
          <p:nvPr/>
        </p:nvSpPr>
        <p:spPr>
          <a:xfrm>
            <a:off x="274320" y="1755648"/>
            <a:ext cx="5394960" cy="210312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1755648"/>
            <a:ext cx="5394960" cy="2103120"/>
          </a:xfrm>
          <a:prstGeom prst="rect">
            <a:avLst/>
          </a:prstGeom>
          <a:noFill/>
          <a:ln w="1905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1837943"/>
            <a:ext cx="5212080" cy="365760"/>
          </a:xfrm>
          <a:prstGeom prst="rect">
            <a:avLst/>
          </a:prstGeom>
          <a:noFill/>
        </p:spPr>
        <p:txBody>
          <a:bodyPr wrap="square">
            <a:spAutoFit/>
          </a:bodyPr>
          <a:lstStyle/>
          <a:p>
            <a:pPr algn="l"/>
            <a:r>
              <a:rPr sz="1150" b="1" i="0">
                <a:solidFill>
                  <a:srgbClr val="1B5E20"/>
                </a:solidFill>
                <a:latin typeface="Arial"/>
              </a:rPr>
              <a:t>✅  thread_count = 1  (Khuyến nghị)</a:t>
            </a:r>
          </a:p>
        </p:txBody>
      </p:sp>
      <p:sp>
        <p:nvSpPr>
          <p:cNvPr id="20" name="Rectangle 19"/>
          <p:cNvSpPr/>
          <p:nvPr/>
        </p:nvSpPr>
        <p:spPr>
          <a:xfrm>
            <a:off x="365760" y="2203704"/>
            <a:ext cx="5212080" cy="2743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2276856"/>
            <a:ext cx="5212080" cy="1508760"/>
          </a:xfrm>
          <a:prstGeom prst="rect">
            <a:avLst/>
          </a:prstGeom>
          <a:noFill/>
        </p:spPr>
        <p:txBody>
          <a:bodyPr wrap="square">
            <a:spAutoFit/>
          </a:bodyPr>
          <a:lstStyle/>
          <a:p>
            <a:pPr algn="l">
              <a:spcBef>
                <a:spcPts val="300"/>
              </a:spcBef>
            </a:pPr>
            <a:r>
              <a:rPr sz="1100" b="0">
                <a:solidFill>
                  <a:srgbClr val="151515"/>
                </a:solidFill>
                <a:latin typeface="Arial"/>
              </a:rPr>
              <a:t>Hai lần chạy độc lập → Dự đoán TRÙNG KHỚP 100%.</a:t>
            </a:r>
          </a:p>
          <a:p>
            <a:pPr algn="l">
              <a:spcBef>
                <a:spcPts val="300"/>
              </a:spcBef>
            </a:pPr>
            <a:r>
              <a:rPr sz="1100" b="0">
                <a:solidFill>
                  <a:srgbClr val="151515"/>
                </a:solidFill>
                <a:latin typeface="Arial"/>
              </a:rPr>
              <a:t>max|Δp| = 0  → Tính tất định hoàn toàn.</a:t>
            </a:r>
          </a:p>
          <a:p>
            <a:pPr algn="l">
              <a:spcBef>
                <a:spcPts val="300"/>
              </a:spcBef>
            </a:pPr>
            <a:r>
              <a:rPr sz="1100" b="0">
                <a:solidFill>
                  <a:srgbClr val="151515"/>
                </a:solidFill>
                <a:latin typeface="Arial"/>
              </a:rPr>
              <a:t>→ Chuẩn bắt buộc trong nghiên cứu khoa học.</a:t>
            </a:r>
          </a:p>
        </p:txBody>
      </p:sp>
      <p:sp>
        <p:nvSpPr>
          <p:cNvPr id="22" name="Rectangle 21"/>
          <p:cNvSpPr/>
          <p:nvPr/>
        </p:nvSpPr>
        <p:spPr>
          <a:xfrm>
            <a:off x="5989320" y="1755648"/>
            <a:ext cx="5971032" cy="210312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89320" y="1755648"/>
            <a:ext cx="5971032" cy="2103120"/>
          </a:xfrm>
          <a:prstGeom prst="rect">
            <a:avLst/>
          </a:prstGeom>
          <a:noFill/>
          <a:ln w="1905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80759" y="1837943"/>
            <a:ext cx="5788152" cy="365760"/>
          </a:xfrm>
          <a:prstGeom prst="rect">
            <a:avLst/>
          </a:prstGeom>
          <a:noFill/>
        </p:spPr>
        <p:txBody>
          <a:bodyPr wrap="square">
            <a:spAutoFit/>
          </a:bodyPr>
          <a:lstStyle/>
          <a:p>
            <a:pPr algn="l"/>
            <a:r>
              <a:rPr sz="1150" b="1" i="0">
                <a:solidFill>
                  <a:srgbClr val="B71C1C"/>
                </a:solidFill>
                <a:latin typeface="Arial"/>
              </a:rPr>
              <a:t>❌  thread_count = -1  (Đa luồng tự do)</a:t>
            </a:r>
          </a:p>
        </p:txBody>
      </p:sp>
      <p:sp>
        <p:nvSpPr>
          <p:cNvPr id="25" name="Rectangle 24"/>
          <p:cNvSpPr/>
          <p:nvPr/>
        </p:nvSpPr>
        <p:spPr>
          <a:xfrm>
            <a:off x="6080759" y="2203704"/>
            <a:ext cx="5788152" cy="27432"/>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59" y="2276856"/>
            <a:ext cx="5788152" cy="1508760"/>
          </a:xfrm>
          <a:prstGeom prst="rect">
            <a:avLst/>
          </a:prstGeom>
          <a:noFill/>
        </p:spPr>
        <p:txBody>
          <a:bodyPr wrap="square">
            <a:spAutoFit/>
          </a:bodyPr>
          <a:lstStyle/>
          <a:p>
            <a:pPr algn="l">
              <a:spcBef>
                <a:spcPts val="300"/>
              </a:spcBef>
            </a:pPr>
            <a:r>
              <a:rPr sz="1100" b="0">
                <a:solidFill>
                  <a:srgbClr val="151515"/>
                </a:solidFill>
                <a:latin typeface="Arial"/>
              </a:rPr>
              <a:t>Thứ tự tính toán thay đổi → Sai số dấu phẩy động.</a:t>
            </a:r>
          </a:p>
          <a:p>
            <a:pPr algn="l">
              <a:spcBef>
                <a:spcPts val="300"/>
              </a:spcBef>
            </a:pPr>
            <a:r>
              <a:rPr sz="1100" b="0">
                <a:solidFill>
                  <a:srgbClr val="151515"/>
                </a:solidFill>
                <a:latin typeface="Arial"/>
              </a:rPr>
              <a:t>max|Δp| = 0.34  → Lợi nhuận lệch từ −36R đến +30R!</a:t>
            </a:r>
          </a:p>
          <a:p>
            <a:pPr algn="l">
              <a:spcBef>
                <a:spcPts val="300"/>
              </a:spcBef>
            </a:pPr>
            <a:r>
              <a:rPr sz="1100" b="0">
                <a:solidFill>
                  <a:srgbClr val="151515"/>
                </a:solidFill>
                <a:latin typeface="Arial"/>
              </a:rPr>
              <a:t>→ Không tái lập → Không đáng tin cậy!</a:t>
            </a:r>
          </a:p>
        </p:txBody>
      </p:sp>
      <p:sp>
        <p:nvSpPr>
          <p:cNvPr id="27" name="Rectangle 26"/>
          <p:cNvSpPr/>
          <p:nvPr/>
        </p:nvSpPr>
        <p:spPr>
          <a:xfrm>
            <a:off x="274320" y="3950208"/>
            <a:ext cx="11640312" cy="3657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4320" y="4041648"/>
            <a:ext cx="11640312" cy="274320"/>
          </a:xfrm>
          <a:prstGeom prst="rect">
            <a:avLst/>
          </a:prstGeom>
          <a:noFill/>
        </p:spPr>
        <p:txBody>
          <a:bodyPr wrap="square">
            <a:spAutoFit/>
          </a:bodyPr>
          <a:lstStyle/>
          <a:p>
            <a:pPr algn="l"/>
            <a:r>
              <a:rPr sz="1100" b="0" i="1">
                <a:solidFill>
                  <a:srgbClr val="151515"/>
                </a:solidFill>
                <a:latin typeface="Arial"/>
              </a:rPr>
              <a:t>📌  Nguyên nhân: Floating-point non-determinism — Tổng hợp số thực dấu phẩy động theo thứ tự khác nhau cho kết quả khác nhau.</a:t>
            </a:r>
          </a:p>
        </p:txBody>
      </p:sp>
      <p:pic>
        <p:nvPicPr>
          <p:cNvPr id="29" name="Picture 28" descr="equity-curve-chunk2-5-top50.png"/>
          <p:cNvPicPr>
            <a:picLocks noChangeAspect="1"/>
          </p:cNvPicPr>
          <p:nvPr/>
        </p:nvPicPr>
        <p:blipFill>
          <a:blip r:embed="rId2"/>
          <a:stretch>
            <a:fillRect/>
          </a:stretch>
        </p:blipFill>
        <p:spPr>
          <a:xfrm>
            <a:off x="274320" y="4389120"/>
            <a:ext cx="11640312" cy="2377440"/>
          </a:xfrm>
          <a:prstGeom prst="rect">
            <a:avLst/>
          </a:prstGeom>
        </p:spPr>
      </p:pic>
      <p:sp>
        <p:nvSpPr>
          <p:cNvPr id="30" name="TextBox 29"/>
          <p:cNvSpPr txBox="1"/>
          <p:nvPr/>
        </p:nvSpPr>
        <p:spPr>
          <a:xfrm>
            <a:off x="274320" y="6821424"/>
            <a:ext cx="11640312" cy="164592"/>
          </a:xfrm>
          <a:prstGeom prst="rect">
            <a:avLst/>
          </a:prstGeom>
          <a:noFill/>
        </p:spPr>
        <p:txBody>
          <a:bodyPr wrap="square">
            <a:spAutoFit/>
          </a:bodyPr>
          <a:lstStyle/>
          <a:p>
            <a:pPr algn="l"/>
            <a:r>
              <a:rPr sz="900" b="0" i="1">
                <a:solidFill>
                  <a:srgbClr val="B71C1C"/>
                </a:solidFill>
                <a:latin typeface="Arial"/>
              </a:rPr>
              <a:t>Đường cong vốn tập Dev (2020–2025) — Cách 1 (màu cam vọt cao) là kết quả ảo do rò rỉ dữ liệu, KHÔNG thể đạt được ngoài thực tế!</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0233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5720"/>
            <a:ext cx="2437790" cy="310896"/>
          </a:xfrm>
          <a:prstGeom prst="rect">
            <a:avLst/>
          </a:prstGeom>
          <a:noFill/>
        </p:spPr>
        <p:txBody>
          <a:bodyPr wrap="square">
            <a:spAutoFit/>
          </a:bodyPr>
          <a:lstStyle/>
          <a:p>
            <a:pPr algn="ctr"/>
            <a:r>
              <a:rPr sz="850" b="0" i="0">
                <a:solidFill>
                  <a:srgbClr val="FFFFFF"/>
                </a:solidFill>
                <a:latin typeface="Arial"/>
              </a:rPr>
              <a:t>① Bối cảnh &amp; Mục tiêu</a:t>
            </a:r>
          </a:p>
        </p:txBody>
      </p:sp>
      <p:sp>
        <p:nvSpPr>
          <p:cNvPr id="4" name="TextBox 3"/>
          <p:cNvSpPr txBox="1"/>
          <p:nvPr/>
        </p:nvSpPr>
        <p:spPr>
          <a:xfrm>
            <a:off x="2437790" y="45720"/>
            <a:ext cx="2437790" cy="310896"/>
          </a:xfrm>
          <a:prstGeom prst="rect">
            <a:avLst/>
          </a:prstGeom>
          <a:noFill/>
        </p:spPr>
        <p:txBody>
          <a:bodyPr wrap="square">
            <a:spAutoFit/>
          </a:bodyPr>
          <a:lstStyle/>
          <a:p>
            <a:pPr algn="ctr"/>
            <a:r>
              <a:rPr sz="850" b="0" i="0">
                <a:solidFill>
                  <a:srgbClr val="FFFFFF"/>
                </a:solidFill>
                <a:latin typeface="Arial"/>
              </a:rPr>
              <a:t>② Dữ liệu &amp; Kiến trúc</a:t>
            </a:r>
          </a:p>
        </p:txBody>
      </p:sp>
      <p:sp>
        <p:nvSpPr>
          <p:cNvPr id="5" name="TextBox 4"/>
          <p:cNvSpPr txBox="1"/>
          <p:nvPr/>
        </p:nvSpPr>
        <p:spPr>
          <a:xfrm>
            <a:off x="4875580" y="45720"/>
            <a:ext cx="2437790" cy="310896"/>
          </a:xfrm>
          <a:prstGeom prst="rect">
            <a:avLst/>
          </a:prstGeom>
          <a:noFill/>
        </p:spPr>
        <p:txBody>
          <a:bodyPr wrap="square">
            <a:spAutoFit/>
          </a:bodyPr>
          <a:lstStyle/>
          <a:p>
            <a:pPr algn="ctr"/>
            <a:r>
              <a:rPr sz="850" b="0" i="0">
                <a:solidFill>
                  <a:srgbClr val="FFFFFF"/>
                </a:solidFill>
                <a:latin typeface="Arial"/>
              </a:rPr>
              <a:t>③ Phương pháp chia</a:t>
            </a:r>
          </a:p>
        </p:txBody>
      </p:sp>
      <p:sp>
        <p:nvSpPr>
          <p:cNvPr id="6" name="TextBox 5"/>
          <p:cNvSpPr txBox="1"/>
          <p:nvPr/>
        </p:nvSpPr>
        <p:spPr>
          <a:xfrm>
            <a:off x="7313371" y="45720"/>
            <a:ext cx="2437790" cy="310896"/>
          </a:xfrm>
          <a:prstGeom prst="rect">
            <a:avLst/>
          </a:prstGeom>
          <a:noFill/>
        </p:spPr>
        <p:txBody>
          <a:bodyPr wrap="square">
            <a:spAutoFit/>
          </a:bodyPr>
          <a:lstStyle/>
          <a:p>
            <a:pPr algn="ctr"/>
            <a:r>
              <a:rPr sz="850" b="0" i="0">
                <a:solidFill>
                  <a:srgbClr val="FFFFFF"/>
                </a:solidFill>
                <a:latin typeface="Arial"/>
              </a:rPr>
              <a:t>④ Kết quả</a:t>
            </a:r>
          </a:p>
        </p:txBody>
      </p:sp>
      <p:sp>
        <p:nvSpPr>
          <p:cNvPr id="7" name="Rectangle 6"/>
          <p:cNvSpPr/>
          <p:nvPr/>
        </p:nvSpPr>
        <p:spPr>
          <a:xfrm>
            <a:off x="9796881" y="27432"/>
            <a:ext cx="234635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51161" y="45720"/>
            <a:ext cx="2437790" cy="310896"/>
          </a:xfrm>
          <a:prstGeom prst="rect">
            <a:avLst/>
          </a:prstGeom>
          <a:noFill/>
        </p:spPr>
        <p:txBody>
          <a:bodyPr wrap="square">
            <a:spAutoFit/>
          </a:bodyPr>
          <a:lstStyle/>
          <a:p>
            <a:pPr algn="ctr"/>
            <a:r>
              <a:rPr sz="850" b="1" i="0">
                <a:solidFill>
                  <a:srgbClr val="1565C0"/>
                </a:solidFill>
                <a:latin typeface="Arial"/>
              </a:rPr>
              <a:t>⑤ Kết luận</a:t>
            </a:r>
          </a:p>
        </p:txBody>
      </p:sp>
      <p:sp>
        <p:nvSpPr>
          <p:cNvPr id="9" name="Rectangle 8"/>
          <p:cNvSpPr/>
          <p:nvPr/>
        </p:nvSpPr>
        <p:spPr>
          <a:xfrm>
            <a:off x="0" y="402336"/>
            <a:ext cx="121889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4592" y="54864"/>
            <a:ext cx="530352" cy="274320"/>
          </a:xfrm>
          <a:prstGeom prst="rect">
            <a:avLst/>
          </a:prstGeom>
          <a:noFill/>
        </p:spPr>
        <p:txBody>
          <a:bodyPr wrap="square">
            <a:spAutoFit/>
          </a:bodyPr>
          <a:lstStyle/>
          <a:p>
            <a:pPr algn="r"/>
            <a:r>
              <a:rPr sz="850" b="0" i="0">
                <a:solidFill>
                  <a:srgbClr val="FFFFFF"/>
                </a:solidFill>
                <a:latin typeface="Arial"/>
              </a:rPr>
              <a:t>16/18</a:t>
            </a:r>
          </a:p>
        </p:txBody>
      </p:sp>
      <p:sp>
        <p:nvSpPr>
          <p:cNvPr id="11" name="Rectangle 10"/>
          <p:cNvSpPr/>
          <p:nvPr/>
        </p:nvSpPr>
        <p:spPr>
          <a:xfrm>
            <a:off x="320040" y="530352"/>
            <a:ext cx="1154887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005840"/>
            <a:ext cx="1154887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48640"/>
            <a:ext cx="11274552" cy="438912"/>
          </a:xfrm>
          <a:prstGeom prst="rect">
            <a:avLst/>
          </a:prstGeom>
          <a:noFill/>
        </p:spPr>
        <p:txBody>
          <a:bodyPr wrap="square">
            <a:spAutoFit/>
          </a:bodyPr>
          <a:lstStyle/>
          <a:p>
            <a:pPr algn="l"/>
            <a:r>
              <a:rPr sz="1500" b="1" i="0">
                <a:solidFill>
                  <a:srgbClr val="151515"/>
                </a:solidFill>
                <a:latin typeface="Arial"/>
              </a:rPr>
              <a:t>Tổng kết Toàn bộ Kết quả — Bức tranh Hoàn chỉnh</a:t>
            </a:r>
          </a:p>
        </p:txBody>
      </p:sp>
      <p:sp>
        <p:nvSpPr>
          <p:cNvPr id="14" name="Rectangle 13"/>
          <p:cNvSpPr/>
          <p:nvPr/>
        </p:nvSpPr>
        <p:spPr>
          <a:xfrm>
            <a:off x="274320" y="1115568"/>
            <a:ext cx="11640312" cy="93268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1152144"/>
            <a:ext cx="11457432" cy="292608"/>
          </a:xfrm>
          <a:prstGeom prst="rect">
            <a:avLst/>
          </a:prstGeom>
          <a:noFill/>
        </p:spPr>
        <p:txBody>
          <a:bodyPr wrap="square">
            <a:spAutoFit/>
          </a:bodyPr>
          <a:lstStyle/>
          <a:p>
            <a:pPr algn="l"/>
            <a:r>
              <a:rPr sz="1200" b="1" i="0">
                <a:solidFill>
                  <a:srgbClr val="FFD580"/>
                </a:solidFill>
                <a:latin typeface="Arial"/>
              </a:rPr>
              <a:t>🏆  3 Câu hỏi Nghiên cứu — 3 Câu trả lời:</a:t>
            </a:r>
          </a:p>
        </p:txBody>
      </p:sp>
      <p:sp>
        <p:nvSpPr>
          <p:cNvPr id="16" name="TextBox 15"/>
          <p:cNvSpPr txBox="1"/>
          <p:nvPr/>
        </p:nvSpPr>
        <p:spPr>
          <a:xfrm>
            <a:off x="365760" y="1444752"/>
            <a:ext cx="4572000" cy="182880"/>
          </a:xfrm>
          <a:prstGeom prst="rect">
            <a:avLst/>
          </a:prstGeom>
          <a:noFill/>
        </p:spPr>
        <p:txBody>
          <a:bodyPr wrap="square">
            <a:spAutoFit/>
          </a:bodyPr>
          <a:lstStyle/>
          <a:p>
            <a:pPr algn="l"/>
            <a:r>
              <a:rPr sz="1000" b="1" i="0">
                <a:solidFill>
                  <a:srgbClr val="FFFFFF"/>
                </a:solidFill>
                <a:latin typeface="Arial"/>
              </a:rPr>
              <a:t>CH1: Chia dữ liệu ảnh hưởng bao nhiêu?</a:t>
            </a:r>
          </a:p>
        </p:txBody>
      </p:sp>
      <p:sp>
        <p:nvSpPr>
          <p:cNvPr id="17" name="TextBox 16"/>
          <p:cNvSpPr txBox="1"/>
          <p:nvPr/>
        </p:nvSpPr>
        <p:spPr>
          <a:xfrm>
            <a:off x="5029200" y="1444752"/>
            <a:ext cx="6583680" cy="182880"/>
          </a:xfrm>
          <a:prstGeom prst="rect">
            <a:avLst/>
          </a:prstGeom>
          <a:noFill/>
        </p:spPr>
        <p:txBody>
          <a:bodyPr wrap="square">
            <a:spAutoFit/>
          </a:bodyPr>
          <a:lstStyle/>
          <a:p>
            <a:pPr algn="l"/>
            <a:r>
              <a:rPr sz="1050" b="1" i="0">
                <a:solidFill>
                  <a:srgbClr val="FFD580"/>
                </a:solidFill>
                <a:latin typeface="Arial"/>
              </a:rPr>
              <a:t>→ Cực lớn: AUC từ 0.59 (thực) lên 0.86 (ảo) — Chênh lệch 47%!</a:t>
            </a:r>
          </a:p>
        </p:txBody>
      </p:sp>
      <p:sp>
        <p:nvSpPr>
          <p:cNvPr id="18" name="TextBox 17"/>
          <p:cNvSpPr txBox="1"/>
          <p:nvPr/>
        </p:nvSpPr>
        <p:spPr>
          <a:xfrm>
            <a:off x="365760" y="1645920"/>
            <a:ext cx="4572000" cy="182880"/>
          </a:xfrm>
          <a:prstGeom prst="rect">
            <a:avLst/>
          </a:prstGeom>
          <a:noFill/>
        </p:spPr>
        <p:txBody>
          <a:bodyPr wrap="square">
            <a:spAutoFit/>
          </a:bodyPr>
          <a:lstStyle/>
          <a:p>
            <a:pPr algn="l"/>
            <a:r>
              <a:rPr sz="1000" b="1" i="0">
                <a:solidFill>
                  <a:srgbClr val="FFFFFF"/>
                </a:solidFill>
                <a:latin typeface="Arial"/>
              </a:rPr>
              <a:t>CH2: Phương pháp nào đáng tin cậy?</a:t>
            </a:r>
          </a:p>
        </p:txBody>
      </p:sp>
      <p:sp>
        <p:nvSpPr>
          <p:cNvPr id="19" name="TextBox 18"/>
          <p:cNvSpPr txBox="1"/>
          <p:nvPr/>
        </p:nvSpPr>
        <p:spPr>
          <a:xfrm>
            <a:off x="5029200" y="1645920"/>
            <a:ext cx="6583680" cy="182880"/>
          </a:xfrm>
          <a:prstGeom prst="rect">
            <a:avLst/>
          </a:prstGeom>
          <a:noFill/>
        </p:spPr>
        <p:txBody>
          <a:bodyPr wrap="square">
            <a:spAutoFit/>
          </a:bodyPr>
          <a:lstStyle/>
          <a:p>
            <a:pPr algn="l"/>
            <a:r>
              <a:rPr sz="1050" b="1" i="0">
                <a:solidFill>
                  <a:srgbClr val="FFD580"/>
                </a:solidFill>
                <a:latin typeface="Arial"/>
              </a:rPr>
              <a:t>→ Purged WF (0.59) ≈ Holdout thật (0.60). Sai lệch chỉ 1.5%.</a:t>
            </a:r>
          </a:p>
        </p:txBody>
      </p:sp>
      <p:sp>
        <p:nvSpPr>
          <p:cNvPr id="20" name="TextBox 19"/>
          <p:cNvSpPr txBox="1"/>
          <p:nvPr/>
        </p:nvSpPr>
        <p:spPr>
          <a:xfrm>
            <a:off x="365760" y="1847088"/>
            <a:ext cx="4572000" cy="182880"/>
          </a:xfrm>
          <a:prstGeom prst="rect">
            <a:avLst/>
          </a:prstGeom>
          <a:noFill/>
        </p:spPr>
        <p:txBody>
          <a:bodyPr wrap="square">
            <a:spAutoFit/>
          </a:bodyPr>
          <a:lstStyle/>
          <a:p>
            <a:pPr algn="l"/>
            <a:r>
              <a:rPr sz="1000" b="1" i="0">
                <a:solidFill>
                  <a:srgbClr val="FFFFFF"/>
                </a:solidFill>
                <a:latin typeface="Arial"/>
              </a:rPr>
              <a:t>CH3: Meta-Labeling AI có hiệu quả?</a:t>
            </a:r>
          </a:p>
        </p:txBody>
      </p:sp>
      <p:sp>
        <p:nvSpPr>
          <p:cNvPr id="21" name="TextBox 20"/>
          <p:cNvSpPr txBox="1"/>
          <p:nvPr/>
        </p:nvSpPr>
        <p:spPr>
          <a:xfrm>
            <a:off x="5029200" y="1847088"/>
            <a:ext cx="6583680" cy="182880"/>
          </a:xfrm>
          <a:prstGeom prst="rect">
            <a:avLst/>
          </a:prstGeom>
          <a:noFill/>
        </p:spPr>
        <p:txBody>
          <a:bodyPr wrap="square">
            <a:spAutoFit/>
          </a:bodyPr>
          <a:lstStyle/>
          <a:p>
            <a:pPr algn="l"/>
            <a:r>
              <a:rPr sz="1050" b="1" i="0">
                <a:solidFill>
                  <a:srgbClr val="FFD580"/>
                </a:solidFill>
                <a:latin typeface="Arial"/>
              </a:rPr>
              <a:t>→ Có: Max Drawdown −40%, Win Rate +3%, Profit Factor +8.5%.</a:t>
            </a:r>
          </a:p>
        </p:txBody>
      </p:sp>
      <p:sp>
        <p:nvSpPr>
          <p:cNvPr id="22" name="Rectangle 21"/>
          <p:cNvSpPr/>
          <p:nvPr/>
        </p:nvSpPr>
        <p:spPr>
          <a:xfrm>
            <a:off x="274320" y="2139696"/>
            <a:ext cx="5394960" cy="201168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2139696"/>
            <a:ext cx="5394960" cy="2011680"/>
          </a:xfrm>
          <a:prstGeom prst="rect">
            <a:avLst/>
          </a:prstGeom>
          <a:noFill/>
          <a:ln w="1905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2221991"/>
            <a:ext cx="5212080" cy="365760"/>
          </a:xfrm>
          <a:prstGeom prst="rect">
            <a:avLst/>
          </a:prstGeom>
          <a:noFill/>
        </p:spPr>
        <p:txBody>
          <a:bodyPr wrap="square">
            <a:spAutoFit/>
          </a:bodyPr>
          <a:lstStyle/>
          <a:p>
            <a:pPr algn="l"/>
            <a:r>
              <a:rPr sz="1150" b="1" i="0">
                <a:solidFill>
                  <a:srgbClr val="0D47A1"/>
                </a:solidFill>
                <a:latin typeface="Arial"/>
              </a:rPr>
              <a:t>📊  Kết quả Phân loại (Purged WF)</a:t>
            </a:r>
          </a:p>
        </p:txBody>
      </p:sp>
      <p:sp>
        <p:nvSpPr>
          <p:cNvPr id="25" name="Rectangle 24"/>
          <p:cNvSpPr/>
          <p:nvPr/>
        </p:nvSpPr>
        <p:spPr>
          <a:xfrm>
            <a:off x="365760" y="2587752"/>
            <a:ext cx="5212080" cy="2743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2660903"/>
            <a:ext cx="5212080" cy="1417320"/>
          </a:xfrm>
          <a:prstGeom prst="rect">
            <a:avLst/>
          </a:prstGeom>
          <a:noFill/>
        </p:spPr>
        <p:txBody>
          <a:bodyPr wrap="square">
            <a:spAutoFit/>
          </a:bodyPr>
          <a:lstStyle/>
          <a:p>
            <a:pPr algn="l">
              <a:spcBef>
                <a:spcPts val="300"/>
              </a:spcBef>
            </a:pPr>
            <a:r>
              <a:rPr sz="1050" b="0">
                <a:solidFill>
                  <a:srgbClr val="151515"/>
                </a:solidFill>
                <a:latin typeface="Arial"/>
              </a:rPr>
              <a:t>CatBoost: AUC=0.5895, F1=0.395</a:t>
            </a:r>
          </a:p>
          <a:p>
            <a:pPr algn="l">
              <a:spcBef>
                <a:spcPts val="300"/>
              </a:spcBef>
            </a:pPr>
            <a:r>
              <a:rPr sz="1050" b="0">
                <a:solidFill>
                  <a:srgbClr val="151515"/>
                </a:solidFill>
                <a:latin typeface="Arial"/>
              </a:rPr>
              <a:t>Logistic Reg: AUC=0.5412</a:t>
            </a:r>
          </a:p>
          <a:p>
            <a:pPr algn="l">
              <a:spcBef>
                <a:spcPts val="300"/>
              </a:spcBef>
            </a:pPr>
            <a:r>
              <a:rPr sz="1050" b="0">
                <a:solidFill>
                  <a:srgbClr val="151515"/>
                </a:solidFill>
                <a:latin typeface="Arial"/>
              </a:rPr>
              <a:t>Random Forest: AUC=0.5630</a:t>
            </a:r>
          </a:p>
          <a:p>
            <a:pPr algn="l">
              <a:spcBef>
                <a:spcPts val="300"/>
              </a:spcBef>
            </a:pPr>
            <a:r>
              <a:rPr sz="1050" b="0">
                <a:solidFill>
                  <a:srgbClr val="151515"/>
                </a:solidFill>
                <a:latin typeface="Arial"/>
              </a:rPr>
              <a:t>Holdout: AUC=0.6046  ← Gần CatBoost nhất</a:t>
            </a:r>
          </a:p>
        </p:txBody>
      </p:sp>
      <p:sp>
        <p:nvSpPr>
          <p:cNvPr id="27" name="Rectangle 26"/>
          <p:cNvSpPr/>
          <p:nvPr/>
        </p:nvSpPr>
        <p:spPr>
          <a:xfrm>
            <a:off x="5989320" y="2139696"/>
            <a:ext cx="5971032" cy="201168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89320" y="2139696"/>
            <a:ext cx="5971032" cy="2011680"/>
          </a:xfrm>
          <a:prstGeom prst="rect">
            <a:avLst/>
          </a:prstGeom>
          <a:noFill/>
          <a:ln w="1905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80759" y="2221991"/>
            <a:ext cx="5788152" cy="365760"/>
          </a:xfrm>
          <a:prstGeom prst="rect">
            <a:avLst/>
          </a:prstGeom>
          <a:noFill/>
        </p:spPr>
        <p:txBody>
          <a:bodyPr wrap="square">
            <a:spAutoFit/>
          </a:bodyPr>
          <a:lstStyle/>
          <a:p>
            <a:pPr algn="l"/>
            <a:r>
              <a:rPr sz="1150" b="1" i="0">
                <a:solidFill>
                  <a:srgbClr val="1B5E20"/>
                </a:solidFill>
                <a:latin typeface="Arial"/>
              </a:rPr>
              <a:t>💰  Cải thiện Tài chính (Top 50%)</a:t>
            </a:r>
          </a:p>
        </p:txBody>
      </p:sp>
      <p:sp>
        <p:nvSpPr>
          <p:cNvPr id="30" name="Rectangle 29"/>
          <p:cNvSpPr/>
          <p:nvPr/>
        </p:nvSpPr>
        <p:spPr>
          <a:xfrm>
            <a:off x="6080759" y="2587752"/>
            <a:ext cx="5788152" cy="2743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80759" y="2660903"/>
            <a:ext cx="5788152" cy="1417320"/>
          </a:xfrm>
          <a:prstGeom prst="rect">
            <a:avLst/>
          </a:prstGeom>
          <a:noFill/>
        </p:spPr>
        <p:txBody>
          <a:bodyPr wrap="square">
            <a:spAutoFit/>
          </a:bodyPr>
          <a:lstStyle/>
          <a:p>
            <a:pPr algn="l">
              <a:spcBef>
                <a:spcPts val="300"/>
              </a:spcBef>
            </a:pPr>
            <a:r>
              <a:rPr sz="1050" b="0">
                <a:solidFill>
                  <a:srgbClr val="151515"/>
                </a:solidFill>
                <a:latin typeface="Arial"/>
              </a:rPr>
              <a:t>Số lệnh: −50%  (Loại bỏ lệnh xấu)</a:t>
            </a:r>
          </a:p>
          <a:p>
            <a:pPr algn="l">
              <a:spcBef>
                <a:spcPts val="300"/>
              </a:spcBef>
            </a:pPr>
            <a:r>
              <a:rPr sz="1050" b="0">
                <a:solidFill>
                  <a:srgbClr val="151515"/>
                </a:solidFill>
                <a:latin typeface="Arial"/>
              </a:rPr>
              <a:t>Win Rate: +3.28%</a:t>
            </a:r>
          </a:p>
          <a:p>
            <a:pPr algn="l">
              <a:spcBef>
                <a:spcPts val="300"/>
              </a:spcBef>
            </a:pPr>
            <a:r>
              <a:rPr sz="1050" b="0">
                <a:solidFill>
                  <a:srgbClr val="151515"/>
                </a:solidFill>
                <a:latin typeface="Arial"/>
              </a:rPr>
              <a:t>Profit Factor: +8.5%</a:t>
            </a:r>
          </a:p>
          <a:p>
            <a:pPr algn="l">
              <a:spcBef>
                <a:spcPts val="300"/>
              </a:spcBef>
            </a:pPr>
            <a:r>
              <a:rPr sz="1050" b="0">
                <a:solidFill>
                  <a:srgbClr val="151515"/>
                </a:solidFill>
                <a:latin typeface="Arial"/>
              </a:rPr>
              <a:t>Max Drawdown: −40%  ← Quan trọng nhất!</a:t>
            </a:r>
          </a:p>
        </p:txBody>
      </p:sp>
      <p:sp>
        <p:nvSpPr>
          <p:cNvPr id="32" name="Rectangle 31"/>
          <p:cNvSpPr/>
          <p:nvPr/>
        </p:nvSpPr>
        <p:spPr>
          <a:xfrm>
            <a:off x="274320" y="4242816"/>
            <a:ext cx="5394960" cy="201168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 y="4242816"/>
            <a:ext cx="5394960" cy="2011680"/>
          </a:xfrm>
          <a:prstGeom prst="rect">
            <a:avLst/>
          </a:prstGeom>
          <a:noFill/>
          <a:ln w="1905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4325112"/>
            <a:ext cx="5212080" cy="365760"/>
          </a:xfrm>
          <a:prstGeom prst="rect">
            <a:avLst/>
          </a:prstGeom>
          <a:noFill/>
        </p:spPr>
        <p:txBody>
          <a:bodyPr wrap="square">
            <a:spAutoFit/>
          </a:bodyPr>
          <a:lstStyle/>
          <a:p>
            <a:pPr algn="l"/>
            <a:r>
              <a:rPr sz="1150" b="1" i="0">
                <a:solidFill>
                  <a:srgbClr val="B71C1C"/>
                </a:solidFill>
                <a:latin typeface="Arial"/>
              </a:rPr>
              <a:t>⚠️  Cảnh báo Phương pháp</a:t>
            </a:r>
          </a:p>
        </p:txBody>
      </p:sp>
      <p:sp>
        <p:nvSpPr>
          <p:cNvPr id="35" name="Rectangle 34"/>
          <p:cNvSpPr/>
          <p:nvPr/>
        </p:nvSpPr>
        <p:spPr>
          <a:xfrm>
            <a:off x="365760" y="4690872"/>
            <a:ext cx="5212080" cy="27432"/>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4764024"/>
            <a:ext cx="5212080" cy="1417320"/>
          </a:xfrm>
          <a:prstGeom prst="rect">
            <a:avLst/>
          </a:prstGeom>
          <a:noFill/>
        </p:spPr>
        <p:txBody>
          <a:bodyPr wrap="square">
            <a:spAutoFit/>
          </a:bodyPr>
          <a:lstStyle/>
          <a:p>
            <a:pPr algn="l">
              <a:spcBef>
                <a:spcPts val="300"/>
              </a:spcBef>
            </a:pPr>
            <a:r>
              <a:rPr sz="1050" b="0">
                <a:solidFill>
                  <a:srgbClr val="151515"/>
                </a:solidFill>
                <a:latin typeface="Arial"/>
              </a:rPr>
              <a:t>Random K-Fold: AUC=0.86  ← ĐỪNG dùng!</a:t>
            </a:r>
          </a:p>
          <a:p>
            <a:pPr algn="l">
              <a:spcBef>
                <a:spcPts val="300"/>
              </a:spcBef>
            </a:pPr>
            <a:r>
              <a:rPr sz="1050" b="0">
                <a:solidFill>
                  <a:srgbClr val="151515"/>
                </a:solidFill>
                <a:latin typeface="Arial"/>
              </a:rPr>
              <a:t>Grouped K-Fold: AUC=0.74  ← Còn sai</a:t>
            </a:r>
          </a:p>
          <a:p>
            <a:pPr algn="l">
              <a:spcBef>
                <a:spcPts val="300"/>
              </a:spcBef>
            </a:pPr>
            <a:r>
              <a:rPr sz="1050" b="0">
                <a:solidFill>
                  <a:srgbClr val="151515"/>
                </a:solidFill>
                <a:latin typeface="Arial"/>
              </a:rPr>
              <a:t>Walk-Forward: AUC=0.59  ← Tốt</a:t>
            </a:r>
          </a:p>
          <a:p>
            <a:pPr algn="l">
              <a:spcBef>
                <a:spcPts val="300"/>
              </a:spcBef>
            </a:pPr>
            <a:r>
              <a:rPr sz="1050" b="0">
                <a:solidFill>
                  <a:srgbClr val="151515"/>
                </a:solidFill>
                <a:latin typeface="Arial"/>
              </a:rPr>
              <a:t>Purged WF: AUC=0.59  ← CHUẨN TIN CẬY</a:t>
            </a:r>
          </a:p>
        </p:txBody>
      </p:sp>
      <p:sp>
        <p:nvSpPr>
          <p:cNvPr id="37" name="Rectangle 36"/>
          <p:cNvSpPr/>
          <p:nvPr/>
        </p:nvSpPr>
        <p:spPr>
          <a:xfrm>
            <a:off x="5989320" y="4242816"/>
            <a:ext cx="5971032" cy="201168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989320" y="4242816"/>
            <a:ext cx="5971032" cy="2011680"/>
          </a:xfrm>
          <a:prstGeom prst="rect">
            <a:avLst/>
          </a:prstGeom>
          <a:noFill/>
          <a:ln w="1905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80759" y="4325112"/>
            <a:ext cx="5788152" cy="365760"/>
          </a:xfrm>
          <a:prstGeom prst="rect">
            <a:avLst/>
          </a:prstGeom>
          <a:noFill/>
        </p:spPr>
        <p:txBody>
          <a:bodyPr wrap="square">
            <a:spAutoFit/>
          </a:bodyPr>
          <a:lstStyle/>
          <a:p>
            <a:pPr algn="l"/>
            <a:r>
              <a:rPr sz="1150" b="1" i="0">
                <a:solidFill>
                  <a:srgbClr val="1565C0"/>
                </a:solidFill>
                <a:latin typeface="Arial"/>
              </a:rPr>
              <a:t>🎓  Đóng góp Học thuật</a:t>
            </a:r>
          </a:p>
        </p:txBody>
      </p:sp>
      <p:sp>
        <p:nvSpPr>
          <p:cNvPr id="40" name="Rectangle 39"/>
          <p:cNvSpPr/>
          <p:nvPr/>
        </p:nvSpPr>
        <p:spPr>
          <a:xfrm>
            <a:off x="6080759" y="4690872"/>
            <a:ext cx="5788152" cy="2743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80759" y="4764024"/>
            <a:ext cx="5788152" cy="1417320"/>
          </a:xfrm>
          <a:prstGeom prst="rect">
            <a:avLst/>
          </a:prstGeom>
          <a:noFill/>
        </p:spPr>
        <p:txBody>
          <a:bodyPr wrap="square">
            <a:spAutoFit/>
          </a:bodyPr>
          <a:lstStyle/>
          <a:p>
            <a:pPr algn="l">
              <a:spcBef>
                <a:spcPts val="300"/>
              </a:spcBef>
            </a:pPr>
            <a:r>
              <a:rPr sz="1050" b="0">
                <a:solidFill>
                  <a:srgbClr val="151515"/>
                </a:solidFill>
                <a:latin typeface="Arial"/>
              </a:rPr>
              <a:t>Bằng chứng định lượng về ảnh hưởng cách chia.</a:t>
            </a:r>
          </a:p>
          <a:p>
            <a:pPr algn="l">
              <a:spcBef>
                <a:spcPts val="300"/>
              </a:spcBef>
            </a:pPr>
            <a:r>
              <a:rPr sz="1050" b="0">
                <a:solidFill>
                  <a:srgbClr val="151515"/>
                </a:solidFill>
                <a:latin typeface="Arial"/>
              </a:rPr>
              <a:t>Pipeline 2 tầng áp dụng mọi chuỗi thời gian.</a:t>
            </a:r>
          </a:p>
          <a:p>
            <a:pPr algn="l">
              <a:spcBef>
                <a:spcPts val="300"/>
              </a:spcBef>
            </a:pPr>
            <a:r>
              <a:rPr sz="1050" b="0">
                <a:solidFill>
                  <a:srgbClr val="151515"/>
                </a:solidFill>
                <a:latin typeface="Arial"/>
              </a:rPr>
              <a:t>Phát hiện: thread_count=1 bắt buộc.</a:t>
            </a:r>
          </a:p>
          <a:p>
            <a:pPr algn="l">
              <a:spcBef>
                <a:spcPts val="300"/>
              </a:spcBef>
            </a:pPr>
            <a:r>
              <a:rPr sz="1050" b="0">
                <a:solidFill>
                  <a:srgbClr val="151515"/>
                </a:solidFill>
                <a:latin typeface="Arial"/>
              </a:rPr>
              <a:t>Purged WF = tiêu chuẩn tin cậy đã chứng minh.</a:t>
            </a:r>
          </a:p>
        </p:txBody>
      </p:sp>
      <p:sp>
        <p:nvSpPr>
          <p:cNvPr id="42" name="Rectangle 41"/>
          <p:cNvSpPr/>
          <p:nvPr/>
        </p:nvSpPr>
        <p:spPr>
          <a:xfrm>
            <a:off x="274320" y="6345936"/>
            <a:ext cx="11640312" cy="47548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5760" y="6373368"/>
            <a:ext cx="11457432" cy="402336"/>
          </a:xfrm>
          <a:prstGeom prst="rect">
            <a:avLst/>
          </a:prstGeom>
          <a:noFill/>
        </p:spPr>
        <p:txBody>
          <a:bodyPr wrap="square">
            <a:spAutoFit/>
          </a:bodyPr>
          <a:lstStyle/>
          <a:p>
            <a:pPr algn="l"/>
            <a:r>
              <a:rPr sz="1050" b="1" i="0">
                <a:solidFill>
                  <a:srgbClr val="FFFFFF"/>
                </a:solidFill>
                <a:latin typeface="Arial"/>
              </a:rPr>
              <a:t>📌  Kết luận phương pháp luận: Trong ML chuỗi thời gian, cách chia dữ liệu quan trọng hơn thuật toán. Điểm số đẹp trên Random K-Fold KHÔNG có nghĩa gì ngoài phòng thí nghiệm!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0233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5720"/>
            <a:ext cx="2437790" cy="310896"/>
          </a:xfrm>
          <a:prstGeom prst="rect">
            <a:avLst/>
          </a:prstGeom>
          <a:noFill/>
        </p:spPr>
        <p:txBody>
          <a:bodyPr wrap="square">
            <a:spAutoFit/>
          </a:bodyPr>
          <a:lstStyle/>
          <a:p>
            <a:pPr algn="ctr"/>
            <a:r>
              <a:rPr sz="850" b="0" i="0">
                <a:solidFill>
                  <a:srgbClr val="FFFFFF"/>
                </a:solidFill>
                <a:latin typeface="Arial"/>
              </a:rPr>
              <a:t>① Bối cảnh &amp; Mục tiêu</a:t>
            </a:r>
          </a:p>
        </p:txBody>
      </p:sp>
      <p:sp>
        <p:nvSpPr>
          <p:cNvPr id="4" name="TextBox 3"/>
          <p:cNvSpPr txBox="1"/>
          <p:nvPr/>
        </p:nvSpPr>
        <p:spPr>
          <a:xfrm>
            <a:off x="2437790" y="45720"/>
            <a:ext cx="2437790" cy="310896"/>
          </a:xfrm>
          <a:prstGeom prst="rect">
            <a:avLst/>
          </a:prstGeom>
          <a:noFill/>
        </p:spPr>
        <p:txBody>
          <a:bodyPr wrap="square">
            <a:spAutoFit/>
          </a:bodyPr>
          <a:lstStyle/>
          <a:p>
            <a:pPr algn="ctr"/>
            <a:r>
              <a:rPr sz="850" b="0" i="0">
                <a:solidFill>
                  <a:srgbClr val="FFFFFF"/>
                </a:solidFill>
                <a:latin typeface="Arial"/>
              </a:rPr>
              <a:t>② Dữ liệu &amp; Kiến trúc</a:t>
            </a:r>
          </a:p>
        </p:txBody>
      </p:sp>
      <p:sp>
        <p:nvSpPr>
          <p:cNvPr id="5" name="TextBox 4"/>
          <p:cNvSpPr txBox="1"/>
          <p:nvPr/>
        </p:nvSpPr>
        <p:spPr>
          <a:xfrm>
            <a:off x="4875580" y="45720"/>
            <a:ext cx="2437790" cy="310896"/>
          </a:xfrm>
          <a:prstGeom prst="rect">
            <a:avLst/>
          </a:prstGeom>
          <a:noFill/>
        </p:spPr>
        <p:txBody>
          <a:bodyPr wrap="square">
            <a:spAutoFit/>
          </a:bodyPr>
          <a:lstStyle/>
          <a:p>
            <a:pPr algn="ctr"/>
            <a:r>
              <a:rPr sz="850" b="0" i="0">
                <a:solidFill>
                  <a:srgbClr val="FFFFFF"/>
                </a:solidFill>
                <a:latin typeface="Arial"/>
              </a:rPr>
              <a:t>③ Phương pháp chia</a:t>
            </a:r>
          </a:p>
        </p:txBody>
      </p:sp>
      <p:sp>
        <p:nvSpPr>
          <p:cNvPr id="6" name="TextBox 5"/>
          <p:cNvSpPr txBox="1"/>
          <p:nvPr/>
        </p:nvSpPr>
        <p:spPr>
          <a:xfrm>
            <a:off x="7313371" y="45720"/>
            <a:ext cx="2437790" cy="310896"/>
          </a:xfrm>
          <a:prstGeom prst="rect">
            <a:avLst/>
          </a:prstGeom>
          <a:noFill/>
        </p:spPr>
        <p:txBody>
          <a:bodyPr wrap="square">
            <a:spAutoFit/>
          </a:bodyPr>
          <a:lstStyle/>
          <a:p>
            <a:pPr algn="ctr"/>
            <a:r>
              <a:rPr sz="850" b="0" i="0">
                <a:solidFill>
                  <a:srgbClr val="FFFFFF"/>
                </a:solidFill>
                <a:latin typeface="Arial"/>
              </a:rPr>
              <a:t>④ Kết quả</a:t>
            </a:r>
          </a:p>
        </p:txBody>
      </p:sp>
      <p:sp>
        <p:nvSpPr>
          <p:cNvPr id="7" name="Rectangle 6"/>
          <p:cNvSpPr/>
          <p:nvPr/>
        </p:nvSpPr>
        <p:spPr>
          <a:xfrm>
            <a:off x="9796881" y="27432"/>
            <a:ext cx="234635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51161" y="45720"/>
            <a:ext cx="2437790" cy="310896"/>
          </a:xfrm>
          <a:prstGeom prst="rect">
            <a:avLst/>
          </a:prstGeom>
          <a:noFill/>
        </p:spPr>
        <p:txBody>
          <a:bodyPr wrap="square">
            <a:spAutoFit/>
          </a:bodyPr>
          <a:lstStyle/>
          <a:p>
            <a:pPr algn="ctr"/>
            <a:r>
              <a:rPr sz="850" b="1" i="0">
                <a:solidFill>
                  <a:srgbClr val="1565C0"/>
                </a:solidFill>
                <a:latin typeface="Arial"/>
              </a:rPr>
              <a:t>⑤ Kết luận</a:t>
            </a:r>
          </a:p>
        </p:txBody>
      </p:sp>
      <p:sp>
        <p:nvSpPr>
          <p:cNvPr id="9" name="Rectangle 8"/>
          <p:cNvSpPr/>
          <p:nvPr/>
        </p:nvSpPr>
        <p:spPr>
          <a:xfrm>
            <a:off x="0" y="402336"/>
            <a:ext cx="121889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4592" y="54864"/>
            <a:ext cx="530352" cy="274320"/>
          </a:xfrm>
          <a:prstGeom prst="rect">
            <a:avLst/>
          </a:prstGeom>
          <a:noFill/>
        </p:spPr>
        <p:txBody>
          <a:bodyPr wrap="square">
            <a:spAutoFit/>
          </a:bodyPr>
          <a:lstStyle/>
          <a:p>
            <a:pPr algn="r"/>
            <a:r>
              <a:rPr sz="850" b="0" i="0">
                <a:solidFill>
                  <a:srgbClr val="FFFFFF"/>
                </a:solidFill>
                <a:latin typeface="Arial"/>
              </a:rPr>
              <a:t>17/18</a:t>
            </a:r>
          </a:p>
        </p:txBody>
      </p:sp>
      <p:sp>
        <p:nvSpPr>
          <p:cNvPr id="11" name="Rectangle 10"/>
          <p:cNvSpPr/>
          <p:nvPr/>
        </p:nvSpPr>
        <p:spPr>
          <a:xfrm>
            <a:off x="320040" y="530352"/>
            <a:ext cx="1154887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005840"/>
            <a:ext cx="1154887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48640"/>
            <a:ext cx="11274552" cy="438912"/>
          </a:xfrm>
          <a:prstGeom prst="rect">
            <a:avLst/>
          </a:prstGeom>
          <a:noFill/>
        </p:spPr>
        <p:txBody>
          <a:bodyPr wrap="square">
            <a:spAutoFit/>
          </a:bodyPr>
          <a:lstStyle/>
          <a:p>
            <a:pPr algn="l"/>
            <a:r>
              <a:rPr sz="1500" b="1" i="0">
                <a:solidFill>
                  <a:srgbClr val="151515"/>
                </a:solidFill>
                <a:latin typeface="Arial"/>
              </a:rPr>
              <a:t>Hạn chế của Đề tài &amp; Hướng Phát triển Tiếp theo</a:t>
            </a:r>
          </a:p>
        </p:txBody>
      </p:sp>
      <p:sp>
        <p:nvSpPr>
          <p:cNvPr id="14" name="Rectangle 13"/>
          <p:cNvSpPr/>
          <p:nvPr/>
        </p:nvSpPr>
        <p:spPr>
          <a:xfrm>
            <a:off x="274320" y="1115568"/>
            <a:ext cx="5394960" cy="5349240"/>
          </a:xfrm>
          <a:prstGeom prst="rect">
            <a:avLst/>
          </a:prstGeom>
          <a:solidFill>
            <a:srgbClr val="FF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1115568"/>
            <a:ext cx="5394960" cy="5349240"/>
          </a:xfrm>
          <a:prstGeom prst="rect">
            <a:avLst/>
          </a:prstGeom>
          <a:noFill/>
          <a:ln w="1905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1197864"/>
            <a:ext cx="5212080" cy="365760"/>
          </a:xfrm>
          <a:prstGeom prst="rect">
            <a:avLst/>
          </a:prstGeom>
          <a:noFill/>
        </p:spPr>
        <p:txBody>
          <a:bodyPr wrap="square">
            <a:spAutoFit/>
          </a:bodyPr>
          <a:lstStyle/>
          <a:p>
            <a:pPr algn="l"/>
            <a:r>
              <a:rPr sz="1150" b="1" i="0">
                <a:solidFill>
                  <a:srgbClr val="B71C1C"/>
                </a:solidFill>
                <a:latin typeface="Arial"/>
              </a:rPr>
              <a:t>⚠️  Hạn chế hiện tại</a:t>
            </a:r>
          </a:p>
        </p:txBody>
      </p:sp>
      <p:sp>
        <p:nvSpPr>
          <p:cNvPr id="17" name="Rectangle 16"/>
          <p:cNvSpPr/>
          <p:nvPr/>
        </p:nvSpPr>
        <p:spPr>
          <a:xfrm>
            <a:off x="365760" y="1563624"/>
            <a:ext cx="5212080" cy="27432"/>
          </a:xfrm>
          <a:prstGeom prst="rect">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1636776"/>
            <a:ext cx="5212080" cy="4754879"/>
          </a:xfrm>
          <a:prstGeom prst="rect">
            <a:avLst/>
          </a:prstGeom>
          <a:noFill/>
        </p:spPr>
        <p:txBody>
          <a:bodyPr wrap="square">
            <a:spAutoFit/>
          </a:bodyPr>
          <a:lstStyle/>
          <a:p>
            <a:pPr algn="l">
              <a:spcBef>
                <a:spcPts val="300"/>
              </a:spcBef>
            </a:pPr>
            <a:r>
              <a:rPr sz="1100" b="0">
                <a:solidFill>
                  <a:srgbClr val="151515"/>
                </a:solidFill>
                <a:latin typeface="Arial"/>
              </a:rPr>
              <a:t>Dữ liệu: Chỉ 1 cặp (BTCUSD), 1 khung thời gian (M15).</a:t>
            </a:r>
          </a:p>
          <a:p>
            <a:pPr algn="l">
              <a:spcBef>
                <a:spcPts val="300"/>
              </a:spcBef>
            </a:pPr>
            <a:r>
              <a:rPr sz="1100" b="0">
                <a:solidFill>
                  <a:srgbClr val="151515"/>
                </a:solidFill>
                <a:latin typeface="Arial"/>
              </a:rPr>
              <a:t>→ Cần kiểm nghiệm trên nhiều chuỗi thời gian khác.</a:t>
            </a:r>
          </a:p>
          <a:p>
            <a:pPr algn="l">
              <a:spcBef>
                <a:spcPts val="300"/>
              </a:spcBef>
            </a:pPr>
            <a:r>
              <a:rPr sz="1100" b="0">
                <a:solidFill>
                  <a:srgbClr val="151515"/>
                </a:solidFill>
                <a:latin typeface="Arial"/>
              </a:rPr>
              <a:t/>
            </a:r>
          </a:p>
          <a:p>
            <a:pPr algn="l">
              <a:spcBef>
                <a:spcPts val="300"/>
              </a:spcBef>
            </a:pPr>
            <a:r>
              <a:rPr sz="1100" b="0">
                <a:solidFill>
                  <a:srgbClr val="151515"/>
                </a:solidFill>
                <a:latin typeface="Arial"/>
              </a:rPr>
              <a:t>Mô hình: Ngưỡng p̂ ≥ 0.5 cố định cho mọi điều kiện.</a:t>
            </a:r>
          </a:p>
          <a:p>
            <a:pPr algn="l">
              <a:spcBef>
                <a:spcPts val="300"/>
              </a:spcBef>
            </a:pPr>
            <a:r>
              <a:rPr sz="1100" b="0">
                <a:solidFill>
                  <a:srgbClr val="151515"/>
                </a:solidFill>
                <a:latin typeface="Arial"/>
              </a:rPr>
              <a:t>→ Thị trường biến động mạnh cần ngưỡng linh hoạt hơn.</a:t>
            </a:r>
          </a:p>
          <a:p>
            <a:pPr algn="l">
              <a:spcBef>
                <a:spcPts val="300"/>
              </a:spcBef>
            </a:pPr>
            <a:r>
              <a:rPr sz="1100" b="0">
                <a:solidFill>
                  <a:srgbClr val="151515"/>
                </a:solidFill>
                <a:latin typeface="Arial"/>
              </a:rPr>
              <a:t/>
            </a:r>
          </a:p>
          <a:p>
            <a:pPr algn="l">
              <a:spcBef>
                <a:spcPts val="300"/>
              </a:spcBef>
            </a:pPr>
            <a:r>
              <a:rPr sz="1100" b="0">
                <a:solidFill>
                  <a:srgbClr val="151515"/>
                </a:solidFill>
                <a:latin typeface="Arial"/>
              </a:rPr>
              <a:t>Nhãn: Triple-Barrier phụ thuộc tham số k, m thủ công.</a:t>
            </a:r>
          </a:p>
          <a:p>
            <a:pPr algn="l">
              <a:spcBef>
                <a:spcPts val="300"/>
              </a:spcBef>
            </a:pPr>
            <a:r>
              <a:rPr sz="1100" b="0">
                <a:solidFill>
                  <a:srgbClr val="151515"/>
                </a:solidFill>
                <a:latin typeface="Arial"/>
              </a:rPr>
              <a:t>→ Có thể tự động hoá bằng phương pháp tối ưu hoá.</a:t>
            </a:r>
          </a:p>
          <a:p>
            <a:pPr algn="l">
              <a:spcBef>
                <a:spcPts val="300"/>
              </a:spcBef>
            </a:pPr>
            <a:r>
              <a:rPr sz="1100" b="0">
                <a:solidFill>
                  <a:srgbClr val="151515"/>
                </a:solidFill>
                <a:latin typeface="Arial"/>
              </a:rPr>
              <a:t/>
            </a:r>
          </a:p>
          <a:p>
            <a:pPr algn="l">
              <a:spcBef>
                <a:spcPts val="300"/>
              </a:spcBef>
            </a:pPr>
            <a:r>
              <a:rPr sz="1100" b="0">
                <a:solidFill>
                  <a:srgbClr val="151515"/>
                </a:solidFill>
                <a:latin typeface="Arial"/>
              </a:rPr>
              <a:t>Chưa thử nghiệm kiến trúc Deep Learning.</a:t>
            </a:r>
          </a:p>
          <a:p>
            <a:pPr algn="l">
              <a:spcBef>
                <a:spcPts val="300"/>
              </a:spcBef>
            </a:pPr>
            <a:r>
              <a:rPr sz="1100" b="0">
                <a:solidFill>
                  <a:srgbClr val="151515"/>
                </a:solidFill>
                <a:latin typeface="Arial"/>
              </a:rPr>
              <a:t/>
            </a:r>
          </a:p>
        </p:txBody>
      </p:sp>
      <p:sp>
        <p:nvSpPr>
          <p:cNvPr id="19" name="Rectangle 18"/>
          <p:cNvSpPr/>
          <p:nvPr/>
        </p:nvSpPr>
        <p:spPr>
          <a:xfrm>
            <a:off x="6080760" y="1115568"/>
            <a:ext cx="5971032" cy="2487168"/>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80760" y="1115568"/>
            <a:ext cx="5971032" cy="2487168"/>
          </a:xfrm>
          <a:prstGeom prst="rect">
            <a:avLst/>
          </a:prstGeom>
          <a:noFill/>
          <a:ln w="1905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1197864"/>
            <a:ext cx="5788152" cy="365760"/>
          </a:xfrm>
          <a:prstGeom prst="rect">
            <a:avLst/>
          </a:prstGeom>
          <a:noFill/>
        </p:spPr>
        <p:txBody>
          <a:bodyPr wrap="square">
            <a:spAutoFit/>
          </a:bodyPr>
          <a:lstStyle/>
          <a:p>
            <a:pPr algn="l"/>
            <a:r>
              <a:rPr sz="1150" b="1" i="0">
                <a:solidFill>
                  <a:srgbClr val="1B5E20"/>
                </a:solidFill>
                <a:latin typeface="Arial"/>
              </a:rPr>
              <a:t>🚀  Hướng phát triển kỹ thuật</a:t>
            </a:r>
          </a:p>
        </p:txBody>
      </p:sp>
      <p:sp>
        <p:nvSpPr>
          <p:cNvPr id="22" name="Rectangle 21"/>
          <p:cNvSpPr/>
          <p:nvPr/>
        </p:nvSpPr>
        <p:spPr>
          <a:xfrm>
            <a:off x="6172200" y="1563624"/>
            <a:ext cx="5788152" cy="2743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72200" y="1636776"/>
            <a:ext cx="5788152" cy="1892808"/>
          </a:xfrm>
          <a:prstGeom prst="rect">
            <a:avLst/>
          </a:prstGeom>
          <a:noFill/>
        </p:spPr>
        <p:txBody>
          <a:bodyPr wrap="square">
            <a:spAutoFit/>
          </a:bodyPr>
          <a:lstStyle/>
          <a:p>
            <a:pPr algn="l">
              <a:spcBef>
                <a:spcPts val="300"/>
              </a:spcBef>
            </a:pPr>
            <a:r>
              <a:rPr sz="1100" b="0">
                <a:solidFill>
                  <a:srgbClr val="151515"/>
                </a:solidFill>
                <a:latin typeface="Arial"/>
              </a:rPr>
              <a:t>Thử Temporal Fusion Transformer, LSTM cho chuỗi thời gian.</a:t>
            </a:r>
          </a:p>
          <a:p>
            <a:pPr algn="l">
              <a:spcBef>
                <a:spcPts val="300"/>
              </a:spcBef>
            </a:pPr>
            <a:r>
              <a:rPr sz="1100" b="0">
                <a:solidFill>
                  <a:srgbClr val="151515"/>
                </a:solidFill>
                <a:latin typeface="Arial"/>
              </a:rPr>
              <a:t>Ngưỡng xác suất động theo chế độ thị trường (Regime-switching).</a:t>
            </a:r>
          </a:p>
          <a:p>
            <a:pPr algn="l">
              <a:spcBef>
                <a:spcPts val="300"/>
              </a:spcBef>
            </a:pPr>
            <a:r>
              <a:rPr sz="1100" b="0">
                <a:solidFill>
                  <a:srgbClr val="151515"/>
                </a:solidFill>
                <a:latin typeface="Arial"/>
              </a:rPr>
              <a:t>AutoML để tự động tìm siêu tham số tối ưu.</a:t>
            </a:r>
          </a:p>
          <a:p>
            <a:pPr algn="l">
              <a:spcBef>
                <a:spcPts val="300"/>
              </a:spcBef>
            </a:pPr>
            <a:r>
              <a:rPr sz="1100" b="0">
                <a:solidFill>
                  <a:srgbClr val="151515"/>
                </a:solidFill>
                <a:latin typeface="Arial"/>
              </a:rPr>
              <a:t>Áp dụng pipeline cho bài toán phi tài chính (y tế, IoT, năng lượng).</a:t>
            </a:r>
          </a:p>
        </p:txBody>
      </p:sp>
      <p:sp>
        <p:nvSpPr>
          <p:cNvPr id="24" name="Rectangle 23"/>
          <p:cNvSpPr/>
          <p:nvPr/>
        </p:nvSpPr>
        <p:spPr>
          <a:xfrm>
            <a:off x="6080760" y="3694176"/>
            <a:ext cx="5971032" cy="2770632"/>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80760" y="3694176"/>
            <a:ext cx="5971032" cy="2770632"/>
          </a:xfrm>
          <a:prstGeom prst="rect">
            <a:avLst/>
          </a:prstGeom>
          <a:noFill/>
          <a:ln w="1905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72200" y="3776472"/>
            <a:ext cx="5788152" cy="365760"/>
          </a:xfrm>
          <a:prstGeom prst="rect">
            <a:avLst/>
          </a:prstGeom>
          <a:noFill/>
        </p:spPr>
        <p:txBody>
          <a:bodyPr wrap="square">
            <a:spAutoFit/>
          </a:bodyPr>
          <a:lstStyle/>
          <a:p>
            <a:pPr algn="l"/>
            <a:r>
              <a:rPr sz="1150" b="1" i="0">
                <a:solidFill>
                  <a:srgbClr val="0D47A1"/>
                </a:solidFill>
                <a:latin typeface="Arial"/>
              </a:rPr>
              <a:t>🔬  Hướng phát triển phương pháp luận</a:t>
            </a:r>
          </a:p>
        </p:txBody>
      </p:sp>
      <p:sp>
        <p:nvSpPr>
          <p:cNvPr id="27" name="Rectangle 26"/>
          <p:cNvSpPr/>
          <p:nvPr/>
        </p:nvSpPr>
        <p:spPr>
          <a:xfrm>
            <a:off x="6172200" y="4142232"/>
            <a:ext cx="5788152" cy="2743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72200" y="4215384"/>
            <a:ext cx="5788152" cy="2176272"/>
          </a:xfrm>
          <a:prstGeom prst="rect">
            <a:avLst/>
          </a:prstGeom>
          <a:noFill/>
        </p:spPr>
        <p:txBody>
          <a:bodyPr wrap="square">
            <a:spAutoFit/>
          </a:bodyPr>
          <a:lstStyle/>
          <a:p>
            <a:pPr algn="l">
              <a:spcBef>
                <a:spcPts val="300"/>
              </a:spcBef>
            </a:pPr>
            <a:r>
              <a:rPr sz="1100" b="0">
                <a:solidFill>
                  <a:srgbClr val="151515"/>
                </a:solidFill>
                <a:latin typeface="Arial"/>
              </a:rPr>
              <a:t>Nghiên cứu thêm Combinatorial Purged Cross-Validation (CPCV).</a:t>
            </a:r>
          </a:p>
          <a:p>
            <a:pPr algn="l">
              <a:spcBef>
                <a:spcPts val="300"/>
              </a:spcBef>
            </a:pPr>
            <a:r>
              <a:rPr sz="1100" b="0">
                <a:solidFill>
                  <a:srgbClr val="151515"/>
                </a:solidFill>
                <a:latin typeface="Arial"/>
              </a:rPr>
              <a:t>So sánh với Expanding Window và Walk-Forward tự thích nghi.</a:t>
            </a:r>
          </a:p>
          <a:p>
            <a:pPr algn="l">
              <a:spcBef>
                <a:spcPts val="300"/>
              </a:spcBef>
            </a:pPr>
            <a:r>
              <a:rPr sz="1100" b="0">
                <a:solidFill>
                  <a:srgbClr val="151515"/>
                </a:solidFill>
                <a:latin typeface="Arial"/>
              </a:rPr>
              <a:t>Kiểm tra tính robust khi thay đổi embargo period (10, 30, 100 nến).</a:t>
            </a:r>
          </a:p>
          <a:p>
            <a:pPr algn="l">
              <a:spcBef>
                <a:spcPts val="300"/>
              </a:spcBef>
            </a:pPr>
            <a:r>
              <a:rPr sz="1100" b="0">
                <a:solidFill>
                  <a:srgbClr val="151515"/>
                </a:solidFill>
                <a:latin typeface="Arial"/>
              </a:rPr>
              <a:t>Mở rộng sang bài toán multi-class (Thắng lớn / Thắng nhỏ / Thua).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0233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45720"/>
            <a:ext cx="2437790" cy="310896"/>
          </a:xfrm>
          <a:prstGeom prst="rect">
            <a:avLst/>
          </a:prstGeom>
          <a:noFill/>
        </p:spPr>
        <p:txBody>
          <a:bodyPr wrap="square">
            <a:spAutoFit/>
          </a:bodyPr>
          <a:lstStyle/>
          <a:p>
            <a:pPr algn="ctr"/>
            <a:r>
              <a:rPr sz="850" b="0" i="0">
                <a:solidFill>
                  <a:srgbClr val="FFFFFF"/>
                </a:solidFill>
                <a:latin typeface="Arial"/>
              </a:rPr>
              <a:t>① Bối cảnh &amp; Mục tiêu</a:t>
            </a:r>
          </a:p>
        </p:txBody>
      </p:sp>
      <p:sp>
        <p:nvSpPr>
          <p:cNvPr id="4" name="TextBox 3"/>
          <p:cNvSpPr txBox="1"/>
          <p:nvPr/>
        </p:nvSpPr>
        <p:spPr>
          <a:xfrm>
            <a:off x="2437790" y="45720"/>
            <a:ext cx="2437790" cy="310896"/>
          </a:xfrm>
          <a:prstGeom prst="rect">
            <a:avLst/>
          </a:prstGeom>
          <a:noFill/>
        </p:spPr>
        <p:txBody>
          <a:bodyPr wrap="square">
            <a:spAutoFit/>
          </a:bodyPr>
          <a:lstStyle/>
          <a:p>
            <a:pPr algn="ctr"/>
            <a:r>
              <a:rPr sz="850" b="0" i="0">
                <a:solidFill>
                  <a:srgbClr val="FFFFFF"/>
                </a:solidFill>
                <a:latin typeface="Arial"/>
              </a:rPr>
              <a:t>② Dữ liệu &amp; Kiến trúc</a:t>
            </a:r>
          </a:p>
        </p:txBody>
      </p:sp>
      <p:sp>
        <p:nvSpPr>
          <p:cNvPr id="5" name="TextBox 4"/>
          <p:cNvSpPr txBox="1"/>
          <p:nvPr/>
        </p:nvSpPr>
        <p:spPr>
          <a:xfrm>
            <a:off x="4875580" y="45720"/>
            <a:ext cx="2437790" cy="310896"/>
          </a:xfrm>
          <a:prstGeom prst="rect">
            <a:avLst/>
          </a:prstGeom>
          <a:noFill/>
        </p:spPr>
        <p:txBody>
          <a:bodyPr wrap="square">
            <a:spAutoFit/>
          </a:bodyPr>
          <a:lstStyle/>
          <a:p>
            <a:pPr algn="ctr"/>
            <a:r>
              <a:rPr sz="850" b="0" i="0">
                <a:solidFill>
                  <a:srgbClr val="FFFFFF"/>
                </a:solidFill>
                <a:latin typeface="Arial"/>
              </a:rPr>
              <a:t>③ Phương pháp chia</a:t>
            </a:r>
          </a:p>
        </p:txBody>
      </p:sp>
      <p:sp>
        <p:nvSpPr>
          <p:cNvPr id="6" name="TextBox 5"/>
          <p:cNvSpPr txBox="1"/>
          <p:nvPr/>
        </p:nvSpPr>
        <p:spPr>
          <a:xfrm>
            <a:off x="7313371" y="45720"/>
            <a:ext cx="2437790" cy="310896"/>
          </a:xfrm>
          <a:prstGeom prst="rect">
            <a:avLst/>
          </a:prstGeom>
          <a:noFill/>
        </p:spPr>
        <p:txBody>
          <a:bodyPr wrap="square">
            <a:spAutoFit/>
          </a:bodyPr>
          <a:lstStyle/>
          <a:p>
            <a:pPr algn="ctr"/>
            <a:r>
              <a:rPr sz="850" b="0" i="0">
                <a:solidFill>
                  <a:srgbClr val="FFFFFF"/>
                </a:solidFill>
                <a:latin typeface="Arial"/>
              </a:rPr>
              <a:t>④ Kết quả</a:t>
            </a:r>
          </a:p>
        </p:txBody>
      </p:sp>
      <p:sp>
        <p:nvSpPr>
          <p:cNvPr id="7" name="Rectangle 6"/>
          <p:cNvSpPr/>
          <p:nvPr/>
        </p:nvSpPr>
        <p:spPr>
          <a:xfrm>
            <a:off x="9796881" y="27432"/>
            <a:ext cx="234635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51161" y="45720"/>
            <a:ext cx="2437790" cy="310896"/>
          </a:xfrm>
          <a:prstGeom prst="rect">
            <a:avLst/>
          </a:prstGeom>
          <a:noFill/>
        </p:spPr>
        <p:txBody>
          <a:bodyPr wrap="square">
            <a:spAutoFit/>
          </a:bodyPr>
          <a:lstStyle/>
          <a:p>
            <a:pPr algn="ctr"/>
            <a:r>
              <a:rPr sz="850" b="1" i="0">
                <a:solidFill>
                  <a:srgbClr val="1565C0"/>
                </a:solidFill>
                <a:latin typeface="Arial"/>
              </a:rPr>
              <a:t>⑤ Kết luận</a:t>
            </a:r>
          </a:p>
        </p:txBody>
      </p:sp>
      <p:sp>
        <p:nvSpPr>
          <p:cNvPr id="9" name="Rectangle 8"/>
          <p:cNvSpPr/>
          <p:nvPr/>
        </p:nvSpPr>
        <p:spPr>
          <a:xfrm>
            <a:off x="0" y="402336"/>
            <a:ext cx="121889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4592" y="54864"/>
            <a:ext cx="530352" cy="274320"/>
          </a:xfrm>
          <a:prstGeom prst="rect">
            <a:avLst/>
          </a:prstGeom>
          <a:noFill/>
        </p:spPr>
        <p:txBody>
          <a:bodyPr wrap="square">
            <a:spAutoFit/>
          </a:bodyPr>
          <a:lstStyle/>
          <a:p>
            <a:pPr algn="r"/>
            <a:r>
              <a:rPr sz="850" b="0" i="0">
                <a:solidFill>
                  <a:srgbClr val="FFFFFF"/>
                </a:solidFill>
                <a:latin typeface="Arial"/>
              </a:rPr>
              <a:t>18/18</a:t>
            </a:r>
          </a:p>
        </p:txBody>
      </p:sp>
      <p:sp>
        <p:nvSpPr>
          <p:cNvPr id="11" name="Rectangle 10"/>
          <p:cNvSpPr/>
          <p:nvPr/>
        </p:nvSpPr>
        <p:spPr>
          <a:xfrm>
            <a:off x="320040" y="530352"/>
            <a:ext cx="11548872"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005840"/>
            <a:ext cx="1154887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48640"/>
            <a:ext cx="11274552" cy="438912"/>
          </a:xfrm>
          <a:prstGeom prst="rect">
            <a:avLst/>
          </a:prstGeom>
          <a:noFill/>
        </p:spPr>
        <p:txBody>
          <a:bodyPr wrap="square">
            <a:spAutoFit/>
          </a:bodyPr>
          <a:lstStyle/>
          <a:p>
            <a:pPr algn="l"/>
            <a:r>
              <a:rPr sz="1500" b="1" i="0">
                <a:solidFill>
                  <a:srgbClr val="151515"/>
                </a:solidFill>
                <a:latin typeface="Arial"/>
              </a:rPr>
              <a:t>Kết luận &amp; Bài học Kinh nghiệm</a:t>
            </a:r>
          </a:p>
        </p:txBody>
      </p:sp>
      <p:sp>
        <p:nvSpPr>
          <p:cNvPr id="14" name="Rectangle 13"/>
          <p:cNvSpPr/>
          <p:nvPr/>
        </p:nvSpPr>
        <p:spPr>
          <a:xfrm>
            <a:off x="274320" y="1115568"/>
            <a:ext cx="5394960" cy="315468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1115568"/>
            <a:ext cx="5394960" cy="3154680"/>
          </a:xfrm>
          <a:prstGeom prst="rect">
            <a:avLst/>
          </a:prstGeom>
          <a:noFill/>
          <a:ln w="1905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1197864"/>
            <a:ext cx="5212080" cy="365760"/>
          </a:xfrm>
          <a:prstGeom prst="rect">
            <a:avLst/>
          </a:prstGeom>
          <a:noFill/>
        </p:spPr>
        <p:txBody>
          <a:bodyPr wrap="square">
            <a:spAutoFit/>
          </a:bodyPr>
          <a:lstStyle/>
          <a:p>
            <a:pPr algn="l"/>
            <a:r>
              <a:rPr sz="1150" b="1" i="0">
                <a:solidFill>
                  <a:srgbClr val="1B5E20"/>
                </a:solidFill>
                <a:latin typeface="Arial"/>
              </a:rPr>
              <a:t>✅  Kết luận 1 — Hệ thống AI 2 Tầng</a:t>
            </a:r>
          </a:p>
        </p:txBody>
      </p:sp>
      <p:sp>
        <p:nvSpPr>
          <p:cNvPr id="17" name="Rectangle 16"/>
          <p:cNvSpPr/>
          <p:nvPr/>
        </p:nvSpPr>
        <p:spPr>
          <a:xfrm>
            <a:off x="365760" y="1563624"/>
            <a:ext cx="5212080" cy="27432"/>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1636776"/>
            <a:ext cx="5212080" cy="2560320"/>
          </a:xfrm>
          <a:prstGeom prst="rect">
            <a:avLst/>
          </a:prstGeom>
          <a:noFill/>
        </p:spPr>
        <p:txBody>
          <a:bodyPr wrap="square">
            <a:spAutoFit/>
          </a:bodyPr>
          <a:lstStyle/>
          <a:p>
            <a:pPr algn="l">
              <a:spcBef>
                <a:spcPts val="300"/>
              </a:spcBef>
            </a:pPr>
            <a:r>
              <a:rPr sz="1100" b="0">
                <a:solidFill>
                  <a:srgbClr val="151515"/>
                </a:solidFill>
                <a:latin typeface="Arial"/>
              </a:rPr>
              <a:t>Pipeline Meta-Labeling 2 tầng hoạt động hiệu quả.</a:t>
            </a:r>
          </a:p>
          <a:p>
            <a:pPr algn="l">
              <a:spcBef>
                <a:spcPts val="300"/>
              </a:spcBef>
            </a:pPr>
            <a:r>
              <a:rPr sz="1100" b="0">
                <a:solidFill>
                  <a:srgbClr val="151515"/>
                </a:solidFill>
                <a:latin typeface="Arial"/>
              </a:rPr>
              <a:t>CatBoost lọc tín hiệu: Max Drawdown −40%, Win Rate +3%.</a:t>
            </a:r>
          </a:p>
          <a:p>
            <a:pPr algn="l">
              <a:spcBef>
                <a:spcPts val="300"/>
              </a:spcBef>
            </a:pPr>
            <a:r>
              <a:rPr sz="1100" b="0">
                <a:solidFill>
                  <a:srgbClr val="151515"/>
                </a:solidFill>
                <a:latin typeface="Arial"/>
              </a:rPr>
              <a:t>Kiến trúc áp dụng được cho mọi bài toán phân loại chuỗi thời gian.</a:t>
            </a:r>
          </a:p>
          <a:p>
            <a:pPr algn="l">
              <a:spcBef>
                <a:spcPts val="300"/>
              </a:spcBef>
            </a:pPr>
            <a:r>
              <a:rPr sz="1100" b="0">
                <a:solidFill>
                  <a:srgbClr val="151515"/>
                </a:solidFill>
                <a:latin typeface="Arial"/>
              </a:rPr>
              <a:t>Đảm bảo tái lập 100% qua thread_count=1, random_seed=42.</a:t>
            </a:r>
          </a:p>
        </p:txBody>
      </p:sp>
      <p:sp>
        <p:nvSpPr>
          <p:cNvPr id="19" name="Rectangle 18"/>
          <p:cNvSpPr/>
          <p:nvPr/>
        </p:nvSpPr>
        <p:spPr>
          <a:xfrm>
            <a:off x="5989320" y="1115568"/>
            <a:ext cx="5971032" cy="3154680"/>
          </a:xfrm>
          <a:prstGeom prst="rect">
            <a:avLst/>
          </a:prstGeom>
          <a:solidFill>
            <a:srgbClr val="E8E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989320" y="1115568"/>
            <a:ext cx="5971032" cy="3154680"/>
          </a:xfrm>
          <a:prstGeom prst="rect">
            <a:avLst/>
          </a:prstGeom>
          <a:noFill/>
          <a:ln w="19050">
            <a:solidFill>
              <a:srgbClr val="0D47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80759" y="1197864"/>
            <a:ext cx="5788152" cy="365760"/>
          </a:xfrm>
          <a:prstGeom prst="rect">
            <a:avLst/>
          </a:prstGeom>
          <a:noFill/>
        </p:spPr>
        <p:txBody>
          <a:bodyPr wrap="square">
            <a:spAutoFit/>
          </a:bodyPr>
          <a:lstStyle/>
          <a:p>
            <a:pPr algn="l"/>
            <a:r>
              <a:rPr sz="1150" b="1" i="0">
                <a:solidFill>
                  <a:srgbClr val="0D47A1"/>
                </a:solidFill>
                <a:latin typeface="Arial"/>
              </a:rPr>
              <a:t>✅  Kết luận 2 — Phương pháp luận</a:t>
            </a:r>
          </a:p>
        </p:txBody>
      </p:sp>
      <p:sp>
        <p:nvSpPr>
          <p:cNvPr id="22" name="Rectangle 21"/>
          <p:cNvSpPr/>
          <p:nvPr/>
        </p:nvSpPr>
        <p:spPr>
          <a:xfrm>
            <a:off x="6080759" y="1563624"/>
            <a:ext cx="5788152" cy="2743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80759" y="1636776"/>
            <a:ext cx="5788152" cy="2560320"/>
          </a:xfrm>
          <a:prstGeom prst="rect">
            <a:avLst/>
          </a:prstGeom>
          <a:noFill/>
        </p:spPr>
        <p:txBody>
          <a:bodyPr wrap="square">
            <a:spAutoFit/>
          </a:bodyPr>
          <a:lstStyle/>
          <a:p>
            <a:pPr algn="l">
              <a:spcBef>
                <a:spcPts val="300"/>
              </a:spcBef>
            </a:pPr>
            <a:r>
              <a:rPr sz="1100" b="0">
                <a:solidFill>
                  <a:srgbClr val="151515"/>
                </a:solidFill>
                <a:latin typeface="Arial"/>
              </a:rPr>
              <a:t>Phương pháp chia dữ liệu ảnh hưởng AUC lên đến 47%.</a:t>
            </a:r>
          </a:p>
          <a:p>
            <a:pPr algn="l">
              <a:spcBef>
                <a:spcPts val="300"/>
              </a:spcBef>
            </a:pPr>
            <a:r>
              <a:rPr sz="1100" b="0">
                <a:solidFill>
                  <a:srgbClr val="151515"/>
                </a:solidFill>
                <a:latin typeface="Arial"/>
              </a:rPr>
              <a:t>Purged WF (0.59) ≈ Holdout thực tế (0.60) — Sai lệch 1.5%.</a:t>
            </a:r>
          </a:p>
          <a:p>
            <a:pPr algn="l">
              <a:spcBef>
                <a:spcPts val="300"/>
              </a:spcBef>
            </a:pPr>
            <a:r>
              <a:rPr sz="1100" b="0">
                <a:solidFill>
                  <a:srgbClr val="151515"/>
                </a:solidFill>
                <a:latin typeface="Arial"/>
              </a:rPr>
              <a:t>Random K-Fold (0.86) là điểm ảo — Không tin cậy!</a:t>
            </a:r>
          </a:p>
          <a:p>
            <a:pPr algn="l">
              <a:spcBef>
                <a:spcPts val="300"/>
              </a:spcBef>
            </a:pPr>
            <a:r>
              <a:rPr sz="1100" b="0">
                <a:solidFill>
                  <a:srgbClr val="151515"/>
                </a:solidFill>
                <a:latin typeface="Arial"/>
              </a:rPr>
              <a:t>Đây là cảnh báo quan trọng cho nghiên cứu ML chuỗi thời gian.</a:t>
            </a:r>
          </a:p>
        </p:txBody>
      </p:sp>
      <p:sp>
        <p:nvSpPr>
          <p:cNvPr id="24" name="Rectangle 23"/>
          <p:cNvSpPr/>
          <p:nvPr/>
        </p:nvSpPr>
        <p:spPr>
          <a:xfrm>
            <a:off x="274320" y="4361688"/>
            <a:ext cx="11640312" cy="10058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4398264"/>
            <a:ext cx="11457432" cy="310896"/>
          </a:xfrm>
          <a:prstGeom prst="rect">
            <a:avLst/>
          </a:prstGeom>
          <a:noFill/>
        </p:spPr>
        <p:txBody>
          <a:bodyPr wrap="square">
            <a:spAutoFit/>
          </a:bodyPr>
          <a:lstStyle/>
          <a:p>
            <a:pPr algn="l"/>
            <a:r>
              <a:rPr sz="1250" b="1" i="0">
                <a:solidFill>
                  <a:srgbClr val="FFD580"/>
                </a:solidFill>
                <a:latin typeface="Arial"/>
              </a:rPr>
              <a:t>💡  Bài học Quan trọng nhất:</a:t>
            </a:r>
          </a:p>
        </p:txBody>
      </p:sp>
      <p:sp>
        <p:nvSpPr>
          <p:cNvPr id="26" name="TextBox 25"/>
          <p:cNvSpPr txBox="1"/>
          <p:nvPr/>
        </p:nvSpPr>
        <p:spPr>
          <a:xfrm>
            <a:off x="365760" y="4718304"/>
            <a:ext cx="11457432" cy="603504"/>
          </a:xfrm>
          <a:prstGeom prst="rect">
            <a:avLst/>
          </a:prstGeom>
          <a:noFill/>
        </p:spPr>
        <p:txBody>
          <a:bodyPr wrap="square">
            <a:spAutoFit/>
          </a:bodyPr>
          <a:lstStyle/>
          <a:p>
            <a:pPr algn="ctr"/>
            <a:r>
              <a:rPr sz="1300" b="1" i="1">
                <a:solidFill>
                  <a:srgbClr val="FFFFFF"/>
                </a:solidFill>
                <a:latin typeface="Arial"/>
              </a:rPr>
              <a:t>"Kết quả đẹp trong phòng lab ≠ Kết quả đúng trong thực tế.
Tính liêm chính trong phân chia dữ liệu quan trọng hơn điểm số AUC cao trên giấy."</a:t>
            </a:r>
          </a:p>
        </p:txBody>
      </p:sp>
      <p:sp>
        <p:nvSpPr>
          <p:cNvPr id="27" name="Rectangle 26"/>
          <p:cNvSpPr/>
          <p:nvPr/>
        </p:nvSpPr>
        <p:spPr>
          <a:xfrm>
            <a:off x="274320" y="5458968"/>
            <a:ext cx="11640312" cy="100584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5495544"/>
            <a:ext cx="11457432" cy="310896"/>
          </a:xfrm>
          <a:prstGeom prst="rect">
            <a:avLst/>
          </a:prstGeom>
          <a:noFill/>
        </p:spPr>
        <p:txBody>
          <a:bodyPr wrap="square">
            <a:spAutoFit/>
          </a:bodyPr>
          <a:lstStyle/>
          <a:p>
            <a:pPr algn="l"/>
            <a:r>
              <a:rPr sz="1200" b="1" i="0">
                <a:solidFill>
                  <a:srgbClr val="E65C00"/>
                </a:solidFill>
                <a:latin typeface="Arial"/>
              </a:rPr>
              <a:t>🌍  Ứng dụng của kiến thức này:</a:t>
            </a:r>
          </a:p>
        </p:txBody>
      </p:sp>
      <p:sp>
        <p:nvSpPr>
          <p:cNvPr id="29" name="TextBox 28"/>
          <p:cNvSpPr txBox="1"/>
          <p:nvPr/>
        </p:nvSpPr>
        <p:spPr>
          <a:xfrm>
            <a:off x="365760" y="5815584"/>
            <a:ext cx="11457432" cy="310896"/>
          </a:xfrm>
          <a:prstGeom prst="rect">
            <a:avLst/>
          </a:prstGeom>
          <a:noFill/>
        </p:spPr>
        <p:txBody>
          <a:bodyPr wrap="square">
            <a:spAutoFit/>
          </a:bodyPr>
          <a:lstStyle/>
          <a:p>
            <a:pPr algn="ctr"/>
            <a:r>
              <a:rPr sz="1200" b="1" i="0">
                <a:solidFill>
                  <a:srgbClr val="151515"/>
                </a:solidFill>
                <a:latin typeface="Arial"/>
              </a:rPr>
              <a:t>Y tế · Năng lượng · IoT · An ninh mạng · Khí tượng · Logistics — Bất kỳ nơi nào có chuỗi dữ liệu theo thời gian!</a:t>
            </a:r>
          </a:p>
        </p:txBody>
      </p:sp>
      <p:sp>
        <p:nvSpPr>
          <p:cNvPr id="30" name="Rectangle 29"/>
          <p:cNvSpPr/>
          <p:nvPr/>
        </p:nvSpPr>
        <p:spPr>
          <a:xfrm>
            <a:off x="274320" y="6528816"/>
            <a:ext cx="11640312" cy="29260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537960"/>
            <a:ext cx="11457432" cy="256032"/>
          </a:xfrm>
          <a:prstGeom prst="rect">
            <a:avLst/>
          </a:prstGeom>
          <a:noFill/>
        </p:spPr>
        <p:txBody>
          <a:bodyPr wrap="square">
            <a:spAutoFit/>
          </a:bodyPr>
          <a:lstStyle/>
          <a:p>
            <a:pPr algn="ctr"/>
            <a:r>
              <a:rPr sz="1100" b="1" i="0">
                <a:solidFill>
                  <a:srgbClr val="FFFFFF"/>
                </a:solidFill>
                <a:latin typeface="Arial"/>
              </a:rPr>
              <a:t>🙏  Xin trân trọng cảm ơn Thầy TS. Nguyễn Đình Hiển và các bạn đã lắng nghe!  —  Nhóm 11  |  CS106  |  UIT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
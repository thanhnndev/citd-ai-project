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21678900" cy="12192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40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lIns="96661" tIns="48331" rIns="96661" bIns="48331"/>
          <a:lstStyle/>
          <a:p>
            <a:endParaRPr/>
          </a:p>
        </p:txBody>
      </p:sp>
      <p:sp>
        <p:nvSpPr>
          <p:cNvPr id="3" name="Date Placeholder"/>
          <p:cNvSpPr>
            <a:spLocks noGrp="1"/>
          </p:cNvSpPr>
          <p:nvPr>
            <p:ph type="dt" sz="quarter" idx="1"/>
          </p:nvPr>
        </p:nvSpPr>
        <p:spPr>
          <a:prstGeom prst="rect">
            <a:avLst/>
          </a:prstGeom>
        </p:spPr>
        <p:txBody>
          <a:bodyPr lIns="96661" tIns="48331" rIns="96661" bIns="48331"/>
          <a:lstStyle/>
          <a:p>
            <a:endParaRPr/>
          </a:p>
        </p:txBody>
      </p:sp>
      <p:sp>
        <p:nvSpPr>
          <p:cNvPr id="4" name="Slide Image Placeholder"/>
          <p:cNvSpPr>
            <a:spLocks noGrp="1" noRot="1" noChangeAspect="1"/>
          </p:cNvSpPr>
          <p:nvPr>
            <p:ph type="sldImg" idx="2"/>
          </p:nvPr>
        </p:nvSpPr>
        <p:spPr>
          <a:prstGeom prst="rect">
            <a:avLst/>
          </a:prstGeom>
        </p:spPr>
        <p:txBody>
          <a:bodyPr lIns="96661" tIns="48331" rIns="96661" bIns="48331"/>
          <a:lstStyle/>
          <a:p>
            <a:endParaRPr/>
          </a:p>
        </p:txBody>
      </p:sp>
      <p:sp>
        <p:nvSpPr>
          <p:cNvPr id="5" name="Notes Placeholder"/>
          <p:cNvSpPr>
            <a:spLocks noGrp="1"/>
          </p:cNvSpPr>
          <p:nvPr>
            <p:ph type="body" sz="quarter" idx="3"/>
          </p:nvPr>
        </p:nvSpPr>
        <p:spPr>
          <a:prstGeom prst="rect">
            <a:avLst/>
          </a:prstGeom>
        </p:spPr>
        <p:txBody>
          <a:bodyPr lIns="96661" tIns="48331" rIns="96661" bIns="48331"/>
          <a:lstStyle/>
          <a:p>
            <a:endParaRPr/>
          </a:p>
        </p:txBody>
      </p:sp>
      <p:sp>
        <p:nvSpPr>
          <p:cNvPr id="6" name="Footer Placeholder"/>
          <p:cNvSpPr>
            <a:spLocks noGrp="1"/>
          </p:cNvSpPr>
          <p:nvPr>
            <p:ph type="ftr" sz="quarter" idx="4"/>
          </p:nvPr>
        </p:nvSpPr>
        <p:spPr>
          <a:prstGeom prst="rect">
            <a:avLst/>
          </a:prstGeom>
        </p:spPr>
        <p:txBody>
          <a:bodyPr lIns="96661" tIns="48331" rIns="96661" bIns="48331"/>
          <a:lstStyle/>
          <a:p>
            <a:endParaRPr/>
          </a:p>
        </p:txBody>
      </p:sp>
      <p:sp>
        <p:nvSpPr>
          <p:cNvPr id="7" name="Slide Number Placeholder"/>
          <p:cNvSpPr>
            <a:spLocks noGrp="1"/>
          </p:cNvSpPr>
          <p:nvPr>
            <p:ph type="sldNum" sz="quarter" idx="5"/>
          </p:nvPr>
        </p:nvSpPr>
        <p:spPr>
          <a:prstGeom prst="rect">
            <a:avLst/>
          </a:prstGeom>
        </p:spPr>
        <p:txBody>
          <a:bodyPr lIns="96661" tIns="48331" rIns="96661" bIns="48331"/>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Kính chào Thầy và các bạn! Nhóm 11 xin phép trình bày báo cáo đồ án môn Học máy với đề tài: 'Xây dựng hệ thống giao dịch tiền mã hóa với tầng meta-labeling bằng CatBoost, thông qua đó đánh giá ảnh hưởng của phương pháp chia dữ liệu đến độ tin cậy của kết quả kiểm định'.</a:t>
            </a:r>
          </a:p>
          <a:p>
            <a:endParaRPr/>
          </a:p>
          <a:p>
            <a:r>
              <a:t>Trước khi bắt đầu, nhóm xin nhấn mạnh: Vì tiền mã hóa chưa được công nhận hợp pháp tại Việt Nam, toàn bộ dữ liệu BTCUSD trong đồ án chỉ phục vụ như một bộ benchmark chuỗi thời gian biến động cao để nghiên cứu khoa học và đánh giá cấu trúc mô hình Học máy, hoàn toàn không mang mục đích khuyến nghị đầu tư tài chính.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slide này, nhóm liên hệ bài toán với các vấn đề quen thuộc trong đời sống: Trong y tế, bác sĩ không bao giờ chỉ dựa vào một xét nghiệm sàng lọc để phẫu thuật ngay vì sợ mổ nhầm người khỏe; trong an ninh mạng cũng không thể thấy nghi ngờ là khóa IP khách hàng VIP ngay. Đời thực luôn cần 2 tầng: Tầng 1 cảnh báo, Tầng 2 thẩm định rủi ro.</a:t>
            </a:r>
          </a:p>
          <a:p>
            <a:r>
              <a:t>Đề tài mô phỏng chính xác cơ chế này: Tầng 1 phát tín hiệu, Tầng 2 (CatBoost) thẩm định bối cảnh để quyết định CÓ NÊN HÀNH ĐỘNG HAY KHÔNG.</a:t>
            </a:r>
          </a:p>
          <a:p>
            <a:r>
              <a:t>Lý do nhóm chọn dữ liệu BTC: Vì BTC là bài test khắc nghiệt nhất (Stress-test lý tưởng) với biến động và nhiễu cực cao. Nếu mô hình kiểm soát được rủi ro trên BTC, nó sẽ dễ dàng thích ứng với các chuỗi thời gian khác như y tế, lưới điện hay IoT công nghiệp.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Thay vì gán nhãn cố định theo thời gian như cách làm cũ, nhóm áp dụng phương pháp Triple-Barrier chuẩn mực định lượng: Đặt 3 rào cản động quanh điểm vào lệnh. Rào chốt lời +2 ATR, rào cắt lỗ -1 ATR và rào thời gian 24 nến. Điều này giúp phản ánh đúng thực tế: lệnh chạm cắt lỗ là thua (0), chạm chốt lời là thắng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Dữ liệu được chia thành 2 phần nghiêm ngặt: Tập Train/Dev 25.008 dòng và tập Holdout 5.028 dòng ở đuôi thời gian. Biểu đồ bên phải thể hiện trực quan sự mất cân bằng lớp: Lớp thắng chỉ chiếm 31.7%, thua chiếm 68.3%. Mục tiêu của tầng Meta-Labeling là lọc bỏ phần lớn các lệnh thua trong 68.3% này.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đây nhóm so sánh 3 cách tiếp cận: Cách 1 là chỉ báo kỹ thuật thuần túy - tỷ lệ thắng thấp, sụt giảm vốn nặng nề. Cách 2 là mô hình học máy đơn lẻ dự đoán giá tăng/giảm - thường thất bại vì thị trường quá nhiều nhiễu. Cách 3 là Meta-Labeling 2 tầng: Tầng 1 chỉ cần tìm tín hiệu, còn Tầng 2 dùng CatBoost như một bộ lọc chất lượng cao.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mô tả chi tiết 5 tầng của hệ thống: Từ việc nạp nến M15, trích xuất 21 đặc trưng kỹ thuật, đưa vào CatBoost dự đoán xác suất, qua cổng lọc ngưỡng P=0.50, cho đến bộ quản trị rủi ro R-multiple. Cấu trúc mô-đun hóa này giúp hệ thống dễ dàng bảo trì và mở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Điểm độc đáo của Meta-Labeling là Tầng 2 không cần dự đoán giá đi về đâu, mà chỉ nhị phân hóa quyết định: VÀO LỆNH (1) hay BỎ QUA (0). Nếu xác suất thắng P dưới 0.50, hệ thống đứng ngoài thị trường để bảo toàn vốn.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đây có 2 tình huống cụ thể: Trạng thái 1 là phá vỡ giả (fakeout), Tầng 1 báo Mua nhưng CatBoost phát hiện khối lượng yếu, ước tính xác suất thắng chỉ 22% nên từ chối vào lệnh, cứu được 1R thua lỗ. Trạng thái 2 là xu hướng mạnh, CatBoost xác nhận xác suất 78%, lệnh đạt Take Profit +2R.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bảng đối soát đắt giá nhất của đề tài! Nhìn vào dòng đầu tiên: Random K-Fold cho AUC lên tới 0.8582 - con số cực kỳ đẹp mắt nhưng là ẢO TƯỞNG hoàn toàn vì dữ liệu tương lai bị rò rỉ vào tập huấn luyện, giống như học sinh xem trước đề thi. Hình bên phải cho thấy đường cong ROC của Random K-Fold phồng to bất thường. Khi áp dụng kỹ thuật Purged Walk-Forward và kiểm định Holdout, AUC thực rơi về khoảng 0.59 - 0.60, phản ánh trung thực năng lực của mô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Trên hình là biểu đồ nến M15 thực tế với cơ chế Triple-Barrier: Đường nét đứt xanh là rào chốt lời +2 ATR, đường nét đứt đỏ là rào cắt lỗ -1 ATR và đường xám dọc là giới hạn thời gian. Dữ liệu thô được chuyển thành bài toán phân loại nhị phân chuẩn mực.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Biểu đồ Heatmap thể hiện mối tương quan giữa 23 đặc trưng kỹ thuật được trích xuất từ nến M15. Màu đỏ đậm là tương quan thuận cao, màu xanh đậm là tương quan nghịch. Các mô hình tuyến tính thường gặp khó khăn khi có đặc trưng tương quan (đa cộng tuyến), nhưng CatBoost với cấu trúc cây quyết định đối xứng khai thác hoàn hảo các tương tác phi tuyến này.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CatBoost Feature Importance chỉ ra các đặc trưng quan trọng nhất: breakeven_R và độ biến động atr14_pct đóng góp lớn nhất. Điều này chứng minh rằng biến động thị trường (volatility) và tỷ lệ rủi ro/lợi nhuận là yếu tố quyết định xác suất thành công của một giao dịch.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trận nhầm lẫn trên tập Holdout cho thấy vai trò của CatBoost: Mô hình hoạt động như một cái phễu lọc rủi ro, loại bỏ hàng ngàn lệnh thua. Dù có bỏ sót một số lệnh thắng (False Negatives), nhưng tỷ lệ thắng chung cuộc tăng hơn 3.28%.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biểu đồ đường cong vốn trực quan trên tập Holdout: Đường màu xanh là chiến lược cơ sở, đường màu cam là hệ thống sau khi có tầng Meta-Labeling CatBoost. Quý thầy và các bạn có thể thấy rõ: Đường màu cam tăng trưởng mượt hơn, dốc hơn, và đặc biệt là các thung lũng sụt giảm vốn (drawdown) được thu hẹp tới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Biểu đồ Khúc 2-5 thể hiện hiệu quả lũy tiến xuyên suốt quá trình Walk-Forward từ năm 2019 đến 2024. Mô hình chứng minh được tính bền bỉ qua nhiều pha thị trường khác nhau. Điểm mấu chốt kỹ thuật là tính tái lập 100% khi cố định thread_count=1, giúp kết quả nghiên cứu trung thực và đáng tin cậy.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Đồ án không dừng lại ở bài toán tài chính! Kiến trúc Meta-Labeling 2 tầng là một giải pháp tổng quát: Trong Y tế, Tầng 1 tầm soát sớm ung thư, Tầng 2 thẩm định trước khi mổ để tránh phẫu thuật nhầm. Trong Lưới điện thông minh, Tầng 2 xác nhận rủi ro trước khi đóng điện công suất lớn. Trong An ninh mạng, Tầng 2 lọc cảnh báo giả để không chặn nhầm IP khách hàng.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xin tóm gọn lại 2 thông điệp lớn nhất của đồ án: Thứ nhất, kiến trúc Meta-Labeling 2 tầng bằng CatBoost thực sự giúp giảm 40% Drawdown và cải thiện chất lượng quyết định. Thứ hai, bài học về phương pháp luận: Không bao giờ dùng Random K-Fold cho chuỗi thời gian; một mô hình AUC 0.60 trung thực luôn sống sót tốt hơn mô hình AUC 0.99 ảo!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11 xin chân thành cảm ơn Thầy và các bạn đã chú ý lắng nghe! Nhóm rất mong nhận được những góp ý quý báu của Thầy và các bạn để hoàn thiện đồ án hơn nữa.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idx="11"/>
          </p:nvPr>
        </p:nvSpPr>
        <p:spPr>
          <a:xfrm>
            <a:off x="4185139" y="11521119"/>
            <a:ext cx="7624784" cy="420924"/>
          </a:xfrm>
        </p:spPr>
        <p:txBody>
          <a:bodyPr/>
          <a:lstStyle>
            <a:lvl1pPr algn="l">
              <a:buNone/>
              <a:defRPr sz="1956">
                <a:latin typeface="Times New Roman"/>
                <a:ea typeface="Times New Roman"/>
                <a:cs typeface="Times New Roman"/>
              </a:defRPr>
            </a:lvl1pPr>
          </a:lstStyle>
          <a:p>
            <a:r>
              <a:t>DIMENSIONALITY REDUCTION - Nhóm 13</a:t>
            </a:r>
          </a:p>
        </p:txBody>
      </p:sp>
      <p:sp>
        <p:nvSpPr>
          <p:cNvPr id="7" name="Freeform 6">
            <a:extLst>
              <a:ext uri="{FF2B5EF4-FFF2-40B4-BE49-F238E27FC236}">
                <a16:creationId xmlns:a16="http://schemas.microsoft.com/office/drawing/2014/main" id="{88E55FBA-E532-BB1F-9AD4-40205F001925}"/>
              </a:ext>
            </a:extLst>
          </p:cNvPr>
          <p:cNvSpPr>
            <a:spLocks noGrp="1"/>
          </p:cNvSpPr>
          <p:nvPr/>
        </p:nvSpPr>
        <p:spPr>
          <a:xfrm rot="10800000">
            <a:off x="-1" y="0"/>
            <a:ext cx="21678900" cy="12192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3200"/>
          </a:p>
        </p:txBody>
      </p:sp>
      <p:sp>
        <p:nvSpPr>
          <p:cNvPr id="8" name="Isosceles Triangle 12">
            <a:extLst>
              <a:ext uri="{FF2B5EF4-FFF2-40B4-BE49-F238E27FC236}">
                <a16:creationId xmlns:a16="http://schemas.microsoft.com/office/drawing/2014/main" id="{BF14C68C-3577-C657-9E87-056612AF8E42}"/>
              </a:ext>
            </a:extLst>
          </p:cNvPr>
          <p:cNvSpPr>
            <a:spLocks noGrp="1"/>
          </p:cNvSpPr>
          <p:nvPr/>
        </p:nvSpPr>
        <p:spPr>
          <a:xfrm rot="10800000">
            <a:off x="2" y="1"/>
            <a:ext cx="1272456" cy="109673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a:p>
        </p:txBody>
      </p:sp>
      <p:sp>
        <p:nvSpPr>
          <p:cNvPr id="10" name="Straight Connector 9">
            <a:extLst>
              <a:ext uri="{FF2B5EF4-FFF2-40B4-BE49-F238E27FC236}">
                <a16:creationId xmlns:a16="http://schemas.microsoft.com/office/drawing/2014/main" id="{E5A902CB-97CE-431F-8D8F-032440FFD642}"/>
              </a:ext>
            </a:extLst>
          </p:cNvPr>
          <p:cNvSpPr>
            <a:spLocks noGrp="1"/>
          </p:cNvSpPr>
          <p:nvPr/>
        </p:nvSpPr>
        <p:spPr>
          <a:xfrm flipH="1">
            <a:off x="1386937" y="85831"/>
            <a:ext cx="3819943" cy="0"/>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1" name="Straight Connector 10">
            <a:extLst>
              <a:ext uri="{FF2B5EF4-FFF2-40B4-BE49-F238E27FC236}">
                <a16:creationId xmlns:a16="http://schemas.microsoft.com/office/drawing/2014/main" id="{376AAEFE-4495-423F-A308-B261C32BE115}"/>
              </a:ext>
            </a:extLst>
          </p:cNvPr>
          <p:cNvSpPr>
            <a:spLocks noGrp="1"/>
          </p:cNvSpPr>
          <p:nvPr/>
        </p:nvSpPr>
        <p:spPr>
          <a:xfrm flipH="1">
            <a:off x="104070" y="72791"/>
            <a:ext cx="1311358" cy="114526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2" name="Straight Connector 11">
            <a:extLst>
              <a:ext uri="{FF2B5EF4-FFF2-40B4-BE49-F238E27FC236}">
                <a16:creationId xmlns:a16="http://schemas.microsoft.com/office/drawing/2014/main" id="{334F5217-07BA-42D3-9B82-55D0CB2728AD}"/>
              </a:ext>
            </a:extLst>
          </p:cNvPr>
          <p:cNvSpPr>
            <a:spLocks noGrp="1"/>
          </p:cNvSpPr>
          <p:nvPr/>
        </p:nvSpPr>
        <p:spPr>
          <a:xfrm flipV="1">
            <a:off x="117113" y="1187159"/>
            <a:ext cx="0" cy="166497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3" name="Isosceles Triangle 12">
            <a:extLst>
              <a:ext uri="{FF2B5EF4-FFF2-40B4-BE49-F238E27FC236}">
                <a16:creationId xmlns:a16="http://schemas.microsoft.com/office/drawing/2014/main" id="{1DA43496-358A-E9F0-8CFC-6A952BD4F3E7}"/>
              </a:ext>
            </a:extLst>
          </p:cNvPr>
          <p:cNvSpPr>
            <a:spLocks noGrp="1"/>
          </p:cNvSpPr>
          <p:nvPr/>
        </p:nvSpPr>
        <p:spPr>
          <a:xfrm rot="10800000" flipH="1" flipV="1">
            <a:off x="20406445" y="11095271"/>
            <a:ext cx="1272456" cy="109673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a:p>
        </p:txBody>
      </p:sp>
      <p:sp>
        <p:nvSpPr>
          <p:cNvPr id="15" name="Straight Connector 14">
            <a:extLst>
              <a:ext uri="{FF2B5EF4-FFF2-40B4-BE49-F238E27FC236}">
                <a16:creationId xmlns:a16="http://schemas.microsoft.com/office/drawing/2014/main" id="{1DFAFC82-1C1F-4A41-B50F-5E58ABF4B8CE}"/>
              </a:ext>
            </a:extLst>
          </p:cNvPr>
          <p:cNvSpPr>
            <a:spLocks noGrp="1"/>
          </p:cNvSpPr>
          <p:nvPr/>
        </p:nvSpPr>
        <p:spPr>
          <a:xfrm flipV="1">
            <a:off x="15029556" y="9229781"/>
            <a:ext cx="3819943" cy="0"/>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6" name="Straight Connector 15">
            <a:extLst>
              <a:ext uri="{FF2B5EF4-FFF2-40B4-BE49-F238E27FC236}">
                <a16:creationId xmlns:a16="http://schemas.microsoft.com/office/drawing/2014/main" id="{3B8ACA5D-3A08-4808-81AE-9A6BC7FF482A}"/>
              </a:ext>
            </a:extLst>
          </p:cNvPr>
          <p:cNvSpPr>
            <a:spLocks noGrp="1"/>
          </p:cNvSpPr>
          <p:nvPr/>
        </p:nvSpPr>
        <p:spPr>
          <a:xfrm flipV="1">
            <a:off x="16312423" y="9242821"/>
            <a:ext cx="1311358" cy="114526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7" name="Straight Connector 16">
            <a:extLst>
              <a:ext uri="{FF2B5EF4-FFF2-40B4-BE49-F238E27FC236}">
                <a16:creationId xmlns:a16="http://schemas.microsoft.com/office/drawing/2014/main" id="{5AF98ACF-45A3-4157-9C4E-3BE247EE05E3}"/>
              </a:ext>
            </a:extLst>
          </p:cNvPr>
          <p:cNvSpPr>
            <a:spLocks noGrp="1"/>
          </p:cNvSpPr>
          <p:nvPr/>
        </p:nvSpPr>
        <p:spPr>
          <a:xfrm flipH="1">
            <a:off x="16299380" y="8128453"/>
            <a:ext cx="0" cy="166497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8" name="Freeform 17">
            <a:extLst>
              <a:ext uri="{FF2B5EF4-FFF2-40B4-BE49-F238E27FC236}">
                <a16:creationId xmlns:a16="http://schemas.microsoft.com/office/drawing/2014/main" id="{3366D05A-8A62-ADE1-F4B2-73F9CA085276}"/>
              </a:ext>
            </a:extLst>
          </p:cNvPr>
          <p:cNvSpPr>
            <a:spLocks noGrp="1"/>
          </p:cNvSpPr>
          <p:nvPr/>
        </p:nvSpPr>
        <p:spPr>
          <a:xfrm flipH="1">
            <a:off x="9674797" y="0"/>
            <a:ext cx="12004105" cy="541867"/>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3200"/>
          </a:p>
        </p:txBody>
      </p:sp>
      <p:sp>
        <p:nvSpPr>
          <p:cNvPr id="19" name="Freeform 18">
            <a:extLst>
              <a:ext uri="{FF2B5EF4-FFF2-40B4-BE49-F238E27FC236}">
                <a16:creationId xmlns:a16="http://schemas.microsoft.com/office/drawing/2014/main" id="{E7E6E6A9-35CE-D953-F678-DB52C8ED6EC1}"/>
              </a:ext>
            </a:extLst>
          </p:cNvPr>
          <p:cNvSpPr>
            <a:spLocks noGrp="1"/>
          </p:cNvSpPr>
          <p:nvPr/>
        </p:nvSpPr>
        <p:spPr>
          <a:xfrm flipV="1">
            <a:off x="2" y="11650133"/>
            <a:ext cx="12004105" cy="541867"/>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3200"/>
          </a:p>
        </p:txBody>
      </p:sp>
      <p:pic>
        <p:nvPicPr>
          <p:cNvPr id="60" name="Picture 22"/>
          <p:cNvPicPr>
            <a:picLocks noChangeAspect="1"/>
          </p:cNvPicPr>
          <p:nvPr/>
        </p:nvPicPr>
        <p:blipFill>
          <a:blip r:embed="rId3"/>
          <a:stretch>
            <a:fillRect/>
          </a:stretch>
        </p:blipFill>
        <p:spPr>
          <a:xfrm>
            <a:off x="733722" y="644689"/>
            <a:ext cx="967812" cy="800379"/>
          </a:xfrm>
          <a:prstGeom prst="rect">
            <a:avLst/>
          </a:prstGeom>
        </p:spPr>
      </p:pic>
      <p:sp>
        <p:nvSpPr>
          <p:cNvPr id="24" name="TextBox 23">
            <a:extLst>
              <a:ext uri="{FF2B5EF4-FFF2-40B4-BE49-F238E27FC236}">
                <a16:creationId xmlns:a16="http://schemas.microsoft.com/office/drawing/2014/main" id="{3272C38A-5DF7-B873-F169-2EA590FF1122}"/>
              </a:ext>
            </a:extLst>
          </p:cNvPr>
          <p:cNvSpPr>
            <a:spLocks noGrp="1"/>
          </p:cNvSpPr>
          <p:nvPr/>
        </p:nvSpPr>
        <p:spPr>
          <a:xfrm>
            <a:off x="1701535" y="615658"/>
            <a:ext cx="6966972" cy="858440"/>
          </a:xfrm>
          <a:prstGeom prst="rect">
            <a:avLst/>
          </a:prstGeom>
          <a:noFill/>
        </p:spPr>
        <p:txBody>
          <a:bodyPr wrap="none" anchor="ctr">
            <a:spAutoFit/>
          </a:bodyPr>
          <a:lstStyle/>
          <a:p>
            <a:r>
              <a:rPr sz="2489">
                <a:gradFill rotWithShape="1">
                  <a:gsLst>
                    <a:gs pos="0">
                      <a:srgbClr val="000046"/>
                    </a:gs>
                    <a:gs pos="100000">
                      <a:srgbClr val="1CB5E0"/>
                    </a:gs>
                  </a:gsLst>
                  <a:lin ang="2700000" scaled="1"/>
                  <a:tileRect/>
                </a:gradFill>
                <a:latin typeface="Times New Roman"/>
                <a:ea typeface="Times New Roman"/>
                <a:cs typeface="Times New Roman"/>
              </a:rPr>
              <a:t>ĐẠI HỌC QUỐC GIA TP. HỒ CHÍ MINH</a:t>
            </a:r>
          </a:p>
          <a:p>
            <a:r>
              <a:rPr sz="2489" b="1">
                <a:gradFill rotWithShape="1">
                  <a:gsLst>
                    <a:gs pos="0">
                      <a:srgbClr val="000046"/>
                    </a:gs>
                    <a:gs pos="100000">
                      <a:srgbClr val="1CB5E0"/>
                    </a:gs>
                  </a:gsLst>
                  <a:lin ang="2700000" scaled="1"/>
                  <a:tileRect/>
                </a:gradFill>
                <a:latin typeface="Times New Roman"/>
                <a:ea typeface="Times New Roman"/>
                <a:cs typeface="Times New Roman"/>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a:spLocks noGrp="1"/>
          </p:cNvSpPr>
          <p:nvPr/>
        </p:nvSpPr>
        <p:spPr>
          <a:xfrm>
            <a:off x="21203414" y="11703360"/>
            <a:ext cx="415932" cy="4158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777">
              <a:latin typeface="Times New Roman"/>
              <a:ea typeface="Times New Roman"/>
              <a:cs typeface="Times New Roman"/>
            </a:endParaRPr>
          </a:p>
        </p:txBody>
      </p:sp>
      <p:sp>
        <p:nvSpPr>
          <p:cNvPr id="6" name="Slide Number Placeholder 5">
            <a:extLst>
              <a:ext uri="{FF2B5EF4-FFF2-40B4-BE49-F238E27FC236}">
                <a16:creationId xmlns:a16="http://schemas.microsoft.com/office/drawing/2014/main" id="{2E21DEB9-E93C-A8E4-074F-F195EB1D8ABF}"/>
              </a:ext>
            </a:extLst>
          </p:cNvPr>
          <p:cNvSpPr>
            <a:spLocks noGrp="1"/>
          </p:cNvSpPr>
          <p:nvPr>
            <p:ph type="sldNum" idx="12"/>
          </p:nvPr>
        </p:nvSpPr>
        <p:spPr>
          <a:xfrm>
            <a:off x="21149657" y="11673601"/>
            <a:ext cx="518501" cy="518400"/>
          </a:xfrm>
          <a:prstGeom prst="rect">
            <a:avLst/>
          </a:prstGeom>
        </p:spPr>
        <p:txBody>
          <a:bodyPr vert="horz" lIns="91440" tIns="45720" rIns="91440" bIns="45720" anchor="ctr"/>
          <a:lstStyle>
            <a:lvl1pPr>
              <a:buNone/>
              <a:defRPr sz="1244">
                <a:solidFill>
                  <a:schemeClr val="tx1"/>
                </a:solidFill>
                <a:latin typeface="Times New Roman"/>
                <a:ea typeface="Times New Roman"/>
                <a:cs typeface="Times New Roman"/>
              </a:defRPr>
            </a:lvl1pPr>
          </a:lstStyle>
          <a:p>
            <a:pPr algn="ctr">
              <a:buNone/>
            </a:pPr>
            <a:fld id="{D8B0B3AC-44A8-D142-AAF6-9A453466E1A4}" type="slidenum">
              <a:t>‹#›</a:t>
            </a:fld>
            <a:endParaRPr/>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idx="13" hasCustomPrompt="1"/>
          </p:nvPr>
        </p:nvSpPr>
        <p:spPr>
          <a:xfrm>
            <a:off x="3290967" y="3925615"/>
            <a:ext cx="15096969" cy="1237627"/>
          </a:xfrm>
        </p:spPr>
        <p:txBody>
          <a:bodyPr anchor="ctr">
            <a:normAutofit/>
          </a:bodyPr>
          <a:lstStyle>
            <a:lvl1pPr marL="0" indent="0" algn="ctr" defTabSz="1625519">
              <a:buNone/>
              <a:defRPr sz="7822" b="1" kern="1200">
                <a:ln>
                  <a:gradFill>
                    <a:gsLst>
                      <a:gs pos="0">
                        <a:srgbClr val="000046"/>
                      </a:gs>
                      <a:gs pos="100000">
                        <a:srgbClr val="1CB5E0"/>
                      </a:gs>
                    </a:gsLst>
                    <a:lin ang="5400000" scaled="1"/>
                  </a:gradFill>
                </a:ln>
                <a:noFill/>
                <a:latin typeface="Times New Roman"/>
                <a:ea typeface="Times New Roman"/>
                <a:cs typeface="Times New Roman"/>
              </a:defRPr>
            </a:lvl1pPr>
          </a:lstStyle>
          <a:p>
            <a:pPr lvl="0">
              <a:buNone/>
            </a:pPr>
            <a:r>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idx="14" hasCustomPrompt="1"/>
          </p:nvPr>
        </p:nvSpPr>
        <p:spPr>
          <a:xfrm>
            <a:off x="1559401" y="5403476"/>
            <a:ext cx="18560103" cy="816795"/>
          </a:xfrm>
        </p:spPr>
        <p:txBody>
          <a:bodyPr anchor="ctr">
            <a:normAutofit/>
          </a:bodyPr>
          <a:lstStyle>
            <a:lvl1pPr marL="0" indent="0" algn="ctr" defTabSz="1625519">
              <a:buNone/>
              <a:defRPr sz="3556" b="1" kern="1200">
                <a:gradFill>
                  <a:gsLst>
                    <a:gs pos="0">
                      <a:srgbClr val="000046"/>
                    </a:gs>
                    <a:gs pos="100000">
                      <a:srgbClr val="1CB5E0"/>
                    </a:gs>
                  </a:gsLst>
                  <a:lin ang="2700000" scaled="1"/>
                </a:gradFill>
                <a:latin typeface="Times New Roman"/>
                <a:ea typeface="Times New Roman"/>
                <a:cs typeface="Times New Roman"/>
              </a:defRPr>
            </a:lvl1pPr>
          </a:lstStyle>
          <a:p>
            <a:pPr lvl="0">
              <a:buNone/>
            </a:pPr>
            <a:r>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idx="15" hasCustomPrompt="1"/>
          </p:nvPr>
        </p:nvSpPr>
        <p:spPr>
          <a:xfrm>
            <a:off x="8323350" y="8823198"/>
            <a:ext cx="5032197" cy="613343"/>
          </a:xfrm>
          <a:prstGeom prst="rect">
            <a:avLst/>
          </a:prstGeom>
          <a:gradFill>
            <a:gsLst>
              <a:gs pos="0">
                <a:srgbClr val="0072FF"/>
              </a:gs>
              <a:gs pos="100000">
                <a:srgbClr val="00C6FF"/>
              </a:gs>
            </a:gsLst>
            <a:lin ang="2700000" scaled="1"/>
          </a:gradFill>
        </p:spPr>
        <p:txBody>
          <a:bodyPr anchor="ctr">
            <a:normAutofit/>
          </a:bodyPr>
          <a:lstStyle>
            <a:lvl1pPr marL="0" indent="0" algn="ctr">
              <a:buNone/>
              <a:defRPr sz="2489" b="1" i="0">
                <a:solidFill>
                  <a:schemeClr val="bg1"/>
                </a:solidFill>
                <a:latin typeface="Times New Roman"/>
                <a:ea typeface="Times New Roman"/>
                <a:cs typeface="Times New Roman"/>
              </a:defRPr>
            </a:lvl1pPr>
          </a:lstStyle>
          <a:p>
            <a:pPr lvl="0">
              <a:buNone/>
            </a:pPr>
            <a:r>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idx="16" hasCustomPrompt="1"/>
          </p:nvPr>
        </p:nvSpPr>
        <p:spPr>
          <a:xfrm>
            <a:off x="3290967" y="6454775"/>
            <a:ext cx="15096969" cy="1145263"/>
          </a:xfrm>
        </p:spPr>
        <p:txBody>
          <a:bodyPr anchor="ctr">
            <a:normAutofit/>
          </a:bodyPr>
          <a:lstStyle>
            <a:lvl1pPr marL="0" indent="0" algn="ctr">
              <a:buNone/>
              <a:defRPr sz="2133" spc="267" baseline="0">
                <a:solidFill>
                  <a:schemeClr val="bg1">
                    <a:lumMod val="75000"/>
                  </a:schemeClr>
                </a:solidFill>
                <a:latin typeface="Times New Roman"/>
                <a:ea typeface="Times New Roman"/>
                <a:cs typeface="Times New Roman"/>
              </a:defRPr>
            </a:lvl1pPr>
          </a:lstStyle>
          <a:p>
            <a:pPr lvl="0">
              <a:buNone/>
            </a:pPr>
            <a:r>
              <a:t>(Tóm tắt nếu có): Lorem ipsum dolor sit amet, consectetuer adipiscing elit. Maecenas porttitor congue massa. Fusce posuere, magna sed pulvinar ultricies, purus lectus malesuada libero, sit amet commodo magna eros quis urna.</a:t>
            </a:r>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idx="17"/>
          </p:nvPr>
        </p:nvSpPr>
        <p:spPr>
          <a:xfrm>
            <a:off x="12034006" y="11514665"/>
            <a:ext cx="4438015" cy="420912"/>
          </a:xfrm>
        </p:spPr>
        <p:txBody>
          <a:bodyPr/>
          <a:lstStyle>
            <a:lvl1pPr marL="0" algn="ctr" defTabSz="1625519">
              <a:buNone/>
              <a:defRPr sz="1956" kern="1200">
                <a:solidFill>
                  <a:schemeClr val="tx1">
                    <a:tint val="75000"/>
                  </a:schemeClr>
                </a:solidFill>
                <a:latin typeface="Times New Roman"/>
                <a:ea typeface="Times New Roman"/>
                <a:cs typeface="Times New Roman"/>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dt="0"/>
  <p:txStyles>
    <p:titleStyle>
      <a:lvl1pPr algn="ctr" defTabSz="914400">
        <a:spcBef>
          <a:spcPct val="0"/>
        </a:spcBef>
        <a:buNone/>
        <a:defRPr sz="4400" kern="1200">
          <a:solidFill>
            <a:schemeClr val="tx1"/>
          </a:solidFill>
          <a:latin typeface="Times New Roman"/>
          <a:ea typeface="Times New Roman"/>
          <a:cs typeface="Times New Roman"/>
        </a:defRPr>
      </a:lvl1pPr>
    </p:titleStyle>
    <p:bodyStyle>
      <a:lvl1pPr marL="342900" indent="-342900" algn="l" defTabSz="914400">
        <a:spcBef>
          <a:spcPct val="20000"/>
        </a:spcBef>
        <a:buFont typeface="Times New Roman"/>
        <a:buChar char="•"/>
        <a:defRPr sz="3200" kern="1200">
          <a:solidFill>
            <a:schemeClr val="tx1"/>
          </a:solidFill>
          <a:latin typeface="Times New Roman"/>
          <a:ea typeface="Times New Roman"/>
          <a:cs typeface="Times New Roman"/>
        </a:defRPr>
      </a:lvl1pPr>
      <a:lvl2pPr marL="742950" indent="-285750" algn="l" defTabSz="914400">
        <a:spcBef>
          <a:spcPct val="20000"/>
        </a:spcBef>
        <a:buFont typeface="Times New Roman"/>
        <a:buChar char="–"/>
        <a:defRPr sz="2800" kern="1200">
          <a:solidFill>
            <a:schemeClr val="tx1"/>
          </a:solidFill>
          <a:latin typeface="Times New Roman"/>
          <a:ea typeface="Times New Roman"/>
          <a:cs typeface="Times New Roman"/>
        </a:defRPr>
      </a:lvl2pPr>
      <a:lvl3pPr marL="1143000" indent="-228600" algn="l" defTabSz="914400">
        <a:spcBef>
          <a:spcPct val="20000"/>
        </a:spcBef>
        <a:buFont typeface="Times New Roman"/>
        <a:buChar char="•"/>
        <a:defRPr sz="2400" kern="1200">
          <a:solidFill>
            <a:schemeClr val="tx1"/>
          </a:solidFill>
          <a:latin typeface="Times New Roman"/>
          <a:ea typeface="Times New Roman"/>
          <a:cs typeface="Times New Roman"/>
        </a:defRPr>
      </a:lvl3pPr>
      <a:lvl4pPr marL="1600200" indent="-228600" algn="l" defTabSz="914400">
        <a:spcBef>
          <a:spcPct val="20000"/>
        </a:spcBef>
        <a:buFont typeface="Times New Roman"/>
        <a:buChar char="–"/>
        <a:defRPr sz="2000" kern="1200">
          <a:solidFill>
            <a:schemeClr val="tx1"/>
          </a:solidFill>
          <a:latin typeface="Times New Roman"/>
          <a:ea typeface="Times New Roman"/>
          <a:cs typeface="Times New Roman"/>
        </a:defRPr>
      </a:lvl4pPr>
      <a:lvl5pPr marL="2057400" indent="-228600" algn="l" defTabSz="914400">
        <a:spcBef>
          <a:spcPct val="20000"/>
        </a:spcBef>
        <a:buFont typeface="Times New Roman"/>
        <a:buChar char="»"/>
        <a:defRPr sz="2000" kern="1200">
          <a:solidFill>
            <a:schemeClr val="tx1"/>
          </a:solidFill>
          <a:latin typeface="Times New Roman"/>
          <a:ea typeface="Times New Roman"/>
          <a:cs typeface="Times New Roman"/>
        </a:defRPr>
      </a:lvl5pPr>
      <a:lvl6pPr marL="2514600" indent="-228600" algn="l" defTabSz="914400">
        <a:spcBef>
          <a:spcPct val="20000"/>
        </a:spcBef>
        <a:buFont typeface="Times New Roman"/>
        <a:buChar char="•"/>
        <a:defRPr sz="2000" kern="1200">
          <a:solidFill>
            <a:schemeClr val="tx1"/>
          </a:solidFill>
          <a:latin typeface="Times New Roman"/>
          <a:ea typeface="Times New Roman"/>
          <a:cs typeface="Times New Roman"/>
        </a:defRPr>
      </a:lvl6pPr>
      <a:lvl7pPr marL="2971800" indent="-228600" algn="l" defTabSz="914400">
        <a:spcBef>
          <a:spcPct val="20000"/>
        </a:spcBef>
        <a:buFont typeface="Times New Roman"/>
        <a:buChar char="•"/>
        <a:defRPr sz="2000" kern="1200">
          <a:solidFill>
            <a:schemeClr val="tx1"/>
          </a:solidFill>
          <a:latin typeface="Times New Roman"/>
          <a:ea typeface="Times New Roman"/>
          <a:cs typeface="Times New Roman"/>
        </a:defRPr>
      </a:lvl7pPr>
      <a:lvl8pPr marL="3429000" indent="-228600" algn="l" defTabSz="914400">
        <a:spcBef>
          <a:spcPct val="20000"/>
        </a:spcBef>
        <a:buFont typeface="Times New Roman"/>
        <a:buChar char="•"/>
        <a:defRPr sz="2000" kern="1200">
          <a:solidFill>
            <a:schemeClr val="tx1"/>
          </a:solidFill>
          <a:latin typeface="Times New Roman"/>
          <a:ea typeface="Times New Roman"/>
          <a:cs typeface="Times New Roman"/>
        </a:defRPr>
      </a:lvl8pPr>
      <a:lvl9pPr marL="3886200" indent="-228600" algn="l" defTabSz="914400">
        <a:spcBef>
          <a:spcPct val="20000"/>
        </a:spcBef>
        <a:buFont typeface="Times New Roman"/>
        <a:buChar char="•"/>
        <a:defRPr sz="2000" kern="1200">
          <a:solidFill>
            <a:schemeClr val="tx1"/>
          </a:solidFill>
          <a:latin typeface="Times New Roman"/>
          <a:ea typeface="Times New Roman"/>
          <a:cs typeface="Times New Roman"/>
        </a:defRPr>
      </a:lvl9pPr>
    </p:bodyStyle>
    <p:otherStyle>
      <a:lvl1pPr marL="0" algn="l" defTabSz="914400">
        <a:buNone/>
        <a:defRPr sz="1800" kern="1200">
          <a:solidFill>
            <a:schemeClr val="tx1"/>
          </a:solidFill>
          <a:latin typeface="Times New Roman"/>
          <a:ea typeface="Times New Roman"/>
          <a:cs typeface="Times New Roman"/>
        </a:defRPr>
      </a:lvl1pPr>
      <a:lvl2pPr marL="457200" algn="l" defTabSz="914400">
        <a:buNone/>
        <a:defRPr sz="1800" kern="1200">
          <a:solidFill>
            <a:schemeClr val="tx1"/>
          </a:solidFill>
          <a:latin typeface="Times New Roman"/>
          <a:ea typeface="Times New Roman"/>
          <a:cs typeface="Times New Roman"/>
        </a:defRPr>
      </a:lvl2pPr>
      <a:lvl3pPr marL="914400" algn="l" defTabSz="914400">
        <a:buNone/>
        <a:defRPr sz="1800" kern="1200">
          <a:solidFill>
            <a:schemeClr val="tx1"/>
          </a:solidFill>
          <a:latin typeface="Times New Roman"/>
          <a:ea typeface="Times New Roman"/>
          <a:cs typeface="Times New Roman"/>
        </a:defRPr>
      </a:lvl3pPr>
      <a:lvl4pPr marL="1371600" algn="l" defTabSz="914400">
        <a:buNone/>
        <a:defRPr sz="1800" kern="1200">
          <a:solidFill>
            <a:schemeClr val="tx1"/>
          </a:solidFill>
          <a:latin typeface="Times New Roman"/>
          <a:ea typeface="Times New Roman"/>
          <a:cs typeface="Times New Roman"/>
        </a:defRPr>
      </a:lvl4pPr>
      <a:lvl5pPr marL="1828800" algn="l" defTabSz="914400">
        <a:buNone/>
        <a:defRPr sz="1800" kern="1200">
          <a:solidFill>
            <a:schemeClr val="tx1"/>
          </a:solidFill>
          <a:latin typeface="Times New Roman"/>
          <a:ea typeface="Times New Roman"/>
          <a:cs typeface="Times New Roman"/>
        </a:defRPr>
      </a:lvl5pPr>
      <a:lvl6pPr marL="2286000" algn="l" defTabSz="914400">
        <a:buNone/>
        <a:defRPr sz="1800" kern="1200">
          <a:solidFill>
            <a:schemeClr val="tx1"/>
          </a:solidFill>
          <a:latin typeface="Times New Roman"/>
          <a:ea typeface="Times New Roman"/>
          <a:cs typeface="Times New Roman"/>
        </a:defRPr>
      </a:lvl6pPr>
      <a:lvl7pPr marL="2743200" algn="l" defTabSz="914400">
        <a:buNone/>
        <a:defRPr sz="1800" kern="1200">
          <a:solidFill>
            <a:schemeClr val="tx1"/>
          </a:solidFill>
          <a:latin typeface="Times New Roman"/>
          <a:ea typeface="Times New Roman"/>
          <a:cs typeface="Times New Roman"/>
        </a:defRPr>
      </a:lvl7pPr>
      <a:lvl8pPr marL="3200400" algn="l" defTabSz="914400">
        <a:buNone/>
        <a:defRPr sz="1800" kern="1200">
          <a:solidFill>
            <a:schemeClr val="tx1"/>
          </a:solidFill>
          <a:latin typeface="Times New Roman"/>
          <a:ea typeface="Times New Roman"/>
          <a:cs typeface="Times New Roman"/>
        </a:defRPr>
      </a:lvl8pPr>
      <a:lvl9pPr marL="3657600" algn="l" defTabSz="914400">
        <a:buNone/>
        <a:defRPr sz="1800" kern="1200">
          <a:solidFill>
            <a:schemeClr val="tx1"/>
          </a:solidFill>
          <a:latin typeface="Times New Roman"/>
          <a:ea typeface="Times New Roman"/>
          <a:cs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1F55CA5-843C-3510-DCA9-291216FC7646}"/>
              </a:ext>
            </a:extLst>
          </p:cNvPr>
          <p:cNvSpPr>
            <a:spLocks noGrp="1"/>
          </p:cNvSpPr>
          <p:nvPr>
            <p:ph type="body" idx="13"/>
          </p:nvPr>
        </p:nvSpPr>
        <p:spPr>
          <a:xfrm>
            <a:off x="2326105" y="1572126"/>
            <a:ext cx="16590545" cy="3237999"/>
          </a:xfrm>
        </p:spPr>
        <p:txBody>
          <a:bodyPr wrap="square">
            <a:noAutofit/>
          </a:bodyPr>
          <a:lstStyle/>
          <a:p>
            <a:pPr algn="ctr">
              <a:buNone/>
              <a:defRPr sz="5100" b="1">
                <a:solidFill>
                  <a:srgbClr val="151515"/>
                </a:solidFill>
                <a:latin typeface="Times New Roman"/>
                <a:ea typeface="Times New Roman"/>
                <a:cs typeface="Times New Roman"/>
              </a:defRPr>
            </a:pPr>
            <a:r>
              <a:rPr sz="4800" b="1" i="0" dirty="0">
                <a:solidFill>
                  <a:srgbClr val="1565C0"/>
                </a:solidFill>
                <a:latin typeface="Times New Roman"/>
              </a:rPr>
              <a:t>BÁO CÁO ĐỒ ÁN </a:t>
            </a:r>
            <a:endParaRPr lang="en-US" sz="4800" b="1" i="0" dirty="0">
              <a:solidFill>
                <a:srgbClr val="1565C0"/>
              </a:solidFill>
              <a:latin typeface="Times New Roman"/>
            </a:endParaRPr>
          </a:p>
          <a:p>
            <a:pPr algn="ctr">
              <a:buNone/>
              <a:defRPr sz="5100" b="1">
                <a:solidFill>
                  <a:srgbClr val="151515"/>
                </a:solidFill>
                <a:latin typeface="Times New Roman"/>
                <a:ea typeface="Times New Roman"/>
                <a:cs typeface="Times New Roman"/>
              </a:defRPr>
            </a:pPr>
            <a:r>
              <a:rPr lang="en-US" sz="4800" b="1" i="0" dirty="0">
                <a:solidFill>
                  <a:srgbClr val="1565C0"/>
                </a:solidFill>
                <a:latin typeface="Times New Roman"/>
              </a:rPr>
              <a:t>TRÍ TUỆ NHÂN TẠO</a:t>
            </a:r>
            <a:endParaRPr sz="4800" b="1" i="0" dirty="0">
              <a:solidFill>
                <a:srgbClr val="1565C0"/>
              </a:solidFill>
              <a:latin typeface="Times New Roman"/>
            </a:endParaRPr>
          </a:p>
          <a:p>
            <a:pPr algn="ctr"/>
            <a:r>
              <a:rPr sz="4800" b="1" i="0" dirty="0">
                <a:solidFill>
                  <a:srgbClr val="1565C0"/>
                </a:solidFill>
                <a:latin typeface="Times New Roman"/>
              </a:rPr>
              <a:t>HỆ THỐNG GIAO DỊCH VỚI TẦNG META-LABELING CATBOOST</a:t>
            </a:r>
          </a:p>
        </p:txBody>
      </p:sp>
      <p:sp>
        <p:nvSpPr>
          <p:cNvPr id="2" name="Footer Placeholder 1">
            <a:extLst>
              <a:ext uri="{FF2B5EF4-FFF2-40B4-BE49-F238E27FC236}">
                <a16:creationId xmlns:a16="http://schemas.microsoft.com/office/drawing/2014/main" id="{2D72110C-D077-8C1D-3057-3378C02C490F}"/>
              </a:ext>
            </a:extLst>
          </p:cNvPr>
          <p:cNvSpPr>
            <a:spLocks noGrp="1"/>
          </p:cNvSpPr>
          <p:nvPr>
            <p:ph type="ftr" idx="11"/>
          </p:nvPr>
        </p:nvSpPr>
        <p:spPr/>
        <p:txBody>
          <a:bodyPr wrap="square">
            <a:noAutofit/>
          </a:bodyPr>
          <a:lstStyle/>
          <a:p>
            <a:pPr algn="ctr">
              <a:buNone/>
              <a:defRPr sz="1950" b="0">
                <a:solidFill>
                  <a:srgbClr val="151515"/>
                </a:solidFill>
                <a:latin typeface="Times New Roman"/>
                <a:ea typeface="Times New Roman"/>
                <a:cs typeface="Times New Roman"/>
              </a:defRPr>
            </a:pPr>
            <a:r>
              <a:rPr sz="2400" b="0" i="0">
                <a:solidFill>
                  <a:srgbClr val="646464"/>
                </a:solidFill>
                <a:latin typeface="Times New Roman"/>
              </a:rPr>
              <a:t>Trường ĐH Công Nghệ Thông Tin (UIT) – ĐHQG TP.HCM</a:t>
            </a:r>
            <a:endParaRPr/>
          </a:p>
        </p:txBody>
      </p:sp>
      <p:sp>
        <p:nvSpPr>
          <p:cNvPr id="3" name="TextBox 2">
            <a:extLst>
              <a:ext uri="{FF2B5EF4-FFF2-40B4-BE49-F238E27FC236}">
                <a16:creationId xmlns:a16="http://schemas.microsoft.com/office/drawing/2014/main" id="{8D1C9EB2-51DB-9A4B-7127-EB7A880B66C3}"/>
              </a:ext>
            </a:extLst>
          </p:cNvPr>
          <p:cNvSpPr>
            <a:spLocks noGrp="1"/>
          </p:cNvSpPr>
          <p:nvPr/>
        </p:nvSpPr>
        <p:spPr>
          <a:xfrm>
            <a:off x="3238500" y="5000625"/>
            <a:ext cx="15201900" cy="1714500"/>
          </a:xfrm>
          <a:prstGeom prst="rect">
            <a:avLst/>
          </a:prstGeom>
          <a:noFill/>
        </p:spPr>
        <p:txBody>
          <a:bodyPr wrap="square">
            <a:noAutofit/>
          </a:bodyPr>
          <a:lstStyle/>
          <a:p>
            <a:pPr algn="ctr">
              <a:buNone/>
              <a:defRPr sz="3000" b="0">
                <a:solidFill>
                  <a:srgbClr val="151515"/>
                </a:solidFill>
                <a:latin typeface="Times New Roman"/>
                <a:ea typeface="Times New Roman"/>
                <a:cs typeface="Times New Roman"/>
              </a:defRPr>
            </a:pPr>
            <a:r>
              <a:rPr sz="3000" b="0" i="0" dirty="0" err="1">
                <a:solidFill>
                  <a:srgbClr val="151515"/>
                </a:solidFill>
                <a:latin typeface="Times New Roman"/>
              </a:rPr>
              <a:t>Đánh</a:t>
            </a:r>
            <a:r>
              <a:rPr sz="3000" b="0" i="0" dirty="0">
                <a:solidFill>
                  <a:srgbClr val="151515"/>
                </a:solidFill>
                <a:latin typeface="Times New Roman"/>
              </a:rPr>
              <a:t> </a:t>
            </a:r>
            <a:r>
              <a:rPr sz="3000" b="0" i="0" dirty="0" err="1">
                <a:solidFill>
                  <a:srgbClr val="151515"/>
                </a:solidFill>
                <a:latin typeface="Times New Roman"/>
              </a:rPr>
              <a:t>Giá</a:t>
            </a:r>
            <a:r>
              <a:rPr sz="3000" b="0" i="0" dirty="0">
                <a:solidFill>
                  <a:srgbClr val="151515"/>
                </a:solidFill>
                <a:latin typeface="Times New Roman"/>
              </a:rPr>
              <a:t> </a:t>
            </a:r>
            <a:r>
              <a:rPr sz="3000" b="0" i="0" dirty="0" err="1">
                <a:solidFill>
                  <a:srgbClr val="151515"/>
                </a:solidFill>
                <a:latin typeface="Times New Roman"/>
              </a:rPr>
              <a:t>Ảnh</a:t>
            </a:r>
            <a:r>
              <a:rPr sz="3000" b="0" i="0" dirty="0">
                <a:solidFill>
                  <a:srgbClr val="151515"/>
                </a:solidFill>
                <a:latin typeface="Times New Roman"/>
              </a:rPr>
              <a:t> </a:t>
            </a:r>
            <a:r>
              <a:rPr sz="3000" b="0" i="0" dirty="0" err="1">
                <a:solidFill>
                  <a:srgbClr val="151515"/>
                </a:solidFill>
                <a:latin typeface="Times New Roman"/>
              </a:rPr>
              <a:t>Hưởng</a:t>
            </a:r>
            <a:r>
              <a:rPr sz="3000" b="0" i="0" dirty="0">
                <a:solidFill>
                  <a:srgbClr val="151515"/>
                </a:solidFill>
                <a:latin typeface="Times New Roman"/>
              </a:rPr>
              <a:t> </a:t>
            </a:r>
            <a:r>
              <a:rPr sz="3000" b="0" i="0" dirty="0" err="1">
                <a:solidFill>
                  <a:srgbClr val="151515"/>
                </a:solidFill>
                <a:latin typeface="Times New Roman"/>
              </a:rPr>
              <a:t>Của</a:t>
            </a:r>
            <a:r>
              <a:rPr sz="3000" b="0" i="0" dirty="0">
                <a:solidFill>
                  <a:srgbClr val="151515"/>
                </a:solidFill>
                <a:latin typeface="Times New Roman"/>
              </a:rPr>
              <a:t> Phương Pháp Chia </a:t>
            </a:r>
            <a:r>
              <a:rPr sz="3000" b="0" i="0" dirty="0" err="1">
                <a:solidFill>
                  <a:srgbClr val="151515"/>
                </a:solidFill>
                <a:latin typeface="Times New Roman"/>
              </a:rPr>
              <a:t>Dữ</a:t>
            </a:r>
            <a:r>
              <a:rPr sz="3000" b="0" i="0" dirty="0">
                <a:solidFill>
                  <a:srgbClr val="151515"/>
                </a:solidFill>
                <a:latin typeface="Times New Roman"/>
              </a:rPr>
              <a:t> Liệu </a:t>
            </a:r>
            <a:r>
              <a:rPr sz="3000" b="0" i="0" dirty="0" err="1">
                <a:solidFill>
                  <a:srgbClr val="151515"/>
                </a:solidFill>
                <a:latin typeface="Times New Roman"/>
              </a:rPr>
              <a:t>Đến</a:t>
            </a:r>
            <a:r>
              <a:rPr sz="3000" b="0" i="0" dirty="0">
                <a:solidFill>
                  <a:srgbClr val="151515"/>
                </a:solidFill>
                <a:latin typeface="Times New Roman"/>
              </a:rPr>
              <a:t> </a:t>
            </a:r>
            <a:r>
              <a:rPr sz="3000" b="0" i="0" dirty="0" err="1">
                <a:solidFill>
                  <a:srgbClr val="151515"/>
                </a:solidFill>
                <a:latin typeface="Times New Roman"/>
              </a:rPr>
              <a:t>Độ</a:t>
            </a:r>
            <a:r>
              <a:rPr sz="3000" b="0" i="0" dirty="0">
                <a:solidFill>
                  <a:srgbClr val="151515"/>
                </a:solidFill>
                <a:latin typeface="Times New Roman"/>
              </a:rPr>
              <a:t> Tin </a:t>
            </a:r>
            <a:r>
              <a:rPr sz="3000" b="0" i="0" dirty="0" err="1">
                <a:solidFill>
                  <a:srgbClr val="151515"/>
                </a:solidFill>
                <a:latin typeface="Times New Roman"/>
              </a:rPr>
              <a:t>Cậy</a:t>
            </a:r>
            <a:r>
              <a:rPr sz="3000" b="0" i="0" dirty="0">
                <a:solidFill>
                  <a:srgbClr val="151515"/>
                </a:solidFill>
                <a:latin typeface="Times New Roman"/>
              </a:rPr>
              <a:t> </a:t>
            </a:r>
            <a:r>
              <a:rPr sz="3000" b="0" i="0" dirty="0" err="1">
                <a:solidFill>
                  <a:srgbClr val="151515"/>
                </a:solidFill>
                <a:latin typeface="Times New Roman"/>
              </a:rPr>
              <a:t>Kiểm</a:t>
            </a:r>
            <a:r>
              <a:rPr sz="3000" b="0" i="0" dirty="0">
                <a:solidFill>
                  <a:srgbClr val="151515"/>
                </a:solidFill>
                <a:latin typeface="Times New Roman"/>
              </a:rPr>
              <a:t> Định</a:t>
            </a:r>
          </a:p>
          <a:p>
            <a:pPr algn="ctr"/>
            <a:r>
              <a:rPr sz="3000" b="0" i="0" dirty="0">
                <a:solidFill>
                  <a:srgbClr val="151515"/>
                </a:solidFill>
                <a:latin typeface="Times New Roman"/>
              </a:rPr>
              <a:t>Môn </a:t>
            </a:r>
            <a:r>
              <a:rPr sz="3000" b="0" i="0" dirty="0" err="1">
                <a:solidFill>
                  <a:srgbClr val="151515"/>
                </a:solidFill>
                <a:latin typeface="Times New Roman"/>
              </a:rPr>
              <a:t>học</a:t>
            </a:r>
            <a:r>
              <a:rPr sz="3000" b="0" i="0" dirty="0">
                <a:solidFill>
                  <a:srgbClr val="151515"/>
                </a:solidFill>
                <a:latin typeface="Times New Roman"/>
              </a:rPr>
              <a:t>: Trí </a:t>
            </a:r>
            <a:r>
              <a:rPr sz="3000" b="0" i="0" dirty="0" err="1">
                <a:solidFill>
                  <a:srgbClr val="151515"/>
                </a:solidFill>
                <a:latin typeface="Times New Roman"/>
              </a:rPr>
              <a:t>Tuệ</a:t>
            </a:r>
            <a:r>
              <a:rPr sz="3000" b="0" i="0" dirty="0">
                <a:solidFill>
                  <a:srgbClr val="151515"/>
                </a:solidFill>
                <a:latin typeface="Times New Roman"/>
              </a:rPr>
              <a:t> </a:t>
            </a:r>
            <a:r>
              <a:rPr sz="3000" b="0" i="0" dirty="0" err="1">
                <a:solidFill>
                  <a:srgbClr val="151515"/>
                </a:solidFill>
                <a:latin typeface="Times New Roman"/>
              </a:rPr>
              <a:t>Nhân</a:t>
            </a:r>
            <a:r>
              <a:rPr sz="3000" b="0" i="0" dirty="0">
                <a:solidFill>
                  <a:srgbClr val="151515"/>
                </a:solidFill>
                <a:latin typeface="Times New Roman"/>
              </a:rPr>
              <a:t> </a:t>
            </a:r>
            <a:r>
              <a:rPr sz="3000" b="0" i="0" dirty="0" err="1">
                <a:solidFill>
                  <a:srgbClr val="151515"/>
                </a:solidFill>
                <a:latin typeface="Times New Roman"/>
              </a:rPr>
              <a:t>Tạo</a:t>
            </a:r>
            <a:r>
              <a:rPr sz="3000" b="0" i="0" dirty="0">
                <a:solidFill>
                  <a:srgbClr val="151515"/>
                </a:solidFill>
                <a:latin typeface="Times New Roman"/>
              </a:rPr>
              <a:t> (CS106) | GVHD: TS. Nguyễn Đình Hiển | </a:t>
            </a:r>
            <a:r>
              <a:rPr sz="3000" b="0" i="0" dirty="0" err="1">
                <a:solidFill>
                  <a:srgbClr val="151515"/>
                </a:solidFill>
                <a:latin typeface="Times New Roman"/>
              </a:rPr>
              <a:t>Nhóm</a:t>
            </a:r>
            <a:r>
              <a:rPr sz="3000" b="0" i="0" dirty="0">
                <a:solidFill>
                  <a:srgbClr val="151515"/>
                </a:solidFill>
                <a:latin typeface="Times New Roman"/>
              </a:rPr>
              <a:t> 11</a:t>
            </a:r>
          </a:p>
        </p:txBody>
      </p:sp>
      <p:sp>
        <p:nvSpPr>
          <p:cNvPr id="13" name="Rectangle 5">
            <a:extLst>
              <a:ext uri="{FF2B5EF4-FFF2-40B4-BE49-F238E27FC236}">
                <a16:creationId xmlns:a16="http://schemas.microsoft.com/office/drawing/2014/main" id="{84B742A7-ED06-9E2C-4039-DA9FA216BB7D}"/>
              </a:ext>
            </a:extLst>
          </p:cNvPr>
          <p:cNvSpPr>
            <a:spLocks noGrp="1"/>
          </p:cNvSpPr>
          <p:nvPr/>
        </p:nvSpPr>
        <p:spPr>
          <a:xfrm>
            <a:off x="1492252" y="6673642"/>
            <a:ext cx="328360" cy="656590"/>
          </a:xfrm>
          <a:prstGeom prst="rect">
            <a:avLst/>
          </a:prstGeom>
          <a:noFill/>
          <a:ln>
            <a:noFill/>
          </a:ln>
        </p:spPr>
        <p:txBody>
          <a:bodyPr vert="horz" wrap="none" lIns="162560" tIns="81280" rIns="162560" bIns="81280" anchor="ctr">
            <a:spAutoFit/>
          </a:bodyPr>
          <a:lstStyle/>
          <a:p>
            <a:endParaRPr sz="3200"/>
          </a:p>
        </p:txBody>
      </p:sp>
      <p:graphicFrame>
        <p:nvGraphicFramePr>
          <p:cNvPr id="14" name="Table 13"/>
          <p:cNvGraphicFramePr>
            <a:graphicFrameLocks noGrp="1"/>
          </p:cNvGraphicFramePr>
          <p:nvPr/>
        </p:nvGraphicFramePr>
        <p:xfrm>
          <a:off x="6134100" y="7143750"/>
          <a:ext cx="9410700" cy="3900000"/>
        </p:xfrm>
        <a:graphic>
          <a:graphicData uri="http://schemas.openxmlformats.org/drawingml/2006/table">
            <a:tbl>
              <a:tblPr firstRow="1" bandRow="1">
                <a:tableStyleId>{5C22544A-7EE6-4342-B048-85BDC9FD1C3A}</a:tableStyleId>
              </a:tblPr>
              <a:tblGrid>
                <a:gridCol w="3293745">
                  <a:extLst>
                    <a:ext uri="{9D8B030D-6E8A-4147-A177-3AD203B41FA5}">
                      <a16:colId xmlns:a16="http://schemas.microsoft.com/office/drawing/2014/main" val="20000"/>
                    </a:ext>
                  </a:extLst>
                </a:gridCol>
                <a:gridCol w="6116955">
                  <a:extLst>
                    <a:ext uri="{9D8B030D-6E8A-4147-A177-3AD203B41FA5}">
                      <a16:colId xmlns:a16="http://schemas.microsoft.com/office/drawing/2014/main" val="20001"/>
                    </a:ext>
                  </a:extLst>
                </a:gridCol>
              </a:tblGrid>
              <a:tr h="487500">
                <a:tc>
                  <a:txBody>
                    <a:bodyPr/>
                    <a:lstStyle/>
                    <a:p>
                      <a:pPr algn="ctr">
                        <a:defRPr sz="2000" b="1">
                          <a:solidFill>
                            <a:srgbClr val="FFFFFF"/>
                          </a:solidFill>
                          <a:latin typeface="Times New Roman"/>
                        </a:defRPr>
                      </a:pPr>
                      <a:r>
                        <a:t>MSSV</a:t>
                      </a:r>
                    </a:p>
                  </a:txBody>
                  <a:tcPr>
                    <a:solidFill>
                      <a:srgbClr val="1565C0"/>
                    </a:solidFill>
                  </a:tcPr>
                </a:tc>
                <a:tc>
                  <a:txBody>
                    <a:bodyPr/>
                    <a:lstStyle/>
                    <a:p>
                      <a:pPr algn="ctr">
                        <a:defRPr sz="2000" b="1">
                          <a:solidFill>
                            <a:srgbClr val="FFFFFF"/>
                          </a:solidFill>
                          <a:latin typeface="Times New Roman"/>
                        </a:defRPr>
                      </a:pPr>
                      <a:r>
                        <a:t>HỌ VÀ TÊN</a:t>
                      </a:r>
                    </a:p>
                  </a:txBody>
                  <a:tcPr>
                    <a:solidFill>
                      <a:srgbClr val="1565C0"/>
                    </a:solidFill>
                  </a:tcPr>
                </a:tc>
                <a:extLst>
                  <a:ext uri="{0D108BD9-81ED-4DB2-BD59-A6C34878D82A}">
                    <a16:rowId xmlns:a16="http://schemas.microsoft.com/office/drawing/2014/main" val="10000"/>
                  </a:ext>
                </a:extLst>
              </a:tr>
              <a:tr h="487500">
                <a:tc>
                  <a:txBody>
                    <a:bodyPr/>
                    <a:lstStyle/>
                    <a:p>
                      <a:pPr algn="ctr">
                        <a:defRPr sz="2000" b="0">
                          <a:solidFill>
                            <a:srgbClr val="151515"/>
                          </a:solidFill>
                          <a:latin typeface="Times New Roman"/>
                        </a:defRPr>
                      </a:pPr>
                      <a:r>
                        <a:t>26410127</a:t>
                      </a:r>
                    </a:p>
                  </a:txBody>
                  <a:tcPr>
                    <a:solidFill>
                      <a:srgbClr val="FFFFFF"/>
                    </a:solidFill>
                  </a:tcPr>
                </a:tc>
                <a:tc>
                  <a:txBody>
                    <a:bodyPr/>
                    <a:lstStyle/>
                    <a:p>
                      <a:pPr algn="l">
                        <a:defRPr sz="2000" b="0">
                          <a:solidFill>
                            <a:srgbClr val="151515"/>
                          </a:solidFill>
                          <a:latin typeface="Times New Roman"/>
                        </a:defRPr>
                      </a:pPr>
                      <a:r>
                        <a:t>Dương Quốc Thương</a:t>
                      </a:r>
                    </a:p>
                  </a:txBody>
                  <a:tcPr>
                    <a:solidFill>
                      <a:srgbClr val="FFFFFF"/>
                    </a:solidFill>
                  </a:tcPr>
                </a:tc>
                <a:extLst>
                  <a:ext uri="{0D108BD9-81ED-4DB2-BD59-A6C34878D82A}">
                    <a16:rowId xmlns:a16="http://schemas.microsoft.com/office/drawing/2014/main" val="10001"/>
                  </a:ext>
                </a:extLst>
              </a:tr>
              <a:tr h="487500">
                <a:tc>
                  <a:txBody>
                    <a:bodyPr/>
                    <a:lstStyle/>
                    <a:p>
                      <a:pPr algn="ctr">
                        <a:defRPr sz="2000" b="0">
                          <a:solidFill>
                            <a:srgbClr val="151515"/>
                          </a:solidFill>
                          <a:latin typeface="Times New Roman"/>
                        </a:defRPr>
                      </a:pPr>
                      <a:r>
                        <a:t>26410115</a:t>
                      </a:r>
                    </a:p>
                  </a:txBody>
                  <a:tcPr>
                    <a:solidFill>
                      <a:srgbClr val="E3F2FD"/>
                    </a:solidFill>
                  </a:tcPr>
                </a:tc>
                <a:tc>
                  <a:txBody>
                    <a:bodyPr/>
                    <a:lstStyle/>
                    <a:p>
                      <a:pPr algn="l">
                        <a:defRPr sz="2000" b="0">
                          <a:solidFill>
                            <a:srgbClr val="151515"/>
                          </a:solidFill>
                          <a:latin typeface="Times New Roman"/>
                        </a:defRPr>
                      </a:pPr>
                      <a:r>
                        <a:t>Nông Nguyễn Thành</a:t>
                      </a:r>
                    </a:p>
                  </a:txBody>
                  <a:tcPr>
                    <a:solidFill>
                      <a:srgbClr val="E3F2FD"/>
                    </a:solidFill>
                  </a:tcPr>
                </a:tc>
                <a:extLst>
                  <a:ext uri="{0D108BD9-81ED-4DB2-BD59-A6C34878D82A}">
                    <a16:rowId xmlns:a16="http://schemas.microsoft.com/office/drawing/2014/main" val="10002"/>
                  </a:ext>
                </a:extLst>
              </a:tr>
              <a:tr h="487500">
                <a:tc>
                  <a:txBody>
                    <a:bodyPr/>
                    <a:lstStyle/>
                    <a:p>
                      <a:pPr algn="ctr">
                        <a:defRPr sz="2000" b="0">
                          <a:solidFill>
                            <a:srgbClr val="151515"/>
                          </a:solidFill>
                          <a:latin typeface="Times New Roman"/>
                        </a:defRPr>
                      </a:pPr>
                      <a:r>
                        <a:t>26410146</a:t>
                      </a:r>
                    </a:p>
                  </a:txBody>
                  <a:tcPr>
                    <a:solidFill>
                      <a:srgbClr val="FFFFFF"/>
                    </a:solidFill>
                  </a:tcPr>
                </a:tc>
                <a:tc>
                  <a:txBody>
                    <a:bodyPr/>
                    <a:lstStyle/>
                    <a:p>
                      <a:pPr algn="l">
                        <a:defRPr sz="2000" b="0">
                          <a:solidFill>
                            <a:srgbClr val="151515"/>
                          </a:solidFill>
                          <a:latin typeface="Times New Roman"/>
                        </a:defRPr>
                      </a:pPr>
                      <a:r>
                        <a:t>Hoàng Võ Minh Tuấn</a:t>
                      </a:r>
                    </a:p>
                  </a:txBody>
                  <a:tcPr>
                    <a:solidFill>
                      <a:srgbClr val="FFFFFF"/>
                    </a:solidFill>
                  </a:tcPr>
                </a:tc>
                <a:extLst>
                  <a:ext uri="{0D108BD9-81ED-4DB2-BD59-A6C34878D82A}">
                    <a16:rowId xmlns:a16="http://schemas.microsoft.com/office/drawing/2014/main" val="10003"/>
                  </a:ext>
                </a:extLst>
              </a:tr>
              <a:tr h="487500">
                <a:tc>
                  <a:txBody>
                    <a:bodyPr/>
                    <a:lstStyle/>
                    <a:p>
                      <a:pPr algn="ctr">
                        <a:defRPr sz="2000" b="0">
                          <a:solidFill>
                            <a:srgbClr val="151515"/>
                          </a:solidFill>
                          <a:latin typeface="Times New Roman"/>
                        </a:defRPr>
                      </a:pPr>
                      <a:r>
                        <a:t>26410108</a:t>
                      </a:r>
                    </a:p>
                  </a:txBody>
                  <a:tcPr>
                    <a:solidFill>
                      <a:srgbClr val="E3F2FD"/>
                    </a:solidFill>
                  </a:tcPr>
                </a:tc>
                <a:tc>
                  <a:txBody>
                    <a:bodyPr/>
                    <a:lstStyle/>
                    <a:p>
                      <a:pPr algn="l">
                        <a:defRPr sz="2000" b="0">
                          <a:solidFill>
                            <a:srgbClr val="151515"/>
                          </a:solidFill>
                          <a:latin typeface="Times New Roman"/>
                        </a:defRPr>
                      </a:pPr>
                      <a:r>
                        <a:t>Bùi Quốc Thịnh</a:t>
                      </a:r>
                    </a:p>
                  </a:txBody>
                  <a:tcPr>
                    <a:solidFill>
                      <a:srgbClr val="E3F2FD"/>
                    </a:solidFill>
                  </a:tcPr>
                </a:tc>
                <a:extLst>
                  <a:ext uri="{0D108BD9-81ED-4DB2-BD59-A6C34878D82A}">
                    <a16:rowId xmlns:a16="http://schemas.microsoft.com/office/drawing/2014/main" val="10004"/>
                  </a:ext>
                </a:extLst>
              </a:tr>
              <a:tr h="487500">
                <a:tc>
                  <a:txBody>
                    <a:bodyPr/>
                    <a:lstStyle/>
                    <a:p>
                      <a:pPr algn="ctr">
                        <a:defRPr sz="2000" b="0">
                          <a:solidFill>
                            <a:srgbClr val="151515"/>
                          </a:solidFill>
                          <a:latin typeface="Times New Roman"/>
                        </a:defRPr>
                      </a:pPr>
                      <a:r>
                        <a:t>26410024</a:t>
                      </a:r>
                    </a:p>
                  </a:txBody>
                  <a:tcPr>
                    <a:solidFill>
                      <a:srgbClr val="FFFFFF"/>
                    </a:solidFill>
                  </a:tcPr>
                </a:tc>
                <a:tc>
                  <a:txBody>
                    <a:bodyPr/>
                    <a:lstStyle/>
                    <a:p>
                      <a:pPr algn="l">
                        <a:defRPr sz="2000" b="0">
                          <a:solidFill>
                            <a:srgbClr val="151515"/>
                          </a:solidFill>
                          <a:latin typeface="Times New Roman"/>
                        </a:defRPr>
                      </a:pPr>
                      <a:r>
                        <a:t>Trần Tiến Dũng</a:t>
                      </a:r>
                    </a:p>
                  </a:txBody>
                  <a:tcPr>
                    <a:solidFill>
                      <a:srgbClr val="FFFFFF"/>
                    </a:solidFill>
                  </a:tcPr>
                </a:tc>
                <a:extLst>
                  <a:ext uri="{0D108BD9-81ED-4DB2-BD59-A6C34878D82A}">
                    <a16:rowId xmlns:a16="http://schemas.microsoft.com/office/drawing/2014/main" val="10005"/>
                  </a:ext>
                </a:extLst>
              </a:tr>
              <a:tr h="487500">
                <a:tc>
                  <a:txBody>
                    <a:bodyPr/>
                    <a:lstStyle/>
                    <a:p>
                      <a:pPr algn="ctr">
                        <a:defRPr sz="2000" b="0">
                          <a:solidFill>
                            <a:srgbClr val="151515"/>
                          </a:solidFill>
                          <a:latin typeface="Times New Roman"/>
                        </a:defRPr>
                      </a:pPr>
                      <a:r>
                        <a:t>25730049</a:t>
                      </a:r>
                    </a:p>
                  </a:txBody>
                  <a:tcPr>
                    <a:solidFill>
                      <a:srgbClr val="E3F2FD"/>
                    </a:solidFill>
                  </a:tcPr>
                </a:tc>
                <a:tc>
                  <a:txBody>
                    <a:bodyPr/>
                    <a:lstStyle/>
                    <a:p>
                      <a:pPr algn="l">
                        <a:defRPr sz="2000" b="0">
                          <a:solidFill>
                            <a:srgbClr val="151515"/>
                          </a:solidFill>
                          <a:latin typeface="Times New Roman"/>
                        </a:defRPr>
                      </a:pPr>
                      <a:r>
                        <a:t>Phạm Lê Yến Nhi</a:t>
                      </a:r>
                    </a:p>
                  </a:txBody>
                  <a:tcPr>
                    <a:solidFill>
                      <a:srgbClr val="E3F2FD"/>
                    </a:solidFill>
                  </a:tcPr>
                </a:tc>
                <a:extLst>
                  <a:ext uri="{0D108BD9-81ED-4DB2-BD59-A6C34878D82A}">
                    <a16:rowId xmlns:a16="http://schemas.microsoft.com/office/drawing/2014/main" val="10006"/>
                  </a:ext>
                </a:extLst>
              </a:tr>
              <a:tr h="487500">
                <a:tc>
                  <a:txBody>
                    <a:bodyPr/>
                    <a:lstStyle/>
                    <a:p>
                      <a:pPr algn="ctr">
                        <a:defRPr sz="2000" b="0">
                          <a:solidFill>
                            <a:srgbClr val="151515"/>
                          </a:solidFill>
                          <a:latin typeface="Times New Roman"/>
                        </a:defRPr>
                      </a:pPr>
                      <a:r>
                        <a:t>26410019</a:t>
                      </a:r>
                    </a:p>
                  </a:txBody>
                  <a:tcPr>
                    <a:solidFill>
                      <a:srgbClr val="FFFFFF"/>
                    </a:solidFill>
                  </a:tcPr>
                </a:tc>
                <a:tc>
                  <a:txBody>
                    <a:bodyPr/>
                    <a:lstStyle/>
                    <a:p>
                      <a:pPr algn="l">
                        <a:defRPr sz="2000" b="0">
                          <a:solidFill>
                            <a:srgbClr val="151515"/>
                          </a:solidFill>
                          <a:latin typeface="Times New Roman"/>
                        </a:defRPr>
                      </a:pPr>
                      <a:r>
                        <a:t>Trương Võ Thành Đạt</a:t>
                      </a:r>
                    </a:p>
                  </a:txBody>
                  <a:tcPr>
                    <a:solidFill>
                      <a:srgbClr val="FFFFFF"/>
                    </a:solidFill>
                  </a:tcPr>
                </a:tc>
                <a:extLst>
                  <a:ext uri="{0D108BD9-81ED-4DB2-BD59-A6C34878D82A}">
                    <a16:rowId xmlns:a16="http://schemas.microsoft.com/office/drawing/2014/main" val="10007"/>
                  </a:ext>
                </a:extLst>
              </a:tr>
            </a:tbl>
          </a:graphicData>
        </a:graphic>
      </p:graphicFrame>
      <p:sp>
        <p:nvSpPr>
          <p:cNvPr id="4" name="TextBox 2">
            <a:extLst>
              <a:ext uri="{FF2B5EF4-FFF2-40B4-BE49-F238E27FC236}">
                <a16:creationId xmlns:a16="http://schemas.microsoft.com/office/drawing/2014/main" id="{105F0881-0CB6-91C1-4FDA-7FDA1F76E812}"/>
              </a:ext>
            </a:extLst>
          </p:cNvPr>
          <p:cNvSpPr>
            <a:spLocks noGrp="1"/>
          </p:cNvSpPr>
          <p:nvPr/>
        </p:nvSpPr>
        <p:spPr>
          <a:xfrm>
            <a:off x="8813131" y="11562162"/>
            <a:ext cx="15201900" cy="1714500"/>
          </a:xfrm>
          <a:prstGeom prst="rect">
            <a:avLst/>
          </a:prstGeom>
          <a:noFill/>
        </p:spPr>
        <p:txBody>
          <a:bodyPr wrap="square">
            <a:noAutofit/>
          </a:bodyPr>
          <a:lstStyle/>
          <a:p>
            <a:pPr algn="ctr"/>
            <a:r>
              <a:rPr sz="2000" b="0" i="1" dirty="0">
                <a:solidFill>
                  <a:srgbClr val="151515"/>
                </a:solidFill>
                <a:latin typeface="Times New Roman"/>
              </a:rPr>
              <a:t>⚠ Lưu ý </a:t>
            </a:r>
            <a:r>
              <a:rPr sz="2000" b="0" i="1" dirty="0" err="1">
                <a:solidFill>
                  <a:srgbClr val="151515"/>
                </a:solidFill>
                <a:latin typeface="Times New Roman"/>
              </a:rPr>
              <a:t>pháp</a:t>
            </a:r>
            <a:r>
              <a:rPr sz="2000" b="0" i="1" dirty="0">
                <a:solidFill>
                  <a:srgbClr val="151515"/>
                </a:solidFill>
                <a:latin typeface="Times New Roman"/>
              </a:rPr>
              <a:t> </a:t>
            </a:r>
            <a:r>
              <a:rPr sz="2000" b="0" i="1" dirty="0" err="1">
                <a:solidFill>
                  <a:srgbClr val="151515"/>
                </a:solidFill>
                <a:latin typeface="Times New Roman"/>
              </a:rPr>
              <a:t>lý</a:t>
            </a:r>
            <a:r>
              <a:rPr sz="2000" b="0" i="1" dirty="0">
                <a:solidFill>
                  <a:srgbClr val="151515"/>
                </a:solidFill>
                <a:latin typeface="Times New Roman"/>
              </a:rPr>
              <a:t>: </a:t>
            </a:r>
            <a:r>
              <a:rPr sz="2000" b="0" i="1" dirty="0" err="1">
                <a:solidFill>
                  <a:srgbClr val="151515"/>
                </a:solidFill>
                <a:latin typeface="Times New Roman"/>
              </a:rPr>
              <a:t>Dữ</a:t>
            </a:r>
            <a:r>
              <a:rPr sz="2000" b="0" i="1" dirty="0">
                <a:solidFill>
                  <a:srgbClr val="151515"/>
                </a:solidFill>
                <a:latin typeface="Times New Roman"/>
              </a:rPr>
              <a:t> </a:t>
            </a:r>
            <a:r>
              <a:rPr sz="2000" b="0" i="1" dirty="0" err="1">
                <a:solidFill>
                  <a:srgbClr val="151515"/>
                </a:solidFill>
                <a:latin typeface="Times New Roman"/>
              </a:rPr>
              <a:t>liệu</a:t>
            </a:r>
            <a:r>
              <a:rPr sz="2000" b="0" i="1" dirty="0">
                <a:solidFill>
                  <a:srgbClr val="151515"/>
                </a:solidFill>
                <a:latin typeface="Times New Roman"/>
              </a:rPr>
              <a:t> BTCUSD </a:t>
            </a:r>
            <a:r>
              <a:rPr sz="2000" b="0" i="1" dirty="0" err="1">
                <a:solidFill>
                  <a:srgbClr val="151515"/>
                </a:solidFill>
                <a:latin typeface="Times New Roman"/>
              </a:rPr>
              <a:t>chỉ</a:t>
            </a:r>
            <a:r>
              <a:rPr sz="2000" b="0" i="1" dirty="0">
                <a:solidFill>
                  <a:srgbClr val="151515"/>
                </a:solidFill>
                <a:latin typeface="Times New Roman"/>
              </a:rPr>
              <a:t> </a:t>
            </a:r>
            <a:r>
              <a:rPr sz="2000" b="0" i="1" dirty="0" err="1">
                <a:solidFill>
                  <a:srgbClr val="151515"/>
                </a:solidFill>
                <a:latin typeface="Times New Roman"/>
              </a:rPr>
              <a:t>dùng</a:t>
            </a:r>
            <a:r>
              <a:rPr sz="2000" b="0" i="1" dirty="0">
                <a:solidFill>
                  <a:srgbClr val="151515"/>
                </a:solidFill>
                <a:latin typeface="Times New Roman"/>
              </a:rPr>
              <a:t> </a:t>
            </a:r>
            <a:r>
              <a:rPr sz="2000" b="0" i="1" dirty="0" err="1">
                <a:solidFill>
                  <a:srgbClr val="151515"/>
                </a:solidFill>
                <a:latin typeface="Times New Roman"/>
              </a:rPr>
              <a:t>cho</a:t>
            </a:r>
            <a:r>
              <a:rPr sz="2000" b="0" i="1" dirty="0">
                <a:solidFill>
                  <a:srgbClr val="151515"/>
                </a:solidFill>
                <a:latin typeface="Times New Roman"/>
              </a:rPr>
              <a:t> </a:t>
            </a:r>
            <a:r>
              <a:rPr sz="2000" b="0" i="1" dirty="0" err="1">
                <a:solidFill>
                  <a:srgbClr val="151515"/>
                </a:solidFill>
                <a:latin typeface="Times New Roman"/>
              </a:rPr>
              <a:t>nghiên</a:t>
            </a:r>
            <a:r>
              <a:rPr sz="2000" b="0" i="1" dirty="0">
                <a:solidFill>
                  <a:srgbClr val="151515"/>
                </a:solidFill>
                <a:latin typeface="Times New Roman"/>
              </a:rPr>
              <a:t> </a:t>
            </a:r>
            <a:r>
              <a:rPr sz="2000" b="0" i="1" dirty="0" err="1">
                <a:solidFill>
                  <a:srgbClr val="151515"/>
                </a:solidFill>
                <a:latin typeface="Times New Roman"/>
              </a:rPr>
              <a:t>cứu</a:t>
            </a:r>
            <a:r>
              <a:rPr sz="2000" b="0" i="1" dirty="0">
                <a:solidFill>
                  <a:srgbClr val="151515"/>
                </a:solidFill>
                <a:latin typeface="Times New Roman"/>
              </a:rPr>
              <a:t> </a:t>
            </a:r>
            <a:r>
              <a:rPr sz="2000" b="0" i="1" dirty="0" err="1">
                <a:solidFill>
                  <a:srgbClr val="151515"/>
                </a:solidFill>
                <a:latin typeface="Times New Roman"/>
              </a:rPr>
              <a:t>học</a:t>
            </a:r>
            <a:r>
              <a:rPr sz="2000" b="0" i="1" dirty="0">
                <a:solidFill>
                  <a:srgbClr val="151515"/>
                </a:solidFill>
                <a:latin typeface="Times New Roman"/>
              </a:rPr>
              <a:t> </a:t>
            </a:r>
            <a:r>
              <a:rPr sz="2000" b="0" i="1" dirty="0" err="1">
                <a:solidFill>
                  <a:srgbClr val="151515"/>
                </a:solidFill>
                <a:latin typeface="Times New Roman"/>
              </a:rPr>
              <a:t>thuật</a:t>
            </a:r>
            <a:r>
              <a:rPr sz="2000" b="0" i="1" dirty="0">
                <a:solidFill>
                  <a:srgbClr val="151515"/>
                </a:solidFill>
                <a:latin typeface="Times New Roman"/>
              </a:rPr>
              <a:t> </a:t>
            </a:r>
            <a:r>
              <a:rPr sz="2000" b="0" i="1" dirty="0" err="1">
                <a:solidFill>
                  <a:srgbClr val="151515"/>
                </a:solidFill>
                <a:latin typeface="Times New Roman"/>
              </a:rPr>
              <a:t>về</a:t>
            </a:r>
            <a:r>
              <a:rPr sz="2000" b="0" i="1" dirty="0">
                <a:solidFill>
                  <a:srgbClr val="151515"/>
                </a:solidFill>
                <a:latin typeface="Times New Roman"/>
              </a:rPr>
              <a:t> </a:t>
            </a:r>
            <a:r>
              <a:rPr lang="en-US" sz="2000" i="1" dirty="0">
                <a:solidFill>
                  <a:srgbClr val="151515"/>
                </a:solidFill>
                <a:latin typeface="Times New Roman"/>
              </a:rPr>
              <a:t>Trí </a:t>
            </a:r>
            <a:r>
              <a:rPr lang="en-US" sz="2000" i="1" dirty="0" err="1">
                <a:solidFill>
                  <a:srgbClr val="151515"/>
                </a:solidFill>
                <a:latin typeface="Times New Roman"/>
              </a:rPr>
              <a:t>tuệ</a:t>
            </a:r>
            <a:r>
              <a:rPr lang="en-US" sz="2000" i="1" dirty="0">
                <a:solidFill>
                  <a:srgbClr val="151515"/>
                </a:solidFill>
                <a:latin typeface="Times New Roman"/>
              </a:rPr>
              <a:t> </a:t>
            </a:r>
            <a:r>
              <a:rPr lang="en-US" sz="2000" i="1" dirty="0" err="1">
                <a:solidFill>
                  <a:srgbClr val="151515"/>
                </a:solidFill>
                <a:latin typeface="Times New Roman"/>
              </a:rPr>
              <a:t>nhân</a:t>
            </a:r>
            <a:r>
              <a:rPr lang="en-US" sz="2000" i="1" dirty="0">
                <a:solidFill>
                  <a:srgbClr val="151515"/>
                </a:solidFill>
                <a:latin typeface="Times New Roman"/>
              </a:rPr>
              <a:t> </a:t>
            </a:r>
            <a:r>
              <a:rPr lang="en-US" sz="2000" i="1" dirty="0" err="1">
                <a:solidFill>
                  <a:srgbClr val="151515"/>
                </a:solidFill>
                <a:latin typeface="Times New Roman"/>
              </a:rPr>
              <a:t>tạo</a:t>
            </a:r>
            <a:r>
              <a:rPr lang="en-US" sz="2000" i="1" dirty="0">
                <a:solidFill>
                  <a:srgbClr val="151515"/>
                </a:solidFill>
                <a:latin typeface="Times New Roman"/>
              </a:rPr>
              <a:t>. </a:t>
            </a:r>
            <a:endParaRPr sz="2000" b="0" i="1" dirty="0">
              <a:solidFill>
                <a:srgbClr val="151515"/>
              </a:solidFill>
              <a:latin typeface="Times New Roman"/>
            </a:endParaRPr>
          </a:p>
        </p:txBody>
      </p:sp>
    </p:spTree>
    <p:extLst>
      <p:ext uri="{BB962C8B-B14F-4D97-AF65-F5344CB8AC3E}">
        <p14:creationId xmlns:p14="http://schemas.microsoft.com/office/powerpoint/2010/main" val="4272309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7555CB3-3E49-4EE0-8B0A-575E2FD52BEE}"/>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9F645BE8-41E6-479D-BA44-5832D7E67A74}"/>
              </a:ext>
            </a:extLst>
          </p:cNvPr>
          <p:cNvSpPr>
            <a:spLocks noGrp="1"/>
          </p:cNvSpPr>
          <p:nvPr/>
        </p:nvSpPr>
        <p:spPr>
          <a:xfrm>
            <a:off x="169259"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2E3618FA-6D56-41B9-A8E0-7856F1724C26}"/>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4AD7AC22-316E-48CA-AA55-367E08BE2B3E}"/>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14BA2610-1115-4CA6-BD1B-FF51A4B263BD}"/>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923286B5-DEBE-444F-B17B-4C548851D401}"/>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F94C6CC1-9F2D-4486-92BD-054AEC702F00}"/>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47E876E-2426-4632-9533-FCC92C295F17}"/>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13E04589-C647-43DE-8FF2-A88D0F6A49AD}"/>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FF0D4B7A-58B4-49B2-B494-0B1091E62AC5}"/>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5FF6001E-A006-4E1C-81C8-FA91EDE6E4D1}"/>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DAA9B598-B39D-4C0E-BAD1-1B0EF639D0AF}"/>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84EF626A-F04D-4DBE-8315-0481A62E4A27}"/>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EABFF60E-09E0-4F5A-A0C1-C7A6C0FBB7FA}"/>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CC4913BA-3DDD-481C-9E01-35A47574D0BE}"/>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C9DD04B0-49FD-4B53-ACF1-44CA3C16174B}"/>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Bài toán cần giải quyết và bối cảnh nghiên cứu</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B76ECA16-B719-4728-A333-5119E70FC585}"/>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31288B66-0BC2-4C81-8087-8AE4C8BCE6B9}"/>
              </a:ext>
            </a:extLst>
          </p:cNvPr>
          <p:cNvSpPr>
            <a:spLocks noGrp="1"/>
          </p:cNvSpPr>
          <p:nvPr/>
        </p:nvSpPr>
        <p:spPr>
          <a:xfrm>
            <a:off x="1016000" y="1947291"/>
            <a:ext cx="9482709" cy="508000"/>
          </a:xfrm>
          <a:prstGeom prst="rect">
            <a:avLst/>
          </a:prstGeom>
          <a:solidFill>
            <a:srgbClr val="FFFFFF">
              <a:alpha val="0"/>
            </a:srgbClr>
          </a:solidFill>
        </p:spPr>
        <p:txBody>
          <a:bodyPr/>
          <a:lstStyle/>
          <a:p>
            <a:endParaRPr/>
          </a:p>
        </p:txBody>
      </p:sp>
      <p:sp>
        <p:nvSpPr>
          <p:cNvPr id="20" name="Text 18">
            <a:extLst>
              <a:ext uri="{FF2B5EF4-FFF2-40B4-BE49-F238E27FC236}">
                <a16:creationId xmlns:a16="http://schemas.microsoft.com/office/drawing/2014/main" id="{26D670CE-E378-4855-BB38-BCE220AB2A40}"/>
              </a:ext>
            </a:extLst>
          </p:cNvPr>
          <p:cNvSpPr>
            <a:spLocks noGrp="1"/>
          </p:cNvSpPr>
          <p:nvPr/>
        </p:nvSpPr>
        <p:spPr>
          <a:xfrm>
            <a:off x="894080" y="1886331"/>
            <a:ext cx="9726549" cy="629920"/>
          </a:xfrm>
          <a:prstGeom prst="rect">
            <a:avLst/>
          </a:prstGeom>
          <a:noFill/>
        </p:spPr>
        <p:txBody>
          <a:bodyPr wrap="square" lIns="0" tIns="0" rIns="0" bIns="0" anchor="ctr">
            <a:noAutofit/>
          </a:bodyPr>
          <a:lstStyle/>
          <a:p>
            <a:pPr algn="l">
              <a:lnSpc>
                <a:spcPct val="100000"/>
              </a:lnSpc>
              <a:buNone/>
              <a:defRPr sz="3150" b="1">
                <a:solidFill>
                  <a:srgbClr val="1565C0"/>
                </a:solidFill>
                <a:latin typeface="Times New Roman"/>
                <a:ea typeface="Times New Roman"/>
                <a:cs typeface="Times New Roman"/>
              </a:defRPr>
            </a:pPr>
            <a:r>
              <a:rPr sz="3200" b="1" i="0">
                <a:solidFill>
                  <a:srgbClr val="1565C0"/>
                </a:solidFill>
                <a:latin typeface="Times New Roman"/>
              </a:rPr>
              <a:t>Vấn đề đời thực (Cơ chế 2 tầng)</a:t>
            </a:r>
            <a:endParaRPr sz="1600">
              <a:latin typeface="Times New Roman"/>
              <a:ea typeface="Times New Roman"/>
              <a:cs typeface="Times New Roman"/>
            </a:endParaRPr>
          </a:p>
        </p:txBody>
      </p:sp>
      <p:sp>
        <p:nvSpPr>
          <p:cNvPr id="21" name="Shape 19">
            <a:extLst>
              <a:ext uri="{FF2B5EF4-FFF2-40B4-BE49-F238E27FC236}">
                <a16:creationId xmlns:a16="http://schemas.microsoft.com/office/drawing/2014/main" id="{8C624ECF-007C-499F-9F46-FDEEBAA96BBD}"/>
              </a:ext>
            </a:extLst>
          </p:cNvPr>
          <p:cNvSpPr>
            <a:spLocks noGrp="1"/>
          </p:cNvSpPr>
          <p:nvPr/>
        </p:nvSpPr>
        <p:spPr>
          <a:xfrm>
            <a:off x="11176000" y="1947291"/>
            <a:ext cx="9482709" cy="508000"/>
          </a:xfrm>
          <a:prstGeom prst="rect">
            <a:avLst/>
          </a:prstGeom>
          <a:solidFill>
            <a:srgbClr val="FFFFFF">
              <a:alpha val="0"/>
            </a:srgbClr>
          </a:solidFill>
        </p:spPr>
        <p:txBody>
          <a:bodyPr/>
          <a:lstStyle/>
          <a:p>
            <a:endParaRPr/>
          </a:p>
        </p:txBody>
      </p:sp>
      <p:sp>
        <p:nvSpPr>
          <p:cNvPr id="22" name="Text 20">
            <a:extLst>
              <a:ext uri="{FF2B5EF4-FFF2-40B4-BE49-F238E27FC236}">
                <a16:creationId xmlns:a16="http://schemas.microsoft.com/office/drawing/2014/main" id="{DA1D75E7-5F73-48DF-8D73-E668483BCD60}"/>
              </a:ext>
            </a:extLst>
          </p:cNvPr>
          <p:cNvSpPr>
            <a:spLocks noGrp="1"/>
          </p:cNvSpPr>
          <p:nvPr/>
        </p:nvSpPr>
        <p:spPr>
          <a:xfrm>
            <a:off x="11054080" y="1886331"/>
            <a:ext cx="9726549" cy="629920"/>
          </a:xfrm>
          <a:prstGeom prst="rect">
            <a:avLst/>
          </a:prstGeom>
          <a:noFill/>
        </p:spPr>
        <p:txBody>
          <a:bodyPr wrap="square" lIns="0" tIns="0" rIns="0" bIns="0" anchor="ctr">
            <a:noAutofit/>
          </a:bodyPr>
          <a:lstStyle/>
          <a:p>
            <a:pPr algn="l">
              <a:lnSpc>
                <a:spcPct val="100000"/>
              </a:lnSpc>
              <a:buNone/>
              <a:defRPr sz="3150" b="1">
                <a:solidFill>
                  <a:srgbClr val="2E7D32"/>
                </a:solidFill>
                <a:latin typeface="Times New Roman"/>
                <a:ea typeface="Times New Roman"/>
                <a:cs typeface="Times New Roman"/>
              </a:defRPr>
            </a:pPr>
            <a:r>
              <a:rPr sz="3200" b="1" i="0">
                <a:solidFill>
                  <a:srgbClr val="2E7D32"/>
                </a:solidFill>
                <a:latin typeface="Times New Roman"/>
              </a:rPr>
              <a:t>Dẫn chứng bài này &amp; Lý do chọn BTC</a:t>
            </a:r>
            <a:endParaRPr sz="1600">
              <a:latin typeface="Times New Roman"/>
              <a:ea typeface="Times New Roman"/>
              <a:cs typeface="Times New Roman"/>
            </a:endParaRPr>
          </a:p>
        </p:txBody>
      </p:sp>
      <p:sp>
        <p:nvSpPr>
          <p:cNvPr id="23" name="Shape 21">
            <a:extLst>
              <a:ext uri="{FF2B5EF4-FFF2-40B4-BE49-F238E27FC236}">
                <a16:creationId xmlns:a16="http://schemas.microsoft.com/office/drawing/2014/main" id="{B0365600-D17B-482F-B1BD-7F7CE0F8B3C1}"/>
              </a:ext>
            </a:extLst>
          </p:cNvPr>
          <p:cNvSpPr>
            <a:spLocks noGrp="1"/>
          </p:cNvSpPr>
          <p:nvPr/>
        </p:nvSpPr>
        <p:spPr>
          <a:xfrm>
            <a:off x="1016000" y="6773291"/>
            <a:ext cx="19642709" cy="1693291"/>
          </a:xfrm>
          <a:prstGeom prst="roundRect">
            <a:avLst>
              <a:gd name="adj" fmla="val 8000"/>
            </a:avLst>
          </a:prstGeom>
          <a:solidFill>
            <a:srgbClr val="E3F2FD"/>
          </a:solidFill>
          <a:ln w="12700">
            <a:solidFill>
              <a:srgbClr val="BBDEFB"/>
            </a:solidFill>
            <a:prstDash val="solid"/>
          </a:ln>
        </p:spPr>
        <p:txBody>
          <a:bodyPr/>
          <a:lstStyle/>
          <a:p>
            <a:endParaRPr/>
          </a:p>
        </p:txBody>
      </p:sp>
      <p:sp>
        <p:nvSpPr>
          <p:cNvPr id="24" name="Shape 22">
            <a:extLst>
              <a:ext uri="{FF2B5EF4-FFF2-40B4-BE49-F238E27FC236}">
                <a16:creationId xmlns:a16="http://schemas.microsoft.com/office/drawing/2014/main" id="{3CDC7DD6-0F0C-42C0-B120-267F8D41476E}"/>
              </a:ext>
            </a:extLst>
          </p:cNvPr>
          <p:cNvSpPr>
            <a:spLocks noGrp="1"/>
          </p:cNvSpPr>
          <p:nvPr/>
        </p:nvSpPr>
        <p:spPr>
          <a:xfrm>
            <a:off x="1354709" y="6908800"/>
            <a:ext cx="5080000" cy="406400"/>
          </a:xfrm>
          <a:prstGeom prst="rect">
            <a:avLst/>
          </a:prstGeom>
          <a:solidFill>
            <a:srgbClr val="FFFFFF">
              <a:alpha val="0"/>
            </a:srgbClr>
          </a:solidFill>
        </p:spPr>
        <p:txBody>
          <a:bodyPr/>
          <a:lstStyle/>
          <a:p>
            <a:endParaRPr/>
          </a:p>
        </p:txBody>
      </p:sp>
      <p:sp>
        <p:nvSpPr>
          <p:cNvPr id="25" name="Text 23">
            <a:extLst>
              <a:ext uri="{FF2B5EF4-FFF2-40B4-BE49-F238E27FC236}">
                <a16:creationId xmlns:a16="http://schemas.microsoft.com/office/drawing/2014/main" id="{D27971DA-0475-430C-B0BD-A84890507D91}"/>
              </a:ext>
            </a:extLst>
          </p:cNvPr>
          <p:cNvSpPr>
            <a:spLocks noGrp="1"/>
          </p:cNvSpPr>
          <p:nvPr/>
        </p:nvSpPr>
        <p:spPr>
          <a:xfrm>
            <a:off x="1232789" y="6847840"/>
            <a:ext cx="5323840" cy="528320"/>
          </a:xfrm>
          <a:prstGeom prst="rect">
            <a:avLst/>
          </a:prstGeom>
          <a:noFill/>
        </p:spPr>
        <p:txBody>
          <a:bodyPr wrap="square" lIns="0" tIns="0" rIns="0" bIns="0" anchor="ctr">
            <a:noAutofit/>
          </a:bodyPr>
          <a:lstStyle/>
          <a:p>
            <a:pPr algn="l">
              <a:lnSpc>
                <a:spcPct val="100000"/>
              </a:lnSpc>
              <a:buNone/>
              <a:defRPr sz="2400" b="1">
                <a:solidFill>
                  <a:srgbClr val="1565C0"/>
                </a:solidFill>
                <a:latin typeface="Times New Roman"/>
                <a:ea typeface="Times New Roman"/>
                <a:cs typeface="Times New Roman"/>
              </a:defRPr>
            </a:pPr>
            <a:r>
              <a:rPr sz="2600" b="1" i="0">
                <a:solidFill>
                  <a:srgbClr val="1565C0"/>
                </a:solidFill>
                <a:latin typeface="Times New Roman"/>
              </a:rPr>
              <a:t>Bản chất khoa học:</a:t>
            </a:r>
            <a:endParaRPr sz="1600">
              <a:latin typeface="Times New Roman"/>
              <a:ea typeface="Times New Roman"/>
              <a:cs typeface="Times New Roman"/>
            </a:endParaRPr>
          </a:p>
        </p:txBody>
      </p:sp>
      <p:sp>
        <p:nvSpPr>
          <p:cNvPr id="26" name="Shape 24">
            <a:extLst>
              <a:ext uri="{FF2B5EF4-FFF2-40B4-BE49-F238E27FC236}">
                <a16:creationId xmlns:a16="http://schemas.microsoft.com/office/drawing/2014/main" id="{284AE89F-2AAA-4DCB-84BE-740CC8DD8F3E}"/>
              </a:ext>
            </a:extLst>
          </p:cNvPr>
          <p:cNvSpPr>
            <a:spLocks noGrp="1"/>
          </p:cNvSpPr>
          <p:nvPr/>
        </p:nvSpPr>
        <p:spPr>
          <a:xfrm>
            <a:off x="1016000" y="8805291"/>
            <a:ext cx="19642709" cy="2032000"/>
          </a:xfrm>
          <a:prstGeom prst="roundRect">
            <a:avLst>
              <a:gd name="adj" fmla="val 8000"/>
            </a:avLst>
          </a:prstGeom>
          <a:solidFill>
            <a:srgbClr val="FFF3E0"/>
          </a:solidFill>
          <a:ln w="12700">
            <a:solidFill>
              <a:srgbClr val="FFE0B2"/>
            </a:solidFill>
            <a:prstDash val="solid"/>
          </a:ln>
        </p:spPr>
        <p:txBody>
          <a:bodyPr/>
          <a:lstStyle/>
          <a:p>
            <a:endParaRPr/>
          </a:p>
        </p:txBody>
      </p:sp>
      <p:sp>
        <p:nvSpPr>
          <p:cNvPr id="27" name="Shape 25">
            <a:extLst>
              <a:ext uri="{FF2B5EF4-FFF2-40B4-BE49-F238E27FC236}">
                <a16:creationId xmlns:a16="http://schemas.microsoft.com/office/drawing/2014/main" id="{AB08A138-3606-4A56-8D70-88AC98E77C00}"/>
              </a:ext>
            </a:extLst>
          </p:cNvPr>
          <p:cNvSpPr>
            <a:spLocks noGrp="1"/>
          </p:cNvSpPr>
          <p:nvPr/>
        </p:nvSpPr>
        <p:spPr>
          <a:xfrm>
            <a:off x="1354709" y="8974709"/>
            <a:ext cx="18965291" cy="1693291"/>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CB6F828C-C131-45E9-B9DF-317046BFC39B}"/>
              </a:ext>
            </a:extLst>
          </p:cNvPr>
          <p:cNvSpPr>
            <a:spLocks noGrp="1"/>
          </p:cNvSpPr>
          <p:nvPr/>
        </p:nvSpPr>
        <p:spPr>
          <a:xfrm>
            <a:off x="1232789" y="8913749"/>
            <a:ext cx="19209131" cy="1815211"/>
          </a:xfrm>
          <a:prstGeom prst="rect">
            <a:avLst/>
          </a:prstGeom>
          <a:noFill/>
        </p:spPr>
        <p:txBody>
          <a:bodyPr wrap="square" lIns="0" tIns="0" rIns="0" bIns="0" anchor="t">
            <a:noAutofit/>
          </a:bodyPr>
          <a:lstStyle/>
          <a:p>
            <a:pPr algn="l">
              <a:lnSpc>
                <a:spcPct val="150000"/>
              </a:lnSpc>
              <a:buNone/>
              <a:defRPr sz="2850" b="0">
                <a:solidFill>
                  <a:srgbClr val="151515"/>
                </a:solidFill>
                <a:latin typeface="Times New Roman"/>
                <a:ea typeface="Times New Roman"/>
                <a:cs typeface="Times New Roman"/>
              </a:defRPr>
            </a:pPr>
            <a:r>
              <a:rPr sz="2600" b="0" i="0">
                <a:solidFill>
                  <a:srgbClr val="151515"/>
                </a:solidFill>
                <a:latin typeface="Times New Roman"/>
              </a:rPr>
              <a:t>Cách tiếp cận: Gán nhãn Triple-Barrier, huấn luyện CatBoost Meta-Model, đối soát 4 phương pháp chia tập dữ liệu để chỉ rõ hậu quả nghiêm trọng của rò rỉ dữ liệu.</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D6D7A96F-11CC-4BEB-A5BF-68E5BFBFAC8A}"/>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30" name="Text 28">
            <a:extLst>
              <a:ext uri="{FF2B5EF4-FFF2-40B4-BE49-F238E27FC236}">
                <a16:creationId xmlns:a16="http://schemas.microsoft.com/office/drawing/2014/main" id="{2638C63A-B3A2-4F02-B3C5-020810682E85}"/>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2/18</a:t>
            </a:r>
            <a:endParaRPr sz="1600">
              <a:latin typeface="Times New Roman"/>
              <a:ea typeface="Times New Roman"/>
              <a:cs typeface="Times New Roman"/>
            </a:endParaRPr>
          </a:p>
        </p:txBody>
      </p:sp>
      <p:sp>
        <p:nvSpPr>
          <p:cNvPr id="35" name="Text 11">
            <a:extLst>
              <a:ext uri="{FF2B5EF4-FFF2-40B4-BE49-F238E27FC236}">
                <a16:creationId xmlns:a16="http://schemas.microsoft.com/office/drawing/2014/main" id="{39B27A42-EA18-1226-1C3D-6738747F5724}"/>
              </a:ext>
            </a:extLst>
          </p:cNvPr>
          <p:cNvSpPr>
            <a:spLocks noGrp="1"/>
          </p:cNvSpPr>
          <p:nvPr/>
        </p:nvSpPr>
        <p:spPr>
          <a:xfrm>
            <a:off x="1354709" y="2514600"/>
            <a:ext cx="7803546" cy="3686556"/>
          </a:xfrm>
          <a:prstGeom prst="rect">
            <a:avLst/>
          </a:prstGeom>
          <a:noFill/>
        </p:spPr>
        <p:txBody>
          <a:bodyPr wrap="square" lIns="0" tIns="0" rIns="0" bIns="0" anchor="t">
            <a:noAutofit/>
          </a:bodyPr>
          <a:lstStyle/>
          <a:p>
            <a:pPr algn="l">
              <a:lnSpc>
                <a:spcPct val="160000"/>
              </a:lnSpc>
              <a:buNone/>
              <a:defRPr sz="2925" b="0">
                <a:solidFill>
                  <a:srgbClr val="151515"/>
                </a:solidFill>
                <a:latin typeface="Times New Roman"/>
                <a:ea typeface="Times New Roman"/>
                <a:cs typeface="Times New Roman"/>
              </a:defRPr>
            </a:pPr>
            <a:r>
              <a:rPr sz="1900" b="0" i="0">
                <a:solidFill>
                  <a:srgbClr val="151515"/>
                </a:solidFill>
                <a:latin typeface="Times New Roman"/>
              </a:rPr>
              <a:t>• Y tế (Sàng lọc &amp; Hội chẩn): Bác sĩ nghi ngờ khối u → Không mổ ngay, cần sinh thiết / hội chẩn chuyên sâu để tránh mổ nhầm người khỏe.</a:t>
            </a:r>
            <a:endParaRPr sz="2400">
              <a:latin typeface="Times New Roman"/>
              <a:ea typeface="Times New Roman"/>
              <a:cs typeface="Times New Roman"/>
            </a:endParaRPr>
          </a:p>
          <a:p>
            <a:pPr algn="l"/>
            <a:endParaRPr sz="2400">
              <a:latin typeface="Times New Roman"/>
              <a:ea typeface="Times New Roman"/>
              <a:cs typeface="Times New Roman"/>
            </a:endParaRPr>
          </a:p>
          <a:p>
            <a:pPr algn="l"/>
            <a:r>
              <a:rPr sz="1900" b="0" i="0">
                <a:solidFill>
                  <a:srgbClr val="151515"/>
                </a:solidFill>
                <a:latin typeface="Times New Roman"/>
              </a:rPr>
              <a:t>• Lưới điện &amp; An ninh: Cảm biến báo quá tải hoặc xâm nhập → Cần AI thẩm định bối cảnh để lọc bỏ cảnh báo giả trước khi ngắt điện / khóa IP.</a:t>
            </a:r>
          </a:p>
          <a:p>
            <a:pPr algn="l"/>
            <a:endParaRPr sz="1900" b="0" i="0">
              <a:solidFill>
                <a:srgbClr val="151515"/>
              </a:solidFill>
              <a:latin typeface="Times New Roman"/>
            </a:endParaRPr>
          </a:p>
          <a:p>
            <a:pPr algn="l"/>
            <a:r>
              <a:rPr sz="1900" b="0" i="0">
                <a:solidFill>
                  <a:srgbClr val="151515"/>
                </a:solidFill>
                <a:latin typeface="Times New Roman"/>
              </a:rPr>
              <a:t>• Nguyên lý chung: Tín hiệu sơ cấp luôn đầy nhiễu; các quyết định quan trọng luôn cần 2 tầng: Cảnh báo (Tầng 1) và Thẩm định rủi ro (Tầng 2).</a:t>
            </a:r>
          </a:p>
        </p:txBody>
      </p:sp>
      <p:sp>
        <p:nvSpPr>
          <p:cNvPr id="36" name="Text 13">
            <a:extLst>
              <a:ext uri="{FF2B5EF4-FFF2-40B4-BE49-F238E27FC236}">
                <a16:creationId xmlns:a16="http://schemas.microsoft.com/office/drawing/2014/main" id="{7087CF75-6766-10B8-85A7-F3CE2E81A5FD}"/>
              </a:ext>
            </a:extLst>
          </p:cNvPr>
          <p:cNvSpPr>
            <a:spLocks noGrp="1"/>
          </p:cNvSpPr>
          <p:nvPr/>
        </p:nvSpPr>
        <p:spPr>
          <a:xfrm>
            <a:off x="11054079" y="2514600"/>
            <a:ext cx="7803547" cy="3408681"/>
          </a:xfrm>
          <a:prstGeom prst="rect">
            <a:avLst/>
          </a:prstGeom>
          <a:noFill/>
        </p:spPr>
        <p:txBody>
          <a:bodyPr wrap="square" lIns="0" tIns="0" rIns="0" bIns="0" anchor="t">
            <a:noAutofit/>
          </a:bodyPr>
          <a:lstStyle/>
          <a:p>
            <a:pPr algn="l">
              <a:lnSpc>
                <a:spcPct val="160000"/>
              </a:lnSpc>
              <a:buNone/>
              <a:defRPr sz="2925" b="0">
                <a:solidFill>
                  <a:srgbClr val="151515"/>
                </a:solidFill>
                <a:latin typeface="Times New Roman"/>
                <a:ea typeface="Times New Roman"/>
                <a:cs typeface="Times New Roman"/>
              </a:defRPr>
            </a:pPr>
            <a:r>
              <a:rPr sz="1900" b="0" i="0">
                <a:solidFill>
                  <a:srgbClr val="151515"/>
                </a:solidFill>
                <a:latin typeface="Times New Roman"/>
              </a:rPr>
              <a:t>• Tương đồng cấu trúc: Tầng 1 (kỹ thuật) tìm điểm vào lệnh → Tầng 2 (CatBoost Meta-Model) đánh giá xác suất thắng để lọc bỏ 68% lệnh thua.</a:t>
            </a:r>
            <a:endParaRPr sz="2400">
              <a:latin typeface="Times New Roman"/>
              <a:ea typeface="Times New Roman"/>
              <a:cs typeface="Times New Roman"/>
            </a:endParaRPr>
          </a:p>
          <a:p>
            <a:pPr algn="l"/>
            <a:endParaRPr sz="2400">
              <a:latin typeface="Times New Roman"/>
              <a:ea typeface="Times New Roman"/>
              <a:cs typeface="Times New Roman"/>
            </a:endParaRPr>
          </a:p>
          <a:p>
            <a:pPr algn="l"/>
            <a:r>
              <a:rPr sz="1900" b="0" i="0">
                <a:solidFill>
                  <a:srgbClr val="151515"/>
                </a:solidFill>
                <a:latin typeface="Times New Roman"/>
              </a:rPr>
              <a:t>• Stress-test khắc nghiệt nhất: BTC giao dịch 24/7 toàn cầu với độ nhiễu và biến động cực đoan. Nếu mô hình kiểm soát rủi ro vững vàng trên BTC, nó hoàn toàn có thể thích ứng với các chuỗi thời gian thực tế khác.</a:t>
            </a:r>
          </a:p>
          <a:p>
            <a:pPr algn="l"/>
            <a:endParaRPr sz="1900" b="0" i="0">
              <a:solidFill>
                <a:srgbClr val="151515"/>
              </a:solidFill>
              <a:latin typeface="Times New Roman"/>
            </a:endParaRPr>
          </a:p>
          <a:p>
            <a:pPr algn="l"/>
            <a:r>
              <a:rPr sz="1900" b="0" i="0">
                <a:solidFill>
                  <a:srgbClr val="151515"/>
                </a:solidFill>
                <a:latin typeface="Times New Roman"/>
              </a:rPr>
              <a:t>• Dữ liệu chuẩn hóa &amp; minh bạch: Hơn 30.000 nến M15 (2018–2024) chất lượng cao, không khuyết thiếu, là phòng thí nghiệm dữ liệu lý tưởng.</a:t>
            </a:r>
          </a:p>
        </p:txBody>
      </p:sp>
      <p:sp>
        <p:nvSpPr>
          <p:cNvPr id="38" name="Text 16">
            <a:extLst>
              <a:ext uri="{FF2B5EF4-FFF2-40B4-BE49-F238E27FC236}">
                <a16:creationId xmlns:a16="http://schemas.microsoft.com/office/drawing/2014/main" id="{316A32BF-41A2-8FE0-871F-125A08FEEEED}"/>
              </a:ext>
            </a:extLst>
          </p:cNvPr>
          <p:cNvSpPr>
            <a:spLocks noGrp="1"/>
          </p:cNvSpPr>
          <p:nvPr/>
        </p:nvSpPr>
        <p:spPr>
          <a:xfrm>
            <a:off x="2949731" y="7484618"/>
            <a:ext cx="14224000" cy="635000"/>
          </a:xfrm>
          <a:prstGeom prst="rect">
            <a:avLst/>
          </a:prstGeom>
          <a:noFill/>
        </p:spPr>
        <p:txBody>
          <a:bodyPr wrap="square" lIns="0" tIns="0" rIns="0" bIns="0" anchor="ctr">
            <a:noAutofit/>
          </a:bodyPr>
          <a:lstStyle/>
          <a:p>
            <a:pPr algn="l">
              <a:lnSpc>
                <a:spcPct val="100000"/>
              </a:lnSpc>
              <a:buNone/>
              <a:defRPr sz="3075" b="0">
                <a:solidFill>
                  <a:srgbClr val="151515"/>
                </a:solidFill>
                <a:latin typeface="Times New Roman"/>
                <a:ea typeface="Times New Roman"/>
                <a:cs typeface="Times New Roman"/>
              </a:defRPr>
            </a:pPr>
            <a:r>
              <a:rPr sz="2600" b="0" i="0">
                <a:solidFill>
                  <a:srgbClr val="151515"/>
                </a:solidFill>
                <a:latin typeface="Times New Roman"/>
              </a:rPr>
              <a:t>Nghiên cứu kiến trúc Học Máy phân tầng và giải quyết triệt để vấn đề rò rỉ dữ liệu (Data Leakage) trên chuỗi thời gian. Dữ liệu BTC đóng vai trò môi trường kiểm thử độ bền (Stress-test), không phục vụ đầu cơ tài chính.</a:t>
            </a:r>
            <a:endParaRPr sz="2800">
              <a:latin typeface="Times New Roman"/>
              <a:ea typeface="Times New Roman"/>
              <a:cs typeface="Times New Roman"/>
            </a:endParaRPr>
          </a:p>
        </p:txBody>
      </p:sp>
    </p:spTree>
    <p:extLst>
      <p:ext uri="{BB962C8B-B14F-4D97-AF65-F5344CB8AC3E}">
        <p14:creationId xmlns:p14="http://schemas.microsoft.com/office/powerpoint/2010/main" val="61236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AEFEDE-7C8E-4D58-9561-28F2DF4D6DB5}"/>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CA5BA417-3521-41A5-B1D4-1E0BB1AD3D9F}"/>
              </a:ext>
            </a:extLst>
          </p:cNvPr>
          <p:cNvSpPr>
            <a:spLocks noGrp="1"/>
          </p:cNvSpPr>
          <p:nvPr/>
        </p:nvSpPr>
        <p:spPr>
          <a:xfrm>
            <a:off x="169259"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5DD6B52D-B692-4BE1-9E3E-DCC7AA5AA887}"/>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B4EB24AA-4571-484D-B684-1406B48BAEBC}"/>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C5361BC9-E9B0-44E1-A142-18BBBB1CE27B}"/>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D14D32DD-5FAF-40D4-B00B-2836130FDCF5}"/>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06681170-3BA5-45DF-AD2A-B342F5153E56}"/>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93821B4F-7F73-470A-8872-CE0784AC7868}"/>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3F1937EB-57F3-46D8-BA70-C774FC3C83BD}"/>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25FFE190-DD7D-4AE1-8FA3-E78120768606}"/>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5FAA9D72-EB59-4381-ADB4-E7F9A06E0FD2}"/>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79CE7C0D-161C-4593-B611-AFB511094E4D}"/>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295E6900-EA49-4677-9327-D039349608CE}"/>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AB31B90A-08BA-4DBB-BF61-0F5734673F20}"/>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91CB0492-3E82-4194-BC51-2B23F48CA76B}"/>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27A6396C-77AA-4D00-99DF-DF07AE1231B8}"/>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Phương pháp gán nhãn Triple-Barrier (Marcos López de Prado)</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F7F0D490-F387-4F45-82C6-210E9FDA1E91}"/>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6ED4E66E-1993-4B18-ABBF-FA850B7BADE1}"/>
              </a:ext>
            </a:extLst>
          </p:cNvPr>
          <p:cNvSpPr>
            <a:spLocks noGrp="1"/>
          </p:cNvSpPr>
          <p:nvPr/>
        </p:nvSpPr>
        <p:spPr>
          <a:xfrm>
            <a:off x="1016000" y="2032000"/>
            <a:ext cx="6265291" cy="4233291"/>
          </a:xfrm>
          <a:prstGeom prst="roundRect">
            <a:avLst>
              <a:gd name="adj" fmla="val 8000"/>
            </a:avLst>
          </a:prstGeom>
          <a:solidFill>
            <a:srgbClr val="E3F2FD"/>
          </a:solidFill>
          <a:ln w="12700">
            <a:solidFill>
              <a:srgbClr val="BBDEFB"/>
            </a:solidFill>
            <a:prstDash val="solid"/>
          </a:ln>
        </p:spPr>
        <p:txBody>
          <a:bodyPr/>
          <a:lstStyle/>
          <a:p>
            <a:endParaRPr/>
          </a:p>
        </p:txBody>
      </p:sp>
      <p:sp>
        <p:nvSpPr>
          <p:cNvPr id="20" name="Shape 18">
            <a:extLst>
              <a:ext uri="{FF2B5EF4-FFF2-40B4-BE49-F238E27FC236}">
                <a16:creationId xmlns:a16="http://schemas.microsoft.com/office/drawing/2014/main" id="{1EA3C2E7-6CE4-439B-BB41-B90886D099B5}"/>
              </a:ext>
            </a:extLst>
          </p:cNvPr>
          <p:cNvSpPr>
            <a:spLocks noGrp="1"/>
          </p:cNvSpPr>
          <p:nvPr/>
        </p:nvSpPr>
        <p:spPr>
          <a:xfrm>
            <a:off x="1270000" y="2201291"/>
            <a:ext cx="846709" cy="609600"/>
          </a:xfrm>
          <a:prstGeom prst="rect">
            <a:avLst/>
          </a:prstGeom>
          <a:solidFill>
            <a:srgbClr val="FFFFFF">
              <a:alpha val="0"/>
            </a:srgbClr>
          </a:solidFill>
        </p:spPr>
        <p:txBody>
          <a:bodyPr/>
          <a:lstStyle/>
          <a:p>
            <a:endParaRPr/>
          </a:p>
        </p:txBody>
      </p:sp>
      <p:sp>
        <p:nvSpPr>
          <p:cNvPr id="21" name="Text 19">
            <a:extLst>
              <a:ext uri="{FF2B5EF4-FFF2-40B4-BE49-F238E27FC236}">
                <a16:creationId xmlns:a16="http://schemas.microsoft.com/office/drawing/2014/main" id="{E9A8003A-9773-4C89-A179-6F1A8BB8CFDA}"/>
              </a:ext>
            </a:extLst>
          </p:cNvPr>
          <p:cNvSpPr>
            <a:spLocks noGrp="1"/>
          </p:cNvSpPr>
          <p:nvPr/>
        </p:nvSpPr>
        <p:spPr>
          <a:xfrm>
            <a:off x="1148080" y="2140331"/>
            <a:ext cx="1090549" cy="731520"/>
          </a:xfrm>
          <a:prstGeom prst="rect">
            <a:avLst/>
          </a:prstGeom>
          <a:noFill/>
        </p:spPr>
        <p:txBody>
          <a:bodyPr wrap="square" lIns="0" tIns="0" rIns="0" bIns="0" anchor="ctr">
            <a:noAutofit/>
          </a:bodyPr>
          <a:lstStyle/>
          <a:p>
            <a:pPr algn="ctr">
              <a:lnSpc>
                <a:spcPct val="100000"/>
              </a:lnSpc>
              <a:buNone/>
              <a:defRPr sz="3450" b="1">
                <a:solidFill>
                  <a:srgbClr val="1565C0"/>
                </a:solidFill>
                <a:latin typeface="Times New Roman"/>
                <a:ea typeface="Times New Roman"/>
                <a:cs typeface="Times New Roman"/>
              </a:defRPr>
            </a:pPr>
            <a:r>
              <a:rPr sz="4200" b="1" i="0">
                <a:solidFill>
                  <a:srgbClr val="C62828"/>
                </a:solidFill>
                <a:latin typeface="Times New Roman"/>
              </a:rPr>
              <a:t>0</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16FBE95D-D6B2-4A61-AC4A-3371828DAF93}"/>
              </a:ext>
            </a:extLst>
          </p:cNvPr>
          <p:cNvSpPr>
            <a:spLocks noGrp="1"/>
          </p:cNvSpPr>
          <p:nvPr/>
        </p:nvSpPr>
        <p:spPr>
          <a:xfrm>
            <a:off x="2201291" y="2201291"/>
            <a:ext cx="4741291" cy="609600"/>
          </a:xfrm>
          <a:prstGeom prst="rect">
            <a:avLst/>
          </a:prstGeom>
          <a:solidFill>
            <a:srgbClr val="FFFFFF">
              <a:alpha val="0"/>
            </a:srgbClr>
          </a:solidFill>
        </p:spPr>
        <p:txBody>
          <a:bodyPr/>
          <a:lstStyle/>
          <a:p>
            <a:endParaRPr/>
          </a:p>
        </p:txBody>
      </p:sp>
      <p:sp>
        <p:nvSpPr>
          <p:cNvPr id="23" name="Text 21">
            <a:extLst>
              <a:ext uri="{FF2B5EF4-FFF2-40B4-BE49-F238E27FC236}">
                <a16:creationId xmlns:a16="http://schemas.microsoft.com/office/drawing/2014/main" id="{6D7C254E-F67C-4C60-81A3-7DF24A2013D3}"/>
              </a:ext>
            </a:extLst>
          </p:cNvPr>
          <p:cNvSpPr>
            <a:spLocks noGrp="1"/>
          </p:cNvSpPr>
          <p:nvPr/>
        </p:nvSpPr>
        <p:spPr>
          <a:xfrm>
            <a:off x="2079371" y="2140331"/>
            <a:ext cx="4985131" cy="731520"/>
          </a:xfrm>
          <a:prstGeom prst="rect">
            <a:avLst/>
          </a:prstGeom>
          <a:noFill/>
        </p:spPr>
        <p:txBody>
          <a:bodyPr wrap="square" lIns="0" tIns="0" rIns="0" bIns="0" anchor="ctr">
            <a:noAutofit/>
          </a:bodyPr>
          <a:lstStyle/>
          <a:p>
            <a:pPr algn="l">
              <a:lnSpc>
                <a:spcPct val="100000"/>
              </a:lnSpc>
              <a:buNone/>
              <a:defRPr sz="3150" b="1">
                <a:solidFill>
                  <a:srgbClr val="1565C0"/>
                </a:solidFill>
                <a:latin typeface="Times New Roman"/>
                <a:ea typeface="Times New Roman"/>
                <a:cs typeface="Times New Roman"/>
              </a:defRPr>
            </a:pPr>
            <a:r>
              <a:rPr sz="3600" b="1" i="0">
                <a:solidFill>
                  <a:srgbClr val="C62828"/>
                </a:solidFill>
                <a:latin typeface="Times New Roman"/>
              </a:rPr>
              <a:t>Rào cản Cắt lỗ</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BD90CDF4-5E82-4F4E-857B-98858B74222E}"/>
              </a:ext>
            </a:extLst>
          </p:cNvPr>
          <p:cNvSpPr>
            <a:spLocks noGrp="1"/>
          </p:cNvSpPr>
          <p:nvPr/>
        </p:nvSpPr>
        <p:spPr>
          <a:xfrm>
            <a:off x="1270000" y="2963291"/>
            <a:ext cx="5757291" cy="3048000"/>
          </a:xfrm>
          <a:prstGeom prst="rect">
            <a:avLst/>
          </a:prstGeom>
          <a:solidFill>
            <a:srgbClr val="FFFFFF">
              <a:alpha val="0"/>
            </a:srgbClr>
          </a:solidFill>
        </p:spPr>
        <p:txBody>
          <a:bodyPr/>
          <a:lstStyle/>
          <a:p>
            <a:endParaRPr/>
          </a:p>
        </p:txBody>
      </p:sp>
      <p:sp>
        <p:nvSpPr>
          <p:cNvPr id="25" name="Text 23">
            <a:extLst>
              <a:ext uri="{FF2B5EF4-FFF2-40B4-BE49-F238E27FC236}">
                <a16:creationId xmlns:a16="http://schemas.microsoft.com/office/drawing/2014/main" id="{DFD49725-8D10-441A-8762-A79E25D6A1E4}"/>
              </a:ext>
            </a:extLst>
          </p:cNvPr>
          <p:cNvSpPr>
            <a:spLocks noGrp="1"/>
          </p:cNvSpPr>
          <p:nvPr/>
        </p:nvSpPr>
        <p:spPr>
          <a:xfrm>
            <a:off x="1148080" y="2902331"/>
            <a:ext cx="6001131" cy="3169920"/>
          </a:xfrm>
          <a:prstGeom prst="rect">
            <a:avLst/>
          </a:prstGeom>
          <a:noFill/>
        </p:spPr>
        <p:txBody>
          <a:bodyPr wrap="square" lIns="0" tIns="0" rIns="0" bIns="0" anchor="t">
            <a:noAutofit/>
          </a:bodyPr>
          <a:lstStyle/>
          <a:p>
            <a:pPr algn="l">
              <a:lnSpc>
                <a:spcPct val="150000"/>
              </a:lnSpc>
              <a:buNone/>
              <a:defRPr sz="3000" b="0">
                <a:solidFill>
                  <a:srgbClr val="151515"/>
                </a:solidFill>
                <a:latin typeface="Times New Roman"/>
                <a:ea typeface="Times New Roman"/>
                <a:cs typeface="Times New Roman"/>
              </a:defRPr>
            </a:pPr>
            <a:r>
              <a:rPr sz="3000" b="0" i="0">
                <a:solidFill>
                  <a:srgbClr val="151515"/>
                </a:solidFill>
                <a:latin typeface="Times New Roman"/>
              </a:rPr>
              <a:t>Chạm rào cản dưới (-1 ATR) trước.</a:t>
            </a:r>
            <a:endParaRPr sz="1600" dirty="0">
              <a:latin typeface="Times New Roman"/>
              <a:ea typeface="Times New Roman"/>
              <a:cs typeface="Times New Roman"/>
            </a:endParaRPr>
          </a:p>
          <a:p>
            <a:pPr algn="l"/>
            <a:r>
              <a:rPr sz="3000" b="0" i="0">
                <a:solidFill>
                  <a:srgbClr val="151515"/>
                </a:solidFill>
                <a:latin typeface="Times New Roman"/>
              </a:rPr>
              <a:t>Nhãn 0 (Thất bại / Lỗ 1R).</a:t>
            </a:r>
          </a:p>
          <a:p>
            <a:pPr algn="l"/>
            <a:r>
              <a:rPr sz="3000" b="0" i="0">
                <a:solidFill>
                  <a:srgbClr val="151515"/>
                </a:solidFill>
                <a:latin typeface="Times New Roman"/>
              </a:rPr>
              <a:t>Mô hình học cách né tránh các lệnh này.</a:t>
            </a:r>
          </a:p>
        </p:txBody>
      </p:sp>
      <p:sp>
        <p:nvSpPr>
          <p:cNvPr id="26" name="Shape 24">
            <a:extLst>
              <a:ext uri="{FF2B5EF4-FFF2-40B4-BE49-F238E27FC236}">
                <a16:creationId xmlns:a16="http://schemas.microsoft.com/office/drawing/2014/main" id="{D9A346E4-FC04-4356-9488-0A209BDA4B37}"/>
              </a:ext>
            </a:extLst>
          </p:cNvPr>
          <p:cNvSpPr>
            <a:spLocks noGrp="1"/>
          </p:cNvSpPr>
          <p:nvPr/>
        </p:nvSpPr>
        <p:spPr>
          <a:xfrm>
            <a:off x="7704709" y="2032000"/>
            <a:ext cx="6265291" cy="4233291"/>
          </a:xfrm>
          <a:prstGeom prst="roundRect">
            <a:avLst>
              <a:gd name="adj" fmla="val 8000"/>
            </a:avLst>
          </a:prstGeom>
          <a:solidFill>
            <a:srgbClr val="E8F5E9"/>
          </a:solidFill>
          <a:ln w="12700">
            <a:solidFill>
              <a:srgbClr val="C8E6C9"/>
            </a:solidFill>
            <a:prstDash val="solid"/>
          </a:ln>
        </p:spPr>
        <p:txBody>
          <a:bodyPr/>
          <a:lstStyle/>
          <a:p>
            <a:endParaRPr/>
          </a:p>
        </p:txBody>
      </p:sp>
      <p:sp>
        <p:nvSpPr>
          <p:cNvPr id="27" name="Shape 25">
            <a:extLst>
              <a:ext uri="{FF2B5EF4-FFF2-40B4-BE49-F238E27FC236}">
                <a16:creationId xmlns:a16="http://schemas.microsoft.com/office/drawing/2014/main" id="{F81A01FC-AD24-4D61-AF2B-0BF80474F03C}"/>
              </a:ext>
            </a:extLst>
          </p:cNvPr>
          <p:cNvSpPr>
            <a:spLocks noGrp="1"/>
          </p:cNvSpPr>
          <p:nvPr/>
        </p:nvSpPr>
        <p:spPr>
          <a:xfrm>
            <a:off x="7958709" y="2201291"/>
            <a:ext cx="846709" cy="609600"/>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28AD66FD-64FD-4EDB-9F48-7054C28099FC}"/>
              </a:ext>
            </a:extLst>
          </p:cNvPr>
          <p:cNvSpPr>
            <a:spLocks noGrp="1"/>
          </p:cNvSpPr>
          <p:nvPr/>
        </p:nvSpPr>
        <p:spPr>
          <a:xfrm>
            <a:off x="7836789" y="2140331"/>
            <a:ext cx="1090549" cy="731520"/>
          </a:xfrm>
          <a:prstGeom prst="rect">
            <a:avLst/>
          </a:prstGeom>
          <a:noFill/>
        </p:spPr>
        <p:txBody>
          <a:bodyPr wrap="square" lIns="0" tIns="0" rIns="0" bIns="0" anchor="ctr">
            <a:noAutofit/>
          </a:bodyPr>
          <a:lstStyle/>
          <a:p>
            <a:pPr algn="ctr">
              <a:lnSpc>
                <a:spcPct val="100000"/>
              </a:lnSpc>
              <a:buNone/>
              <a:defRPr sz="3450" b="1">
                <a:solidFill>
                  <a:srgbClr val="2E7D32"/>
                </a:solidFill>
                <a:latin typeface="Times New Roman"/>
                <a:ea typeface="Times New Roman"/>
                <a:cs typeface="Times New Roman"/>
              </a:defRPr>
            </a:pPr>
            <a:r>
              <a:rPr sz="4200" b="1" i="0">
                <a:solidFill>
                  <a:srgbClr val="2E7D32"/>
                </a:solidFill>
                <a:latin typeface="Times New Roman"/>
              </a:rPr>
              <a:t>1</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6D8C4B52-4B38-4E35-B166-4EF008586432}"/>
              </a:ext>
            </a:extLst>
          </p:cNvPr>
          <p:cNvSpPr>
            <a:spLocks noGrp="1"/>
          </p:cNvSpPr>
          <p:nvPr/>
        </p:nvSpPr>
        <p:spPr>
          <a:xfrm>
            <a:off x="8890000" y="2201291"/>
            <a:ext cx="4741291" cy="609600"/>
          </a:xfrm>
          <a:prstGeom prst="rect">
            <a:avLst/>
          </a:prstGeom>
          <a:solidFill>
            <a:srgbClr val="FFFFFF">
              <a:alpha val="0"/>
            </a:srgbClr>
          </a:solidFill>
        </p:spPr>
        <p:txBody>
          <a:bodyPr/>
          <a:lstStyle/>
          <a:p>
            <a:endParaRPr/>
          </a:p>
        </p:txBody>
      </p:sp>
      <p:sp>
        <p:nvSpPr>
          <p:cNvPr id="30" name="Text 28">
            <a:extLst>
              <a:ext uri="{FF2B5EF4-FFF2-40B4-BE49-F238E27FC236}">
                <a16:creationId xmlns:a16="http://schemas.microsoft.com/office/drawing/2014/main" id="{452620A3-59AB-40B9-9EA3-7FD19479E764}"/>
              </a:ext>
            </a:extLst>
          </p:cNvPr>
          <p:cNvSpPr>
            <a:spLocks noGrp="1"/>
          </p:cNvSpPr>
          <p:nvPr/>
        </p:nvSpPr>
        <p:spPr>
          <a:xfrm>
            <a:off x="8768080" y="2140331"/>
            <a:ext cx="4985131" cy="731520"/>
          </a:xfrm>
          <a:prstGeom prst="rect">
            <a:avLst/>
          </a:prstGeom>
          <a:noFill/>
        </p:spPr>
        <p:txBody>
          <a:bodyPr wrap="square" lIns="0" tIns="0" rIns="0" bIns="0" anchor="ctr">
            <a:noAutofit/>
          </a:bodyPr>
          <a:lstStyle/>
          <a:p>
            <a:pPr algn="l">
              <a:lnSpc>
                <a:spcPct val="100000"/>
              </a:lnSpc>
              <a:buNone/>
              <a:defRPr sz="3150" b="1">
                <a:solidFill>
                  <a:srgbClr val="2E7D32"/>
                </a:solidFill>
                <a:latin typeface="Times New Roman"/>
                <a:ea typeface="Times New Roman"/>
                <a:cs typeface="Times New Roman"/>
              </a:defRPr>
            </a:pPr>
            <a:r>
              <a:rPr sz="3600" b="1" i="0">
                <a:solidFill>
                  <a:srgbClr val="2E7D32"/>
                </a:solidFill>
                <a:latin typeface="Times New Roman"/>
              </a:rPr>
              <a:t>Rào cản Chốt lời</a:t>
            </a:r>
            <a:endParaRPr sz="1600">
              <a:latin typeface="Times New Roman"/>
              <a:ea typeface="Times New Roman"/>
              <a:cs typeface="Times New Roman"/>
            </a:endParaRPr>
          </a:p>
        </p:txBody>
      </p:sp>
      <p:sp>
        <p:nvSpPr>
          <p:cNvPr id="31" name="Shape 29">
            <a:extLst>
              <a:ext uri="{FF2B5EF4-FFF2-40B4-BE49-F238E27FC236}">
                <a16:creationId xmlns:a16="http://schemas.microsoft.com/office/drawing/2014/main" id="{7CC2024F-6022-48DB-92DC-AA8F62203A4B}"/>
              </a:ext>
            </a:extLst>
          </p:cNvPr>
          <p:cNvSpPr>
            <a:spLocks noGrp="1"/>
          </p:cNvSpPr>
          <p:nvPr/>
        </p:nvSpPr>
        <p:spPr>
          <a:xfrm>
            <a:off x="7958709" y="2963291"/>
            <a:ext cx="5757291" cy="3048000"/>
          </a:xfrm>
          <a:prstGeom prst="rect">
            <a:avLst/>
          </a:prstGeom>
          <a:solidFill>
            <a:srgbClr val="FFFFFF">
              <a:alpha val="0"/>
            </a:srgbClr>
          </a:solidFill>
        </p:spPr>
        <p:txBody>
          <a:bodyPr/>
          <a:lstStyle/>
          <a:p>
            <a:endParaRPr/>
          </a:p>
        </p:txBody>
      </p:sp>
      <p:sp>
        <p:nvSpPr>
          <p:cNvPr id="32" name="Text 30">
            <a:extLst>
              <a:ext uri="{FF2B5EF4-FFF2-40B4-BE49-F238E27FC236}">
                <a16:creationId xmlns:a16="http://schemas.microsoft.com/office/drawing/2014/main" id="{9A593347-6C92-4B95-A26B-9D9E9E2A3A87}"/>
              </a:ext>
            </a:extLst>
          </p:cNvPr>
          <p:cNvSpPr>
            <a:spLocks noGrp="1"/>
          </p:cNvSpPr>
          <p:nvPr/>
        </p:nvSpPr>
        <p:spPr>
          <a:xfrm>
            <a:off x="7836789" y="2902331"/>
            <a:ext cx="6001131" cy="3169920"/>
          </a:xfrm>
          <a:prstGeom prst="rect">
            <a:avLst/>
          </a:prstGeom>
          <a:noFill/>
        </p:spPr>
        <p:txBody>
          <a:bodyPr wrap="square" lIns="0" tIns="0" rIns="0" bIns="0" anchor="t">
            <a:noAutofit/>
          </a:bodyPr>
          <a:lstStyle/>
          <a:p>
            <a:pPr algn="l">
              <a:lnSpc>
                <a:spcPct val="150000"/>
              </a:lnSpc>
              <a:buNone/>
              <a:defRPr sz="3000" b="0">
                <a:solidFill>
                  <a:srgbClr val="151515"/>
                </a:solidFill>
                <a:latin typeface="Times New Roman"/>
                <a:ea typeface="Times New Roman"/>
                <a:cs typeface="Times New Roman"/>
              </a:defRPr>
            </a:pPr>
            <a:r>
              <a:rPr sz="3000" b="0" i="0">
                <a:solidFill>
                  <a:srgbClr val="151515"/>
                </a:solidFill>
                <a:latin typeface="Times New Roman"/>
              </a:rPr>
              <a:t>Chạm rào cản trên (+2 ATR) trước.</a:t>
            </a:r>
            <a:endParaRPr sz="1600">
              <a:latin typeface="Times New Roman"/>
              <a:ea typeface="Times New Roman"/>
              <a:cs typeface="Times New Roman"/>
            </a:endParaRPr>
          </a:p>
          <a:p>
            <a:pPr algn="l"/>
            <a:r>
              <a:rPr sz="3000" b="0" i="0">
                <a:solidFill>
                  <a:srgbClr val="151515"/>
                </a:solidFill>
                <a:latin typeface="Times New Roman"/>
              </a:rPr>
              <a:t>Nhãn 1 (Thành công / Lãi 2R).</a:t>
            </a:r>
          </a:p>
          <a:p>
            <a:pPr algn="l"/>
            <a:r>
              <a:rPr sz="3000" b="0" i="0">
                <a:solidFill>
                  <a:srgbClr val="151515"/>
                </a:solidFill>
                <a:latin typeface="Times New Roman"/>
              </a:rPr>
              <a:t>Mô hình nhận diện tín hiệu chất lượng cao.</a:t>
            </a:r>
          </a:p>
        </p:txBody>
      </p:sp>
      <p:sp>
        <p:nvSpPr>
          <p:cNvPr id="33" name="Shape 31">
            <a:extLst>
              <a:ext uri="{FF2B5EF4-FFF2-40B4-BE49-F238E27FC236}">
                <a16:creationId xmlns:a16="http://schemas.microsoft.com/office/drawing/2014/main" id="{E4E3B1F1-E5C6-4F2E-B526-ED8A6A42E8E6}"/>
              </a:ext>
            </a:extLst>
          </p:cNvPr>
          <p:cNvSpPr>
            <a:spLocks noGrp="1"/>
          </p:cNvSpPr>
          <p:nvPr/>
        </p:nvSpPr>
        <p:spPr>
          <a:xfrm>
            <a:off x="14393291" y="2032000"/>
            <a:ext cx="6265291" cy="4233291"/>
          </a:xfrm>
          <a:prstGeom prst="roundRect">
            <a:avLst>
              <a:gd name="adj" fmla="val 8000"/>
            </a:avLst>
          </a:prstGeom>
          <a:solidFill>
            <a:srgbClr val="FFF3E0"/>
          </a:solidFill>
          <a:ln w="12700">
            <a:solidFill>
              <a:srgbClr val="FFE0B2"/>
            </a:solidFill>
            <a:prstDash val="solid"/>
          </a:ln>
        </p:spPr>
        <p:txBody>
          <a:bodyPr/>
          <a:lstStyle/>
          <a:p>
            <a:endParaRPr/>
          </a:p>
        </p:txBody>
      </p:sp>
      <p:sp>
        <p:nvSpPr>
          <p:cNvPr id="34" name="Shape 32">
            <a:extLst>
              <a:ext uri="{FF2B5EF4-FFF2-40B4-BE49-F238E27FC236}">
                <a16:creationId xmlns:a16="http://schemas.microsoft.com/office/drawing/2014/main" id="{3EFCA911-04A1-4F50-960F-FF4236E4E9BB}"/>
              </a:ext>
            </a:extLst>
          </p:cNvPr>
          <p:cNvSpPr>
            <a:spLocks noGrp="1"/>
          </p:cNvSpPr>
          <p:nvPr/>
        </p:nvSpPr>
        <p:spPr>
          <a:xfrm>
            <a:off x="14647291" y="2201291"/>
            <a:ext cx="846709" cy="609600"/>
          </a:xfrm>
          <a:prstGeom prst="rect">
            <a:avLst/>
          </a:prstGeom>
          <a:solidFill>
            <a:srgbClr val="FFFFFF">
              <a:alpha val="0"/>
            </a:srgbClr>
          </a:solidFill>
        </p:spPr>
        <p:txBody>
          <a:bodyPr/>
          <a:lstStyle/>
          <a:p>
            <a:endParaRPr/>
          </a:p>
        </p:txBody>
      </p:sp>
      <p:sp>
        <p:nvSpPr>
          <p:cNvPr id="35" name="Text 33">
            <a:extLst>
              <a:ext uri="{FF2B5EF4-FFF2-40B4-BE49-F238E27FC236}">
                <a16:creationId xmlns:a16="http://schemas.microsoft.com/office/drawing/2014/main" id="{0943C132-565B-4D23-82DD-60FF0C026286}"/>
              </a:ext>
            </a:extLst>
          </p:cNvPr>
          <p:cNvSpPr>
            <a:spLocks noGrp="1"/>
          </p:cNvSpPr>
          <p:nvPr/>
        </p:nvSpPr>
        <p:spPr>
          <a:xfrm>
            <a:off x="14525371" y="2140331"/>
            <a:ext cx="1090549" cy="731520"/>
          </a:xfrm>
          <a:prstGeom prst="rect">
            <a:avLst/>
          </a:prstGeom>
          <a:noFill/>
        </p:spPr>
        <p:txBody>
          <a:bodyPr wrap="square" lIns="0" tIns="0" rIns="0" bIns="0" anchor="ctr">
            <a:noAutofit/>
          </a:bodyPr>
          <a:lstStyle/>
          <a:p>
            <a:pPr algn="ctr">
              <a:lnSpc>
                <a:spcPct val="100000"/>
              </a:lnSpc>
              <a:buNone/>
              <a:defRPr sz="3450" b="1">
                <a:solidFill>
                  <a:srgbClr val="EF6C00"/>
                </a:solidFill>
                <a:latin typeface="Times New Roman"/>
                <a:ea typeface="Times New Roman"/>
                <a:cs typeface="Times New Roman"/>
              </a:defRPr>
            </a:pPr>
            <a:r>
              <a:rPr sz="4200" b="1" i="0">
                <a:solidFill>
                  <a:srgbClr val="EF6C00"/>
                </a:solidFill>
                <a:latin typeface="Times New Roman"/>
              </a:rPr>
              <a:t>T</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3C9FB320-D7B8-4134-9C14-F25923BB428C}"/>
              </a:ext>
            </a:extLst>
          </p:cNvPr>
          <p:cNvSpPr>
            <a:spLocks noGrp="1"/>
          </p:cNvSpPr>
          <p:nvPr/>
        </p:nvSpPr>
        <p:spPr>
          <a:xfrm>
            <a:off x="15578709" y="2201291"/>
            <a:ext cx="4741291" cy="609600"/>
          </a:xfrm>
          <a:prstGeom prst="rect">
            <a:avLst/>
          </a:prstGeom>
          <a:solidFill>
            <a:srgbClr val="FFFFFF">
              <a:alpha val="0"/>
            </a:srgbClr>
          </a:solidFill>
        </p:spPr>
        <p:txBody>
          <a:bodyPr/>
          <a:lstStyle/>
          <a:p>
            <a:endParaRPr/>
          </a:p>
        </p:txBody>
      </p:sp>
      <p:sp>
        <p:nvSpPr>
          <p:cNvPr id="37" name="Text 35">
            <a:extLst>
              <a:ext uri="{FF2B5EF4-FFF2-40B4-BE49-F238E27FC236}">
                <a16:creationId xmlns:a16="http://schemas.microsoft.com/office/drawing/2014/main" id="{78E38575-1A49-4B99-9BA9-CF9B7DE8B9C1}"/>
              </a:ext>
            </a:extLst>
          </p:cNvPr>
          <p:cNvSpPr>
            <a:spLocks noGrp="1"/>
          </p:cNvSpPr>
          <p:nvPr/>
        </p:nvSpPr>
        <p:spPr>
          <a:xfrm>
            <a:off x="15456789" y="2140331"/>
            <a:ext cx="4985131" cy="731520"/>
          </a:xfrm>
          <a:prstGeom prst="rect">
            <a:avLst/>
          </a:prstGeom>
          <a:noFill/>
        </p:spPr>
        <p:txBody>
          <a:bodyPr wrap="square" lIns="0" tIns="0" rIns="0" bIns="0" anchor="ctr">
            <a:noAutofit/>
          </a:bodyPr>
          <a:lstStyle/>
          <a:p>
            <a:pPr algn="l">
              <a:lnSpc>
                <a:spcPct val="100000"/>
              </a:lnSpc>
              <a:buNone/>
              <a:defRPr sz="3150" b="1">
                <a:solidFill>
                  <a:srgbClr val="EF6C00"/>
                </a:solidFill>
                <a:latin typeface="Times New Roman"/>
                <a:ea typeface="Times New Roman"/>
                <a:cs typeface="Times New Roman"/>
              </a:defRPr>
            </a:pPr>
            <a:r>
              <a:rPr sz="3600" b="1" i="0">
                <a:solidFill>
                  <a:srgbClr val="EF6C00"/>
                </a:solidFill>
                <a:latin typeface="Times New Roman"/>
              </a:rPr>
              <a:t>Rào cản Thời gian</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381F4AEC-76CE-4309-B2E6-0F607E4E2323}"/>
              </a:ext>
            </a:extLst>
          </p:cNvPr>
          <p:cNvSpPr>
            <a:spLocks noGrp="1"/>
          </p:cNvSpPr>
          <p:nvPr/>
        </p:nvSpPr>
        <p:spPr>
          <a:xfrm>
            <a:off x="14647291" y="2963291"/>
            <a:ext cx="5757291" cy="3048000"/>
          </a:xfrm>
          <a:prstGeom prst="rect">
            <a:avLst/>
          </a:prstGeom>
          <a:solidFill>
            <a:srgbClr val="FFFFFF">
              <a:alpha val="0"/>
            </a:srgbClr>
          </a:solidFill>
        </p:spPr>
        <p:txBody>
          <a:bodyPr/>
          <a:lstStyle/>
          <a:p>
            <a:endParaRPr/>
          </a:p>
        </p:txBody>
      </p:sp>
      <p:sp>
        <p:nvSpPr>
          <p:cNvPr id="39" name="Text 37">
            <a:extLst>
              <a:ext uri="{FF2B5EF4-FFF2-40B4-BE49-F238E27FC236}">
                <a16:creationId xmlns:a16="http://schemas.microsoft.com/office/drawing/2014/main" id="{FF628F40-B969-4E84-A8E9-93CE748FAE58}"/>
              </a:ext>
            </a:extLst>
          </p:cNvPr>
          <p:cNvSpPr>
            <a:spLocks noGrp="1"/>
          </p:cNvSpPr>
          <p:nvPr/>
        </p:nvSpPr>
        <p:spPr>
          <a:xfrm>
            <a:off x="14525371" y="2902331"/>
            <a:ext cx="6001131" cy="3169920"/>
          </a:xfrm>
          <a:prstGeom prst="rect">
            <a:avLst/>
          </a:prstGeom>
          <a:noFill/>
        </p:spPr>
        <p:txBody>
          <a:bodyPr wrap="square" lIns="0" tIns="0" rIns="0" bIns="0" anchor="t">
            <a:noAutofit/>
          </a:bodyPr>
          <a:lstStyle/>
          <a:p>
            <a:pPr algn="l">
              <a:lnSpc>
                <a:spcPct val="150000"/>
              </a:lnSpc>
              <a:buNone/>
              <a:defRPr sz="3000" b="0">
                <a:solidFill>
                  <a:srgbClr val="151515"/>
                </a:solidFill>
                <a:latin typeface="Times New Roman"/>
                <a:ea typeface="Times New Roman"/>
                <a:cs typeface="Times New Roman"/>
              </a:defRPr>
            </a:pPr>
            <a:r>
              <a:rPr sz="3000" b="0" i="0">
                <a:solidFill>
                  <a:srgbClr val="151515"/>
                </a:solidFill>
                <a:latin typeface="Times New Roman"/>
              </a:rPr>
              <a:t>Hết 24 nến (6 giờ) không chạm TP/SL.</a:t>
            </a:r>
            <a:endParaRPr sz="1600">
              <a:latin typeface="Times New Roman"/>
              <a:ea typeface="Times New Roman"/>
              <a:cs typeface="Times New Roman"/>
            </a:endParaRPr>
          </a:p>
          <a:p>
            <a:pPr algn="l"/>
            <a:r>
              <a:rPr sz="3000" b="0" i="0">
                <a:solidFill>
                  <a:srgbClr val="151515"/>
                </a:solidFill>
                <a:latin typeface="Times New Roman"/>
              </a:rPr>
              <a:t>Đóng lệnh theo giá hiện tại.</a:t>
            </a:r>
          </a:p>
          <a:p>
            <a:pPr algn="l"/>
            <a:r>
              <a:rPr sz="3000" b="0" i="0">
                <a:solidFill>
                  <a:srgbClr val="151515"/>
                </a:solidFill>
                <a:latin typeface="Times New Roman"/>
              </a:rPr>
              <a:t>Giải phóng vốn, tránh giam vốn trong sideway.</a:t>
            </a:r>
          </a:p>
        </p:txBody>
      </p:sp>
      <p:sp>
        <p:nvSpPr>
          <p:cNvPr id="40" name="Shape 38">
            <a:extLst>
              <a:ext uri="{FF2B5EF4-FFF2-40B4-BE49-F238E27FC236}">
                <a16:creationId xmlns:a16="http://schemas.microsoft.com/office/drawing/2014/main" id="{DE3F808B-6978-443A-944E-947347BBA7A4}"/>
              </a:ext>
            </a:extLst>
          </p:cNvPr>
          <p:cNvSpPr>
            <a:spLocks noGrp="1"/>
          </p:cNvSpPr>
          <p:nvPr/>
        </p:nvSpPr>
        <p:spPr>
          <a:xfrm>
            <a:off x="1016000" y="7399781"/>
            <a:ext cx="19642709" cy="1066927"/>
          </a:xfrm>
          <a:prstGeom prst="roundRect">
            <a:avLst>
              <a:gd name="adj" fmla="val 8000"/>
            </a:avLst>
          </a:prstGeom>
          <a:solidFill>
            <a:srgbClr val="F5F5F5"/>
          </a:solidFill>
          <a:ln w="12700">
            <a:solidFill>
              <a:srgbClr val="E0E0E0"/>
            </a:solidFill>
            <a:prstDash val="solid"/>
          </a:ln>
        </p:spPr>
        <p:txBody>
          <a:bodyPr/>
          <a:lstStyle/>
          <a:p>
            <a:endParaRPr/>
          </a:p>
        </p:txBody>
      </p:sp>
      <p:sp>
        <p:nvSpPr>
          <p:cNvPr id="41" name="Shape 39">
            <a:extLst>
              <a:ext uri="{FF2B5EF4-FFF2-40B4-BE49-F238E27FC236}">
                <a16:creationId xmlns:a16="http://schemas.microsoft.com/office/drawing/2014/main" id="{038631E5-DFEF-486F-B8AA-C6F06DF331C6}"/>
              </a:ext>
            </a:extLst>
          </p:cNvPr>
          <p:cNvSpPr>
            <a:spLocks noGrp="1"/>
          </p:cNvSpPr>
          <p:nvPr/>
        </p:nvSpPr>
        <p:spPr>
          <a:xfrm>
            <a:off x="1354709" y="6824091"/>
            <a:ext cx="6773291" cy="440309"/>
          </a:xfrm>
          <a:prstGeom prst="rect">
            <a:avLst/>
          </a:prstGeom>
          <a:solidFill>
            <a:srgbClr val="FFFFFF">
              <a:alpha val="0"/>
            </a:srgbClr>
          </a:solidFill>
        </p:spPr>
        <p:txBody>
          <a:bodyPr/>
          <a:lstStyle/>
          <a:p>
            <a:endParaRPr/>
          </a:p>
        </p:txBody>
      </p:sp>
      <p:sp>
        <p:nvSpPr>
          <p:cNvPr id="42" name="Text 40">
            <a:extLst>
              <a:ext uri="{FF2B5EF4-FFF2-40B4-BE49-F238E27FC236}">
                <a16:creationId xmlns:a16="http://schemas.microsoft.com/office/drawing/2014/main" id="{1CFA235B-F8C8-488F-98B4-173E0F997EFF}"/>
              </a:ext>
            </a:extLst>
          </p:cNvPr>
          <p:cNvSpPr>
            <a:spLocks noGrp="1"/>
          </p:cNvSpPr>
          <p:nvPr/>
        </p:nvSpPr>
        <p:spPr>
          <a:xfrm>
            <a:off x="1279217" y="7603300"/>
            <a:ext cx="7017131" cy="562229"/>
          </a:xfrm>
          <a:prstGeom prst="rect">
            <a:avLst/>
          </a:prstGeom>
          <a:noFill/>
        </p:spPr>
        <p:txBody>
          <a:bodyPr wrap="square" lIns="0" tIns="0" rIns="0" bIns="0" anchor="ctr">
            <a:noAutofit/>
          </a:bodyPr>
          <a:lstStyle/>
          <a:p>
            <a:pPr algn="l">
              <a:lnSpc>
                <a:spcPct val="100000"/>
              </a:lnSpc>
              <a:buNone/>
              <a:defRPr sz="2250" b="1">
                <a:solidFill>
                  <a:srgbClr val="1565C0"/>
                </a:solidFill>
                <a:latin typeface="Times New Roman"/>
                <a:ea typeface="Times New Roman"/>
                <a:cs typeface="Times New Roman"/>
              </a:defRPr>
            </a:pPr>
            <a:endParaRPr sz="1600">
              <a:latin typeface="Times New Roman"/>
              <a:ea typeface="Times New Roman"/>
              <a:cs typeface="Times New Roman"/>
            </a:endParaRPr>
          </a:p>
        </p:txBody>
      </p:sp>
      <p:sp>
        <p:nvSpPr>
          <p:cNvPr id="43" name="Shape 41">
            <a:extLst>
              <a:ext uri="{FF2B5EF4-FFF2-40B4-BE49-F238E27FC236}">
                <a16:creationId xmlns:a16="http://schemas.microsoft.com/office/drawing/2014/main" id="{5D016F1E-AAFE-4673-9FBE-424C6AEE9B8D}"/>
              </a:ext>
            </a:extLst>
          </p:cNvPr>
          <p:cNvSpPr>
            <a:spLocks noGrp="1"/>
          </p:cNvSpPr>
          <p:nvPr/>
        </p:nvSpPr>
        <p:spPr>
          <a:xfrm>
            <a:off x="1016000" y="8805291"/>
            <a:ext cx="19642709" cy="2201291"/>
          </a:xfrm>
          <a:prstGeom prst="rect">
            <a:avLst/>
          </a:prstGeom>
          <a:solidFill>
            <a:srgbClr val="FFFFFF">
              <a:alpha val="0"/>
            </a:srgbClr>
          </a:solidFill>
        </p:spPr>
        <p:txBody>
          <a:bodyPr/>
          <a:lstStyle/>
          <a:p>
            <a:endParaRPr/>
          </a:p>
        </p:txBody>
      </p:sp>
      <p:sp>
        <p:nvSpPr>
          <p:cNvPr id="44" name="Text 42">
            <a:extLst>
              <a:ext uri="{FF2B5EF4-FFF2-40B4-BE49-F238E27FC236}">
                <a16:creationId xmlns:a16="http://schemas.microsoft.com/office/drawing/2014/main" id="{754144F0-AC2C-4985-A713-82543B1BACE6}"/>
              </a:ext>
            </a:extLst>
          </p:cNvPr>
          <p:cNvSpPr>
            <a:spLocks noGrp="1"/>
          </p:cNvSpPr>
          <p:nvPr/>
        </p:nvSpPr>
        <p:spPr>
          <a:xfrm>
            <a:off x="894080" y="8744331"/>
            <a:ext cx="19886549" cy="2323211"/>
          </a:xfrm>
          <a:prstGeom prst="rect">
            <a:avLst/>
          </a:prstGeom>
          <a:noFill/>
        </p:spPr>
        <p:txBody>
          <a:bodyPr wrap="square" lIns="0" tIns="0" rIns="0" bIns="0" anchor="t">
            <a:noAutofit/>
          </a:bodyPr>
          <a:lstStyle/>
          <a:p>
            <a:pPr algn="l">
              <a:lnSpc>
                <a:spcPct val="160000"/>
              </a:lnSpc>
              <a:buNone/>
              <a:defRPr sz="2850" b="0">
                <a:solidFill>
                  <a:srgbClr val="151515"/>
                </a:solidFill>
                <a:latin typeface="Times New Roman"/>
                <a:ea typeface="Times New Roman"/>
                <a:cs typeface="Times New Roman"/>
              </a:defRPr>
            </a:pPr>
            <a:r>
              <a:rPr sz="2800" b="0" i="0">
                <a:solidFill>
                  <a:srgbClr val="151515"/>
                </a:solidFill>
                <a:latin typeface="Times New Roman"/>
              </a:rPr>
              <a:t>Ưu điểm vượt trội: Rào cản co giãn linh hoạt theo độ biến động thực tế (ATR), khắc phục hoàn toàn nhược điểm cố định thời gian (Fixed-time horizon) truyền thống.</a:t>
            </a:r>
            <a:endParaRPr sz="1600">
              <a:latin typeface="Times New Roman"/>
              <a:ea typeface="Times New Roman"/>
              <a:cs typeface="Times New Roman"/>
            </a:endParaRPr>
          </a:p>
        </p:txBody>
      </p:sp>
      <p:sp>
        <p:nvSpPr>
          <p:cNvPr id="45" name="Shape 43">
            <a:extLst>
              <a:ext uri="{FF2B5EF4-FFF2-40B4-BE49-F238E27FC236}">
                <a16:creationId xmlns:a16="http://schemas.microsoft.com/office/drawing/2014/main" id="{E3B8C359-6B00-43CC-A9CD-569117D81F20}"/>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46" name="Text 44">
            <a:extLst>
              <a:ext uri="{FF2B5EF4-FFF2-40B4-BE49-F238E27FC236}">
                <a16:creationId xmlns:a16="http://schemas.microsoft.com/office/drawing/2014/main" id="{E9EEE82C-0BEB-4F00-A7E4-AD4B03F138FB}"/>
              </a:ext>
            </a:extLst>
          </p:cNvPr>
          <p:cNvSpPr>
            <a:spLocks noGrp="1"/>
          </p:cNvSpPr>
          <p:nvPr/>
        </p:nvSpPr>
        <p:spPr>
          <a:xfrm>
            <a:off x="20320000" y="11623040"/>
            <a:ext cx="799211"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3/18</a:t>
            </a:r>
            <a:endParaRPr sz="1600">
              <a:latin typeface="Times New Roman"/>
              <a:ea typeface="Times New Roman"/>
              <a:cs typeface="Times New Roman"/>
            </a:endParaRPr>
          </a:p>
        </p:txBody>
      </p:sp>
      <p:sp>
        <p:nvSpPr>
          <p:cNvPr id="47" name="Text 24">
            <a:extLst>
              <a:ext uri="{FF2B5EF4-FFF2-40B4-BE49-F238E27FC236}">
                <a16:creationId xmlns:a16="http://schemas.microsoft.com/office/drawing/2014/main" id="{1545C6EA-889B-97F3-0838-649EA516269E}"/>
              </a:ext>
            </a:extLst>
          </p:cNvPr>
          <p:cNvSpPr>
            <a:spLocks noGrp="1"/>
          </p:cNvSpPr>
          <p:nvPr/>
        </p:nvSpPr>
        <p:spPr>
          <a:xfrm>
            <a:off x="2859790" y="7609332"/>
            <a:ext cx="14224000" cy="698500"/>
          </a:xfrm>
          <a:prstGeom prst="rect">
            <a:avLst/>
          </a:prstGeom>
          <a:noFill/>
        </p:spPr>
        <p:txBody>
          <a:bodyPr wrap="square" lIns="0" tIns="0" rIns="0" bIns="0" anchor="ctr">
            <a:noAutofit/>
          </a:bodyPr>
          <a:lstStyle/>
          <a:p>
            <a:pPr algn="ctr">
              <a:lnSpc>
                <a:spcPct val="100000"/>
              </a:lnSpc>
              <a:buNone/>
              <a:defRPr sz="3150" b="0">
                <a:solidFill>
                  <a:srgbClr val="151515"/>
                </a:solidFill>
                <a:latin typeface="Times New Roman"/>
                <a:ea typeface="Times New Roman"/>
                <a:cs typeface="Times New Roman"/>
              </a:defRPr>
            </a:pPr>
            <a:r>
              <a:rPr sz="3400" b="1" i="0">
                <a:solidFill>
                  <a:srgbClr val="1565C0"/>
                </a:solidFill>
                <a:latin typeface="Times New Roman"/>
              </a:rPr>
              <a:t>Tín hiệu kỹ thuật M15   →   Gán nhãn Triple-Barrier (0 / 1)   →   Phân loại CatBoost</a:t>
            </a:r>
            <a:endParaRPr sz="2400">
              <a:latin typeface="Times New Roman"/>
              <a:ea typeface="Times New Roman"/>
              <a:cs typeface="Times New Roman"/>
            </a:endParaRPr>
          </a:p>
        </p:txBody>
      </p:sp>
    </p:spTree>
    <p:extLst>
      <p:ext uri="{BB962C8B-B14F-4D97-AF65-F5344CB8AC3E}">
        <p14:creationId xmlns:p14="http://schemas.microsoft.com/office/powerpoint/2010/main" val="84280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48B0D12-21EE-40D7-BECE-78CF0B5B3D99}"/>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A5F45F08-875F-43B7-8F87-DC7C32BF0665}"/>
              </a:ext>
            </a:extLst>
          </p:cNvPr>
          <p:cNvSpPr>
            <a:spLocks noGrp="1"/>
          </p:cNvSpPr>
          <p:nvPr/>
        </p:nvSpPr>
        <p:spPr>
          <a:xfrm>
            <a:off x="169259"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3E81B155-37DA-42CD-872B-E053C95C9275}"/>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74701C66-50CA-4114-8BC9-E23CC5363508}"/>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FF7DCEFD-20D9-4D10-AE8E-17B569826CB0}"/>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89E84EEE-0FDC-4EC6-B48F-9F2821576D81}"/>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38D99CB8-0975-47F2-BE00-B32359147D46}"/>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053D217E-0DF1-442C-9245-1CFB4B4A7652}"/>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E1A656DE-9003-4C55-8B36-AC74315398EB}"/>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DA3F55C0-FF74-4801-A68D-8CE95C962034}"/>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F0AD31E7-443A-423A-BE0C-02042CE8B362}"/>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90BF3388-344A-4889-B16F-8074EDAF0A90}"/>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6552146C-F7FD-4F69-AC2F-E0A941AE000A}"/>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E5882D7C-E663-49A9-83B2-981778761469}"/>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0CAB0726-75A9-4259-8D34-8DB00E3AE30B}"/>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0BE14AEE-863C-44B2-96E9-5C42D639F27C}"/>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Bộ dữ liệu giao dịch và phân chia tập kiểm định</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4D2DDC9C-3504-46D8-8B89-BBAF4D96F47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D8AB73D9-15F5-4B5D-BCCF-6721944A6D45}"/>
              </a:ext>
            </a:extLst>
          </p:cNvPr>
          <p:cNvSpPr>
            <a:spLocks noGrp="1"/>
          </p:cNvSpPr>
          <p:nvPr/>
        </p:nvSpPr>
        <p:spPr>
          <a:xfrm>
            <a:off x="1016000" y="1947291"/>
            <a:ext cx="19642709" cy="2032000"/>
          </a:xfrm>
          <a:prstGeom prst="roundRect">
            <a:avLst>
              <a:gd name="adj" fmla="val 8000"/>
            </a:avLst>
          </a:prstGeom>
          <a:solidFill>
            <a:srgbClr val="E3F2FD"/>
          </a:solidFill>
          <a:ln w="12700">
            <a:solidFill>
              <a:srgbClr val="BBDEFB"/>
            </a:solidFill>
            <a:prstDash val="solid"/>
          </a:ln>
        </p:spPr>
        <p:txBody>
          <a:bodyPr/>
          <a:lstStyle/>
          <a:p>
            <a:endParaRPr/>
          </a:p>
        </p:txBody>
      </p:sp>
      <p:sp>
        <p:nvSpPr>
          <p:cNvPr id="20" name="Shape 18">
            <a:extLst>
              <a:ext uri="{FF2B5EF4-FFF2-40B4-BE49-F238E27FC236}">
                <a16:creationId xmlns:a16="http://schemas.microsoft.com/office/drawing/2014/main" id="{D888CE87-FB56-4008-AFB6-311309F2423D}"/>
              </a:ext>
            </a:extLst>
          </p:cNvPr>
          <p:cNvSpPr>
            <a:spLocks noGrp="1"/>
          </p:cNvSpPr>
          <p:nvPr/>
        </p:nvSpPr>
        <p:spPr>
          <a:xfrm>
            <a:off x="1354709" y="2065909"/>
            <a:ext cx="6773291" cy="440309"/>
          </a:xfrm>
          <a:prstGeom prst="rect">
            <a:avLst/>
          </a:prstGeom>
          <a:solidFill>
            <a:srgbClr val="FFFFFF">
              <a:alpha val="0"/>
            </a:srgbClr>
          </a:solidFill>
        </p:spPr>
        <p:txBody>
          <a:bodyPr/>
          <a:lstStyle/>
          <a:p>
            <a:endParaRPr/>
          </a:p>
        </p:txBody>
      </p:sp>
      <p:sp>
        <p:nvSpPr>
          <p:cNvPr id="21" name="Text 19">
            <a:extLst>
              <a:ext uri="{FF2B5EF4-FFF2-40B4-BE49-F238E27FC236}">
                <a16:creationId xmlns:a16="http://schemas.microsoft.com/office/drawing/2014/main" id="{42349BC9-16E9-42D5-B577-44F0B2D8469D}"/>
              </a:ext>
            </a:extLst>
          </p:cNvPr>
          <p:cNvSpPr>
            <a:spLocks noGrp="1"/>
          </p:cNvSpPr>
          <p:nvPr/>
        </p:nvSpPr>
        <p:spPr>
          <a:xfrm>
            <a:off x="1232789" y="2004949"/>
            <a:ext cx="11312137" cy="562229"/>
          </a:xfrm>
          <a:prstGeom prst="rect">
            <a:avLst/>
          </a:prstGeom>
          <a:noFill/>
        </p:spPr>
        <p:txBody>
          <a:bodyPr wrap="square" lIns="0" tIns="0" rIns="0" bIns="0" anchor="ctr">
            <a:noAutofit/>
          </a:bodyPr>
          <a:lstStyle/>
          <a:p>
            <a:pPr algn="l">
              <a:lnSpc>
                <a:spcPct val="100000"/>
              </a:lnSpc>
              <a:buNone/>
              <a:defRPr sz="3000" b="1">
                <a:solidFill>
                  <a:srgbClr val="1565C0"/>
                </a:solidFill>
                <a:latin typeface="Times New Roman"/>
                <a:ea typeface="Times New Roman"/>
                <a:cs typeface="Times New Roman"/>
              </a:defRPr>
            </a:pPr>
            <a:r>
              <a:rPr sz="3200" b="1" i="0" dirty="0">
                <a:solidFill>
                  <a:srgbClr val="1565C0"/>
                </a:solidFill>
                <a:latin typeface="Times New Roman"/>
              </a:rPr>
              <a:t>30.036 </a:t>
            </a:r>
            <a:r>
              <a:rPr sz="3200" b="1" i="0" dirty="0" err="1">
                <a:solidFill>
                  <a:srgbClr val="1565C0"/>
                </a:solidFill>
                <a:latin typeface="Times New Roman"/>
              </a:rPr>
              <a:t>cơ</a:t>
            </a:r>
            <a:r>
              <a:rPr sz="3200" b="1" i="0" dirty="0">
                <a:solidFill>
                  <a:srgbClr val="1565C0"/>
                </a:solidFill>
                <a:latin typeface="Times New Roman"/>
              </a:rPr>
              <a:t> </a:t>
            </a:r>
            <a:r>
              <a:rPr sz="3200" b="1" i="0" dirty="0" err="1">
                <a:solidFill>
                  <a:srgbClr val="1565C0"/>
                </a:solidFill>
                <a:latin typeface="Times New Roman"/>
              </a:rPr>
              <a:t>hội</a:t>
            </a:r>
            <a:r>
              <a:rPr sz="3200" b="1" i="0" dirty="0">
                <a:solidFill>
                  <a:srgbClr val="1565C0"/>
                </a:solidFill>
                <a:latin typeface="Times New Roman"/>
              </a:rPr>
              <a:t> </a:t>
            </a:r>
            <a:r>
              <a:rPr sz="3200" b="1" i="0" dirty="0" err="1">
                <a:solidFill>
                  <a:srgbClr val="1565C0"/>
                </a:solidFill>
                <a:latin typeface="Times New Roman"/>
              </a:rPr>
              <a:t>giao</a:t>
            </a:r>
            <a:r>
              <a:rPr sz="3200" b="1" i="0" dirty="0">
                <a:solidFill>
                  <a:srgbClr val="1565C0"/>
                </a:solidFill>
                <a:latin typeface="Times New Roman"/>
              </a:rPr>
              <a:t> </a:t>
            </a:r>
            <a:r>
              <a:rPr sz="3200" b="1" i="0" dirty="0" err="1">
                <a:solidFill>
                  <a:srgbClr val="1565C0"/>
                </a:solidFill>
                <a:latin typeface="Times New Roman"/>
              </a:rPr>
              <a:t>dịch</a:t>
            </a:r>
            <a:r>
              <a:rPr sz="3200" b="1" i="0" dirty="0">
                <a:solidFill>
                  <a:srgbClr val="1565C0"/>
                </a:solidFill>
                <a:latin typeface="Times New Roman"/>
              </a:rPr>
              <a:t> (</a:t>
            </a:r>
            <a:r>
              <a:rPr sz="3200" b="1" i="0" dirty="0" err="1">
                <a:solidFill>
                  <a:srgbClr val="1565C0"/>
                </a:solidFill>
                <a:latin typeface="Times New Roman"/>
              </a:rPr>
              <a:t>Chuỗi</a:t>
            </a:r>
            <a:r>
              <a:rPr sz="3200" b="1" i="0" dirty="0">
                <a:solidFill>
                  <a:srgbClr val="1565C0"/>
                </a:solidFill>
                <a:latin typeface="Times New Roman"/>
              </a:rPr>
              <a:t> </a:t>
            </a:r>
            <a:r>
              <a:rPr sz="3200" b="1" i="0" dirty="0" err="1">
                <a:solidFill>
                  <a:srgbClr val="1565C0"/>
                </a:solidFill>
                <a:latin typeface="Times New Roman"/>
              </a:rPr>
              <a:t>nến</a:t>
            </a:r>
            <a:r>
              <a:rPr sz="3200" b="1" i="0" dirty="0">
                <a:solidFill>
                  <a:srgbClr val="1565C0"/>
                </a:solidFill>
                <a:latin typeface="Times New Roman"/>
              </a:rPr>
              <a:t> M15 BTCUSD 2018 - 2024)</a:t>
            </a:r>
            <a:endParaRPr sz="1600" dirty="0">
              <a:latin typeface="Times New Roman"/>
              <a:ea typeface="Times New Roman"/>
              <a:cs typeface="Times New Roman"/>
            </a:endParaRPr>
          </a:p>
        </p:txBody>
      </p:sp>
      <p:sp>
        <p:nvSpPr>
          <p:cNvPr id="22" name="Shape 20">
            <a:extLst>
              <a:ext uri="{FF2B5EF4-FFF2-40B4-BE49-F238E27FC236}">
                <a16:creationId xmlns:a16="http://schemas.microsoft.com/office/drawing/2014/main" id="{5C083878-2FE7-4317-BB65-6C9691DD373E}"/>
              </a:ext>
            </a:extLst>
          </p:cNvPr>
          <p:cNvSpPr>
            <a:spLocks noGrp="1"/>
          </p:cNvSpPr>
          <p:nvPr/>
        </p:nvSpPr>
        <p:spPr>
          <a:xfrm>
            <a:off x="1354709" y="2573909"/>
            <a:ext cx="18965291" cy="1219200"/>
          </a:xfrm>
          <a:prstGeom prst="rect">
            <a:avLst/>
          </a:prstGeom>
          <a:solidFill>
            <a:srgbClr val="FFFFFF">
              <a:alpha val="0"/>
            </a:srgbClr>
          </a:solidFill>
        </p:spPr>
        <p:txBody>
          <a:bodyPr/>
          <a:lstStyle/>
          <a:p>
            <a:endParaRPr/>
          </a:p>
        </p:txBody>
      </p:sp>
      <p:sp>
        <p:nvSpPr>
          <p:cNvPr id="23" name="Text 21">
            <a:extLst>
              <a:ext uri="{FF2B5EF4-FFF2-40B4-BE49-F238E27FC236}">
                <a16:creationId xmlns:a16="http://schemas.microsoft.com/office/drawing/2014/main" id="{0B6E9A2F-1236-448B-942F-6A9F67D3B1A4}"/>
              </a:ext>
            </a:extLst>
          </p:cNvPr>
          <p:cNvSpPr>
            <a:spLocks noGrp="1"/>
          </p:cNvSpPr>
          <p:nvPr/>
        </p:nvSpPr>
        <p:spPr>
          <a:xfrm>
            <a:off x="1232789" y="2512949"/>
            <a:ext cx="19209131" cy="1341120"/>
          </a:xfrm>
          <a:prstGeom prst="rect">
            <a:avLst/>
          </a:prstGeom>
          <a:noFill/>
        </p:spPr>
        <p:txBody>
          <a:bodyPr wrap="square" lIns="0" tIns="0" rIns="0" bIns="0" anchor="t">
            <a:noAutofit/>
          </a:bodyPr>
          <a:lstStyle/>
          <a:p>
            <a:pPr algn="l">
              <a:lnSpc>
                <a:spcPct val="140000"/>
              </a:lnSpc>
              <a:buNone/>
              <a:defRPr sz="2850" b="0">
                <a:solidFill>
                  <a:srgbClr val="151515"/>
                </a:solidFill>
                <a:latin typeface="Times New Roman"/>
                <a:ea typeface="Times New Roman"/>
                <a:cs typeface="Times New Roman"/>
              </a:defRPr>
            </a:pPr>
            <a:r>
              <a:rPr sz="2600" b="0" i="0">
                <a:solidFill>
                  <a:srgbClr val="151515"/>
                </a:solidFill>
                <a:latin typeface="Times New Roman"/>
              </a:rPr>
              <a:t>Trích xuất đặc trưng và gán nhãn Triple-Barrier. Tách biệt hoàn toàn Train/Dev và tập kiểm định Holdout.</a:t>
            </a:r>
            <a:endParaRPr sz="1600">
              <a:latin typeface="Times New Roman"/>
              <a:ea typeface="Times New Roman"/>
              <a:cs typeface="Times New Roman"/>
            </a:endParaRPr>
          </a:p>
        </p:txBody>
      </p:sp>
      <p:sp>
        <p:nvSpPr>
          <p:cNvPr id="25" name="Shape 22">
            <a:extLst>
              <a:ext uri="{FF2B5EF4-FFF2-40B4-BE49-F238E27FC236}">
                <a16:creationId xmlns:a16="http://schemas.microsoft.com/office/drawing/2014/main" id="{BD6B0EA3-370F-429D-BA4E-D0EAE2832A0B}"/>
              </a:ext>
            </a:extLst>
          </p:cNvPr>
          <p:cNvSpPr>
            <a:spLocks noGrp="1"/>
          </p:cNvSpPr>
          <p:nvPr/>
        </p:nvSpPr>
        <p:spPr>
          <a:xfrm>
            <a:off x="1016000" y="9398000"/>
            <a:ext cx="19642709" cy="1693291"/>
          </a:xfrm>
          <a:prstGeom prst="roundRect">
            <a:avLst>
              <a:gd name="adj" fmla="val 8000"/>
            </a:avLst>
          </a:prstGeom>
          <a:solidFill>
            <a:srgbClr val="FFF3E0"/>
          </a:solidFill>
          <a:ln w="12700">
            <a:solidFill>
              <a:srgbClr val="FFE0B2"/>
            </a:solidFill>
            <a:prstDash val="solid"/>
          </a:ln>
        </p:spPr>
        <p:txBody>
          <a:bodyPr/>
          <a:lstStyle/>
          <a:p>
            <a:endParaRPr/>
          </a:p>
        </p:txBody>
      </p:sp>
      <p:sp>
        <p:nvSpPr>
          <p:cNvPr id="26" name="Shape 23">
            <a:extLst>
              <a:ext uri="{FF2B5EF4-FFF2-40B4-BE49-F238E27FC236}">
                <a16:creationId xmlns:a16="http://schemas.microsoft.com/office/drawing/2014/main" id="{B8F863B0-8698-4114-A0C2-B5F093FA8B02}"/>
              </a:ext>
            </a:extLst>
          </p:cNvPr>
          <p:cNvSpPr>
            <a:spLocks noGrp="1"/>
          </p:cNvSpPr>
          <p:nvPr/>
        </p:nvSpPr>
        <p:spPr>
          <a:xfrm>
            <a:off x="1354709" y="9567291"/>
            <a:ext cx="18965291" cy="1354709"/>
          </a:xfrm>
          <a:prstGeom prst="rect">
            <a:avLst/>
          </a:prstGeom>
          <a:solidFill>
            <a:srgbClr val="FFFFFF">
              <a:alpha val="0"/>
            </a:srgbClr>
          </a:solidFill>
        </p:spPr>
        <p:txBody>
          <a:bodyPr/>
          <a:lstStyle/>
          <a:p>
            <a:endParaRPr/>
          </a:p>
        </p:txBody>
      </p:sp>
      <p:sp>
        <p:nvSpPr>
          <p:cNvPr id="27" name="Text 24">
            <a:extLst>
              <a:ext uri="{FF2B5EF4-FFF2-40B4-BE49-F238E27FC236}">
                <a16:creationId xmlns:a16="http://schemas.microsoft.com/office/drawing/2014/main" id="{1C8F46B5-BF6A-4492-8749-E50D4C100A44}"/>
              </a:ext>
            </a:extLst>
          </p:cNvPr>
          <p:cNvSpPr>
            <a:spLocks noGrp="1"/>
          </p:cNvSpPr>
          <p:nvPr/>
        </p:nvSpPr>
        <p:spPr>
          <a:xfrm>
            <a:off x="1232789" y="9506331"/>
            <a:ext cx="19209131" cy="1476629"/>
          </a:xfrm>
          <a:prstGeom prst="rect">
            <a:avLst/>
          </a:prstGeom>
          <a:noFill/>
        </p:spPr>
        <p:txBody>
          <a:bodyPr wrap="square" lIns="0" tIns="0" rIns="0" bIns="0" anchor="t">
            <a:noAutofit/>
          </a:bodyPr>
          <a:lstStyle/>
          <a:p>
            <a:pPr algn="l">
              <a:lnSpc>
                <a:spcPct val="150000"/>
              </a:lnSpc>
              <a:buNone/>
              <a:defRPr sz="2625" b="0">
                <a:solidFill>
                  <a:srgbClr val="151515"/>
                </a:solidFill>
                <a:latin typeface="Times New Roman"/>
                <a:ea typeface="Times New Roman"/>
                <a:cs typeface="Times New Roman"/>
              </a:defRPr>
            </a:pPr>
            <a:r>
              <a:rPr sz="2600" b="0" i="0">
                <a:solidFill>
                  <a:srgbClr val="151515"/>
                </a:solidFill>
                <a:latin typeface="Times New Roman"/>
              </a:rPr>
              <a:t>Mất cân bằng lớp nặng (Imbalance 1:2.16): Lớp thua chiếm 68,3%. Do đó, độ chính xác (Accuracy) hoàn toàn vô nghĩa; nhóm sử dụng ROC-AUC, PR-AUC và Profit Factor làm thước đo đánh giá cốt lõi.</a:t>
            </a:r>
            <a:endParaRPr sz="1600">
              <a:latin typeface="Times New Roman"/>
              <a:ea typeface="Times New Roman"/>
              <a:cs typeface="Times New Roman"/>
            </a:endParaRPr>
          </a:p>
        </p:txBody>
      </p:sp>
      <p:sp>
        <p:nvSpPr>
          <p:cNvPr id="28" name="Shape 25">
            <a:extLst>
              <a:ext uri="{FF2B5EF4-FFF2-40B4-BE49-F238E27FC236}">
                <a16:creationId xmlns:a16="http://schemas.microsoft.com/office/drawing/2014/main" id="{AA8164F0-69AD-47EC-A0F2-EDF4512AD7B1}"/>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9" name="Text 26">
            <a:extLst>
              <a:ext uri="{FF2B5EF4-FFF2-40B4-BE49-F238E27FC236}">
                <a16:creationId xmlns:a16="http://schemas.microsoft.com/office/drawing/2014/main" id="{1E25085D-333C-4119-A162-E7825695140C}"/>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4/18</a:t>
            </a:r>
            <a:endParaRPr sz="1600">
              <a:latin typeface="Times New Roman"/>
              <a:ea typeface="Times New Roman"/>
              <a:cs typeface="Times New Roman"/>
            </a:endParaRPr>
          </a:p>
        </p:txBody>
      </p:sp>
      <p:graphicFrame>
        <p:nvGraphicFramePr>
          <p:cNvPr id="30" name="Table 29"/>
          <p:cNvGraphicFramePr>
            <a:graphicFrameLocks noGrp="1"/>
          </p:cNvGraphicFramePr>
          <p:nvPr>
            <p:extLst>
              <p:ext uri="{D42A27DB-BD31-4B8C-83A1-F6EECF244321}">
                <p14:modId xmlns:p14="http://schemas.microsoft.com/office/powerpoint/2010/main" val="1151478231"/>
              </p:ext>
            </p:extLst>
          </p:nvPr>
        </p:nvGraphicFramePr>
        <p:xfrm>
          <a:off x="1016032" y="3300000"/>
          <a:ext cx="10500000" cy="4037811"/>
        </p:xfrm>
        <a:graphic>
          <a:graphicData uri="http://schemas.openxmlformats.org/drawingml/2006/table">
            <a:tbl>
              <a:tblPr firstRow="1" bandRow="1">
                <a:tableStyleId>{5C22544A-7EE6-4342-B048-85BDC9FD1C3A}</a:tableStyleId>
              </a:tblPr>
              <a:tblGrid>
                <a:gridCol w="2625000">
                  <a:extLst>
                    <a:ext uri="{9D8B030D-6E8A-4147-A177-3AD203B41FA5}">
                      <a16:colId xmlns:a16="http://schemas.microsoft.com/office/drawing/2014/main" val="20000"/>
                    </a:ext>
                  </a:extLst>
                </a:gridCol>
                <a:gridCol w="1890000">
                  <a:extLst>
                    <a:ext uri="{9D8B030D-6E8A-4147-A177-3AD203B41FA5}">
                      <a16:colId xmlns:a16="http://schemas.microsoft.com/office/drawing/2014/main" val="20001"/>
                    </a:ext>
                  </a:extLst>
                </a:gridCol>
                <a:gridCol w="3360000">
                  <a:extLst>
                    <a:ext uri="{9D8B030D-6E8A-4147-A177-3AD203B41FA5}">
                      <a16:colId xmlns:a16="http://schemas.microsoft.com/office/drawing/2014/main" val="20002"/>
                    </a:ext>
                  </a:extLst>
                </a:gridCol>
                <a:gridCol w="2625000">
                  <a:extLst>
                    <a:ext uri="{9D8B030D-6E8A-4147-A177-3AD203B41FA5}">
                      <a16:colId xmlns:a16="http://schemas.microsoft.com/office/drawing/2014/main" val="20003"/>
                    </a:ext>
                  </a:extLst>
                </a:gridCol>
              </a:tblGrid>
              <a:tr h="437811">
                <a:tc>
                  <a:txBody>
                    <a:bodyPr/>
                    <a:lstStyle/>
                    <a:p>
                      <a:pPr algn="ctr">
                        <a:defRPr sz="2000" b="1">
                          <a:solidFill>
                            <a:srgbClr val="FFFFFF"/>
                          </a:solidFill>
                          <a:latin typeface="Times New Roman"/>
                        </a:defRPr>
                      </a:pPr>
                      <a:r>
                        <a:t>Tập dữ liệu</a:t>
                      </a:r>
                    </a:p>
                  </a:txBody>
                  <a:tcPr>
                    <a:solidFill>
                      <a:srgbClr val="1565C0"/>
                    </a:solidFill>
                  </a:tcPr>
                </a:tc>
                <a:tc>
                  <a:txBody>
                    <a:bodyPr/>
                    <a:lstStyle/>
                    <a:p>
                      <a:pPr algn="ctr">
                        <a:defRPr sz="2000" b="1">
                          <a:solidFill>
                            <a:srgbClr val="FFFFFF"/>
                          </a:solidFill>
                          <a:latin typeface="Times New Roman"/>
                        </a:defRPr>
                      </a:pPr>
                      <a:r>
                        <a:t>Số mẫu</a:t>
                      </a:r>
                    </a:p>
                  </a:txBody>
                  <a:tcPr>
                    <a:solidFill>
                      <a:srgbClr val="1565C0"/>
                    </a:solidFill>
                  </a:tcPr>
                </a:tc>
                <a:tc>
                  <a:txBody>
                    <a:bodyPr/>
                    <a:lstStyle/>
                    <a:p>
                      <a:pPr algn="ctr">
                        <a:defRPr sz="2000" b="1">
                          <a:solidFill>
                            <a:srgbClr val="FFFFFF"/>
                          </a:solidFill>
                          <a:latin typeface="Times New Roman"/>
                        </a:defRPr>
                      </a:pPr>
                      <a:r>
                        <a:rPr dirty="0" err="1"/>
                        <a:t>Tỷ</a:t>
                      </a:r>
                      <a:r>
                        <a:rPr dirty="0"/>
                        <a:t> </a:t>
                      </a:r>
                      <a:r>
                        <a:rPr dirty="0" err="1"/>
                        <a:t>lệ</a:t>
                      </a:r>
                      <a:r>
                        <a:rPr dirty="0"/>
                        <a:t> Thắng (Class 1)</a:t>
                      </a:r>
                    </a:p>
                  </a:txBody>
                  <a:tcPr>
                    <a:solidFill>
                      <a:srgbClr val="1565C0"/>
                    </a:solidFill>
                  </a:tcPr>
                </a:tc>
                <a:tc>
                  <a:txBody>
                    <a:bodyPr/>
                    <a:lstStyle/>
                    <a:p>
                      <a:pPr algn="ctr">
                        <a:defRPr sz="2000" b="1">
                          <a:solidFill>
                            <a:srgbClr val="FFFFFF"/>
                          </a:solidFill>
                          <a:latin typeface="Times New Roman"/>
                        </a:defRPr>
                      </a:pPr>
                      <a:r>
                        <a:t>Vai trò</a:t>
                      </a:r>
                    </a:p>
                  </a:txBody>
                  <a:tcPr>
                    <a:solidFill>
                      <a:srgbClr val="1565C0"/>
                    </a:solidFill>
                  </a:tcPr>
                </a:tc>
                <a:extLst>
                  <a:ext uri="{0D108BD9-81ED-4DB2-BD59-A6C34878D82A}">
                    <a16:rowId xmlns:a16="http://schemas.microsoft.com/office/drawing/2014/main" val="10000"/>
                  </a:ext>
                </a:extLst>
              </a:tr>
              <a:tr h="1200000">
                <a:tc>
                  <a:txBody>
                    <a:bodyPr/>
                    <a:lstStyle/>
                    <a:p>
                      <a:pPr algn="ctr">
                        <a:defRPr sz="2000" b="0">
                          <a:solidFill>
                            <a:srgbClr val="151515"/>
                          </a:solidFill>
                          <a:latin typeface="Times New Roman"/>
                        </a:defRPr>
                      </a:pPr>
                      <a:r>
                        <a:t>Train / Dev</a:t>
                      </a:r>
                    </a:p>
                  </a:txBody>
                  <a:tcPr>
                    <a:solidFill>
                      <a:srgbClr val="FFFFFF"/>
                    </a:solidFill>
                  </a:tcPr>
                </a:tc>
                <a:tc>
                  <a:txBody>
                    <a:bodyPr/>
                    <a:lstStyle/>
                    <a:p>
                      <a:pPr algn="l">
                        <a:defRPr sz="2000" b="0">
                          <a:solidFill>
                            <a:srgbClr val="151515"/>
                          </a:solidFill>
                          <a:latin typeface="Times New Roman"/>
                        </a:defRPr>
                      </a:pPr>
                      <a:r>
                        <a:t>25.008</a:t>
                      </a:r>
                    </a:p>
                  </a:txBody>
                  <a:tcPr>
                    <a:solidFill>
                      <a:srgbClr val="FFFFFF"/>
                    </a:solidFill>
                  </a:tcPr>
                </a:tc>
                <a:tc>
                  <a:txBody>
                    <a:bodyPr/>
                    <a:lstStyle/>
                    <a:p>
                      <a:pPr algn="l">
                        <a:defRPr sz="2000" b="0">
                          <a:solidFill>
                            <a:srgbClr val="151515"/>
                          </a:solidFill>
                          <a:latin typeface="Times New Roman"/>
                        </a:defRPr>
                      </a:pPr>
                      <a:r>
                        <a:t>31,7% (7.928 thắng / 17.080 thua)</a:t>
                      </a:r>
                    </a:p>
                  </a:txBody>
                  <a:tcPr>
                    <a:solidFill>
                      <a:srgbClr val="FFFFFF"/>
                    </a:solidFill>
                  </a:tcPr>
                </a:tc>
                <a:tc>
                  <a:txBody>
                    <a:bodyPr/>
                    <a:lstStyle/>
                    <a:p>
                      <a:pPr algn="l">
                        <a:defRPr sz="2000" b="0">
                          <a:solidFill>
                            <a:srgbClr val="151515"/>
                          </a:solidFill>
                          <a:latin typeface="Times New Roman"/>
                        </a:defRPr>
                      </a:pPr>
                      <a:r>
                        <a:t>Huấn luyện &amp; CV</a:t>
                      </a:r>
                    </a:p>
                  </a:txBody>
                  <a:tcPr>
                    <a:solidFill>
                      <a:srgbClr val="FFFFFF"/>
                    </a:solidFill>
                  </a:tcPr>
                </a:tc>
                <a:extLst>
                  <a:ext uri="{0D108BD9-81ED-4DB2-BD59-A6C34878D82A}">
                    <a16:rowId xmlns:a16="http://schemas.microsoft.com/office/drawing/2014/main" val="10001"/>
                  </a:ext>
                </a:extLst>
              </a:tr>
              <a:tr h="1200000">
                <a:tc>
                  <a:txBody>
                    <a:bodyPr/>
                    <a:lstStyle/>
                    <a:p>
                      <a:pPr algn="ctr">
                        <a:defRPr sz="2000" b="0">
                          <a:solidFill>
                            <a:srgbClr val="151515"/>
                          </a:solidFill>
                          <a:latin typeface="Times New Roman"/>
                        </a:defRPr>
                      </a:pPr>
                      <a:r>
                        <a:t>Holdout Test</a:t>
                      </a:r>
                    </a:p>
                  </a:txBody>
                  <a:tcPr>
                    <a:solidFill>
                      <a:srgbClr val="E3F2FD"/>
                    </a:solidFill>
                  </a:tcPr>
                </a:tc>
                <a:tc>
                  <a:txBody>
                    <a:bodyPr/>
                    <a:lstStyle/>
                    <a:p>
                      <a:pPr algn="l">
                        <a:defRPr sz="2000" b="0">
                          <a:solidFill>
                            <a:srgbClr val="151515"/>
                          </a:solidFill>
                          <a:latin typeface="Times New Roman"/>
                        </a:defRPr>
                      </a:pPr>
                      <a:r>
                        <a:t>5.028</a:t>
                      </a:r>
                    </a:p>
                  </a:txBody>
                  <a:tcPr>
                    <a:solidFill>
                      <a:srgbClr val="E3F2FD"/>
                    </a:solidFill>
                  </a:tcPr>
                </a:tc>
                <a:tc>
                  <a:txBody>
                    <a:bodyPr/>
                    <a:lstStyle/>
                    <a:p>
                      <a:pPr algn="l">
                        <a:defRPr sz="2000" b="0">
                          <a:solidFill>
                            <a:srgbClr val="151515"/>
                          </a:solidFill>
                          <a:latin typeface="Times New Roman"/>
                        </a:defRPr>
                      </a:pPr>
                      <a:r>
                        <a:t>31,8% (1.599 thắng / 3.429 thua)</a:t>
                      </a:r>
                    </a:p>
                  </a:txBody>
                  <a:tcPr>
                    <a:solidFill>
                      <a:srgbClr val="E3F2FD"/>
                    </a:solidFill>
                  </a:tcPr>
                </a:tc>
                <a:tc>
                  <a:txBody>
                    <a:bodyPr/>
                    <a:lstStyle/>
                    <a:p>
                      <a:pPr algn="l">
                        <a:defRPr sz="2000" b="0">
                          <a:solidFill>
                            <a:srgbClr val="151515"/>
                          </a:solidFill>
                          <a:latin typeface="Times New Roman"/>
                        </a:defRPr>
                      </a:pPr>
                      <a:r>
                        <a:t>Kiểm định mù Out-of-sample</a:t>
                      </a:r>
                    </a:p>
                  </a:txBody>
                  <a:tcPr>
                    <a:solidFill>
                      <a:srgbClr val="E3F2FD"/>
                    </a:solidFill>
                  </a:tcPr>
                </a:tc>
                <a:extLst>
                  <a:ext uri="{0D108BD9-81ED-4DB2-BD59-A6C34878D82A}">
                    <a16:rowId xmlns:a16="http://schemas.microsoft.com/office/drawing/2014/main" val="10002"/>
                  </a:ext>
                </a:extLst>
              </a:tr>
              <a:tr h="1200000">
                <a:tc>
                  <a:txBody>
                    <a:bodyPr/>
                    <a:lstStyle/>
                    <a:p>
                      <a:pPr algn="ctr">
                        <a:defRPr sz="2000" b="0">
                          <a:solidFill>
                            <a:srgbClr val="151515"/>
                          </a:solidFill>
                          <a:latin typeface="Times New Roman"/>
                        </a:defRPr>
                      </a:pPr>
                      <a:r>
                        <a:t>Toàn bộ khảo sát</a:t>
                      </a:r>
                    </a:p>
                  </a:txBody>
                  <a:tcPr>
                    <a:solidFill>
                      <a:srgbClr val="FFFFFF"/>
                    </a:solidFill>
                  </a:tcPr>
                </a:tc>
                <a:tc>
                  <a:txBody>
                    <a:bodyPr/>
                    <a:lstStyle/>
                    <a:p>
                      <a:pPr algn="l">
                        <a:defRPr sz="2000" b="0">
                          <a:solidFill>
                            <a:srgbClr val="151515"/>
                          </a:solidFill>
                          <a:latin typeface="Times New Roman"/>
                        </a:defRPr>
                      </a:pPr>
                      <a:r>
                        <a:t>30.036</a:t>
                      </a:r>
                    </a:p>
                  </a:txBody>
                  <a:tcPr>
                    <a:solidFill>
                      <a:srgbClr val="FFFFFF"/>
                    </a:solidFill>
                  </a:tcPr>
                </a:tc>
                <a:tc>
                  <a:txBody>
                    <a:bodyPr/>
                    <a:lstStyle/>
                    <a:p>
                      <a:pPr algn="l">
                        <a:defRPr sz="2000" b="0">
                          <a:solidFill>
                            <a:srgbClr val="151515"/>
                          </a:solidFill>
                          <a:latin typeface="Times New Roman"/>
                        </a:defRPr>
                      </a:pPr>
                      <a:r>
                        <a:t>31,7% (9.527 thắng / 20.509 thua)</a:t>
                      </a:r>
                    </a:p>
                  </a:txBody>
                  <a:tcPr>
                    <a:solidFill>
                      <a:srgbClr val="FFFFFF"/>
                    </a:solidFill>
                  </a:tcPr>
                </a:tc>
                <a:tc>
                  <a:txBody>
                    <a:bodyPr/>
                    <a:lstStyle/>
                    <a:p>
                      <a:pPr algn="l">
                        <a:defRPr sz="2000" b="0">
                          <a:solidFill>
                            <a:srgbClr val="151515"/>
                          </a:solidFill>
                          <a:latin typeface="Times New Roman"/>
                        </a:defRPr>
                      </a:pPr>
                      <a:r>
                        <a:rPr dirty="0" err="1"/>
                        <a:t>Khảo</a:t>
                      </a:r>
                      <a:r>
                        <a:rPr dirty="0"/>
                        <a:t> </a:t>
                      </a:r>
                      <a:r>
                        <a:rPr dirty="0" err="1"/>
                        <a:t>sát</a:t>
                      </a:r>
                      <a:r>
                        <a:rPr dirty="0"/>
                        <a:t> </a:t>
                      </a:r>
                      <a:r>
                        <a:rPr dirty="0" err="1"/>
                        <a:t>tổng</a:t>
                      </a:r>
                      <a:r>
                        <a:rPr dirty="0"/>
                        <a:t> </a:t>
                      </a:r>
                      <a:r>
                        <a:rPr dirty="0" err="1"/>
                        <a:t>thể</a:t>
                      </a:r>
                      <a:endParaRPr dirty="0"/>
                    </a:p>
                  </a:txBody>
                  <a:tcPr>
                    <a:solidFill>
                      <a:srgbClr val="FFFFFF"/>
                    </a:solidFill>
                  </a:tcPr>
                </a:tc>
                <a:extLst>
                  <a:ext uri="{0D108BD9-81ED-4DB2-BD59-A6C34878D82A}">
                    <a16:rowId xmlns:a16="http://schemas.microsoft.com/office/drawing/2014/main" val="10003"/>
                  </a:ext>
                </a:extLst>
              </a:tr>
            </a:tbl>
          </a:graphicData>
        </a:graphic>
      </p:graphicFrame>
      <p:pic>
        <p:nvPicPr>
          <p:cNvPr id="31" name="Picture 30" descr="01_class_distribution.png"/>
          <p:cNvPicPr>
            <a:picLocks noChangeAspect="1"/>
          </p:cNvPicPr>
          <p:nvPr/>
        </p:nvPicPr>
        <p:blipFill>
          <a:blip r:embed="rId3"/>
          <a:stretch>
            <a:fillRect/>
          </a:stretch>
        </p:blipFill>
        <p:spPr>
          <a:xfrm>
            <a:off x="12000000" y="3100000"/>
            <a:ext cx="8800000" cy="5200000"/>
          </a:xfrm>
          <a:prstGeom prst="rect">
            <a:avLst/>
          </a:prstGeom>
        </p:spPr>
      </p:pic>
    </p:spTree>
    <p:extLst>
      <p:ext uri="{BB962C8B-B14F-4D97-AF65-F5344CB8AC3E}">
        <p14:creationId xmlns:p14="http://schemas.microsoft.com/office/powerpoint/2010/main" val="1090881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B88666C-A7F3-4540-9D2A-85BD04FED25F}"/>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ECE2A6BC-9C4C-48B9-9954-BAEDD2BE8AE9}"/>
              </a:ext>
            </a:extLst>
          </p:cNvPr>
          <p:cNvSpPr>
            <a:spLocks noGrp="1"/>
          </p:cNvSpPr>
          <p:nvPr/>
        </p:nvSpPr>
        <p:spPr>
          <a:xfrm>
            <a:off x="3725227"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BC95ABFA-E6DE-4EB4-9D63-997B1C70FDA9}"/>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34C8ED6D-95BB-4F0F-9C5D-2ACDCAEAF1C5}"/>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5EF4A0A8-C063-4E3B-AB00-845D6A83E5A7}"/>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9F9E9458-3F74-48AE-846E-8B4C995C80CC}"/>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C2F3470D-A50B-4892-B294-E6A73A413C34}"/>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F3622138-CE87-4A4E-AC4F-49B2A472DF4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B191EB4B-651B-45B2-8146-15D3F493CBD9}"/>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0DC85924-726E-4CBF-B128-BC1EE59582F6}"/>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CC46FEB6-9113-434F-A0D8-DE67E8DA76B2}"/>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FE0EF8DC-62D5-49BC-A54E-990B378114DA}"/>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56860E57-F671-44BB-8F63-C76365AB2729}"/>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9634440D-71D5-453F-AABA-5C8F5052711C}"/>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B1C403E4-FF08-4792-B055-788E7C38C7CD}"/>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F611A7CD-187C-4551-AA06-52DAE77711C0}"/>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Ba phương pháp tiếp cận trong nghiên cứu</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D83BBB91-EFC2-49F8-9DC6-EB4F4B4FB14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1C3A2234-368D-4C63-8AA4-C77A2EAFB84A}"/>
              </a:ext>
            </a:extLst>
          </p:cNvPr>
          <p:cNvSpPr>
            <a:spLocks noGrp="1"/>
          </p:cNvSpPr>
          <p:nvPr/>
        </p:nvSpPr>
        <p:spPr>
          <a:xfrm>
            <a:off x="1016000" y="1947291"/>
            <a:ext cx="6265291" cy="4741291"/>
          </a:xfrm>
          <a:prstGeom prst="roundRect">
            <a:avLst>
              <a:gd name="adj" fmla="val 8000"/>
            </a:avLst>
          </a:prstGeom>
          <a:solidFill>
            <a:srgbClr val="E3F2FD"/>
          </a:solidFill>
          <a:ln w="25400">
            <a:solidFill>
              <a:srgbClr val="1565C0"/>
            </a:solidFill>
            <a:prstDash val="solid"/>
          </a:ln>
        </p:spPr>
        <p:txBody>
          <a:bodyPr/>
          <a:lstStyle/>
          <a:p>
            <a:endParaRPr/>
          </a:p>
        </p:txBody>
      </p:sp>
      <p:sp>
        <p:nvSpPr>
          <p:cNvPr id="20" name="Shape 18">
            <a:extLst>
              <a:ext uri="{FF2B5EF4-FFF2-40B4-BE49-F238E27FC236}">
                <a16:creationId xmlns:a16="http://schemas.microsoft.com/office/drawing/2014/main" id="{7CF711EC-0C9F-43AC-82A0-B90B04FF0B4E}"/>
              </a:ext>
            </a:extLst>
          </p:cNvPr>
          <p:cNvSpPr>
            <a:spLocks noGrp="1"/>
          </p:cNvSpPr>
          <p:nvPr/>
        </p:nvSpPr>
        <p:spPr>
          <a:xfrm>
            <a:off x="1270000" y="2116709"/>
            <a:ext cx="5757291" cy="508000"/>
          </a:xfrm>
          <a:prstGeom prst="rect">
            <a:avLst/>
          </a:prstGeom>
          <a:solidFill>
            <a:srgbClr val="FFFFFF">
              <a:alpha val="0"/>
            </a:srgbClr>
          </a:solidFill>
        </p:spPr>
        <p:txBody>
          <a:bodyPr/>
          <a:lstStyle/>
          <a:p>
            <a:endParaRPr/>
          </a:p>
        </p:txBody>
      </p:sp>
      <p:sp>
        <p:nvSpPr>
          <p:cNvPr id="21" name="Text 19">
            <a:extLst>
              <a:ext uri="{FF2B5EF4-FFF2-40B4-BE49-F238E27FC236}">
                <a16:creationId xmlns:a16="http://schemas.microsoft.com/office/drawing/2014/main" id="{74F4D98E-D1D2-4D73-AA07-CCF1C7DCA8B8}"/>
              </a:ext>
            </a:extLst>
          </p:cNvPr>
          <p:cNvSpPr>
            <a:spLocks noGrp="1"/>
          </p:cNvSpPr>
          <p:nvPr/>
        </p:nvSpPr>
        <p:spPr>
          <a:xfrm>
            <a:off x="1148080" y="2055749"/>
            <a:ext cx="6001131" cy="629920"/>
          </a:xfrm>
          <a:prstGeom prst="rect">
            <a:avLst/>
          </a:prstGeom>
          <a:noFill/>
        </p:spPr>
        <p:txBody>
          <a:bodyPr wrap="square" lIns="0" tIns="0" rIns="0" bIns="0" anchor="ctr">
            <a:noAutofit/>
          </a:bodyPr>
          <a:lstStyle/>
          <a:p>
            <a:pPr algn="l">
              <a:lnSpc>
                <a:spcPct val="100000"/>
              </a:lnSpc>
              <a:buNone/>
              <a:defRPr sz="3000" b="1">
                <a:solidFill>
                  <a:srgbClr val="1565C0"/>
                </a:solidFill>
                <a:latin typeface="Times New Roman"/>
                <a:ea typeface="Times New Roman"/>
                <a:cs typeface="Times New Roman"/>
              </a:defRPr>
            </a:pPr>
            <a:r>
              <a:rPr sz="3400" b="1" i="0">
                <a:solidFill>
                  <a:srgbClr val="1565C0"/>
                </a:solidFill>
                <a:latin typeface="Times New Roman"/>
              </a:rPr>
              <a:t>Chiến lược Cơ sở (Tầng 1)</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A015D5A3-BC09-4473-BD56-4DFAF30F64DA}"/>
              </a:ext>
            </a:extLst>
          </p:cNvPr>
          <p:cNvSpPr>
            <a:spLocks noGrp="1"/>
          </p:cNvSpPr>
          <p:nvPr/>
        </p:nvSpPr>
        <p:spPr>
          <a:xfrm>
            <a:off x="1270000" y="2624709"/>
            <a:ext cx="5757291" cy="372491"/>
          </a:xfrm>
          <a:prstGeom prst="rect">
            <a:avLst/>
          </a:prstGeom>
          <a:solidFill>
            <a:srgbClr val="FFFFFF">
              <a:alpha val="0"/>
            </a:srgbClr>
          </a:solidFill>
        </p:spPr>
        <p:txBody>
          <a:bodyPr/>
          <a:lstStyle/>
          <a:p>
            <a:endParaRPr/>
          </a:p>
        </p:txBody>
      </p:sp>
      <p:sp>
        <p:nvSpPr>
          <p:cNvPr id="23" name="Text 21">
            <a:extLst>
              <a:ext uri="{FF2B5EF4-FFF2-40B4-BE49-F238E27FC236}">
                <a16:creationId xmlns:a16="http://schemas.microsoft.com/office/drawing/2014/main" id="{BBD1017F-DED5-4F8C-909B-5C77ECAF5D45}"/>
              </a:ext>
            </a:extLst>
          </p:cNvPr>
          <p:cNvSpPr>
            <a:spLocks noGrp="1"/>
          </p:cNvSpPr>
          <p:nvPr/>
        </p:nvSpPr>
        <p:spPr>
          <a:xfrm>
            <a:off x="1148080" y="2563749"/>
            <a:ext cx="6001131" cy="494411"/>
          </a:xfrm>
          <a:prstGeom prst="rect">
            <a:avLst/>
          </a:prstGeom>
          <a:noFill/>
        </p:spPr>
        <p:txBody>
          <a:bodyPr wrap="square" lIns="0" tIns="0" rIns="0" bIns="0" anchor="ctr">
            <a:noAutofit/>
          </a:bodyPr>
          <a:lstStyle/>
          <a:p>
            <a:pPr algn="l">
              <a:lnSpc>
                <a:spcPct val="100000"/>
              </a:lnSpc>
              <a:buNone/>
              <a:defRPr sz="2100" b="0">
                <a:solidFill>
                  <a:srgbClr val="666666"/>
                </a:solidFill>
                <a:latin typeface="Times New Roman"/>
                <a:ea typeface="Times New Roman"/>
                <a:cs typeface="Times New Roman"/>
              </a:defRPr>
            </a:pPr>
            <a:r>
              <a:rPr sz="2400" b="0" i="0">
                <a:solidFill>
                  <a:srgbClr val="646464"/>
                </a:solidFill>
                <a:latin typeface="Times New Roman"/>
              </a:rPr>
              <a:t>Chỉ báo kỹ thuật thuần túy</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9173E87B-FAC0-4FBB-8C0B-AB324E9828DE}"/>
              </a:ext>
            </a:extLst>
          </p:cNvPr>
          <p:cNvSpPr>
            <a:spLocks noGrp="1"/>
          </p:cNvSpPr>
          <p:nvPr/>
        </p:nvSpPr>
        <p:spPr>
          <a:xfrm>
            <a:off x="1270000" y="3081909"/>
            <a:ext cx="5757291" cy="3386709"/>
          </a:xfrm>
          <a:prstGeom prst="rect">
            <a:avLst/>
          </a:prstGeom>
          <a:solidFill>
            <a:srgbClr val="FFFFFF">
              <a:alpha val="0"/>
            </a:srgbClr>
          </a:solidFill>
        </p:spPr>
        <p:txBody>
          <a:bodyPr/>
          <a:lstStyle/>
          <a:p>
            <a:endParaRPr/>
          </a:p>
        </p:txBody>
      </p:sp>
      <p:sp>
        <p:nvSpPr>
          <p:cNvPr id="25" name="Text 23">
            <a:extLst>
              <a:ext uri="{FF2B5EF4-FFF2-40B4-BE49-F238E27FC236}">
                <a16:creationId xmlns:a16="http://schemas.microsoft.com/office/drawing/2014/main" id="{B453DBCD-96F6-4C7C-AF74-E66AD7FC4D7C}"/>
              </a:ext>
            </a:extLst>
          </p:cNvPr>
          <p:cNvSpPr>
            <a:spLocks noGrp="1"/>
          </p:cNvSpPr>
          <p:nvPr/>
        </p:nvSpPr>
        <p:spPr>
          <a:xfrm>
            <a:off x="1148080" y="3020949"/>
            <a:ext cx="6001131" cy="3508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800" b="0" i="0">
                <a:solidFill>
                  <a:srgbClr val="151515"/>
                </a:solidFill>
                <a:latin typeface="Times New Roman"/>
              </a:rPr>
              <a:t>Vào lệnh theo mọi tín hiệu kỹ thuật.</a:t>
            </a:r>
            <a:endParaRPr sz="1600">
              <a:latin typeface="Times New Roman"/>
              <a:ea typeface="Times New Roman"/>
              <a:cs typeface="Times New Roman"/>
            </a:endParaRPr>
          </a:p>
          <a:p>
            <a:pPr algn="l"/>
            <a:r>
              <a:rPr sz="2800" b="0" i="0">
                <a:solidFill>
                  <a:srgbClr val="151515"/>
                </a:solidFill>
                <a:latin typeface="Times New Roman"/>
              </a:rPr>
              <a:t>Không có tầng học máy thẩm định.</a:t>
            </a:r>
          </a:p>
          <a:p>
            <a:pPr algn="l"/>
            <a:endParaRPr sz="2800" b="0" i="0">
              <a:solidFill>
                <a:srgbClr val="151515"/>
              </a:solidFill>
              <a:latin typeface="Times New Roman"/>
            </a:endParaRPr>
          </a:p>
          <a:p>
            <a:pPr algn="l"/>
            <a:r>
              <a:rPr sz="2800" b="0" i="0">
                <a:solidFill>
                  <a:srgbClr val="151515"/>
                </a:solidFill>
                <a:latin typeface="Times New Roman"/>
              </a:rPr>
              <a:t>• Win Rate: 31,71%</a:t>
            </a:r>
          </a:p>
          <a:p>
            <a:pPr algn="l"/>
            <a:r>
              <a:rPr sz="2800" b="0" i="0">
                <a:solidFill>
                  <a:srgbClr val="151515"/>
                </a:solidFill>
                <a:latin typeface="Times New Roman"/>
              </a:rPr>
              <a:t>• Max Drawdown: -236R (Rủi ro cực lớn!)</a:t>
            </a:r>
          </a:p>
          <a:p>
            <a:pPr algn="l"/>
            <a:r>
              <a:rPr sz="2800" b="0" i="0">
                <a:solidFill>
                  <a:srgbClr val="151515"/>
                </a:solidFill>
                <a:latin typeface="Times New Roman"/>
              </a:rPr>
              <a:t>• Ưu điểm: Đơn giản, tính toán nhanh.</a:t>
            </a:r>
          </a:p>
        </p:txBody>
      </p:sp>
      <p:sp>
        <p:nvSpPr>
          <p:cNvPr id="26" name="Shape 24">
            <a:extLst>
              <a:ext uri="{FF2B5EF4-FFF2-40B4-BE49-F238E27FC236}">
                <a16:creationId xmlns:a16="http://schemas.microsoft.com/office/drawing/2014/main" id="{0033A720-7336-4294-A452-ED4E80F71E80}"/>
              </a:ext>
            </a:extLst>
          </p:cNvPr>
          <p:cNvSpPr>
            <a:spLocks noGrp="1"/>
          </p:cNvSpPr>
          <p:nvPr/>
        </p:nvSpPr>
        <p:spPr>
          <a:xfrm>
            <a:off x="7704709" y="1947291"/>
            <a:ext cx="6265291" cy="4741291"/>
          </a:xfrm>
          <a:prstGeom prst="roundRect">
            <a:avLst>
              <a:gd name="adj" fmla="val 8000"/>
            </a:avLst>
          </a:prstGeom>
          <a:solidFill>
            <a:srgbClr val="E8F5E9"/>
          </a:solidFill>
          <a:ln w="25400">
            <a:solidFill>
              <a:srgbClr val="2E7D32"/>
            </a:solidFill>
            <a:prstDash val="solid"/>
          </a:ln>
        </p:spPr>
        <p:txBody>
          <a:bodyPr/>
          <a:lstStyle/>
          <a:p>
            <a:endParaRPr/>
          </a:p>
        </p:txBody>
      </p:sp>
      <p:sp>
        <p:nvSpPr>
          <p:cNvPr id="27" name="Shape 25">
            <a:extLst>
              <a:ext uri="{FF2B5EF4-FFF2-40B4-BE49-F238E27FC236}">
                <a16:creationId xmlns:a16="http://schemas.microsoft.com/office/drawing/2014/main" id="{C7D74EC3-2B8D-45B5-B389-8CE8B1EE450D}"/>
              </a:ext>
            </a:extLst>
          </p:cNvPr>
          <p:cNvSpPr>
            <a:spLocks noGrp="1"/>
          </p:cNvSpPr>
          <p:nvPr/>
        </p:nvSpPr>
        <p:spPr>
          <a:xfrm>
            <a:off x="7958709" y="2116709"/>
            <a:ext cx="5757291" cy="508000"/>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21F83FCC-5086-4D05-AF7D-58021C8F3722}"/>
              </a:ext>
            </a:extLst>
          </p:cNvPr>
          <p:cNvSpPr>
            <a:spLocks noGrp="1"/>
          </p:cNvSpPr>
          <p:nvPr/>
        </p:nvSpPr>
        <p:spPr>
          <a:xfrm>
            <a:off x="7836789" y="2055749"/>
            <a:ext cx="6001131" cy="629920"/>
          </a:xfrm>
          <a:prstGeom prst="rect">
            <a:avLst/>
          </a:prstGeom>
          <a:noFill/>
        </p:spPr>
        <p:txBody>
          <a:bodyPr wrap="square" lIns="0" tIns="0" rIns="0" bIns="0" anchor="ctr">
            <a:noAutofit/>
          </a:bodyPr>
          <a:lstStyle/>
          <a:p>
            <a:pPr algn="l">
              <a:lnSpc>
                <a:spcPct val="100000"/>
              </a:lnSpc>
              <a:buNone/>
              <a:defRPr sz="3000" b="1">
                <a:solidFill>
                  <a:srgbClr val="2E7D32"/>
                </a:solidFill>
                <a:latin typeface="Times New Roman"/>
                <a:ea typeface="Times New Roman"/>
                <a:cs typeface="Times New Roman"/>
              </a:defRPr>
            </a:pPr>
            <a:r>
              <a:rPr sz="3400" b="1" i="0">
                <a:solidFill>
                  <a:srgbClr val="EF6C00"/>
                </a:solidFill>
                <a:latin typeface="Times New Roman"/>
              </a:rPr>
              <a:t>Mô hình Đơn lẻ (End-to-End)</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E0BD29B6-874D-473E-B29F-E90BF54ACD92}"/>
              </a:ext>
            </a:extLst>
          </p:cNvPr>
          <p:cNvSpPr>
            <a:spLocks noGrp="1"/>
          </p:cNvSpPr>
          <p:nvPr/>
        </p:nvSpPr>
        <p:spPr>
          <a:xfrm>
            <a:off x="7958709" y="2624709"/>
            <a:ext cx="5757291" cy="372491"/>
          </a:xfrm>
          <a:prstGeom prst="rect">
            <a:avLst/>
          </a:prstGeom>
          <a:solidFill>
            <a:srgbClr val="FFFFFF">
              <a:alpha val="0"/>
            </a:srgbClr>
          </a:solidFill>
        </p:spPr>
        <p:txBody>
          <a:bodyPr/>
          <a:lstStyle/>
          <a:p>
            <a:endParaRPr/>
          </a:p>
        </p:txBody>
      </p:sp>
      <p:sp>
        <p:nvSpPr>
          <p:cNvPr id="30" name="Text 28">
            <a:extLst>
              <a:ext uri="{FF2B5EF4-FFF2-40B4-BE49-F238E27FC236}">
                <a16:creationId xmlns:a16="http://schemas.microsoft.com/office/drawing/2014/main" id="{A1909FDC-38A3-42A0-BDD2-7127A8703126}"/>
              </a:ext>
            </a:extLst>
          </p:cNvPr>
          <p:cNvSpPr>
            <a:spLocks noGrp="1"/>
          </p:cNvSpPr>
          <p:nvPr/>
        </p:nvSpPr>
        <p:spPr>
          <a:xfrm>
            <a:off x="7836789" y="2563749"/>
            <a:ext cx="6001131" cy="494411"/>
          </a:xfrm>
          <a:prstGeom prst="rect">
            <a:avLst/>
          </a:prstGeom>
          <a:noFill/>
        </p:spPr>
        <p:txBody>
          <a:bodyPr wrap="square" lIns="0" tIns="0" rIns="0" bIns="0" anchor="ctr">
            <a:noAutofit/>
          </a:bodyPr>
          <a:lstStyle/>
          <a:p>
            <a:pPr algn="l">
              <a:lnSpc>
                <a:spcPct val="100000"/>
              </a:lnSpc>
              <a:buNone/>
              <a:defRPr sz="2100" b="0">
                <a:solidFill>
                  <a:srgbClr val="666666"/>
                </a:solidFill>
                <a:latin typeface="Times New Roman"/>
                <a:ea typeface="Times New Roman"/>
                <a:cs typeface="Times New Roman"/>
              </a:defRPr>
            </a:pPr>
            <a:r>
              <a:rPr sz="2400" b="0" i="0">
                <a:solidFill>
                  <a:srgbClr val="646464"/>
                </a:solidFill>
                <a:latin typeface="Times New Roman"/>
              </a:rPr>
              <a:t>Học máy dự đoán giá trực tiếp</a:t>
            </a:r>
            <a:endParaRPr sz="1600">
              <a:latin typeface="Times New Roman"/>
              <a:ea typeface="Times New Roman"/>
              <a:cs typeface="Times New Roman"/>
            </a:endParaRPr>
          </a:p>
        </p:txBody>
      </p:sp>
      <p:sp>
        <p:nvSpPr>
          <p:cNvPr id="31" name="Shape 29">
            <a:extLst>
              <a:ext uri="{FF2B5EF4-FFF2-40B4-BE49-F238E27FC236}">
                <a16:creationId xmlns:a16="http://schemas.microsoft.com/office/drawing/2014/main" id="{CE03E109-DA15-42AB-ACEA-69EFE06166E1}"/>
              </a:ext>
            </a:extLst>
          </p:cNvPr>
          <p:cNvSpPr>
            <a:spLocks noGrp="1"/>
          </p:cNvSpPr>
          <p:nvPr/>
        </p:nvSpPr>
        <p:spPr>
          <a:xfrm>
            <a:off x="7958709" y="3081909"/>
            <a:ext cx="5757291" cy="3386709"/>
          </a:xfrm>
          <a:prstGeom prst="rect">
            <a:avLst/>
          </a:prstGeom>
          <a:solidFill>
            <a:srgbClr val="FFFFFF">
              <a:alpha val="0"/>
            </a:srgbClr>
          </a:solidFill>
        </p:spPr>
        <p:txBody>
          <a:bodyPr/>
          <a:lstStyle/>
          <a:p>
            <a:endParaRPr/>
          </a:p>
        </p:txBody>
      </p:sp>
      <p:sp>
        <p:nvSpPr>
          <p:cNvPr id="32" name="Text 30">
            <a:extLst>
              <a:ext uri="{FF2B5EF4-FFF2-40B4-BE49-F238E27FC236}">
                <a16:creationId xmlns:a16="http://schemas.microsoft.com/office/drawing/2014/main" id="{94068FBE-A740-49AA-93D9-DCEE880C793D}"/>
              </a:ext>
            </a:extLst>
          </p:cNvPr>
          <p:cNvSpPr>
            <a:spLocks noGrp="1"/>
          </p:cNvSpPr>
          <p:nvPr/>
        </p:nvSpPr>
        <p:spPr>
          <a:xfrm>
            <a:off x="7836789" y="3020949"/>
            <a:ext cx="6001131" cy="3508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800" b="0" i="0">
                <a:solidFill>
                  <a:srgbClr val="151515"/>
                </a:solidFill>
                <a:latin typeface="Times New Roman"/>
              </a:rPr>
              <a:t>Dự đoán trực tiếp giá tăng hay giảm.</a:t>
            </a:r>
            <a:endParaRPr sz="1600">
              <a:latin typeface="Times New Roman"/>
              <a:ea typeface="Times New Roman"/>
              <a:cs typeface="Times New Roman"/>
            </a:endParaRPr>
          </a:p>
          <a:p>
            <a:pPr algn="l"/>
            <a:r>
              <a:rPr sz="2800" b="0" i="0">
                <a:solidFill>
                  <a:srgbClr val="151515"/>
                </a:solidFill>
                <a:latin typeface="Times New Roman"/>
              </a:rPr>
              <a:t>Gộp 2 nhiệm vụ: tìm hướng và quy mô.</a:t>
            </a:r>
          </a:p>
          <a:p>
            <a:pPr algn="l"/>
            <a:endParaRPr sz="2800" b="0" i="0">
              <a:solidFill>
                <a:srgbClr val="151515"/>
              </a:solidFill>
              <a:latin typeface="Times New Roman"/>
            </a:endParaRPr>
          </a:p>
          <a:p>
            <a:pPr algn="l"/>
            <a:r>
              <a:rPr sz="2800" b="0" i="0">
                <a:solidFill>
                  <a:srgbClr val="151515"/>
                </a:solidFill>
                <a:latin typeface="Times New Roman"/>
              </a:rPr>
              <a:t>• Nhược điểm: Nhiễu thị trường quá lớn.</a:t>
            </a:r>
          </a:p>
          <a:p>
            <a:pPr algn="l"/>
            <a:r>
              <a:rPr sz="2800" b="0" i="0">
                <a:solidFill>
                  <a:srgbClr val="151515"/>
                </a:solidFill>
                <a:latin typeface="Times New Roman"/>
              </a:rPr>
              <a:t>• Dễ Overfitting, không có điểm cắt lỗ động.</a:t>
            </a:r>
          </a:p>
          <a:p>
            <a:pPr algn="l"/>
            <a:r>
              <a:rPr sz="2800" b="0" i="0">
                <a:solidFill>
                  <a:srgbClr val="151515"/>
                </a:solidFill>
                <a:latin typeface="Times New Roman"/>
              </a:rPr>
              <a:t>• Hiệu quả thực tế kém ổn định.</a:t>
            </a:r>
          </a:p>
        </p:txBody>
      </p:sp>
      <p:sp>
        <p:nvSpPr>
          <p:cNvPr id="33" name="Shape 31">
            <a:extLst>
              <a:ext uri="{FF2B5EF4-FFF2-40B4-BE49-F238E27FC236}">
                <a16:creationId xmlns:a16="http://schemas.microsoft.com/office/drawing/2014/main" id="{25D87192-A91E-4752-B4D6-2A09D3415760}"/>
              </a:ext>
            </a:extLst>
          </p:cNvPr>
          <p:cNvSpPr>
            <a:spLocks noGrp="1"/>
          </p:cNvSpPr>
          <p:nvPr/>
        </p:nvSpPr>
        <p:spPr>
          <a:xfrm>
            <a:off x="14393291" y="1947291"/>
            <a:ext cx="6265291" cy="4741291"/>
          </a:xfrm>
          <a:prstGeom prst="roundRect">
            <a:avLst>
              <a:gd name="adj" fmla="val 8000"/>
            </a:avLst>
          </a:prstGeom>
          <a:solidFill>
            <a:srgbClr val="FFF3E0"/>
          </a:solidFill>
          <a:ln w="25400">
            <a:solidFill>
              <a:srgbClr val="FF6F00"/>
            </a:solidFill>
            <a:prstDash val="solid"/>
          </a:ln>
        </p:spPr>
        <p:txBody>
          <a:bodyPr/>
          <a:lstStyle/>
          <a:p>
            <a:endParaRPr/>
          </a:p>
        </p:txBody>
      </p:sp>
      <p:sp>
        <p:nvSpPr>
          <p:cNvPr id="34" name="Shape 32">
            <a:extLst>
              <a:ext uri="{FF2B5EF4-FFF2-40B4-BE49-F238E27FC236}">
                <a16:creationId xmlns:a16="http://schemas.microsoft.com/office/drawing/2014/main" id="{C830ABC9-26C7-42CC-A776-F0ABB9FA6C99}"/>
              </a:ext>
            </a:extLst>
          </p:cNvPr>
          <p:cNvSpPr>
            <a:spLocks noGrp="1"/>
          </p:cNvSpPr>
          <p:nvPr/>
        </p:nvSpPr>
        <p:spPr>
          <a:xfrm>
            <a:off x="14647291" y="2116709"/>
            <a:ext cx="5757291" cy="508000"/>
          </a:xfrm>
          <a:prstGeom prst="rect">
            <a:avLst/>
          </a:prstGeom>
          <a:solidFill>
            <a:srgbClr val="FFFFFF">
              <a:alpha val="0"/>
            </a:srgbClr>
          </a:solidFill>
        </p:spPr>
        <p:txBody>
          <a:bodyPr/>
          <a:lstStyle/>
          <a:p>
            <a:endParaRPr/>
          </a:p>
        </p:txBody>
      </p:sp>
      <p:sp>
        <p:nvSpPr>
          <p:cNvPr id="35" name="Text 33">
            <a:extLst>
              <a:ext uri="{FF2B5EF4-FFF2-40B4-BE49-F238E27FC236}">
                <a16:creationId xmlns:a16="http://schemas.microsoft.com/office/drawing/2014/main" id="{E28A5154-3207-42B3-A227-A8C2DB1AA5B9}"/>
              </a:ext>
            </a:extLst>
          </p:cNvPr>
          <p:cNvSpPr>
            <a:spLocks noGrp="1"/>
          </p:cNvSpPr>
          <p:nvPr/>
        </p:nvSpPr>
        <p:spPr>
          <a:xfrm>
            <a:off x="14525371" y="2055749"/>
            <a:ext cx="6001131" cy="629920"/>
          </a:xfrm>
          <a:prstGeom prst="rect">
            <a:avLst/>
          </a:prstGeom>
          <a:noFill/>
        </p:spPr>
        <p:txBody>
          <a:bodyPr wrap="square" lIns="0" tIns="0" rIns="0" bIns="0" anchor="ctr">
            <a:noAutofit/>
          </a:bodyPr>
          <a:lstStyle/>
          <a:p>
            <a:pPr algn="l">
              <a:lnSpc>
                <a:spcPct val="100000"/>
              </a:lnSpc>
              <a:buNone/>
              <a:defRPr sz="2850" b="1">
                <a:solidFill>
                  <a:srgbClr val="EF6C00"/>
                </a:solidFill>
                <a:latin typeface="Times New Roman"/>
                <a:ea typeface="Times New Roman"/>
                <a:cs typeface="Times New Roman"/>
              </a:defRPr>
            </a:pPr>
            <a:r>
              <a:rPr sz="3400" b="1" i="0">
                <a:solidFill>
                  <a:srgbClr val="2E7D32"/>
                </a:solidFill>
                <a:latin typeface="Times New Roman"/>
              </a:rPr>
              <a:t>Meta-Labeling 2 Tầng (Đề xuất)</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006FBF83-9768-4A65-92EE-BF93EF48D398}"/>
              </a:ext>
            </a:extLst>
          </p:cNvPr>
          <p:cNvSpPr>
            <a:spLocks noGrp="1"/>
          </p:cNvSpPr>
          <p:nvPr/>
        </p:nvSpPr>
        <p:spPr>
          <a:xfrm>
            <a:off x="14647291" y="2624709"/>
            <a:ext cx="5757291" cy="372491"/>
          </a:xfrm>
          <a:prstGeom prst="rect">
            <a:avLst/>
          </a:prstGeom>
          <a:solidFill>
            <a:srgbClr val="FFFFFF">
              <a:alpha val="0"/>
            </a:srgbClr>
          </a:solidFill>
        </p:spPr>
        <p:txBody>
          <a:bodyPr/>
          <a:lstStyle/>
          <a:p>
            <a:endParaRPr/>
          </a:p>
        </p:txBody>
      </p:sp>
      <p:sp>
        <p:nvSpPr>
          <p:cNvPr id="37" name="Text 35">
            <a:extLst>
              <a:ext uri="{FF2B5EF4-FFF2-40B4-BE49-F238E27FC236}">
                <a16:creationId xmlns:a16="http://schemas.microsoft.com/office/drawing/2014/main" id="{71DE6419-D0DF-4CCA-AF2A-5E1DF15CDB18}"/>
              </a:ext>
            </a:extLst>
          </p:cNvPr>
          <p:cNvSpPr>
            <a:spLocks noGrp="1"/>
          </p:cNvSpPr>
          <p:nvPr/>
        </p:nvSpPr>
        <p:spPr>
          <a:xfrm>
            <a:off x="14525371" y="2563749"/>
            <a:ext cx="6001131" cy="494411"/>
          </a:xfrm>
          <a:prstGeom prst="rect">
            <a:avLst/>
          </a:prstGeom>
          <a:noFill/>
        </p:spPr>
        <p:txBody>
          <a:bodyPr wrap="square" lIns="0" tIns="0" rIns="0" bIns="0" anchor="ctr">
            <a:noAutofit/>
          </a:bodyPr>
          <a:lstStyle/>
          <a:p>
            <a:pPr algn="l">
              <a:lnSpc>
                <a:spcPct val="100000"/>
              </a:lnSpc>
              <a:buNone/>
              <a:defRPr sz="2025" b="0">
                <a:solidFill>
                  <a:srgbClr val="666666"/>
                </a:solidFill>
                <a:latin typeface="Times New Roman"/>
                <a:ea typeface="Times New Roman"/>
                <a:cs typeface="Times New Roman"/>
              </a:defRPr>
            </a:pPr>
            <a:r>
              <a:rPr sz="2400" b="0" i="0">
                <a:solidFill>
                  <a:srgbClr val="646464"/>
                </a:solidFill>
                <a:latin typeface="Times New Roman"/>
              </a:rPr>
              <a:t>Chiến lược cơ sở + CatBoost Meta-Model</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54F14567-BF0C-44E1-A968-6C79D01B306D}"/>
              </a:ext>
            </a:extLst>
          </p:cNvPr>
          <p:cNvSpPr>
            <a:spLocks noGrp="1"/>
          </p:cNvSpPr>
          <p:nvPr/>
        </p:nvSpPr>
        <p:spPr>
          <a:xfrm>
            <a:off x="14647291" y="3081909"/>
            <a:ext cx="5757291" cy="3386709"/>
          </a:xfrm>
          <a:prstGeom prst="rect">
            <a:avLst/>
          </a:prstGeom>
          <a:solidFill>
            <a:srgbClr val="FFFFFF">
              <a:alpha val="0"/>
            </a:srgbClr>
          </a:solidFill>
        </p:spPr>
        <p:txBody>
          <a:bodyPr/>
          <a:lstStyle/>
          <a:p>
            <a:endParaRPr/>
          </a:p>
        </p:txBody>
      </p:sp>
      <p:sp>
        <p:nvSpPr>
          <p:cNvPr id="39" name="Text 37">
            <a:extLst>
              <a:ext uri="{FF2B5EF4-FFF2-40B4-BE49-F238E27FC236}">
                <a16:creationId xmlns:a16="http://schemas.microsoft.com/office/drawing/2014/main" id="{1DF17E00-5E1B-4070-BE5A-1C005633A9E9}"/>
              </a:ext>
            </a:extLst>
          </p:cNvPr>
          <p:cNvSpPr>
            <a:spLocks noGrp="1"/>
          </p:cNvSpPr>
          <p:nvPr/>
        </p:nvSpPr>
        <p:spPr>
          <a:xfrm>
            <a:off x="14525371" y="3020949"/>
            <a:ext cx="6001131" cy="3508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800" b="0" i="0">
                <a:solidFill>
                  <a:srgbClr val="151515"/>
                </a:solidFill>
                <a:latin typeface="Times New Roman"/>
              </a:rPr>
              <a:t>Tầng 1 phát tín hiệu, Tầng 2 lọc rủi ro.</a:t>
            </a:r>
            <a:endParaRPr sz="1600">
              <a:latin typeface="Times New Roman"/>
              <a:ea typeface="Times New Roman"/>
              <a:cs typeface="Times New Roman"/>
            </a:endParaRPr>
          </a:p>
          <a:p>
            <a:pPr algn="l"/>
            <a:r>
              <a:rPr sz="2800" b="0" i="0">
                <a:solidFill>
                  <a:srgbClr val="151515"/>
                </a:solidFill>
                <a:latin typeface="Times New Roman"/>
              </a:rPr>
              <a:t>Chỉ kích hoạt khi P(Win) &gt;= 0.50.</a:t>
            </a:r>
          </a:p>
          <a:p>
            <a:pPr algn="l"/>
            <a:endParaRPr sz="2800" b="0" i="0">
              <a:solidFill>
                <a:srgbClr val="151515"/>
              </a:solidFill>
              <a:latin typeface="Times New Roman"/>
            </a:endParaRPr>
          </a:p>
          <a:p>
            <a:pPr algn="l"/>
            <a:r>
              <a:rPr sz="2800" b="0" i="0">
                <a:solidFill>
                  <a:srgbClr val="151515"/>
                </a:solidFill>
                <a:latin typeface="Times New Roman"/>
              </a:rPr>
              <a:t>• Win Rate: 34,99% (+3,28 điểm %)</a:t>
            </a:r>
          </a:p>
          <a:p>
            <a:pPr algn="l"/>
            <a:r>
              <a:rPr sz="2800" b="0" i="0">
                <a:solidFill>
                  <a:srgbClr val="151515"/>
                </a:solidFill>
                <a:latin typeface="Times New Roman"/>
              </a:rPr>
              <a:t>• Max Drawdown: giảm còn -142R (-40%!)</a:t>
            </a:r>
          </a:p>
          <a:p>
            <a:pPr algn="l"/>
            <a:r>
              <a:rPr sz="2800" b="0" i="0">
                <a:solidFill>
                  <a:srgbClr val="151515"/>
                </a:solidFill>
                <a:latin typeface="Times New Roman"/>
              </a:rPr>
              <a:t>• Profit Factor: tăng từ 1.29 lên 1.40.</a:t>
            </a:r>
          </a:p>
        </p:txBody>
      </p:sp>
      <p:sp>
        <p:nvSpPr>
          <p:cNvPr id="40" name="Shape 38">
            <a:extLst>
              <a:ext uri="{FF2B5EF4-FFF2-40B4-BE49-F238E27FC236}">
                <a16:creationId xmlns:a16="http://schemas.microsoft.com/office/drawing/2014/main" id="{9845BBF2-5F9F-43B5-827E-51762B0DDA26}"/>
              </a:ext>
            </a:extLst>
          </p:cNvPr>
          <p:cNvSpPr>
            <a:spLocks noGrp="1"/>
          </p:cNvSpPr>
          <p:nvPr/>
        </p:nvSpPr>
        <p:spPr>
          <a:xfrm>
            <a:off x="1016000" y="7027291"/>
            <a:ext cx="19642709" cy="1524000"/>
          </a:xfrm>
          <a:prstGeom prst="roundRect">
            <a:avLst>
              <a:gd name="adj" fmla="val 8000"/>
            </a:avLst>
          </a:prstGeom>
          <a:solidFill>
            <a:srgbClr val="F5F5F5"/>
          </a:solidFill>
          <a:ln w="12700">
            <a:solidFill>
              <a:srgbClr val="E0E0E0"/>
            </a:solidFill>
            <a:prstDash val="solid"/>
          </a:ln>
        </p:spPr>
        <p:txBody>
          <a:bodyPr/>
          <a:lstStyle/>
          <a:p>
            <a:endParaRPr/>
          </a:p>
        </p:txBody>
      </p:sp>
      <p:sp>
        <p:nvSpPr>
          <p:cNvPr id="41" name="Shape 39">
            <a:extLst>
              <a:ext uri="{FF2B5EF4-FFF2-40B4-BE49-F238E27FC236}">
                <a16:creationId xmlns:a16="http://schemas.microsoft.com/office/drawing/2014/main" id="{78614327-20CF-4725-941F-5A73C177E55C}"/>
              </a:ext>
            </a:extLst>
          </p:cNvPr>
          <p:cNvSpPr>
            <a:spLocks noGrp="1"/>
          </p:cNvSpPr>
          <p:nvPr/>
        </p:nvSpPr>
        <p:spPr>
          <a:xfrm>
            <a:off x="1354709" y="7145909"/>
            <a:ext cx="8466709" cy="406400"/>
          </a:xfrm>
          <a:prstGeom prst="rect">
            <a:avLst/>
          </a:prstGeom>
          <a:solidFill>
            <a:srgbClr val="FFFFFF">
              <a:alpha val="0"/>
            </a:srgbClr>
          </a:solidFill>
        </p:spPr>
        <p:txBody>
          <a:bodyPr/>
          <a:lstStyle/>
          <a:p>
            <a:endParaRPr/>
          </a:p>
        </p:txBody>
      </p:sp>
      <p:sp>
        <p:nvSpPr>
          <p:cNvPr id="42" name="Text 40">
            <a:extLst>
              <a:ext uri="{FF2B5EF4-FFF2-40B4-BE49-F238E27FC236}">
                <a16:creationId xmlns:a16="http://schemas.microsoft.com/office/drawing/2014/main" id="{15FE53D0-8F98-4156-A6A0-3822A19EF97E}"/>
              </a:ext>
            </a:extLst>
          </p:cNvPr>
          <p:cNvSpPr>
            <a:spLocks noGrp="1"/>
          </p:cNvSpPr>
          <p:nvPr/>
        </p:nvSpPr>
        <p:spPr>
          <a:xfrm>
            <a:off x="1232788" y="7481189"/>
            <a:ext cx="8710549" cy="528320"/>
          </a:xfrm>
          <a:prstGeom prst="rect">
            <a:avLst/>
          </a:prstGeom>
          <a:noFill/>
        </p:spPr>
        <p:txBody>
          <a:bodyPr wrap="square" lIns="0" tIns="0" rIns="0" bIns="0" anchor="ctr">
            <a:noAutofit/>
          </a:bodyPr>
          <a:lstStyle/>
          <a:p>
            <a:pPr algn="l">
              <a:lnSpc>
                <a:spcPct val="100000"/>
              </a:lnSpc>
              <a:buNone/>
              <a:defRPr sz="2325" b="1">
                <a:solidFill>
                  <a:srgbClr val="1565C0"/>
                </a:solidFill>
                <a:latin typeface="Times New Roman"/>
                <a:ea typeface="Times New Roman"/>
                <a:cs typeface="Times New Roman"/>
              </a:defRPr>
            </a:pPr>
            <a:r>
              <a:rPr sz="2800" b="1" i="0">
                <a:solidFill>
                  <a:srgbClr val="1565C0"/>
                </a:solidFill>
                <a:latin typeface="Times New Roman"/>
              </a:rPr>
              <a:t>Nguyên lý cốt lõi của phương pháp đề xuất:</a:t>
            </a:r>
            <a:endParaRPr sz="1600" dirty="0">
              <a:latin typeface="Times New Roman"/>
              <a:ea typeface="Times New Roman"/>
              <a:cs typeface="Times New Roman"/>
            </a:endParaRPr>
          </a:p>
        </p:txBody>
      </p:sp>
      <p:sp>
        <p:nvSpPr>
          <p:cNvPr id="43" name="Shape 41">
            <a:extLst>
              <a:ext uri="{FF2B5EF4-FFF2-40B4-BE49-F238E27FC236}">
                <a16:creationId xmlns:a16="http://schemas.microsoft.com/office/drawing/2014/main" id="{5F1D5F0A-A178-4EBF-98DB-1BCBB39077D5}"/>
              </a:ext>
            </a:extLst>
          </p:cNvPr>
          <p:cNvSpPr>
            <a:spLocks noGrp="1"/>
          </p:cNvSpPr>
          <p:nvPr/>
        </p:nvSpPr>
        <p:spPr>
          <a:xfrm>
            <a:off x="1016000" y="8890000"/>
            <a:ext cx="19642709" cy="2201291"/>
          </a:xfrm>
          <a:prstGeom prst="rect">
            <a:avLst/>
          </a:prstGeom>
          <a:solidFill>
            <a:srgbClr val="FFFFFF">
              <a:alpha val="0"/>
            </a:srgbClr>
          </a:solidFill>
        </p:spPr>
        <p:txBody>
          <a:bodyPr/>
          <a:lstStyle/>
          <a:p>
            <a:endParaRPr/>
          </a:p>
        </p:txBody>
      </p:sp>
      <p:sp>
        <p:nvSpPr>
          <p:cNvPr id="44" name="Text 42">
            <a:extLst>
              <a:ext uri="{FF2B5EF4-FFF2-40B4-BE49-F238E27FC236}">
                <a16:creationId xmlns:a16="http://schemas.microsoft.com/office/drawing/2014/main" id="{A90FA239-2D9E-413B-95F5-0559C4EDBE9A}"/>
              </a:ext>
            </a:extLst>
          </p:cNvPr>
          <p:cNvSpPr>
            <a:spLocks noGrp="1"/>
          </p:cNvSpPr>
          <p:nvPr/>
        </p:nvSpPr>
        <p:spPr>
          <a:xfrm>
            <a:off x="894080" y="8829040"/>
            <a:ext cx="19886549" cy="2323211"/>
          </a:xfrm>
          <a:prstGeom prst="rect">
            <a:avLst/>
          </a:prstGeom>
          <a:noFill/>
        </p:spPr>
        <p:txBody>
          <a:bodyPr wrap="square" lIns="0" tIns="0" rIns="0" bIns="0" anchor="t">
            <a:noAutofit/>
          </a:bodyPr>
          <a:lstStyle/>
          <a:p>
            <a:pPr algn="l">
              <a:lnSpc>
                <a:spcPct val="160000"/>
              </a:lnSpc>
              <a:buNone/>
              <a:defRPr sz="2700" b="0">
                <a:solidFill>
                  <a:srgbClr val="151515"/>
                </a:solidFill>
                <a:latin typeface="Times New Roman"/>
                <a:ea typeface="Times New Roman"/>
                <a:cs typeface="Times New Roman"/>
              </a:defRPr>
            </a:pPr>
            <a:r>
              <a:rPr sz="3000" b="0" i="0">
                <a:solidFill>
                  <a:srgbClr val="151515"/>
                </a:solidFill>
                <a:latin typeface="Times New Roman"/>
              </a:rPr>
              <a:t>Tách rời hai nhiệm vụ: Tầng 1 tập trung tìm cơ hội (High Recall), Tầng 2 tập trung thẩm định rủi ro và lọc bỏ tín hiệu giả (High Precision).</a:t>
            </a:r>
            <a:endParaRPr sz="1600">
              <a:latin typeface="Times New Roman"/>
              <a:ea typeface="Times New Roman"/>
              <a:cs typeface="Times New Roman"/>
            </a:endParaRPr>
          </a:p>
        </p:txBody>
      </p:sp>
      <p:sp>
        <p:nvSpPr>
          <p:cNvPr id="45" name="Shape 43">
            <a:extLst>
              <a:ext uri="{FF2B5EF4-FFF2-40B4-BE49-F238E27FC236}">
                <a16:creationId xmlns:a16="http://schemas.microsoft.com/office/drawing/2014/main" id="{CF4E41E8-DE0C-49CE-881E-41BE6E2C0266}"/>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46" name="Text 44">
            <a:extLst>
              <a:ext uri="{FF2B5EF4-FFF2-40B4-BE49-F238E27FC236}">
                <a16:creationId xmlns:a16="http://schemas.microsoft.com/office/drawing/2014/main" id="{8686BEE7-334A-4115-9F88-12DED17E19FA}"/>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5/18</a:t>
            </a:r>
            <a:endParaRPr sz="1600">
              <a:latin typeface="Times New Roman"/>
              <a:ea typeface="Times New Roman"/>
              <a:cs typeface="Times New Roman"/>
            </a:endParaRPr>
          </a:p>
        </p:txBody>
      </p:sp>
      <p:sp>
        <p:nvSpPr>
          <p:cNvPr id="47" name="Text 24">
            <a:extLst>
              <a:ext uri="{FF2B5EF4-FFF2-40B4-BE49-F238E27FC236}">
                <a16:creationId xmlns:a16="http://schemas.microsoft.com/office/drawing/2014/main" id="{891AEC0D-79F0-739D-93D9-DC4C60E5771D}"/>
              </a:ext>
            </a:extLst>
          </p:cNvPr>
          <p:cNvSpPr>
            <a:spLocks noGrp="1"/>
          </p:cNvSpPr>
          <p:nvPr/>
        </p:nvSpPr>
        <p:spPr>
          <a:xfrm>
            <a:off x="3048127" y="7572893"/>
            <a:ext cx="14224000" cy="609600"/>
          </a:xfrm>
          <a:prstGeom prst="rect">
            <a:avLst/>
          </a:prstGeom>
          <a:noFill/>
        </p:spPr>
        <p:txBody>
          <a:bodyPr wrap="square" lIns="0" tIns="0" rIns="0" bIns="0" anchor="ctr">
            <a:noAutofit/>
          </a:bodyPr>
          <a:lstStyle/>
          <a:p>
            <a:pPr algn="ctr">
              <a:lnSpc>
                <a:spcPct val="100000"/>
              </a:lnSpc>
              <a:buNone/>
            </a:pPr>
            <a:endParaRPr sz="2400">
              <a:latin typeface="Times New Roman"/>
              <a:ea typeface="Times New Roman"/>
              <a:cs typeface="Times New Roman"/>
            </a:endParaRPr>
          </a:p>
        </p:txBody>
      </p:sp>
    </p:spTree>
    <p:extLst>
      <p:ext uri="{BB962C8B-B14F-4D97-AF65-F5344CB8AC3E}">
        <p14:creationId xmlns:p14="http://schemas.microsoft.com/office/powerpoint/2010/main" val="471792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4E71FB3-17DA-4A9C-BEBC-43679F8393A7}"/>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BED08B5A-4194-4D52-B5FC-090357E6E567}"/>
              </a:ext>
            </a:extLst>
          </p:cNvPr>
          <p:cNvSpPr>
            <a:spLocks noGrp="1"/>
          </p:cNvSpPr>
          <p:nvPr/>
        </p:nvSpPr>
        <p:spPr>
          <a:xfrm>
            <a:off x="3725227"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A90299A0-EBDA-41F3-81BE-5B3E1A39E242}"/>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7509F3E8-5F70-48F5-96CE-E715D0EBB42A}"/>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03FD3052-8CD7-4C44-B411-16C2F785C402}"/>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0BF072F8-7AE3-437B-BE6A-D14297BF2BE8}"/>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2. Kiến trúc &amp; Mô hình</a:t>
            </a:r>
            <a:endParaRPr sz="1600"/>
          </a:p>
        </p:txBody>
      </p:sp>
      <p:sp>
        <p:nvSpPr>
          <p:cNvPr id="8" name="Shape 6">
            <a:extLst>
              <a:ext uri="{FF2B5EF4-FFF2-40B4-BE49-F238E27FC236}">
                <a16:creationId xmlns:a16="http://schemas.microsoft.com/office/drawing/2014/main" id="{25372917-9CF5-416F-8E8E-58FBB54D51C9}"/>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E2A4B60B-0688-4C6D-9FB5-6F60C7AE8C8B}"/>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p>
        </p:txBody>
      </p:sp>
      <p:sp>
        <p:nvSpPr>
          <p:cNvPr id="10" name="Shape 8">
            <a:extLst>
              <a:ext uri="{FF2B5EF4-FFF2-40B4-BE49-F238E27FC236}">
                <a16:creationId xmlns:a16="http://schemas.microsoft.com/office/drawing/2014/main" id="{83D044DE-D531-4E1F-BDEE-31EE3A9B972D}"/>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5CE824F5-850D-43B7-A2F3-276E09C11EF9}"/>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E4EA07EE-6F56-4A92-8323-3BC01396D2E1}"/>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13B9EEA2-0206-4167-94D3-458AEBE78ADE}"/>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46E60B04-F656-4D07-9856-034FEB68CE5F}"/>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2CCF25F0-573A-491E-AB2C-A9249E82786D}"/>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1F9E7EE3-005C-4948-B1A3-DA12EBCF4813}"/>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1A6BBB8B-3686-4E13-9BF0-30E7F78AB732}"/>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Chức năng từng tầng trong kiến trúc Meta-Labeling</a:t>
            </a:r>
            <a:endParaRPr sz="1600"/>
          </a:p>
        </p:txBody>
      </p:sp>
      <p:sp>
        <p:nvSpPr>
          <p:cNvPr id="18" name="Shape 16">
            <a:extLst>
              <a:ext uri="{FF2B5EF4-FFF2-40B4-BE49-F238E27FC236}">
                <a16:creationId xmlns:a16="http://schemas.microsoft.com/office/drawing/2014/main" id="{492531CA-9093-4EF1-AD39-6B15EB98A011}"/>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21" name="Shape 18">
            <a:extLst>
              <a:ext uri="{FF2B5EF4-FFF2-40B4-BE49-F238E27FC236}">
                <a16:creationId xmlns:a16="http://schemas.microsoft.com/office/drawing/2014/main" id="{A2702F63-27C2-4B19-A725-AC42393A5BA3}"/>
              </a:ext>
            </a:extLst>
          </p:cNvPr>
          <p:cNvSpPr>
            <a:spLocks noGrp="1"/>
          </p:cNvSpPr>
          <p:nvPr/>
        </p:nvSpPr>
        <p:spPr>
          <a:xfrm>
            <a:off x="1354709" y="9567291"/>
            <a:ext cx="18965291" cy="1354709"/>
          </a:xfrm>
          <a:prstGeom prst="rect">
            <a:avLst/>
          </a:prstGeom>
          <a:solidFill>
            <a:srgbClr val="FFFFFF">
              <a:alpha val="0"/>
            </a:srgbClr>
          </a:solidFill>
        </p:spPr>
        <p:txBody>
          <a:bodyPr/>
          <a:lstStyle/>
          <a:p>
            <a:endParaRPr/>
          </a:p>
        </p:txBody>
      </p:sp>
      <p:sp>
        <p:nvSpPr>
          <p:cNvPr id="22" name="Text 19">
            <a:extLst>
              <a:ext uri="{FF2B5EF4-FFF2-40B4-BE49-F238E27FC236}">
                <a16:creationId xmlns:a16="http://schemas.microsoft.com/office/drawing/2014/main" id="{44E92E37-C666-46FE-8E3A-3F0391ED13BA}"/>
              </a:ext>
            </a:extLst>
          </p:cNvPr>
          <p:cNvSpPr>
            <a:spLocks noGrp="1"/>
          </p:cNvSpPr>
          <p:nvPr/>
        </p:nvSpPr>
        <p:spPr>
          <a:xfrm>
            <a:off x="1095375" y="10477500"/>
            <a:ext cx="19431000" cy="809625"/>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3200" b="0" i="0">
                <a:solidFill>
                  <a:srgbClr val="151515"/>
                </a:solidFill>
                <a:latin typeface="Times New Roman"/>
              </a:rPr>
              <a:t>Hệ thống phân tầng giúp kiểm soát rủi ro độc lập và tối ưu hóa hiệu năng từng bước</a:t>
            </a:r>
            <a:endParaRPr sz="1600"/>
          </a:p>
        </p:txBody>
      </p:sp>
      <p:sp>
        <p:nvSpPr>
          <p:cNvPr id="23" name="Shape 20">
            <a:extLst>
              <a:ext uri="{FF2B5EF4-FFF2-40B4-BE49-F238E27FC236}">
                <a16:creationId xmlns:a16="http://schemas.microsoft.com/office/drawing/2014/main" id="{0E7C839F-4B00-4F27-AE1A-75F5D8C5F7DD}"/>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4" name="Text 21">
            <a:extLst>
              <a:ext uri="{FF2B5EF4-FFF2-40B4-BE49-F238E27FC236}">
                <a16:creationId xmlns:a16="http://schemas.microsoft.com/office/drawing/2014/main" id="{5A8A0AFB-47AD-477F-8CFA-181718E281BF}"/>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6/18</a:t>
            </a:r>
            <a:endParaRPr sz="1600"/>
          </a:p>
        </p:txBody>
      </p:sp>
      <p:graphicFrame>
        <p:nvGraphicFramePr>
          <p:cNvPr id="25" name="Table 24"/>
          <p:cNvGraphicFramePr>
            <a:graphicFrameLocks noGrp="1"/>
          </p:cNvGraphicFramePr>
          <p:nvPr>
            <p:extLst>
              <p:ext uri="{D42A27DB-BD31-4B8C-83A1-F6EECF244321}">
                <p14:modId xmlns:p14="http://schemas.microsoft.com/office/powerpoint/2010/main" val="2730653720"/>
              </p:ext>
            </p:extLst>
          </p:nvPr>
        </p:nvGraphicFramePr>
        <p:xfrm>
          <a:off x="1016032" y="1947291"/>
          <a:ext cx="19642740" cy="7367156"/>
        </p:xfrm>
        <a:graphic>
          <a:graphicData uri="http://schemas.openxmlformats.org/drawingml/2006/table">
            <a:tbl>
              <a:tblPr firstRow="1" bandRow="1">
                <a:tableStyleId>{5C22544A-7EE6-4342-B048-85BDC9FD1C3A}</a:tableStyleId>
              </a:tblPr>
              <a:tblGrid>
                <a:gridCol w="2946411">
                  <a:extLst>
                    <a:ext uri="{9D8B030D-6E8A-4147-A177-3AD203B41FA5}">
                      <a16:colId xmlns:a16="http://schemas.microsoft.com/office/drawing/2014/main" val="20000"/>
                    </a:ext>
                  </a:extLst>
                </a:gridCol>
                <a:gridCol w="4321403">
                  <a:extLst>
                    <a:ext uri="{9D8B030D-6E8A-4147-A177-3AD203B41FA5}">
                      <a16:colId xmlns:a16="http://schemas.microsoft.com/office/drawing/2014/main" val="20001"/>
                    </a:ext>
                  </a:extLst>
                </a:gridCol>
                <a:gridCol w="6874959">
                  <a:extLst>
                    <a:ext uri="{9D8B030D-6E8A-4147-A177-3AD203B41FA5}">
                      <a16:colId xmlns:a16="http://schemas.microsoft.com/office/drawing/2014/main" val="20002"/>
                    </a:ext>
                  </a:extLst>
                </a:gridCol>
                <a:gridCol w="5499967">
                  <a:extLst>
                    <a:ext uri="{9D8B030D-6E8A-4147-A177-3AD203B41FA5}">
                      <a16:colId xmlns:a16="http://schemas.microsoft.com/office/drawing/2014/main" val="20003"/>
                    </a:ext>
                  </a:extLst>
                </a:gridCol>
              </a:tblGrid>
              <a:tr h="699656">
                <a:tc>
                  <a:txBody>
                    <a:bodyPr/>
                    <a:lstStyle/>
                    <a:p>
                      <a:pPr algn="ctr">
                        <a:defRPr sz="2200" b="1">
                          <a:solidFill>
                            <a:srgbClr val="FFFFFF"/>
                          </a:solidFill>
                          <a:latin typeface="Times New Roman"/>
                        </a:defRPr>
                      </a:pPr>
                      <a:r>
                        <a:t>Phân tầng</a:t>
                      </a:r>
                    </a:p>
                  </a:txBody>
                  <a:tcPr>
                    <a:solidFill>
                      <a:srgbClr val="1565C0"/>
                    </a:solidFill>
                  </a:tcPr>
                </a:tc>
                <a:tc>
                  <a:txBody>
                    <a:bodyPr/>
                    <a:lstStyle/>
                    <a:p>
                      <a:pPr algn="ctr">
                        <a:defRPr sz="2200" b="1">
                          <a:solidFill>
                            <a:srgbClr val="FFFFFF"/>
                          </a:solidFill>
                          <a:latin typeface="Times New Roman"/>
                        </a:defRPr>
                      </a:pPr>
                      <a:r>
                        <a:t>Thành phần</a:t>
                      </a:r>
                    </a:p>
                  </a:txBody>
                  <a:tcPr>
                    <a:solidFill>
                      <a:srgbClr val="1565C0"/>
                    </a:solidFill>
                  </a:tcPr>
                </a:tc>
                <a:tc>
                  <a:txBody>
                    <a:bodyPr/>
                    <a:lstStyle/>
                    <a:p>
                      <a:pPr algn="ctr">
                        <a:defRPr sz="2200" b="1">
                          <a:solidFill>
                            <a:srgbClr val="FFFFFF"/>
                          </a:solidFill>
                          <a:latin typeface="Times New Roman"/>
                        </a:defRPr>
                      </a:pPr>
                      <a:r>
                        <a:rPr dirty="0" err="1"/>
                        <a:t>Nhiệm</a:t>
                      </a:r>
                      <a:r>
                        <a:rPr dirty="0"/>
                        <a:t> </a:t>
                      </a:r>
                      <a:r>
                        <a:rPr dirty="0" err="1"/>
                        <a:t>vụ</a:t>
                      </a:r>
                      <a:r>
                        <a:rPr dirty="0"/>
                        <a:t> </a:t>
                      </a:r>
                      <a:r>
                        <a:rPr dirty="0" err="1"/>
                        <a:t>kỹ</a:t>
                      </a:r>
                      <a:r>
                        <a:rPr dirty="0"/>
                        <a:t> </a:t>
                      </a:r>
                      <a:r>
                        <a:rPr dirty="0" err="1"/>
                        <a:t>thuật</a:t>
                      </a:r>
                      <a:endParaRPr dirty="0"/>
                    </a:p>
                  </a:txBody>
                  <a:tcPr>
                    <a:solidFill>
                      <a:srgbClr val="1565C0"/>
                    </a:solidFill>
                  </a:tcPr>
                </a:tc>
                <a:tc>
                  <a:txBody>
                    <a:bodyPr/>
                    <a:lstStyle/>
                    <a:p>
                      <a:pPr algn="ctr">
                        <a:defRPr sz="2200" b="1">
                          <a:solidFill>
                            <a:srgbClr val="FFFFFF"/>
                          </a:solidFill>
                          <a:latin typeface="Times New Roman"/>
                        </a:defRPr>
                      </a:pPr>
                      <a:r>
                        <a:t>Đóng góp cho hệ thống</a:t>
                      </a:r>
                    </a:p>
                  </a:txBody>
                  <a:tcPr>
                    <a:solidFill>
                      <a:srgbClr val="1565C0"/>
                    </a:solidFill>
                  </a:tcPr>
                </a:tc>
                <a:extLst>
                  <a:ext uri="{0D108BD9-81ED-4DB2-BD59-A6C34878D82A}">
                    <a16:rowId xmlns:a16="http://schemas.microsoft.com/office/drawing/2014/main" val="10000"/>
                  </a:ext>
                </a:extLst>
              </a:tr>
              <a:tr h="1333500">
                <a:tc>
                  <a:txBody>
                    <a:bodyPr/>
                    <a:lstStyle/>
                    <a:p>
                      <a:pPr algn="ctr">
                        <a:defRPr sz="2200" b="0">
                          <a:solidFill>
                            <a:srgbClr val="151515"/>
                          </a:solidFill>
                          <a:latin typeface="Times New Roman"/>
                        </a:defRPr>
                      </a:pPr>
                      <a:r>
                        <a:t>Tầng 1</a:t>
                      </a:r>
                    </a:p>
                  </a:txBody>
                  <a:tcPr>
                    <a:solidFill>
                      <a:srgbClr val="FFFFFF"/>
                    </a:solidFill>
                  </a:tcPr>
                </a:tc>
                <a:tc>
                  <a:txBody>
                    <a:bodyPr/>
                    <a:lstStyle/>
                    <a:p>
                      <a:pPr algn="l">
                        <a:defRPr sz="2200" b="0">
                          <a:solidFill>
                            <a:srgbClr val="151515"/>
                          </a:solidFill>
                          <a:latin typeface="Times New Roman"/>
                        </a:defRPr>
                      </a:pPr>
                      <a:r>
                        <a:t>Primary Strategy</a:t>
                      </a:r>
                    </a:p>
                  </a:txBody>
                  <a:tcPr>
                    <a:solidFill>
                      <a:srgbClr val="FFFFFF"/>
                    </a:solidFill>
                  </a:tcPr>
                </a:tc>
                <a:tc>
                  <a:txBody>
                    <a:bodyPr/>
                    <a:lstStyle/>
                    <a:p>
                      <a:pPr algn="l">
                        <a:defRPr sz="2200" b="0">
                          <a:solidFill>
                            <a:srgbClr val="151515"/>
                          </a:solidFill>
                          <a:latin typeface="Times New Roman"/>
                        </a:defRPr>
                      </a:pPr>
                      <a:r>
                        <a:t>Quét nến M15, phát hiện tín hiệu Mua/Bán theo quy tắc.</a:t>
                      </a:r>
                    </a:p>
                  </a:txBody>
                  <a:tcPr>
                    <a:solidFill>
                      <a:srgbClr val="FFFFFF"/>
                    </a:solidFill>
                  </a:tcPr>
                </a:tc>
                <a:tc>
                  <a:txBody>
                    <a:bodyPr/>
                    <a:lstStyle/>
                    <a:p>
                      <a:pPr algn="l">
                        <a:defRPr sz="2200" b="0">
                          <a:solidFill>
                            <a:srgbClr val="151515"/>
                          </a:solidFill>
                          <a:latin typeface="Times New Roman"/>
                        </a:defRPr>
                      </a:pPr>
                      <a:r>
                        <a:t>Bắt trọn các sóng thị trường lớn, đảm bảo Recall cao.</a:t>
                      </a:r>
                    </a:p>
                  </a:txBody>
                  <a:tcPr>
                    <a:solidFill>
                      <a:srgbClr val="FFFFFF"/>
                    </a:solidFill>
                  </a:tcPr>
                </a:tc>
                <a:extLst>
                  <a:ext uri="{0D108BD9-81ED-4DB2-BD59-A6C34878D82A}">
                    <a16:rowId xmlns:a16="http://schemas.microsoft.com/office/drawing/2014/main" val="10001"/>
                  </a:ext>
                </a:extLst>
              </a:tr>
              <a:tr h="1333500">
                <a:tc>
                  <a:txBody>
                    <a:bodyPr/>
                    <a:lstStyle/>
                    <a:p>
                      <a:pPr algn="ctr">
                        <a:defRPr sz="2200" b="0">
                          <a:solidFill>
                            <a:srgbClr val="151515"/>
                          </a:solidFill>
                          <a:latin typeface="Times New Roman"/>
                        </a:defRPr>
                      </a:pPr>
                      <a:r>
                        <a:t>Tầng 2</a:t>
                      </a:r>
                    </a:p>
                  </a:txBody>
                  <a:tcPr>
                    <a:solidFill>
                      <a:srgbClr val="E3F2FD"/>
                    </a:solidFill>
                  </a:tcPr>
                </a:tc>
                <a:tc>
                  <a:txBody>
                    <a:bodyPr/>
                    <a:lstStyle/>
                    <a:p>
                      <a:pPr algn="l">
                        <a:defRPr sz="2200" b="0">
                          <a:solidFill>
                            <a:srgbClr val="151515"/>
                          </a:solidFill>
                          <a:latin typeface="Times New Roman"/>
                        </a:defRPr>
                      </a:pPr>
                      <a:r>
                        <a:t>Feature Pipeline</a:t>
                      </a:r>
                    </a:p>
                  </a:txBody>
                  <a:tcPr>
                    <a:solidFill>
                      <a:srgbClr val="E3F2FD"/>
                    </a:solidFill>
                  </a:tcPr>
                </a:tc>
                <a:tc>
                  <a:txBody>
                    <a:bodyPr/>
                    <a:lstStyle/>
                    <a:p>
                      <a:pPr algn="l">
                        <a:defRPr sz="2200" b="0">
                          <a:solidFill>
                            <a:srgbClr val="151515"/>
                          </a:solidFill>
                          <a:latin typeface="Times New Roman"/>
                        </a:defRPr>
                      </a:pPr>
                      <a:r>
                        <a:t>Trích xuất 21 đặc trưng kỹ thuật, biến động (ATR), động lượng (RSI).</a:t>
                      </a:r>
                    </a:p>
                  </a:txBody>
                  <a:tcPr>
                    <a:solidFill>
                      <a:srgbClr val="E3F2FD"/>
                    </a:solidFill>
                  </a:tcPr>
                </a:tc>
                <a:tc>
                  <a:txBody>
                    <a:bodyPr/>
                    <a:lstStyle/>
                    <a:p>
                      <a:pPr algn="l">
                        <a:defRPr sz="2200" b="0">
                          <a:solidFill>
                            <a:srgbClr val="151515"/>
                          </a:solidFill>
                          <a:latin typeface="Times New Roman"/>
                        </a:defRPr>
                      </a:pPr>
                      <a:r>
                        <a:t>Cung cấp bối cảnh toàn diện về tình trạng thị trường.</a:t>
                      </a:r>
                    </a:p>
                  </a:txBody>
                  <a:tcPr>
                    <a:solidFill>
                      <a:srgbClr val="E3F2FD"/>
                    </a:solidFill>
                  </a:tcPr>
                </a:tc>
                <a:extLst>
                  <a:ext uri="{0D108BD9-81ED-4DB2-BD59-A6C34878D82A}">
                    <a16:rowId xmlns:a16="http://schemas.microsoft.com/office/drawing/2014/main" val="10002"/>
                  </a:ext>
                </a:extLst>
              </a:tr>
              <a:tr h="1333500">
                <a:tc>
                  <a:txBody>
                    <a:bodyPr/>
                    <a:lstStyle/>
                    <a:p>
                      <a:pPr algn="ctr">
                        <a:defRPr sz="2200" b="0">
                          <a:solidFill>
                            <a:srgbClr val="151515"/>
                          </a:solidFill>
                          <a:latin typeface="Times New Roman"/>
                        </a:defRPr>
                      </a:pPr>
                      <a:r>
                        <a:t>Tầng 3</a:t>
                      </a:r>
                    </a:p>
                  </a:txBody>
                  <a:tcPr>
                    <a:solidFill>
                      <a:srgbClr val="FFFFFF"/>
                    </a:solidFill>
                  </a:tcPr>
                </a:tc>
                <a:tc>
                  <a:txBody>
                    <a:bodyPr/>
                    <a:lstStyle/>
                    <a:p>
                      <a:pPr algn="l">
                        <a:defRPr sz="2200" b="0">
                          <a:solidFill>
                            <a:srgbClr val="151515"/>
                          </a:solidFill>
                          <a:latin typeface="Times New Roman"/>
                        </a:defRPr>
                      </a:pPr>
                      <a:r>
                        <a:t>CatBoost Meta-Model</a:t>
                      </a:r>
                    </a:p>
                  </a:txBody>
                  <a:tcPr>
                    <a:solidFill>
                      <a:srgbClr val="FFFFFF"/>
                    </a:solidFill>
                  </a:tcPr>
                </a:tc>
                <a:tc>
                  <a:txBody>
                    <a:bodyPr/>
                    <a:lstStyle/>
                    <a:p>
                      <a:pPr algn="l">
                        <a:defRPr sz="2200" b="0">
                          <a:solidFill>
                            <a:srgbClr val="151515"/>
                          </a:solidFill>
                          <a:latin typeface="Times New Roman"/>
                        </a:defRPr>
                      </a:pPr>
                      <a:r>
                        <a:t>Học tương tác phi tuyến, ước lượng xác suất thắng P(Win).</a:t>
                      </a:r>
                    </a:p>
                  </a:txBody>
                  <a:tcPr>
                    <a:solidFill>
                      <a:srgbClr val="FFFFFF"/>
                    </a:solidFill>
                  </a:tcPr>
                </a:tc>
                <a:tc>
                  <a:txBody>
                    <a:bodyPr/>
                    <a:lstStyle/>
                    <a:p>
                      <a:pPr algn="l">
                        <a:defRPr sz="2200" b="0">
                          <a:solidFill>
                            <a:srgbClr val="151515"/>
                          </a:solidFill>
                          <a:latin typeface="Times New Roman"/>
                        </a:defRPr>
                      </a:pPr>
                      <a:r>
                        <a:t>Dự báo độ tin cậy của lệnh mà không bị rò rỉ target.</a:t>
                      </a:r>
                    </a:p>
                  </a:txBody>
                  <a:tcPr>
                    <a:solidFill>
                      <a:srgbClr val="FFFFFF"/>
                    </a:solidFill>
                  </a:tcPr>
                </a:tc>
                <a:extLst>
                  <a:ext uri="{0D108BD9-81ED-4DB2-BD59-A6C34878D82A}">
                    <a16:rowId xmlns:a16="http://schemas.microsoft.com/office/drawing/2014/main" val="10003"/>
                  </a:ext>
                </a:extLst>
              </a:tr>
              <a:tr h="1333500">
                <a:tc>
                  <a:txBody>
                    <a:bodyPr/>
                    <a:lstStyle/>
                    <a:p>
                      <a:pPr algn="ctr">
                        <a:defRPr sz="2200" b="0">
                          <a:solidFill>
                            <a:srgbClr val="151515"/>
                          </a:solidFill>
                          <a:latin typeface="Times New Roman"/>
                        </a:defRPr>
                      </a:pPr>
                      <a:r>
                        <a:t>Tầng 4</a:t>
                      </a:r>
                    </a:p>
                  </a:txBody>
                  <a:tcPr>
                    <a:solidFill>
                      <a:srgbClr val="E3F2FD"/>
                    </a:solidFill>
                  </a:tcPr>
                </a:tc>
                <a:tc>
                  <a:txBody>
                    <a:bodyPr/>
                    <a:lstStyle/>
                    <a:p>
                      <a:pPr algn="l">
                        <a:defRPr sz="2200" b="0">
                          <a:solidFill>
                            <a:srgbClr val="151515"/>
                          </a:solidFill>
                          <a:latin typeface="Times New Roman"/>
                        </a:defRPr>
                      </a:pPr>
                      <a:r>
                        <a:t>Meta-Decision Filter</a:t>
                      </a:r>
                    </a:p>
                  </a:txBody>
                  <a:tcPr>
                    <a:solidFill>
                      <a:srgbClr val="E3F2FD"/>
                    </a:solidFill>
                  </a:tcPr>
                </a:tc>
                <a:tc>
                  <a:txBody>
                    <a:bodyPr/>
                    <a:lstStyle/>
                    <a:p>
                      <a:pPr algn="l">
                        <a:defRPr sz="2200" b="0">
                          <a:solidFill>
                            <a:srgbClr val="151515"/>
                          </a:solidFill>
                          <a:latin typeface="Times New Roman"/>
                        </a:defRPr>
                      </a:pPr>
                      <a:r>
                        <a:t>Áp dụng ngưỡng lọc P &gt;= 0.50 (hoặc Top 50% tự tin nhất).</a:t>
                      </a:r>
                    </a:p>
                  </a:txBody>
                  <a:tcPr>
                    <a:solidFill>
                      <a:srgbClr val="E3F2FD"/>
                    </a:solidFill>
                  </a:tcPr>
                </a:tc>
                <a:tc>
                  <a:txBody>
                    <a:bodyPr/>
                    <a:lstStyle/>
                    <a:p>
                      <a:pPr algn="l">
                        <a:defRPr sz="2200" b="0">
                          <a:solidFill>
                            <a:srgbClr val="151515"/>
                          </a:solidFill>
                          <a:latin typeface="Times New Roman"/>
                        </a:defRPr>
                      </a:pPr>
                      <a:r>
                        <a:t>Loại bỏ hàng ngàn lệnh thua tiềm ẩn (False Positives).</a:t>
                      </a:r>
                    </a:p>
                  </a:txBody>
                  <a:tcPr>
                    <a:solidFill>
                      <a:srgbClr val="E3F2FD"/>
                    </a:solidFill>
                  </a:tcPr>
                </a:tc>
                <a:extLst>
                  <a:ext uri="{0D108BD9-81ED-4DB2-BD59-A6C34878D82A}">
                    <a16:rowId xmlns:a16="http://schemas.microsoft.com/office/drawing/2014/main" val="10004"/>
                  </a:ext>
                </a:extLst>
              </a:tr>
              <a:tr h="1333500">
                <a:tc>
                  <a:txBody>
                    <a:bodyPr/>
                    <a:lstStyle/>
                    <a:p>
                      <a:pPr algn="ctr">
                        <a:defRPr sz="2200" b="0">
                          <a:solidFill>
                            <a:srgbClr val="151515"/>
                          </a:solidFill>
                          <a:latin typeface="Times New Roman"/>
                        </a:defRPr>
                      </a:pPr>
                      <a:r>
                        <a:t>Tầng 5</a:t>
                      </a:r>
                    </a:p>
                  </a:txBody>
                  <a:tcPr>
                    <a:solidFill>
                      <a:srgbClr val="FFFFFF"/>
                    </a:solidFill>
                  </a:tcPr>
                </a:tc>
                <a:tc>
                  <a:txBody>
                    <a:bodyPr/>
                    <a:lstStyle/>
                    <a:p>
                      <a:pPr algn="l">
                        <a:defRPr sz="2200" b="0">
                          <a:solidFill>
                            <a:srgbClr val="151515"/>
                          </a:solidFill>
                          <a:latin typeface="Times New Roman"/>
                        </a:defRPr>
                      </a:pPr>
                      <a:r>
                        <a:t>Risk &amp; Position Sizing</a:t>
                      </a:r>
                    </a:p>
                  </a:txBody>
                  <a:tcPr>
                    <a:solidFill>
                      <a:srgbClr val="FFFFFF"/>
                    </a:solidFill>
                  </a:tcPr>
                </a:tc>
                <a:tc>
                  <a:txBody>
                    <a:bodyPr/>
                    <a:lstStyle/>
                    <a:p>
                      <a:pPr algn="l">
                        <a:defRPr sz="2200" b="0">
                          <a:solidFill>
                            <a:srgbClr val="151515"/>
                          </a:solidFill>
                          <a:latin typeface="Times New Roman"/>
                        </a:defRPr>
                      </a:pPr>
                      <a:r>
                        <a:t>Phân bổ vốn theo tỷ lệ R-multiple (Lãi 2R / Lỗ 1R).</a:t>
                      </a:r>
                    </a:p>
                  </a:txBody>
                  <a:tcPr>
                    <a:solidFill>
                      <a:srgbClr val="FFFFFF"/>
                    </a:solidFill>
                  </a:tcPr>
                </a:tc>
                <a:tc>
                  <a:txBody>
                    <a:bodyPr/>
                    <a:lstStyle/>
                    <a:p>
                      <a:pPr algn="l">
                        <a:defRPr sz="2200" b="0">
                          <a:solidFill>
                            <a:srgbClr val="151515"/>
                          </a:solidFill>
                          <a:latin typeface="Times New Roman"/>
                        </a:defRPr>
                      </a:pPr>
                      <a:r>
                        <a:rPr dirty="0"/>
                        <a:t>Bảo </a:t>
                      </a:r>
                      <a:r>
                        <a:rPr dirty="0" err="1"/>
                        <a:t>toàn</a:t>
                      </a:r>
                      <a:r>
                        <a:rPr dirty="0"/>
                        <a:t> </a:t>
                      </a:r>
                      <a:r>
                        <a:rPr dirty="0" err="1"/>
                        <a:t>tài</a:t>
                      </a:r>
                      <a:r>
                        <a:rPr dirty="0"/>
                        <a:t> </a:t>
                      </a:r>
                      <a:r>
                        <a:rPr dirty="0" err="1"/>
                        <a:t>khoản</a:t>
                      </a:r>
                      <a:r>
                        <a:rPr dirty="0"/>
                        <a:t>, </a:t>
                      </a:r>
                      <a:r>
                        <a:rPr dirty="0" err="1"/>
                        <a:t>cắt</a:t>
                      </a:r>
                      <a:r>
                        <a:rPr dirty="0"/>
                        <a:t> </a:t>
                      </a:r>
                      <a:r>
                        <a:rPr dirty="0" err="1"/>
                        <a:t>giảm</a:t>
                      </a:r>
                      <a:r>
                        <a:rPr dirty="0"/>
                        <a:t> 40% </a:t>
                      </a:r>
                      <a:r>
                        <a:rPr dirty="0" err="1"/>
                        <a:t>sụt</a:t>
                      </a:r>
                      <a:r>
                        <a:rPr dirty="0"/>
                        <a:t> </a:t>
                      </a:r>
                      <a:r>
                        <a:rPr dirty="0" err="1"/>
                        <a:t>giảm</a:t>
                      </a:r>
                      <a:r>
                        <a:rPr dirty="0"/>
                        <a:t> </a:t>
                      </a:r>
                      <a:r>
                        <a:rPr dirty="0" err="1"/>
                        <a:t>vốn</a:t>
                      </a:r>
                      <a:r>
                        <a:rPr dirty="0"/>
                        <a:t> (Drawdown).</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70230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7555CB3-3E49-4EE0-8B0A-575E2FD52BEE}"/>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9F645BE8-41E6-479D-BA44-5832D7E67A74}"/>
              </a:ext>
            </a:extLst>
          </p:cNvPr>
          <p:cNvSpPr>
            <a:spLocks noGrp="1"/>
          </p:cNvSpPr>
          <p:nvPr/>
        </p:nvSpPr>
        <p:spPr>
          <a:xfrm>
            <a:off x="3725227"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2E3618FA-6D56-41B9-A8E0-7856F1724C26}"/>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4AD7AC22-316E-48CA-AA55-367E08BE2B3E}"/>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14BA2610-1115-4CA6-BD1B-FF51A4B263BD}"/>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923286B5-DEBE-444F-B17B-4C548851D401}"/>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F94C6CC1-9F2D-4486-92BD-054AEC702F00}"/>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47E876E-2426-4632-9533-FCC92C295F17}"/>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13E04589-C647-43DE-8FF2-A88D0F6A49AD}"/>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FF0D4B7A-58B4-49B2-B494-0B1091E62AC5}"/>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5FF6001E-A006-4E1C-81C8-FA91EDE6E4D1}"/>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DAA9B598-B39D-4C0E-BAD1-1B0EF639D0AF}"/>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84EF626A-F04D-4DBE-8315-0481A62E4A27}"/>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EABFF60E-09E0-4F5A-A0C1-C7A6C0FBB7FA}"/>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CC4913BA-3DDD-481C-9E01-35A47574D0BE}"/>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C9DD04B0-49FD-4B53-ACF1-44CA3C16174B}"/>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Cơ chế hoạt động của tầng Meta-Labeling</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B76ECA16-B719-4728-A333-5119E70FC585}"/>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31288B66-0BC2-4C81-8087-8AE4C8BCE6B9}"/>
              </a:ext>
            </a:extLst>
          </p:cNvPr>
          <p:cNvSpPr>
            <a:spLocks noGrp="1"/>
          </p:cNvSpPr>
          <p:nvPr/>
        </p:nvSpPr>
        <p:spPr>
          <a:xfrm>
            <a:off x="1016000" y="1947291"/>
            <a:ext cx="9482709" cy="508000"/>
          </a:xfrm>
          <a:prstGeom prst="rect">
            <a:avLst/>
          </a:prstGeom>
          <a:solidFill>
            <a:srgbClr val="FFFFFF">
              <a:alpha val="0"/>
            </a:srgbClr>
          </a:solidFill>
        </p:spPr>
        <p:txBody>
          <a:bodyPr/>
          <a:lstStyle/>
          <a:p>
            <a:endParaRPr/>
          </a:p>
        </p:txBody>
      </p:sp>
      <p:sp>
        <p:nvSpPr>
          <p:cNvPr id="20" name="Text 18">
            <a:extLst>
              <a:ext uri="{FF2B5EF4-FFF2-40B4-BE49-F238E27FC236}">
                <a16:creationId xmlns:a16="http://schemas.microsoft.com/office/drawing/2014/main" id="{26D670CE-E378-4855-BB38-BCE220AB2A40}"/>
              </a:ext>
            </a:extLst>
          </p:cNvPr>
          <p:cNvSpPr>
            <a:spLocks noGrp="1"/>
          </p:cNvSpPr>
          <p:nvPr/>
        </p:nvSpPr>
        <p:spPr>
          <a:xfrm>
            <a:off x="894080" y="1886331"/>
            <a:ext cx="9726549" cy="629920"/>
          </a:xfrm>
          <a:prstGeom prst="rect">
            <a:avLst/>
          </a:prstGeom>
          <a:noFill/>
        </p:spPr>
        <p:txBody>
          <a:bodyPr wrap="square" lIns="0" tIns="0" rIns="0" bIns="0" anchor="ctr">
            <a:noAutofit/>
          </a:bodyPr>
          <a:lstStyle/>
          <a:p>
            <a:pPr algn="l">
              <a:lnSpc>
                <a:spcPct val="100000"/>
              </a:lnSpc>
              <a:buNone/>
              <a:defRPr sz="3150" b="1">
                <a:solidFill>
                  <a:srgbClr val="1565C0"/>
                </a:solidFill>
                <a:latin typeface="Times New Roman"/>
                <a:ea typeface="Times New Roman"/>
                <a:cs typeface="Times New Roman"/>
              </a:defRPr>
            </a:pPr>
            <a:r>
              <a:rPr sz="3600" b="1" i="0">
                <a:solidFill>
                  <a:srgbClr val="1565C0"/>
                </a:solidFill>
                <a:latin typeface="Times New Roman"/>
              </a:rPr>
              <a:t>Tầng 1: Tín hiệu Sơ cấp (Primary Signal)</a:t>
            </a:r>
            <a:endParaRPr sz="1600">
              <a:latin typeface="Times New Roman"/>
              <a:ea typeface="Times New Roman"/>
              <a:cs typeface="Times New Roman"/>
            </a:endParaRPr>
          </a:p>
        </p:txBody>
      </p:sp>
      <p:sp>
        <p:nvSpPr>
          <p:cNvPr id="21" name="Shape 19">
            <a:extLst>
              <a:ext uri="{FF2B5EF4-FFF2-40B4-BE49-F238E27FC236}">
                <a16:creationId xmlns:a16="http://schemas.microsoft.com/office/drawing/2014/main" id="{8C624ECF-007C-499F-9F46-FDEEBAA96BBD}"/>
              </a:ext>
            </a:extLst>
          </p:cNvPr>
          <p:cNvSpPr>
            <a:spLocks noGrp="1"/>
          </p:cNvSpPr>
          <p:nvPr/>
        </p:nvSpPr>
        <p:spPr>
          <a:xfrm>
            <a:off x="11176000" y="1947291"/>
            <a:ext cx="9482709" cy="508000"/>
          </a:xfrm>
          <a:prstGeom prst="rect">
            <a:avLst/>
          </a:prstGeom>
          <a:solidFill>
            <a:srgbClr val="FFFFFF">
              <a:alpha val="0"/>
            </a:srgbClr>
          </a:solidFill>
        </p:spPr>
        <p:txBody>
          <a:bodyPr/>
          <a:lstStyle/>
          <a:p>
            <a:endParaRPr/>
          </a:p>
        </p:txBody>
      </p:sp>
      <p:sp>
        <p:nvSpPr>
          <p:cNvPr id="22" name="Text 20">
            <a:extLst>
              <a:ext uri="{FF2B5EF4-FFF2-40B4-BE49-F238E27FC236}">
                <a16:creationId xmlns:a16="http://schemas.microsoft.com/office/drawing/2014/main" id="{DA1D75E7-5F73-48DF-8D73-E668483BCD60}"/>
              </a:ext>
            </a:extLst>
          </p:cNvPr>
          <p:cNvSpPr>
            <a:spLocks noGrp="1"/>
          </p:cNvSpPr>
          <p:nvPr/>
        </p:nvSpPr>
        <p:spPr>
          <a:xfrm>
            <a:off x="11054080" y="1886331"/>
            <a:ext cx="9726549" cy="629920"/>
          </a:xfrm>
          <a:prstGeom prst="rect">
            <a:avLst/>
          </a:prstGeom>
          <a:noFill/>
        </p:spPr>
        <p:txBody>
          <a:bodyPr wrap="square" lIns="0" tIns="0" rIns="0" bIns="0" anchor="ctr">
            <a:noAutofit/>
          </a:bodyPr>
          <a:lstStyle/>
          <a:p>
            <a:pPr algn="l">
              <a:lnSpc>
                <a:spcPct val="100000"/>
              </a:lnSpc>
              <a:buNone/>
              <a:defRPr sz="3150" b="1">
                <a:solidFill>
                  <a:srgbClr val="2E7D32"/>
                </a:solidFill>
                <a:latin typeface="Times New Roman"/>
                <a:ea typeface="Times New Roman"/>
                <a:cs typeface="Times New Roman"/>
              </a:defRPr>
            </a:pPr>
            <a:r>
              <a:rPr sz="3600" b="1" i="0">
                <a:solidFill>
                  <a:srgbClr val="2E7D32"/>
                </a:solidFill>
                <a:latin typeface="Times New Roman"/>
              </a:rPr>
              <a:t>Tầng 2: Thẩm định Meta-Model (CatBoost)</a:t>
            </a:r>
            <a:endParaRPr sz="1600">
              <a:latin typeface="Times New Roman"/>
              <a:ea typeface="Times New Roman"/>
              <a:cs typeface="Times New Roman"/>
            </a:endParaRPr>
          </a:p>
        </p:txBody>
      </p:sp>
      <p:sp>
        <p:nvSpPr>
          <p:cNvPr id="23" name="Shape 21">
            <a:extLst>
              <a:ext uri="{FF2B5EF4-FFF2-40B4-BE49-F238E27FC236}">
                <a16:creationId xmlns:a16="http://schemas.microsoft.com/office/drawing/2014/main" id="{B0365600-D17B-482F-B1BD-7F7CE0F8B3C1}"/>
              </a:ext>
            </a:extLst>
          </p:cNvPr>
          <p:cNvSpPr>
            <a:spLocks noGrp="1"/>
          </p:cNvSpPr>
          <p:nvPr/>
        </p:nvSpPr>
        <p:spPr>
          <a:xfrm>
            <a:off x="1016000" y="6773291"/>
            <a:ext cx="19642709" cy="1693291"/>
          </a:xfrm>
          <a:prstGeom prst="roundRect">
            <a:avLst>
              <a:gd name="adj" fmla="val 8000"/>
            </a:avLst>
          </a:prstGeom>
          <a:solidFill>
            <a:srgbClr val="E3F2FD"/>
          </a:solidFill>
          <a:ln w="12700">
            <a:solidFill>
              <a:srgbClr val="BBDEFB"/>
            </a:solidFill>
            <a:prstDash val="solid"/>
          </a:ln>
        </p:spPr>
        <p:txBody>
          <a:bodyPr/>
          <a:lstStyle/>
          <a:p>
            <a:endParaRPr/>
          </a:p>
        </p:txBody>
      </p:sp>
      <p:sp>
        <p:nvSpPr>
          <p:cNvPr id="24" name="Shape 22">
            <a:extLst>
              <a:ext uri="{FF2B5EF4-FFF2-40B4-BE49-F238E27FC236}">
                <a16:creationId xmlns:a16="http://schemas.microsoft.com/office/drawing/2014/main" id="{3CDC7DD6-0F0C-42C0-B120-267F8D41476E}"/>
              </a:ext>
            </a:extLst>
          </p:cNvPr>
          <p:cNvSpPr>
            <a:spLocks noGrp="1"/>
          </p:cNvSpPr>
          <p:nvPr/>
        </p:nvSpPr>
        <p:spPr>
          <a:xfrm>
            <a:off x="1354709" y="6908800"/>
            <a:ext cx="5080000" cy="406400"/>
          </a:xfrm>
          <a:prstGeom prst="rect">
            <a:avLst/>
          </a:prstGeom>
          <a:solidFill>
            <a:srgbClr val="FFFFFF">
              <a:alpha val="0"/>
            </a:srgbClr>
          </a:solidFill>
        </p:spPr>
        <p:txBody>
          <a:bodyPr/>
          <a:lstStyle/>
          <a:p>
            <a:endParaRPr/>
          </a:p>
        </p:txBody>
      </p:sp>
      <p:sp>
        <p:nvSpPr>
          <p:cNvPr id="25" name="Text 23">
            <a:extLst>
              <a:ext uri="{FF2B5EF4-FFF2-40B4-BE49-F238E27FC236}">
                <a16:creationId xmlns:a16="http://schemas.microsoft.com/office/drawing/2014/main" id="{D27971DA-0475-430C-B0BD-A84890507D91}"/>
              </a:ext>
            </a:extLst>
          </p:cNvPr>
          <p:cNvSpPr>
            <a:spLocks noGrp="1"/>
          </p:cNvSpPr>
          <p:nvPr/>
        </p:nvSpPr>
        <p:spPr>
          <a:xfrm>
            <a:off x="1232789" y="6847840"/>
            <a:ext cx="5323840" cy="528320"/>
          </a:xfrm>
          <a:prstGeom prst="rect">
            <a:avLst/>
          </a:prstGeom>
          <a:noFill/>
        </p:spPr>
        <p:txBody>
          <a:bodyPr wrap="square" lIns="0" tIns="0" rIns="0" bIns="0" anchor="ctr">
            <a:noAutofit/>
          </a:bodyPr>
          <a:lstStyle/>
          <a:p>
            <a:pPr algn="l">
              <a:lnSpc>
                <a:spcPct val="100000"/>
              </a:lnSpc>
              <a:buNone/>
              <a:defRPr sz="2400" b="1">
                <a:solidFill>
                  <a:srgbClr val="1565C0"/>
                </a:solidFill>
                <a:latin typeface="Times New Roman"/>
                <a:ea typeface="Times New Roman"/>
                <a:cs typeface="Times New Roman"/>
              </a:defRPr>
            </a:pPr>
            <a:r>
              <a:rPr sz="2800" b="1" i="0">
                <a:solidFill>
                  <a:srgbClr val="1565C0"/>
                </a:solidFill>
                <a:latin typeface="Times New Roman"/>
              </a:rPr>
              <a:t>Cổng lọc Meta-Filter:</a:t>
            </a:r>
            <a:endParaRPr sz="1600">
              <a:latin typeface="Times New Roman"/>
              <a:ea typeface="Times New Roman"/>
              <a:cs typeface="Times New Roman"/>
            </a:endParaRPr>
          </a:p>
        </p:txBody>
      </p:sp>
      <p:sp>
        <p:nvSpPr>
          <p:cNvPr id="26" name="Shape 24">
            <a:extLst>
              <a:ext uri="{FF2B5EF4-FFF2-40B4-BE49-F238E27FC236}">
                <a16:creationId xmlns:a16="http://schemas.microsoft.com/office/drawing/2014/main" id="{284AE89F-2AAA-4DCB-84BE-740CC8DD8F3E}"/>
              </a:ext>
            </a:extLst>
          </p:cNvPr>
          <p:cNvSpPr>
            <a:spLocks noGrp="1"/>
          </p:cNvSpPr>
          <p:nvPr/>
        </p:nvSpPr>
        <p:spPr>
          <a:xfrm>
            <a:off x="1016000" y="8805291"/>
            <a:ext cx="19642709" cy="2032000"/>
          </a:xfrm>
          <a:prstGeom prst="roundRect">
            <a:avLst>
              <a:gd name="adj" fmla="val 8000"/>
            </a:avLst>
          </a:prstGeom>
          <a:solidFill>
            <a:srgbClr val="FFF3E0"/>
          </a:solidFill>
          <a:ln w="12700">
            <a:solidFill>
              <a:srgbClr val="FFE0B2"/>
            </a:solidFill>
            <a:prstDash val="solid"/>
          </a:ln>
        </p:spPr>
        <p:txBody>
          <a:bodyPr/>
          <a:lstStyle/>
          <a:p>
            <a:endParaRPr/>
          </a:p>
        </p:txBody>
      </p:sp>
      <p:sp>
        <p:nvSpPr>
          <p:cNvPr id="27" name="Shape 25">
            <a:extLst>
              <a:ext uri="{FF2B5EF4-FFF2-40B4-BE49-F238E27FC236}">
                <a16:creationId xmlns:a16="http://schemas.microsoft.com/office/drawing/2014/main" id="{AB08A138-3606-4A56-8D70-88AC98E77C00}"/>
              </a:ext>
            </a:extLst>
          </p:cNvPr>
          <p:cNvSpPr>
            <a:spLocks noGrp="1"/>
          </p:cNvSpPr>
          <p:nvPr/>
        </p:nvSpPr>
        <p:spPr>
          <a:xfrm>
            <a:off x="1354709" y="8974709"/>
            <a:ext cx="18965291" cy="1693291"/>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CB6F828C-C131-45E9-B9DF-317046BFC39B}"/>
              </a:ext>
            </a:extLst>
          </p:cNvPr>
          <p:cNvSpPr>
            <a:spLocks noGrp="1"/>
          </p:cNvSpPr>
          <p:nvPr/>
        </p:nvSpPr>
        <p:spPr>
          <a:xfrm>
            <a:off x="1232789" y="8913749"/>
            <a:ext cx="19209131" cy="1815211"/>
          </a:xfrm>
          <a:prstGeom prst="rect">
            <a:avLst/>
          </a:prstGeom>
          <a:noFill/>
        </p:spPr>
        <p:txBody>
          <a:bodyPr wrap="square" lIns="0" tIns="0" rIns="0" bIns="0" anchor="t">
            <a:noAutofit/>
          </a:bodyPr>
          <a:lstStyle/>
          <a:p>
            <a:pPr algn="l">
              <a:lnSpc>
                <a:spcPct val="150000"/>
              </a:lnSpc>
              <a:buNone/>
              <a:defRPr sz="2850" b="0">
                <a:solidFill>
                  <a:srgbClr val="151515"/>
                </a:solidFill>
                <a:latin typeface="Times New Roman"/>
                <a:ea typeface="Times New Roman"/>
                <a:cs typeface="Times New Roman"/>
              </a:defRPr>
            </a:pPr>
            <a:r>
              <a:rPr sz="2800" b="0" i="0">
                <a:solidFill>
                  <a:srgbClr val="151515"/>
                </a:solidFill>
                <a:latin typeface="Times New Roman"/>
              </a:rPr>
              <a:t>Mục tiêu then chốt: Giảm thiểu tối đa báo động giả (False Positives) trong các giai đoạn thị trường đi ngang (choppy/sideway).</a:t>
            </a:r>
            <a:endParaRPr sz="1600" dirty="0">
              <a:latin typeface="Times New Roman"/>
              <a:ea typeface="Times New Roman"/>
              <a:cs typeface="Times New Roman"/>
            </a:endParaRPr>
          </a:p>
        </p:txBody>
      </p:sp>
      <p:sp>
        <p:nvSpPr>
          <p:cNvPr id="29" name="Shape 27">
            <a:extLst>
              <a:ext uri="{FF2B5EF4-FFF2-40B4-BE49-F238E27FC236}">
                <a16:creationId xmlns:a16="http://schemas.microsoft.com/office/drawing/2014/main" id="{D6D7A96F-11CC-4BEB-A5BF-68E5BFBFAC8A}"/>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30" name="Text 28">
            <a:extLst>
              <a:ext uri="{FF2B5EF4-FFF2-40B4-BE49-F238E27FC236}">
                <a16:creationId xmlns:a16="http://schemas.microsoft.com/office/drawing/2014/main" id="{2638C63A-B3A2-4F02-B3C5-020810682E85}"/>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7/18</a:t>
            </a:r>
            <a:endParaRPr sz="1600">
              <a:latin typeface="Times New Roman"/>
              <a:ea typeface="Times New Roman"/>
              <a:cs typeface="Times New Roman"/>
            </a:endParaRPr>
          </a:p>
        </p:txBody>
      </p:sp>
      <p:sp>
        <p:nvSpPr>
          <p:cNvPr id="35" name="Text 11">
            <a:extLst>
              <a:ext uri="{FF2B5EF4-FFF2-40B4-BE49-F238E27FC236}">
                <a16:creationId xmlns:a16="http://schemas.microsoft.com/office/drawing/2014/main" id="{39B27A42-EA18-1226-1C3D-6738747F5724}"/>
              </a:ext>
            </a:extLst>
          </p:cNvPr>
          <p:cNvSpPr>
            <a:spLocks noGrp="1"/>
          </p:cNvSpPr>
          <p:nvPr/>
        </p:nvSpPr>
        <p:spPr>
          <a:xfrm>
            <a:off x="1354709" y="2739771"/>
            <a:ext cx="7803546" cy="3686556"/>
          </a:xfrm>
          <a:prstGeom prst="rect">
            <a:avLst/>
          </a:prstGeom>
          <a:noFill/>
        </p:spPr>
        <p:txBody>
          <a:bodyPr wrap="square" lIns="0" tIns="0" rIns="0" bIns="0" anchor="t">
            <a:noAutofit/>
          </a:bodyPr>
          <a:lstStyle/>
          <a:p>
            <a:pPr algn="l">
              <a:lnSpc>
                <a:spcPct val="160000"/>
              </a:lnSpc>
              <a:buNone/>
              <a:defRPr sz="2925" b="0">
                <a:solidFill>
                  <a:srgbClr val="151515"/>
                </a:solidFill>
                <a:latin typeface="Times New Roman"/>
                <a:ea typeface="Times New Roman"/>
                <a:cs typeface="Times New Roman"/>
              </a:defRPr>
            </a:pPr>
            <a:r>
              <a:rPr sz="3000" b="0" i="0">
                <a:solidFill>
                  <a:srgbClr val="151515"/>
                </a:solidFill>
                <a:latin typeface="Times New Roman"/>
              </a:rPr>
              <a:t>• Mô hình sơ cấp quét nến M15 và phát tín hiệu Mua (Long) hoặc Bán (Short).</a:t>
            </a:r>
            <a:endParaRPr sz="2400" dirty="0">
              <a:latin typeface="Times New Roman"/>
              <a:ea typeface="Times New Roman"/>
              <a:cs typeface="Times New Roman"/>
            </a:endParaRPr>
          </a:p>
          <a:p>
            <a:pPr algn="l"/>
            <a:r>
              <a:rPr sz="3000" b="0" i="0">
                <a:solidFill>
                  <a:srgbClr val="151515"/>
                </a:solidFill>
                <a:latin typeface="Times New Roman"/>
              </a:rPr>
              <a:t>• Ưu điểm: Bắt kịp chuyển động thị trường nhanh chóng.</a:t>
            </a:r>
          </a:p>
          <a:p>
            <a:pPr algn="l"/>
            <a:r>
              <a:rPr sz="3000" b="0" i="0">
                <a:solidFill>
                  <a:srgbClr val="151515"/>
                </a:solidFill>
                <a:latin typeface="Times New Roman"/>
              </a:rPr>
              <a:t>• Nhược điểm: Chứa rất nhiều tín hiệu giả do nhiễu ngắn hạn.</a:t>
            </a:r>
          </a:p>
        </p:txBody>
      </p:sp>
      <p:sp>
        <p:nvSpPr>
          <p:cNvPr id="36" name="Text 13">
            <a:extLst>
              <a:ext uri="{FF2B5EF4-FFF2-40B4-BE49-F238E27FC236}">
                <a16:creationId xmlns:a16="http://schemas.microsoft.com/office/drawing/2014/main" id="{7087CF75-6766-10B8-85A7-F3CE2E81A5FD}"/>
              </a:ext>
            </a:extLst>
          </p:cNvPr>
          <p:cNvSpPr>
            <a:spLocks noGrp="1"/>
          </p:cNvSpPr>
          <p:nvPr/>
        </p:nvSpPr>
        <p:spPr>
          <a:xfrm>
            <a:off x="11054079" y="2687319"/>
            <a:ext cx="7803547" cy="3408681"/>
          </a:xfrm>
          <a:prstGeom prst="rect">
            <a:avLst/>
          </a:prstGeom>
          <a:noFill/>
        </p:spPr>
        <p:txBody>
          <a:bodyPr wrap="square" lIns="0" tIns="0" rIns="0" bIns="0" anchor="t">
            <a:noAutofit/>
          </a:bodyPr>
          <a:lstStyle/>
          <a:p>
            <a:pPr algn="l">
              <a:lnSpc>
                <a:spcPct val="160000"/>
              </a:lnSpc>
              <a:buNone/>
              <a:defRPr sz="2925" b="0">
                <a:solidFill>
                  <a:srgbClr val="151515"/>
                </a:solidFill>
                <a:latin typeface="Times New Roman"/>
                <a:ea typeface="Times New Roman"/>
                <a:cs typeface="Times New Roman"/>
              </a:defRPr>
            </a:pPr>
            <a:r>
              <a:rPr sz="3000" b="0" i="0">
                <a:solidFill>
                  <a:srgbClr val="151515"/>
                </a:solidFill>
                <a:latin typeface="Times New Roman"/>
              </a:rPr>
              <a:t>• CatBoost nhận bối cảnh (21 features) và ước lượng xác suất lệnh thắng: P(Win).</a:t>
            </a:r>
            <a:endParaRPr sz="2400" dirty="0">
              <a:latin typeface="Times New Roman"/>
              <a:ea typeface="Times New Roman"/>
              <a:cs typeface="Times New Roman"/>
            </a:endParaRPr>
          </a:p>
          <a:p>
            <a:pPr algn="l"/>
            <a:r>
              <a:rPr sz="3000" b="0" i="0">
                <a:solidFill>
                  <a:srgbClr val="151515"/>
                </a:solidFill>
                <a:latin typeface="Times New Roman"/>
              </a:rPr>
              <a:t>• Mô hình không dự đoán hướng Mua/Bán, chỉ trả lời câu hỏi: 'Lệnh này CÓ NÊN VÀO KHÔNG?'.</a:t>
            </a:r>
          </a:p>
          <a:p>
            <a:pPr algn="l"/>
            <a:r>
              <a:rPr sz="3000" b="0" i="0">
                <a:solidFill>
                  <a:srgbClr val="151515"/>
                </a:solidFill>
                <a:latin typeface="Times New Roman"/>
              </a:rPr>
              <a:t>• Nâng cao Precision và tỷ lệ thắng cho toàn hệ thống.</a:t>
            </a:r>
          </a:p>
        </p:txBody>
      </p:sp>
      <p:sp>
        <p:nvSpPr>
          <p:cNvPr id="38" name="Text 16">
            <a:extLst>
              <a:ext uri="{FF2B5EF4-FFF2-40B4-BE49-F238E27FC236}">
                <a16:creationId xmlns:a16="http://schemas.microsoft.com/office/drawing/2014/main" id="{316A32BF-41A2-8FE0-871F-125A08FEEEED}"/>
              </a:ext>
            </a:extLst>
          </p:cNvPr>
          <p:cNvSpPr>
            <a:spLocks noGrp="1"/>
          </p:cNvSpPr>
          <p:nvPr/>
        </p:nvSpPr>
        <p:spPr>
          <a:xfrm>
            <a:off x="2949731" y="7484618"/>
            <a:ext cx="14224000" cy="635000"/>
          </a:xfrm>
          <a:prstGeom prst="rect">
            <a:avLst/>
          </a:prstGeom>
          <a:noFill/>
        </p:spPr>
        <p:txBody>
          <a:bodyPr wrap="square" lIns="0" tIns="0" rIns="0" bIns="0" anchor="ctr">
            <a:noAutofit/>
          </a:bodyPr>
          <a:lstStyle/>
          <a:p>
            <a:pPr algn="ctr">
              <a:lnSpc>
                <a:spcPct val="100000"/>
              </a:lnSpc>
              <a:buNone/>
              <a:defRPr sz="3000" b="0">
                <a:solidFill>
                  <a:srgbClr val="151515"/>
                </a:solidFill>
                <a:latin typeface="Times New Roman"/>
                <a:ea typeface="Times New Roman"/>
                <a:cs typeface="Times New Roman"/>
              </a:defRPr>
            </a:pPr>
            <a:r>
              <a:rPr sz="3000" b="1" i="0">
                <a:solidFill>
                  <a:srgbClr val="151515"/>
                </a:solidFill>
                <a:latin typeface="Times New Roman"/>
              </a:rPr>
              <a:t>P(Win) &lt; 0,50: HỦY LỆNH (Bỏ qua)   |   P(Win) ≥ 0,50: DUYỆT LỆNH (Vào lệnh)</a:t>
            </a:r>
            <a:endParaRPr sz="2800">
              <a:latin typeface="Times New Roman"/>
              <a:ea typeface="Times New Roman"/>
              <a:cs typeface="Times New Roman"/>
            </a:endParaRPr>
          </a:p>
        </p:txBody>
      </p:sp>
    </p:spTree>
    <p:extLst>
      <p:ext uri="{BB962C8B-B14F-4D97-AF65-F5344CB8AC3E}">
        <p14:creationId xmlns:p14="http://schemas.microsoft.com/office/powerpoint/2010/main" val="61236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59A78F6-CA85-4D00-B269-FD62517A2E4A}"/>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6680B868-52EE-463A-9E1D-1C9D325E99D3}"/>
              </a:ext>
            </a:extLst>
          </p:cNvPr>
          <p:cNvSpPr>
            <a:spLocks noGrp="1"/>
          </p:cNvSpPr>
          <p:nvPr/>
        </p:nvSpPr>
        <p:spPr>
          <a:xfrm>
            <a:off x="3725227"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3D269225-725F-4E42-9A5A-5A23BA587C0E}"/>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8487EB80-44A7-439D-826B-526890C6D212}"/>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6E0582A5-963E-4F00-AE0B-B02CED718996}"/>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87C82307-4A49-4D40-A601-ADDFD1843CE6}"/>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2. Kiến trúc &amp; Mô hình</a:t>
            </a:r>
            <a:endParaRPr sz="1600"/>
          </a:p>
        </p:txBody>
      </p:sp>
      <p:sp>
        <p:nvSpPr>
          <p:cNvPr id="8" name="Shape 6">
            <a:extLst>
              <a:ext uri="{FF2B5EF4-FFF2-40B4-BE49-F238E27FC236}">
                <a16:creationId xmlns:a16="http://schemas.microsoft.com/office/drawing/2014/main" id="{423A1F33-EF39-4A12-A359-C4E17FEE15CA}"/>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55FFD9C-5668-464C-B604-52E93672826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p>
        </p:txBody>
      </p:sp>
      <p:sp>
        <p:nvSpPr>
          <p:cNvPr id="10" name="Shape 8">
            <a:extLst>
              <a:ext uri="{FF2B5EF4-FFF2-40B4-BE49-F238E27FC236}">
                <a16:creationId xmlns:a16="http://schemas.microsoft.com/office/drawing/2014/main" id="{39B60F24-7C3E-4018-A36A-579664416722}"/>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6701011B-42CF-402F-9608-6DA7445ED492}"/>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31269858-CBF9-4D7E-A5D0-584EF553AD9E}"/>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38F86A0C-54D2-4AE6-9620-A773AED64E5B}"/>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FA55D761-F5D2-43C5-9586-2C4549345AA9}"/>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97899EEC-EF49-41F6-B5C5-51F331A3C076}"/>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5219EAC3-C1A2-4530-85DC-F74BD98C5B1D}"/>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CDB95956-56CE-4F23-BCFC-4FDC2EA77C4C}"/>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Ví dụ minh họa: Cổng lọc xử lý hai trạng thái thị trường</a:t>
            </a:r>
            <a:endParaRPr sz="1600"/>
          </a:p>
        </p:txBody>
      </p:sp>
      <p:sp>
        <p:nvSpPr>
          <p:cNvPr id="18" name="Shape 16">
            <a:extLst>
              <a:ext uri="{FF2B5EF4-FFF2-40B4-BE49-F238E27FC236}">
                <a16:creationId xmlns:a16="http://schemas.microsoft.com/office/drawing/2014/main" id="{1F194036-49A2-4A9F-B513-26431268BD5E}"/>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01B6932B-6C44-4EF7-960E-DBA93BD469FA}"/>
              </a:ext>
            </a:extLst>
          </p:cNvPr>
          <p:cNvSpPr>
            <a:spLocks noGrp="1"/>
          </p:cNvSpPr>
          <p:nvPr/>
        </p:nvSpPr>
        <p:spPr>
          <a:xfrm>
            <a:off x="1016000" y="1947291"/>
            <a:ext cx="19642709" cy="846709"/>
          </a:xfrm>
          <a:prstGeom prst="rect">
            <a:avLst/>
          </a:prstGeom>
          <a:solidFill>
            <a:srgbClr val="FFFFFF">
              <a:alpha val="0"/>
            </a:srgbClr>
          </a:solidFill>
        </p:spPr>
        <p:txBody>
          <a:bodyPr/>
          <a:lstStyle/>
          <a:p>
            <a:endParaRPr/>
          </a:p>
        </p:txBody>
      </p:sp>
      <p:sp>
        <p:nvSpPr>
          <p:cNvPr id="20" name="Text 18">
            <a:extLst>
              <a:ext uri="{FF2B5EF4-FFF2-40B4-BE49-F238E27FC236}">
                <a16:creationId xmlns:a16="http://schemas.microsoft.com/office/drawing/2014/main" id="{B2D84FCA-38F4-4E0C-B811-824B1FD03B10}"/>
              </a:ext>
            </a:extLst>
          </p:cNvPr>
          <p:cNvSpPr>
            <a:spLocks noGrp="1"/>
          </p:cNvSpPr>
          <p:nvPr/>
        </p:nvSpPr>
        <p:spPr>
          <a:xfrm>
            <a:off x="894080" y="1886331"/>
            <a:ext cx="19886549" cy="968629"/>
          </a:xfrm>
          <a:prstGeom prst="rect">
            <a:avLst/>
          </a:prstGeom>
          <a:noFill/>
        </p:spPr>
        <p:txBody>
          <a:bodyPr wrap="square" lIns="0" tIns="0" rIns="0" bIns="0" anchor="t">
            <a:noAutofit/>
          </a:bodyPr>
          <a:lstStyle/>
          <a:p>
            <a:pPr algn="l">
              <a:lnSpc>
                <a:spcPct val="160000"/>
              </a:lnSpc>
              <a:buNone/>
              <a:defRPr sz="2850" b="0">
                <a:solidFill>
                  <a:srgbClr val="151515"/>
                </a:solidFill>
                <a:latin typeface="Times New Roman"/>
                <a:ea typeface="Times New Roman"/>
                <a:cs typeface="Times New Roman"/>
              </a:defRPr>
            </a:pPr>
            <a:r>
              <a:rPr sz="3200" b="0" i="0">
                <a:solidFill>
                  <a:srgbClr val="151515"/>
                </a:solidFill>
                <a:latin typeface="Times New Roman"/>
              </a:rPr>
              <a:t>Minh họa cơ chế lọc thông minh trên cùng chiến lược kỹ thuật ban đầu</a:t>
            </a:r>
            <a:endParaRPr sz="1600"/>
          </a:p>
        </p:txBody>
      </p:sp>
      <p:sp>
        <p:nvSpPr>
          <p:cNvPr id="21" name="Shape 19">
            <a:extLst>
              <a:ext uri="{FF2B5EF4-FFF2-40B4-BE49-F238E27FC236}">
                <a16:creationId xmlns:a16="http://schemas.microsoft.com/office/drawing/2014/main" id="{A23AB932-F9AB-4520-A972-B68066BA9FED}"/>
              </a:ext>
            </a:extLst>
          </p:cNvPr>
          <p:cNvSpPr>
            <a:spLocks noGrp="1"/>
          </p:cNvSpPr>
          <p:nvPr/>
        </p:nvSpPr>
        <p:spPr>
          <a:xfrm>
            <a:off x="1016000" y="2878709"/>
            <a:ext cx="9482709" cy="5249291"/>
          </a:xfrm>
          <a:prstGeom prst="roundRect">
            <a:avLst>
              <a:gd name="adj" fmla="val 8000"/>
            </a:avLst>
          </a:prstGeom>
          <a:solidFill>
            <a:srgbClr val="E3F2FD"/>
          </a:solidFill>
          <a:ln w="25400">
            <a:solidFill>
              <a:srgbClr val="1565C0"/>
            </a:solidFill>
            <a:prstDash val="solid"/>
          </a:ln>
        </p:spPr>
        <p:txBody>
          <a:bodyPr/>
          <a:lstStyle/>
          <a:p>
            <a:endParaRPr/>
          </a:p>
        </p:txBody>
      </p:sp>
      <p:sp>
        <p:nvSpPr>
          <p:cNvPr id="22" name="Shape 20">
            <a:extLst>
              <a:ext uri="{FF2B5EF4-FFF2-40B4-BE49-F238E27FC236}">
                <a16:creationId xmlns:a16="http://schemas.microsoft.com/office/drawing/2014/main" id="{D0231DE9-824E-4A69-A6F9-D3FB78752451}"/>
              </a:ext>
            </a:extLst>
          </p:cNvPr>
          <p:cNvSpPr>
            <a:spLocks noGrp="1"/>
          </p:cNvSpPr>
          <p:nvPr/>
        </p:nvSpPr>
        <p:spPr>
          <a:xfrm>
            <a:off x="1270000" y="3081909"/>
            <a:ext cx="2370709" cy="508000"/>
          </a:xfrm>
          <a:prstGeom prst="roundRect">
            <a:avLst>
              <a:gd name="adj" fmla="val 12000"/>
            </a:avLst>
          </a:prstGeom>
          <a:solidFill>
            <a:srgbClr val="1565C0"/>
          </a:solidFill>
        </p:spPr>
        <p:txBody>
          <a:bodyPr/>
          <a:lstStyle/>
          <a:p>
            <a:endParaRPr/>
          </a:p>
        </p:txBody>
      </p:sp>
      <p:sp>
        <p:nvSpPr>
          <p:cNvPr id="23" name="Shape 21">
            <a:extLst>
              <a:ext uri="{FF2B5EF4-FFF2-40B4-BE49-F238E27FC236}">
                <a16:creationId xmlns:a16="http://schemas.microsoft.com/office/drawing/2014/main" id="{28E95DC1-3622-4A74-B0C0-2587A01454F7}"/>
              </a:ext>
            </a:extLst>
          </p:cNvPr>
          <p:cNvSpPr>
            <a:spLocks noGrp="1"/>
          </p:cNvSpPr>
          <p:nvPr/>
        </p:nvSpPr>
        <p:spPr>
          <a:xfrm>
            <a:off x="1270000" y="3081909"/>
            <a:ext cx="2370709" cy="508000"/>
          </a:xfrm>
          <a:prstGeom prst="rect">
            <a:avLst/>
          </a:prstGeom>
          <a:solidFill>
            <a:srgbClr val="FFFFFF">
              <a:alpha val="0"/>
            </a:srgbClr>
          </a:solidFill>
        </p:spPr>
        <p:txBody>
          <a:bodyPr/>
          <a:lstStyle/>
          <a:p>
            <a:endParaRPr/>
          </a:p>
        </p:txBody>
      </p:sp>
      <p:sp>
        <p:nvSpPr>
          <p:cNvPr id="24" name="Text 22">
            <a:extLst>
              <a:ext uri="{FF2B5EF4-FFF2-40B4-BE49-F238E27FC236}">
                <a16:creationId xmlns:a16="http://schemas.microsoft.com/office/drawing/2014/main" id="{EFCC1B4E-E5D4-4096-A60B-15539F7158C8}"/>
              </a:ext>
            </a:extLst>
          </p:cNvPr>
          <p:cNvSpPr>
            <a:spLocks noGrp="1"/>
          </p:cNvSpPr>
          <p:nvPr/>
        </p:nvSpPr>
        <p:spPr>
          <a:xfrm>
            <a:off x="1148080" y="3020949"/>
            <a:ext cx="2614549" cy="629920"/>
          </a:xfrm>
          <a:prstGeom prst="rect">
            <a:avLst/>
          </a:prstGeom>
          <a:noFill/>
        </p:spPr>
        <p:txBody>
          <a:bodyPr wrap="square" lIns="0" tIns="0" rIns="0" bIns="0" anchor="ctr">
            <a:noAutofit/>
          </a:bodyPr>
          <a:lstStyle/>
          <a:p>
            <a:pPr algn="ctr">
              <a:lnSpc>
                <a:spcPct val="100000"/>
              </a:lnSpc>
              <a:buNone/>
              <a:defRPr sz="2325" b="1">
                <a:solidFill>
                  <a:srgbClr val="FFFFFF"/>
                </a:solidFill>
                <a:latin typeface="Times New Roman"/>
                <a:ea typeface="Times New Roman"/>
                <a:cs typeface="Times New Roman"/>
              </a:defRPr>
            </a:pPr>
            <a:r>
              <a:rPr sz="2600" b="1" i="0">
                <a:solidFill>
                  <a:srgbClr val="FFFFFF"/>
                </a:solidFill>
                <a:latin typeface="Times New Roman"/>
              </a:rPr>
              <a:t>TRẠNG THÁI 1</a:t>
            </a:r>
            <a:endParaRPr sz="1600"/>
          </a:p>
        </p:txBody>
      </p:sp>
      <p:sp>
        <p:nvSpPr>
          <p:cNvPr id="25" name="Shape 23">
            <a:extLst>
              <a:ext uri="{FF2B5EF4-FFF2-40B4-BE49-F238E27FC236}">
                <a16:creationId xmlns:a16="http://schemas.microsoft.com/office/drawing/2014/main" id="{E1538C8E-44C8-4027-B182-0B0A643A0CA5}"/>
              </a:ext>
            </a:extLst>
          </p:cNvPr>
          <p:cNvSpPr>
            <a:spLocks noGrp="1"/>
          </p:cNvSpPr>
          <p:nvPr/>
        </p:nvSpPr>
        <p:spPr>
          <a:xfrm>
            <a:off x="3810000" y="3081909"/>
            <a:ext cx="6434709" cy="508000"/>
          </a:xfrm>
          <a:prstGeom prst="rect">
            <a:avLst/>
          </a:prstGeom>
          <a:solidFill>
            <a:srgbClr val="FFFFFF">
              <a:alpha val="0"/>
            </a:srgbClr>
          </a:solidFill>
        </p:spPr>
        <p:txBody>
          <a:bodyPr/>
          <a:lstStyle/>
          <a:p>
            <a:endParaRPr/>
          </a:p>
        </p:txBody>
      </p:sp>
      <p:sp>
        <p:nvSpPr>
          <p:cNvPr id="26" name="Text 24">
            <a:extLst>
              <a:ext uri="{FF2B5EF4-FFF2-40B4-BE49-F238E27FC236}">
                <a16:creationId xmlns:a16="http://schemas.microsoft.com/office/drawing/2014/main" id="{68BC3F29-BB47-4252-A00A-4EC9BB6E6C14}"/>
              </a:ext>
            </a:extLst>
          </p:cNvPr>
          <p:cNvSpPr>
            <a:spLocks noGrp="1"/>
          </p:cNvSpPr>
          <p:nvPr/>
        </p:nvSpPr>
        <p:spPr>
          <a:xfrm>
            <a:off x="3688080" y="3020949"/>
            <a:ext cx="6678549" cy="629920"/>
          </a:xfrm>
          <a:prstGeom prst="rect">
            <a:avLst/>
          </a:prstGeom>
          <a:noFill/>
        </p:spPr>
        <p:txBody>
          <a:bodyPr wrap="square" lIns="0" tIns="0" rIns="0" bIns="0" anchor="ctr">
            <a:noAutofit/>
          </a:bodyPr>
          <a:lstStyle/>
          <a:p>
            <a:pPr algn="l">
              <a:lnSpc>
                <a:spcPct val="100000"/>
              </a:lnSpc>
              <a:buNone/>
              <a:defRPr sz="3000" b="1">
                <a:solidFill>
                  <a:srgbClr val="1565C0"/>
                </a:solidFill>
                <a:latin typeface="Times New Roman"/>
                <a:ea typeface="Times New Roman"/>
                <a:cs typeface="Times New Roman"/>
              </a:defRPr>
            </a:pPr>
            <a:r>
              <a:rPr sz="3200" b="1" i="0">
                <a:solidFill>
                  <a:srgbClr val="C62828"/>
                </a:solidFill>
                <a:latin typeface="Times New Roman"/>
              </a:rPr>
              <a:t>Thị trường Nhiễu (Sideway)</a:t>
            </a:r>
            <a:endParaRPr sz="1600"/>
          </a:p>
        </p:txBody>
      </p:sp>
      <p:sp>
        <p:nvSpPr>
          <p:cNvPr id="27" name="Shape 25">
            <a:extLst>
              <a:ext uri="{FF2B5EF4-FFF2-40B4-BE49-F238E27FC236}">
                <a16:creationId xmlns:a16="http://schemas.microsoft.com/office/drawing/2014/main" id="{3ADB9359-5F8D-484C-B9A4-C01DF0E078ED}"/>
              </a:ext>
            </a:extLst>
          </p:cNvPr>
          <p:cNvSpPr>
            <a:spLocks noGrp="1"/>
          </p:cNvSpPr>
          <p:nvPr/>
        </p:nvSpPr>
        <p:spPr>
          <a:xfrm>
            <a:off x="1270000" y="3810000"/>
            <a:ext cx="8974709" cy="4064000"/>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1676CF58-D1CC-4C34-9973-B491830920EC}"/>
              </a:ext>
            </a:extLst>
          </p:cNvPr>
          <p:cNvSpPr>
            <a:spLocks noGrp="1"/>
          </p:cNvSpPr>
          <p:nvPr/>
        </p:nvSpPr>
        <p:spPr>
          <a:xfrm>
            <a:off x="1148080" y="3749040"/>
            <a:ext cx="9218549" cy="4185920"/>
          </a:xfrm>
          <a:prstGeom prst="rect">
            <a:avLst/>
          </a:prstGeom>
          <a:noFill/>
        </p:spPr>
        <p:txBody>
          <a:bodyPr wrap="square" lIns="0" tIns="0" rIns="0" bIns="0" anchor="t">
            <a:noAutofit/>
          </a:bodyPr>
          <a:lstStyle/>
          <a:p>
            <a:pPr algn="l">
              <a:lnSpc>
                <a:spcPct val="150000"/>
              </a:lnSpc>
              <a:buNone/>
              <a:defRPr sz="2850" b="0">
                <a:solidFill>
                  <a:srgbClr val="151515"/>
                </a:solidFill>
                <a:latin typeface="Times New Roman"/>
                <a:ea typeface="Times New Roman"/>
                <a:cs typeface="Times New Roman"/>
              </a:defRPr>
            </a:pPr>
            <a:r>
              <a:rPr sz="2800" b="0" i="0">
                <a:solidFill>
                  <a:srgbClr val="151515"/>
                </a:solidFill>
                <a:latin typeface="Times New Roman"/>
              </a:rPr>
              <a:t>• Tín hiệu: Breakout kháng cự nhưng khối lượng giao dịch thấp.</a:t>
            </a:r>
            <a:endParaRPr sz="1600"/>
          </a:p>
          <a:p>
            <a:pPr algn="l"/>
            <a:r>
              <a:rPr sz="2800" b="0" i="0">
                <a:solidFill>
                  <a:srgbClr val="151515"/>
                </a:solidFill>
                <a:latin typeface="Times New Roman"/>
              </a:rPr>
              <a:t>• CatBoost đánh giá: P(Win) = 0,22 &lt; 0,50.</a:t>
            </a:r>
          </a:p>
          <a:p>
            <a:pPr algn="l"/>
            <a:r>
              <a:rPr sz="2800" b="0" i="0">
                <a:solidFill>
                  <a:srgbClr val="151515"/>
                </a:solidFill>
                <a:latin typeface="Times New Roman"/>
              </a:rPr>
              <a:t>• Cổng Meta-Filter: TỪ CHỐI VÀO LỆNH.</a:t>
            </a:r>
          </a:p>
          <a:p>
            <a:pPr algn="l"/>
            <a:r>
              <a:rPr sz="2800" b="0" i="0">
                <a:solidFill>
                  <a:srgbClr val="151515"/>
                </a:solidFill>
                <a:latin typeface="Times New Roman"/>
              </a:rPr>
              <a:t>• Kết quả: Tránh được lệnh thua chạm Stop Loss (-1R).</a:t>
            </a:r>
          </a:p>
        </p:txBody>
      </p:sp>
      <p:sp>
        <p:nvSpPr>
          <p:cNvPr id="29" name="Shape 27">
            <a:extLst>
              <a:ext uri="{FF2B5EF4-FFF2-40B4-BE49-F238E27FC236}">
                <a16:creationId xmlns:a16="http://schemas.microsoft.com/office/drawing/2014/main" id="{5362B768-FB45-476A-9EA1-A97996ABC980}"/>
              </a:ext>
            </a:extLst>
          </p:cNvPr>
          <p:cNvSpPr>
            <a:spLocks noGrp="1"/>
          </p:cNvSpPr>
          <p:nvPr/>
        </p:nvSpPr>
        <p:spPr>
          <a:xfrm>
            <a:off x="11176000" y="2878709"/>
            <a:ext cx="9482709" cy="5249291"/>
          </a:xfrm>
          <a:prstGeom prst="roundRect">
            <a:avLst>
              <a:gd name="adj" fmla="val 8000"/>
            </a:avLst>
          </a:prstGeom>
          <a:solidFill>
            <a:srgbClr val="FFF3E0"/>
          </a:solidFill>
          <a:ln w="25400">
            <a:solidFill>
              <a:srgbClr val="FF6F00"/>
            </a:solidFill>
            <a:prstDash val="solid"/>
          </a:ln>
        </p:spPr>
        <p:txBody>
          <a:bodyPr/>
          <a:lstStyle/>
          <a:p>
            <a:endParaRPr/>
          </a:p>
        </p:txBody>
      </p:sp>
      <p:sp>
        <p:nvSpPr>
          <p:cNvPr id="30" name="Shape 28">
            <a:extLst>
              <a:ext uri="{FF2B5EF4-FFF2-40B4-BE49-F238E27FC236}">
                <a16:creationId xmlns:a16="http://schemas.microsoft.com/office/drawing/2014/main" id="{745CA701-8DBC-4200-B883-CED735A99885}"/>
              </a:ext>
            </a:extLst>
          </p:cNvPr>
          <p:cNvSpPr>
            <a:spLocks noGrp="1"/>
          </p:cNvSpPr>
          <p:nvPr/>
        </p:nvSpPr>
        <p:spPr>
          <a:xfrm>
            <a:off x="11430000" y="3081909"/>
            <a:ext cx="2370709" cy="508000"/>
          </a:xfrm>
          <a:prstGeom prst="roundRect">
            <a:avLst>
              <a:gd name="adj" fmla="val 12000"/>
            </a:avLst>
          </a:prstGeom>
          <a:solidFill>
            <a:srgbClr val="FF6F00"/>
          </a:solidFill>
        </p:spPr>
        <p:txBody>
          <a:bodyPr/>
          <a:lstStyle/>
          <a:p>
            <a:endParaRPr/>
          </a:p>
        </p:txBody>
      </p:sp>
      <p:sp>
        <p:nvSpPr>
          <p:cNvPr id="31" name="Shape 29">
            <a:extLst>
              <a:ext uri="{FF2B5EF4-FFF2-40B4-BE49-F238E27FC236}">
                <a16:creationId xmlns:a16="http://schemas.microsoft.com/office/drawing/2014/main" id="{BAD746BA-6C33-45E9-AB9C-3F917A6D78BD}"/>
              </a:ext>
            </a:extLst>
          </p:cNvPr>
          <p:cNvSpPr>
            <a:spLocks noGrp="1"/>
          </p:cNvSpPr>
          <p:nvPr/>
        </p:nvSpPr>
        <p:spPr>
          <a:xfrm>
            <a:off x="11430000" y="3081909"/>
            <a:ext cx="2370709" cy="508000"/>
          </a:xfrm>
          <a:prstGeom prst="rect">
            <a:avLst/>
          </a:prstGeom>
          <a:solidFill>
            <a:srgbClr val="FFFFFF">
              <a:alpha val="0"/>
            </a:srgbClr>
          </a:solidFill>
        </p:spPr>
        <p:txBody>
          <a:bodyPr/>
          <a:lstStyle/>
          <a:p>
            <a:endParaRPr/>
          </a:p>
        </p:txBody>
      </p:sp>
      <p:sp>
        <p:nvSpPr>
          <p:cNvPr id="32" name="Text 30">
            <a:extLst>
              <a:ext uri="{FF2B5EF4-FFF2-40B4-BE49-F238E27FC236}">
                <a16:creationId xmlns:a16="http://schemas.microsoft.com/office/drawing/2014/main" id="{121934D6-D650-4C63-8370-C66583B617D4}"/>
              </a:ext>
            </a:extLst>
          </p:cNvPr>
          <p:cNvSpPr>
            <a:spLocks noGrp="1"/>
          </p:cNvSpPr>
          <p:nvPr/>
        </p:nvSpPr>
        <p:spPr>
          <a:xfrm>
            <a:off x="11308080" y="3020949"/>
            <a:ext cx="2614549" cy="629920"/>
          </a:xfrm>
          <a:prstGeom prst="rect">
            <a:avLst/>
          </a:prstGeom>
          <a:noFill/>
        </p:spPr>
        <p:txBody>
          <a:bodyPr wrap="square" lIns="0" tIns="0" rIns="0" bIns="0" anchor="ctr">
            <a:noAutofit/>
          </a:bodyPr>
          <a:lstStyle/>
          <a:p>
            <a:pPr algn="ctr">
              <a:lnSpc>
                <a:spcPct val="100000"/>
              </a:lnSpc>
              <a:buNone/>
              <a:defRPr sz="2325" b="1">
                <a:solidFill>
                  <a:srgbClr val="FFFFFF"/>
                </a:solidFill>
                <a:latin typeface="Times New Roman"/>
                <a:ea typeface="Times New Roman"/>
                <a:cs typeface="Times New Roman"/>
              </a:defRPr>
            </a:pPr>
            <a:r>
              <a:rPr sz="2600" b="1" i="0">
                <a:solidFill>
                  <a:srgbClr val="FFFFFF"/>
                </a:solidFill>
                <a:latin typeface="Times New Roman"/>
              </a:rPr>
              <a:t>TRẠNG THÁI 2</a:t>
            </a:r>
            <a:endParaRPr sz="1600"/>
          </a:p>
        </p:txBody>
      </p:sp>
      <p:sp>
        <p:nvSpPr>
          <p:cNvPr id="33" name="Shape 31">
            <a:extLst>
              <a:ext uri="{FF2B5EF4-FFF2-40B4-BE49-F238E27FC236}">
                <a16:creationId xmlns:a16="http://schemas.microsoft.com/office/drawing/2014/main" id="{85334675-8B5E-4FC1-A328-57379C10CBA6}"/>
              </a:ext>
            </a:extLst>
          </p:cNvPr>
          <p:cNvSpPr>
            <a:spLocks noGrp="1"/>
          </p:cNvSpPr>
          <p:nvPr/>
        </p:nvSpPr>
        <p:spPr>
          <a:xfrm>
            <a:off x="13970000" y="3081909"/>
            <a:ext cx="6434709" cy="508000"/>
          </a:xfrm>
          <a:prstGeom prst="rect">
            <a:avLst/>
          </a:prstGeom>
          <a:solidFill>
            <a:srgbClr val="FFFFFF">
              <a:alpha val="0"/>
            </a:srgbClr>
          </a:solidFill>
        </p:spPr>
        <p:txBody>
          <a:bodyPr/>
          <a:lstStyle/>
          <a:p>
            <a:endParaRPr/>
          </a:p>
        </p:txBody>
      </p:sp>
      <p:sp>
        <p:nvSpPr>
          <p:cNvPr id="34" name="Text 32">
            <a:extLst>
              <a:ext uri="{FF2B5EF4-FFF2-40B4-BE49-F238E27FC236}">
                <a16:creationId xmlns:a16="http://schemas.microsoft.com/office/drawing/2014/main" id="{F82A884C-54C7-48F1-8EBB-50BAADCE9C8C}"/>
              </a:ext>
            </a:extLst>
          </p:cNvPr>
          <p:cNvSpPr>
            <a:spLocks noGrp="1"/>
          </p:cNvSpPr>
          <p:nvPr/>
        </p:nvSpPr>
        <p:spPr>
          <a:xfrm>
            <a:off x="13848080" y="3020949"/>
            <a:ext cx="6678549" cy="629920"/>
          </a:xfrm>
          <a:prstGeom prst="rect">
            <a:avLst/>
          </a:prstGeom>
          <a:noFill/>
        </p:spPr>
        <p:txBody>
          <a:bodyPr wrap="square" lIns="0" tIns="0" rIns="0" bIns="0" anchor="ctr">
            <a:noAutofit/>
          </a:bodyPr>
          <a:lstStyle/>
          <a:p>
            <a:pPr algn="l">
              <a:lnSpc>
                <a:spcPct val="100000"/>
              </a:lnSpc>
              <a:buNone/>
              <a:defRPr sz="3000" b="1">
                <a:solidFill>
                  <a:srgbClr val="EF6C00"/>
                </a:solidFill>
                <a:latin typeface="Times New Roman"/>
                <a:ea typeface="Times New Roman"/>
                <a:cs typeface="Times New Roman"/>
              </a:defRPr>
            </a:pPr>
            <a:r>
              <a:rPr sz="3200" b="1" i="0">
                <a:solidFill>
                  <a:srgbClr val="2E7D32"/>
                </a:solidFill>
                <a:latin typeface="Times New Roman"/>
              </a:rPr>
              <a:t>Xu hướng Mạnh (Trending)</a:t>
            </a:r>
            <a:endParaRPr sz="1600"/>
          </a:p>
        </p:txBody>
      </p:sp>
      <p:sp>
        <p:nvSpPr>
          <p:cNvPr id="35" name="Shape 33">
            <a:extLst>
              <a:ext uri="{FF2B5EF4-FFF2-40B4-BE49-F238E27FC236}">
                <a16:creationId xmlns:a16="http://schemas.microsoft.com/office/drawing/2014/main" id="{B22C143C-22CF-4282-94C6-E9847385F702}"/>
              </a:ext>
            </a:extLst>
          </p:cNvPr>
          <p:cNvSpPr>
            <a:spLocks noGrp="1"/>
          </p:cNvSpPr>
          <p:nvPr/>
        </p:nvSpPr>
        <p:spPr>
          <a:xfrm>
            <a:off x="11430000" y="3810000"/>
            <a:ext cx="8974709" cy="4064000"/>
          </a:xfrm>
          <a:prstGeom prst="rect">
            <a:avLst/>
          </a:prstGeom>
          <a:solidFill>
            <a:srgbClr val="FFFFFF">
              <a:alpha val="0"/>
            </a:srgbClr>
          </a:solidFill>
        </p:spPr>
        <p:txBody>
          <a:bodyPr/>
          <a:lstStyle/>
          <a:p>
            <a:endParaRPr/>
          </a:p>
        </p:txBody>
      </p:sp>
      <p:sp>
        <p:nvSpPr>
          <p:cNvPr id="36" name="Text 34">
            <a:extLst>
              <a:ext uri="{FF2B5EF4-FFF2-40B4-BE49-F238E27FC236}">
                <a16:creationId xmlns:a16="http://schemas.microsoft.com/office/drawing/2014/main" id="{898C92EC-1BB2-48A7-AD59-FA78DD5193A2}"/>
              </a:ext>
            </a:extLst>
          </p:cNvPr>
          <p:cNvSpPr>
            <a:spLocks noGrp="1"/>
          </p:cNvSpPr>
          <p:nvPr/>
        </p:nvSpPr>
        <p:spPr>
          <a:xfrm>
            <a:off x="11308080" y="3749040"/>
            <a:ext cx="9218549" cy="4185920"/>
          </a:xfrm>
          <a:prstGeom prst="rect">
            <a:avLst/>
          </a:prstGeom>
          <a:noFill/>
        </p:spPr>
        <p:txBody>
          <a:bodyPr wrap="square" lIns="0" tIns="0" rIns="0" bIns="0" anchor="t">
            <a:noAutofit/>
          </a:bodyPr>
          <a:lstStyle/>
          <a:p>
            <a:pPr algn="l">
              <a:lnSpc>
                <a:spcPct val="150000"/>
              </a:lnSpc>
              <a:buNone/>
              <a:defRPr sz="2850" b="0">
                <a:solidFill>
                  <a:srgbClr val="151515"/>
                </a:solidFill>
                <a:latin typeface="Times New Roman"/>
                <a:ea typeface="Times New Roman"/>
                <a:cs typeface="Times New Roman"/>
              </a:defRPr>
            </a:pPr>
            <a:r>
              <a:rPr sz="2800" b="0" i="0">
                <a:solidFill>
                  <a:srgbClr val="151515"/>
                </a:solidFill>
                <a:latin typeface="Times New Roman"/>
              </a:rPr>
              <a:t>• Tín hiệu: Breakout kèm biến động co thắt (volatility squeeze).</a:t>
            </a:r>
            <a:endParaRPr sz="1600"/>
          </a:p>
          <a:p>
            <a:pPr algn="l"/>
            <a:r>
              <a:rPr sz="2800" b="0" i="0">
                <a:solidFill>
                  <a:srgbClr val="151515"/>
                </a:solidFill>
                <a:latin typeface="Times New Roman"/>
              </a:rPr>
              <a:t>• CatBoost đánh giá: P(Win) = 0,78 ≥ 0,50.</a:t>
            </a:r>
          </a:p>
          <a:p>
            <a:pPr algn="l"/>
            <a:r>
              <a:rPr sz="2800" b="0" i="0">
                <a:solidFill>
                  <a:srgbClr val="151515"/>
                </a:solidFill>
                <a:latin typeface="Times New Roman"/>
              </a:rPr>
              <a:t>• Cổng Meta-Filter: PHÊ DUYỆT VÀO LỆNH.</a:t>
            </a:r>
          </a:p>
          <a:p>
            <a:pPr algn="l"/>
            <a:r>
              <a:rPr sz="2800" b="0" i="0">
                <a:solidFill>
                  <a:srgbClr val="151515"/>
                </a:solidFill>
                <a:latin typeface="Times New Roman"/>
              </a:rPr>
              <a:t>• Kết quả: Đạt Take Profit thành công (+2R lợi nhuận).</a:t>
            </a:r>
          </a:p>
        </p:txBody>
      </p:sp>
      <p:sp>
        <p:nvSpPr>
          <p:cNvPr id="37" name="Shape 35">
            <a:extLst>
              <a:ext uri="{FF2B5EF4-FFF2-40B4-BE49-F238E27FC236}">
                <a16:creationId xmlns:a16="http://schemas.microsoft.com/office/drawing/2014/main" id="{8652850E-30C8-43EC-8106-E3C3583DCD0A}"/>
              </a:ext>
            </a:extLst>
          </p:cNvPr>
          <p:cNvSpPr>
            <a:spLocks noGrp="1"/>
          </p:cNvSpPr>
          <p:nvPr/>
        </p:nvSpPr>
        <p:spPr>
          <a:xfrm>
            <a:off x="1016000" y="8551291"/>
            <a:ext cx="19642709" cy="2370709"/>
          </a:xfrm>
          <a:prstGeom prst="roundRect">
            <a:avLst>
              <a:gd name="adj" fmla="val 8000"/>
            </a:avLst>
          </a:prstGeom>
          <a:solidFill>
            <a:srgbClr val="FFEBEE"/>
          </a:solidFill>
          <a:ln w="12700">
            <a:solidFill>
              <a:srgbClr val="EF9A9A"/>
            </a:solidFill>
            <a:prstDash val="solid"/>
          </a:ln>
        </p:spPr>
        <p:txBody>
          <a:bodyPr/>
          <a:lstStyle/>
          <a:p>
            <a:endParaRPr/>
          </a:p>
        </p:txBody>
      </p:sp>
      <p:sp>
        <p:nvSpPr>
          <p:cNvPr id="38" name="Shape 36">
            <a:extLst>
              <a:ext uri="{FF2B5EF4-FFF2-40B4-BE49-F238E27FC236}">
                <a16:creationId xmlns:a16="http://schemas.microsoft.com/office/drawing/2014/main" id="{68ACD9BF-A173-4ACA-BF77-79A8323A1C25}"/>
              </a:ext>
            </a:extLst>
          </p:cNvPr>
          <p:cNvSpPr>
            <a:spLocks noGrp="1"/>
          </p:cNvSpPr>
          <p:nvPr/>
        </p:nvSpPr>
        <p:spPr>
          <a:xfrm>
            <a:off x="1354709" y="8805291"/>
            <a:ext cx="474091" cy="474091"/>
          </a:xfrm>
          <a:prstGeom prst="rect">
            <a:avLst/>
          </a:prstGeom>
          <a:solidFill>
            <a:srgbClr val="C62828"/>
          </a:solidFill>
        </p:spPr>
        <p:txBody>
          <a:bodyPr/>
          <a:lstStyle/>
          <a:p>
            <a:endParaRPr/>
          </a:p>
        </p:txBody>
      </p:sp>
      <p:sp>
        <p:nvSpPr>
          <p:cNvPr id="39" name="Shape 37">
            <a:extLst>
              <a:ext uri="{FF2B5EF4-FFF2-40B4-BE49-F238E27FC236}">
                <a16:creationId xmlns:a16="http://schemas.microsoft.com/office/drawing/2014/main" id="{638F2DA0-9247-42BB-AE00-1A22214E6985}"/>
              </a:ext>
            </a:extLst>
          </p:cNvPr>
          <p:cNvSpPr>
            <a:spLocks noGrp="1"/>
          </p:cNvSpPr>
          <p:nvPr/>
        </p:nvSpPr>
        <p:spPr>
          <a:xfrm>
            <a:off x="1964309" y="8754491"/>
            <a:ext cx="6773291" cy="474091"/>
          </a:xfrm>
          <a:prstGeom prst="rect">
            <a:avLst/>
          </a:prstGeom>
          <a:solidFill>
            <a:srgbClr val="FFFFFF">
              <a:alpha val="0"/>
            </a:srgbClr>
          </a:solidFill>
        </p:spPr>
        <p:txBody>
          <a:bodyPr/>
          <a:lstStyle/>
          <a:p>
            <a:endParaRPr/>
          </a:p>
        </p:txBody>
      </p:sp>
      <p:sp>
        <p:nvSpPr>
          <p:cNvPr id="40" name="Text 38">
            <a:extLst>
              <a:ext uri="{FF2B5EF4-FFF2-40B4-BE49-F238E27FC236}">
                <a16:creationId xmlns:a16="http://schemas.microsoft.com/office/drawing/2014/main" id="{F2901F59-505E-4F4A-8B8B-CFF2FB91B753}"/>
              </a:ext>
            </a:extLst>
          </p:cNvPr>
          <p:cNvSpPr>
            <a:spLocks noGrp="1"/>
          </p:cNvSpPr>
          <p:nvPr/>
        </p:nvSpPr>
        <p:spPr>
          <a:xfrm>
            <a:off x="1842389" y="8693531"/>
            <a:ext cx="7017131" cy="596011"/>
          </a:xfrm>
          <a:prstGeom prst="rect">
            <a:avLst/>
          </a:prstGeom>
          <a:noFill/>
        </p:spPr>
        <p:txBody>
          <a:bodyPr wrap="square" lIns="0" tIns="0" rIns="0" bIns="0" anchor="ctr">
            <a:noAutofit/>
          </a:bodyPr>
          <a:lstStyle/>
          <a:p>
            <a:pPr algn="l">
              <a:lnSpc>
                <a:spcPct val="100000"/>
              </a:lnSpc>
              <a:buNone/>
              <a:defRPr sz="3000" b="1">
                <a:solidFill>
                  <a:srgbClr val="C62828"/>
                </a:solidFill>
                <a:latin typeface="Times New Roman"/>
                <a:ea typeface="Times New Roman"/>
                <a:cs typeface="Times New Roman"/>
              </a:defRPr>
            </a:pPr>
            <a:r>
              <a:rPr sz="2800" b="1" i="0">
                <a:solidFill>
                  <a:srgbClr val="1565C0"/>
                </a:solidFill>
                <a:latin typeface="Times New Roman"/>
              </a:rPr>
              <a:t>Bài học thực chiến:</a:t>
            </a:r>
            <a:endParaRPr sz="1600"/>
          </a:p>
        </p:txBody>
      </p:sp>
      <p:sp>
        <p:nvSpPr>
          <p:cNvPr id="41" name="Shape 39">
            <a:extLst>
              <a:ext uri="{FF2B5EF4-FFF2-40B4-BE49-F238E27FC236}">
                <a16:creationId xmlns:a16="http://schemas.microsoft.com/office/drawing/2014/main" id="{F0812D5B-5EE4-42B1-8494-1CD6401DFC2A}"/>
              </a:ext>
            </a:extLst>
          </p:cNvPr>
          <p:cNvSpPr>
            <a:spLocks noGrp="1"/>
          </p:cNvSpPr>
          <p:nvPr/>
        </p:nvSpPr>
        <p:spPr>
          <a:xfrm>
            <a:off x="1354709" y="9398000"/>
            <a:ext cx="18965291" cy="1354709"/>
          </a:xfrm>
          <a:prstGeom prst="rect">
            <a:avLst/>
          </a:prstGeom>
          <a:solidFill>
            <a:srgbClr val="FFFFFF">
              <a:alpha val="0"/>
            </a:srgbClr>
          </a:solidFill>
        </p:spPr>
        <p:txBody>
          <a:bodyPr/>
          <a:lstStyle/>
          <a:p>
            <a:endParaRPr/>
          </a:p>
        </p:txBody>
      </p:sp>
      <p:sp>
        <p:nvSpPr>
          <p:cNvPr id="42" name="Text 40">
            <a:extLst>
              <a:ext uri="{FF2B5EF4-FFF2-40B4-BE49-F238E27FC236}">
                <a16:creationId xmlns:a16="http://schemas.microsoft.com/office/drawing/2014/main" id="{09CC7768-7E5C-4A80-A54C-90B79D30C6B1}"/>
              </a:ext>
            </a:extLst>
          </p:cNvPr>
          <p:cNvSpPr>
            <a:spLocks noGrp="1"/>
          </p:cNvSpPr>
          <p:nvPr/>
        </p:nvSpPr>
        <p:spPr>
          <a:xfrm>
            <a:off x="1232789" y="9337040"/>
            <a:ext cx="19209131" cy="1476629"/>
          </a:xfrm>
          <a:prstGeom prst="rect">
            <a:avLst/>
          </a:prstGeom>
          <a:noFill/>
        </p:spPr>
        <p:txBody>
          <a:bodyPr wrap="square" lIns="0" tIns="0" rIns="0" bIns="0" anchor="t">
            <a:noAutofit/>
          </a:bodyPr>
          <a:lstStyle/>
          <a:p>
            <a:pPr algn="l">
              <a:lnSpc>
                <a:spcPct val="150000"/>
              </a:lnSpc>
              <a:buNone/>
              <a:defRPr sz="2700" b="0">
                <a:solidFill>
                  <a:srgbClr val="151515"/>
                </a:solidFill>
                <a:latin typeface="Times New Roman"/>
                <a:ea typeface="Times New Roman"/>
                <a:cs typeface="Times New Roman"/>
              </a:defRPr>
            </a:pPr>
            <a:r>
              <a:rPr sz="3000" b="0" i="0">
                <a:solidFill>
                  <a:srgbClr val="151515"/>
                </a:solidFill>
                <a:latin typeface="Times New Roman"/>
              </a:rPr>
              <a:t>Trong giao dịch định lượng và bài toán chuỗi thời gian, 'biết khi nào nên đứng ngoài thị trường' quan trọng hơn việc cố gắng dự đoán mọi biến động giá.</a:t>
            </a:r>
            <a:endParaRPr sz="1600"/>
          </a:p>
        </p:txBody>
      </p:sp>
      <p:sp>
        <p:nvSpPr>
          <p:cNvPr id="43" name="Shape 41">
            <a:extLst>
              <a:ext uri="{FF2B5EF4-FFF2-40B4-BE49-F238E27FC236}">
                <a16:creationId xmlns:a16="http://schemas.microsoft.com/office/drawing/2014/main" id="{6158C196-713D-4DE9-9CD1-F7F11BE93CF2}"/>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44" name="Text 42">
            <a:extLst>
              <a:ext uri="{FF2B5EF4-FFF2-40B4-BE49-F238E27FC236}">
                <a16:creationId xmlns:a16="http://schemas.microsoft.com/office/drawing/2014/main" id="{D3E864CA-1169-44D7-90A4-35E230A6CA8F}"/>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8/18</a:t>
            </a:r>
            <a:endParaRPr sz="1600"/>
          </a:p>
        </p:txBody>
      </p:sp>
    </p:spTree>
    <p:extLst>
      <p:ext uri="{BB962C8B-B14F-4D97-AF65-F5344CB8AC3E}">
        <p14:creationId xmlns:p14="http://schemas.microsoft.com/office/powerpoint/2010/main" val="1005654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4E71FB3-17DA-4A9C-BEBC-43679F8393A7}"/>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BED08B5A-4194-4D52-B5FC-090357E6E567}"/>
              </a:ext>
            </a:extLst>
          </p:cNvPr>
          <p:cNvSpPr>
            <a:spLocks noGrp="1"/>
          </p:cNvSpPr>
          <p:nvPr/>
        </p:nvSpPr>
        <p:spPr>
          <a:xfrm>
            <a:off x="7281195"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A90299A0-EBDA-41F3-81BE-5B3E1A39E242}"/>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7509F3E8-5F70-48F5-96CE-E715D0EBB42A}"/>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03FD3052-8CD7-4C44-B411-16C2F785C402}"/>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0BF072F8-7AE3-437B-BE6A-D14297BF2BE8}"/>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p>
        </p:txBody>
      </p:sp>
      <p:sp>
        <p:nvSpPr>
          <p:cNvPr id="8" name="Shape 6">
            <a:extLst>
              <a:ext uri="{FF2B5EF4-FFF2-40B4-BE49-F238E27FC236}">
                <a16:creationId xmlns:a16="http://schemas.microsoft.com/office/drawing/2014/main" id="{25372917-9CF5-416F-8E8E-58FBB54D51C9}"/>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E2A4B60B-0688-4C6D-9FB5-6F60C7AE8C8B}"/>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3. Thử nghiệm &amp; Rò rỉ</a:t>
            </a:r>
            <a:endParaRPr sz="1600"/>
          </a:p>
        </p:txBody>
      </p:sp>
      <p:sp>
        <p:nvSpPr>
          <p:cNvPr id="10" name="Shape 8">
            <a:extLst>
              <a:ext uri="{FF2B5EF4-FFF2-40B4-BE49-F238E27FC236}">
                <a16:creationId xmlns:a16="http://schemas.microsoft.com/office/drawing/2014/main" id="{83D044DE-D531-4E1F-BDEE-31EE3A9B972D}"/>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5CE824F5-850D-43B7-A2F3-276E09C11EF9}"/>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E4EA07EE-6F56-4A92-8323-3BC01396D2E1}"/>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13B9EEA2-0206-4167-94D3-458AEBE78ADE}"/>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46E60B04-F656-4D07-9856-034FEB68CE5F}"/>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2CCF25F0-573A-491E-AB2C-A9249E82786D}"/>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1F9E7EE3-005C-4948-B1A3-DA12EBCF4813}"/>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1A6BBB8B-3686-4E13-9BF0-30E7F78AB732}"/>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Bảng đối soát đắt giá: 4 phương pháp chia dữ liệu</a:t>
            </a:r>
            <a:endParaRPr sz="1600"/>
          </a:p>
        </p:txBody>
      </p:sp>
      <p:sp>
        <p:nvSpPr>
          <p:cNvPr id="18" name="Shape 16">
            <a:extLst>
              <a:ext uri="{FF2B5EF4-FFF2-40B4-BE49-F238E27FC236}">
                <a16:creationId xmlns:a16="http://schemas.microsoft.com/office/drawing/2014/main" id="{492531CA-9093-4EF1-AD39-6B15EB98A011}"/>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20" name="Shape 17">
            <a:extLst>
              <a:ext uri="{FF2B5EF4-FFF2-40B4-BE49-F238E27FC236}">
                <a16:creationId xmlns:a16="http://schemas.microsoft.com/office/drawing/2014/main" id="{133AF252-12F2-4664-93F6-11EF166EB33D}"/>
              </a:ext>
            </a:extLst>
          </p:cNvPr>
          <p:cNvSpPr>
            <a:spLocks noGrp="1"/>
          </p:cNvSpPr>
          <p:nvPr/>
        </p:nvSpPr>
        <p:spPr>
          <a:xfrm>
            <a:off x="1016000" y="9398000"/>
            <a:ext cx="19642709" cy="1693291"/>
          </a:xfrm>
          <a:prstGeom prst="roundRect">
            <a:avLst>
              <a:gd name="adj" fmla="val 8000"/>
            </a:avLst>
          </a:prstGeom>
          <a:solidFill>
            <a:srgbClr val="E3F2FD"/>
          </a:solidFill>
          <a:ln w="12700">
            <a:solidFill>
              <a:srgbClr val="BBDEFB"/>
            </a:solidFill>
            <a:prstDash val="solid"/>
          </a:ln>
        </p:spPr>
        <p:txBody>
          <a:bodyPr/>
          <a:lstStyle/>
          <a:p>
            <a:endParaRPr/>
          </a:p>
        </p:txBody>
      </p:sp>
      <p:sp>
        <p:nvSpPr>
          <p:cNvPr id="21" name="Shape 18">
            <a:extLst>
              <a:ext uri="{FF2B5EF4-FFF2-40B4-BE49-F238E27FC236}">
                <a16:creationId xmlns:a16="http://schemas.microsoft.com/office/drawing/2014/main" id="{A2702F63-27C2-4B19-A725-AC42393A5BA3}"/>
              </a:ext>
            </a:extLst>
          </p:cNvPr>
          <p:cNvSpPr>
            <a:spLocks noGrp="1"/>
          </p:cNvSpPr>
          <p:nvPr/>
        </p:nvSpPr>
        <p:spPr>
          <a:xfrm>
            <a:off x="1354709" y="9567291"/>
            <a:ext cx="18965291" cy="1354709"/>
          </a:xfrm>
          <a:prstGeom prst="rect">
            <a:avLst/>
          </a:prstGeom>
          <a:solidFill>
            <a:srgbClr val="FFFFFF">
              <a:alpha val="0"/>
            </a:srgbClr>
          </a:solidFill>
        </p:spPr>
        <p:txBody>
          <a:bodyPr/>
          <a:lstStyle/>
          <a:p>
            <a:endParaRPr/>
          </a:p>
        </p:txBody>
      </p:sp>
      <p:sp>
        <p:nvSpPr>
          <p:cNvPr id="22" name="Text 19">
            <a:extLst>
              <a:ext uri="{FF2B5EF4-FFF2-40B4-BE49-F238E27FC236}">
                <a16:creationId xmlns:a16="http://schemas.microsoft.com/office/drawing/2014/main" id="{44E92E37-C666-46FE-8E3A-3F0391ED13BA}"/>
              </a:ext>
            </a:extLst>
          </p:cNvPr>
          <p:cNvSpPr>
            <a:spLocks noGrp="1"/>
          </p:cNvSpPr>
          <p:nvPr/>
        </p:nvSpPr>
        <p:spPr>
          <a:xfrm>
            <a:off x="1232789" y="9506331"/>
            <a:ext cx="19209131" cy="1476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600" b="0" i="0">
                <a:solidFill>
                  <a:srgbClr val="151515"/>
                </a:solidFill>
                <a:latin typeface="Times New Roman"/>
              </a:rPr>
              <a:t>Đơn vị: ROC-AUC, F1-score và Lợi nhuận Net. Số liệu chứng minh hiện tượng rò rỉ dữ liệu (Data Leakage).</a:t>
            </a:r>
            <a:endParaRPr sz="1600"/>
          </a:p>
        </p:txBody>
      </p:sp>
      <p:sp>
        <p:nvSpPr>
          <p:cNvPr id="23" name="Shape 20">
            <a:extLst>
              <a:ext uri="{FF2B5EF4-FFF2-40B4-BE49-F238E27FC236}">
                <a16:creationId xmlns:a16="http://schemas.microsoft.com/office/drawing/2014/main" id="{0E7C839F-4B00-4F27-AE1A-75F5D8C5F7DD}"/>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4" name="Text 21">
            <a:extLst>
              <a:ext uri="{FF2B5EF4-FFF2-40B4-BE49-F238E27FC236}">
                <a16:creationId xmlns:a16="http://schemas.microsoft.com/office/drawing/2014/main" id="{5A8A0AFB-47AD-477F-8CFA-181718E281BF}"/>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9/18</a:t>
            </a:r>
            <a:endParaRPr sz="1600"/>
          </a:p>
        </p:txBody>
      </p:sp>
      <p:graphicFrame>
        <p:nvGraphicFramePr>
          <p:cNvPr id="25" name="Table 24"/>
          <p:cNvGraphicFramePr>
            <a:graphicFrameLocks noGrp="1"/>
          </p:cNvGraphicFramePr>
          <p:nvPr>
            <p:extLst>
              <p:ext uri="{D42A27DB-BD31-4B8C-83A1-F6EECF244321}">
                <p14:modId xmlns:p14="http://schemas.microsoft.com/office/powerpoint/2010/main" val="683669568"/>
              </p:ext>
            </p:extLst>
          </p:nvPr>
        </p:nvGraphicFramePr>
        <p:xfrm>
          <a:off x="1016032" y="2800000"/>
          <a:ext cx="11000000" cy="5203425"/>
        </p:xfrm>
        <a:graphic>
          <a:graphicData uri="http://schemas.openxmlformats.org/drawingml/2006/table">
            <a:tbl>
              <a:tblPr firstRow="1" bandRow="1">
                <a:tableStyleId>{5C22544A-7EE6-4342-B048-85BDC9FD1C3A}</a:tableStyleId>
              </a:tblPr>
              <a:tblGrid>
                <a:gridCol w="3080000">
                  <a:extLst>
                    <a:ext uri="{9D8B030D-6E8A-4147-A177-3AD203B41FA5}">
                      <a16:colId xmlns:a16="http://schemas.microsoft.com/office/drawing/2014/main" val="20000"/>
                    </a:ext>
                  </a:extLst>
                </a:gridCol>
                <a:gridCol w="1430000">
                  <a:extLst>
                    <a:ext uri="{9D8B030D-6E8A-4147-A177-3AD203B41FA5}">
                      <a16:colId xmlns:a16="http://schemas.microsoft.com/office/drawing/2014/main" val="20001"/>
                    </a:ext>
                  </a:extLst>
                </a:gridCol>
                <a:gridCol w="1100000">
                  <a:extLst>
                    <a:ext uri="{9D8B030D-6E8A-4147-A177-3AD203B41FA5}">
                      <a16:colId xmlns:a16="http://schemas.microsoft.com/office/drawing/2014/main" val="20002"/>
                    </a:ext>
                  </a:extLst>
                </a:gridCol>
                <a:gridCol w="2530000">
                  <a:extLst>
                    <a:ext uri="{9D8B030D-6E8A-4147-A177-3AD203B41FA5}">
                      <a16:colId xmlns:a16="http://schemas.microsoft.com/office/drawing/2014/main" val="20003"/>
                    </a:ext>
                  </a:extLst>
                </a:gridCol>
                <a:gridCol w="1430000">
                  <a:extLst>
                    <a:ext uri="{9D8B030D-6E8A-4147-A177-3AD203B41FA5}">
                      <a16:colId xmlns:a16="http://schemas.microsoft.com/office/drawing/2014/main" val="20004"/>
                    </a:ext>
                  </a:extLst>
                </a:gridCol>
                <a:gridCol w="1430000">
                  <a:extLst>
                    <a:ext uri="{9D8B030D-6E8A-4147-A177-3AD203B41FA5}">
                      <a16:colId xmlns:a16="http://schemas.microsoft.com/office/drawing/2014/main" val="20005"/>
                    </a:ext>
                  </a:extLst>
                </a:gridCol>
              </a:tblGrid>
              <a:tr h="536758">
                <a:tc>
                  <a:txBody>
                    <a:bodyPr/>
                    <a:lstStyle/>
                    <a:p>
                      <a:pPr algn="ctr">
                        <a:defRPr sz="1800" b="1">
                          <a:solidFill>
                            <a:srgbClr val="FFFFFF"/>
                          </a:solidFill>
                          <a:latin typeface="Times New Roman"/>
                        </a:defRPr>
                      </a:pPr>
                      <a:r>
                        <a:t>Phương pháp chia tập</a:t>
                      </a:r>
                    </a:p>
                  </a:txBody>
                  <a:tcPr>
                    <a:solidFill>
                      <a:srgbClr val="1565C0"/>
                    </a:solidFill>
                  </a:tcPr>
                </a:tc>
                <a:tc>
                  <a:txBody>
                    <a:bodyPr/>
                    <a:lstStyle/>
                    <a:p>
                      <a:pPr algn="ctr">
                        <a:defRPr sz="1800" b="1">
                          <a:solidFill>
                            <a:srgbClr val="FFFFFF"/>
                          </a:solidFill>
                          <a:latin typeface="Times New Roman"/>
                        </a:defRPr>
                      </a:pPr>
                      <a:r>
                        <a:t>ROC-AUC</a:t>
                      </a:r>
                    </a:p>
                  </a:txBody>
                  <a:tcPr>
                    <a:solidFill>
                      <a:srgbClr val="1565C0"/>
                    </a:solidFill>
                  </a:tcPr>
                </a:tc>
                <a:tc>
                  <a:txBody>
                    <a:bodyPr/>
                    <a:lstStyle/>
                    <a:p>
                      <a:pPr algn="ctr">
                        <a:defRPr sz="1800" b="1">
                          <a:solidFill>
                            <a:srgbClr val="FFFFFF"/>
                          </a:solidFill>
                          <a:latin typeface="Times New Roman"/>
                        </a:defRPr>
                      </a:pPr>
                      <a:r>
                        <a:t>F1</a:t>
                      </a:r>
                    </a:p>
                  </a:txBody>
                  <a:tcPr>
                    <a:solidFill>
                      <a:srgbClr val="1565C0"/>
                    </a:solidFill>
                  </a:tcPr>
                </a:tc>
                <a:tc>
                  <a:txBody>
                    <a:bodyPr/>
                    <a:lstStyle/>
                    <a:p>
                      <a:pPr algn="ctr">
                        <a:defRPr sz="1800" b="1">
                          <a:solidFill>
                            <a:srgbClr val="FFFFFF"/>
                          </a:solidFill>
                          <a:latin typeface="Times New Roman"/>
                        </a:defRPr>
                      </a:pPr>
                      <a:r>
                        <a:t>Bản chất</a:t>
                      </a:r>
                    </a:p>
                  </a:txBody>
                  <a:tcPr>
                    <a:solidFill>
                      <a:srgbClr val="1565C0"/>
                    </a:solidFill>
                  </a:tcPr>
                </a:tc>
                <a:tc>
                  <a:txBody>
                    <a:bodyPr/>
                    <a:lstStyle/>
                    <a:p>
                      <a:pPr algn="ctr">
                        <a:defRPr sz="1800" b="1">
                          <a:solidFill>
                            <a:srgbClr val="FFFFFF"/>
                          </a:solidFill>
                          <a:latin typeface="Times New Roman"/>
                        </a:defRPr>
                      </a:pPr>
                      <a:r>
                        <a:rPr dirty="0"/>
                        <a:t>Net (R)</a:t>
                      </a:r>
                    </a:p>
                  </a:txBody>
                  <a:tcPr>
                    <a:solidFill>
                      <a:srgbClr val="1565C0"/>
                    </a:solidFill>
                  </a:tcPr>
                </a:tc>
                <a:tc>
                  <a:txBody>
                    <a:bodyPr/>
                    <a:lstStyle/>
                    <a:p>
                      <a:pPr algn="ctr">
                        <a:defRPr sz="1800" b="1">
                          <a:solidFill>
                            <a:srgbClr val="FFFFFF"/>
                          </a:solidFill>
                          <a:latin typeface="Times New Roman"/>
                        </a:defRPr>
                      </a:pPr>
                      <a:r>
                        <a:t>Độ tin cậy</a:t>
                      </a:r>
                    </a:p>
                  </a:txBody>
                  <a:tcPr>
                    <a:solidFill>
                      <a:srgbClr val="1565C0"/>
                    </a:solidFill>
                  </a:tcPr>
                </a:tc>
                <a:extLst>
                  <a:ext uri="{0D108BD9-81ED-4DB2-BD59-A6C34878D82A}">
                    <a16:rowId xmlns:a16="http://schemas.microsoft.com/office/drawing/2014/main" val="10000"/>
                  </a:ext>
                </a:extLst>
              </a:tr>
              <a:tr h="933333">
                <a:tc>
                  <a:txBody>
                    <a:bodyPr/>
                    <a:lstStyle/>
                    <a:p>
                      <a:pPr algn="ctr">
                        <a:defRPr sz="1800" b="0">
                          <a:solidFill>
                            <a:srgbClr val="151515"/>
                          </a:solidFill>
                          <a:latin typeface="Times New Roman"/>
                        </a:defRPr>
                      </a:pPr>
                      <a:r>
                        <a:t>Random K-Fold (5 Folds)</a:t>
                      </a:r>
                    </a:p>
                  </a:txBody>
                  <a:tcPr>
                    <a:solidFill>
                      <a:srgbClr val="FFFFFF"/>
                    </a:solidFill>
                  </a:tcPr>
                </a:tc>
                <a:tc>
                  <a:txBody>
                    <a:bodyPr/>
                    <a:lstStyle/>
                    <a:p>
                      <a:pPr algn="l">
                        <a:defRPr sz="1800" b="0">
                          <a:solidFill>
                            <a:srgbClr val="151515"/>
                          </a:solidFill>
                          <a:latin typeface="Times New Roman"/>
                        </a:defRPr>
                      </a:pPr>
                      <a:r>
                        <a:t>0,8582</a:t>
                      </a:r>
                    </a:p>
                  </a:txBody>
                  <a:tcPr>
                    <a:solidFill>
                      <a:srgbClr val="FFFFFF"/>
                    </a:solidFill>
                  </a:tcPr>
                </a:tc>
                <a:tc>
                  <a:txBody>
                    <a:bodyPr/>
                    <a:lstStyle/>
                    <a:p>
                      <a:pPr algn="l">
                        <a:defRPr sz="1800" b="0">
                          <a:solidFill>
                            <a:srgbClr val="151515"/>
                          </a:solidFill>
                          <a:latin typeface="Times New Roman"/>
                        </a:defRPr>
                      </a:pPr>
                      <a:r>
                        <a:t>0,72</a:t>
                      </a:r>
                    </a:p>
                  </a:txBody>
                  <a:tcPr>
                    <a:solidFill>
                      <a:srgbClr val="FFFFFF"/>
                    </a:solidFill>
                  </a:tcPr>
                </a:tc>
                <a:tc>
                  <a:txBody>
                    <a:bodyPr/>
                    <a:lstStyle/>
                    <a:p>
                      <a:pPr algn="l">
                        <a:defRPr sz="1800" b="0">
                          <a:solidFill>
                            <a:srgbClr val="151515"/>
                          </a:solidFill>
                          <a:latin typeface="Times New Roman"/>
                        </a:defRPr>
                      </a:pPr>
                      <a:r>
                        <a:t>Rò rỉ tương lai nặng</a:t>
                      </a:r>
                    </a:p>
                  </a:txBody>
                  <a:tcPr>
                    <a:solidFill>
                      <a:srgbClr val="FFFFFF"/>
                    </a:solidFill>
                  </a:tcPr>
                </a:tc>
                <a:tc>
                  <a:txBody>
                    <a:bodyPr/>
                    <a:lstStyle/>
                    <a:p>
                      <a:pPr algn="l">
                        <a:defRPr sz="1800" b="0">
                          <a:solidFill>
                            <a:srgbClr val="151515"/>
                          </a:solidFill>
                          <a:latin typeface="Times New Roman"/>
                        </a:defRPr>
                      </a:pPr>
                      <a:r>
                        <a:t>+246,8 R</a:t>
                      </a:r>
                    </a:p>
                  </a:txBody>
                  <a:tcPr>
                    <a:solidFill>
                      <a:srgbClr val="FFFFFF"/>
                    </a:solidFill>
                  </a:tcPr>
                </a:tc>
                <a:tc>
                  <a:txBody>
                    <a:bodyPr/>
                    <a:lstStyle/>
                    <a:p>
                      <a:pPr algn="l">
                        <a:defRPr sz="1800" b="0">
                          <a:solidFill>
                            <a:srgbClr val="151515"/>
                          </a:solidFill>
                          <a:latin typeface="Times New Roman"/>
                        </a:defRPr>
                      </a:pPr>
                      <a:r>
                        <a:t>ẢO (Lộ đề)</a:t>
                      </a:r>
                    </a:p>
                  </a:txBody>
                  <a:tcPr>
                    <a:solidFill>
                      <a:srgbClr val="FFFFFF"/>
                    </a:solidFill>
                  </a:tcPr>
                </a:tc>
                <a:extLst>
                  <a:ext uri="{0D108BD9-81ED-4DB2-BD59-A6C34878D82A}">
                    <a16:rowId xmlns:a16="http://schemas.microsoft.com/office/drawing/2014/main" val="10001"/>
                  </a:ext>
                </a:extLst>
              </a:tr>
              <a:tr h="933333">
                <a:tc>
                  <a:txBody>
                    <a:bodyPr/>
                    <a:lstStyle/>
                    <a:p>
                      <a:pPr algn="ctr">
                        <a:defRPr sz="1800" b="0">
                          <a:solidFill>
                            <a:srgbClr val="151515"/>
                          </a:solidFill>
                          <a:latin typeface="Times New Roman"/>
                        </a:defRPr>
                      </a:pPr>
                      <a:r>
                        <a:t>GroupKFold (Tháng)</a:t>
                      </a:r>
                    </a:p>
                  </a:txBody>
                  <a:tcPr>
                    <a:solidFill>
                      <a:srgbClr val="E3F2FD"/>
                    </a:solidFill>
                  </a:tcPr>
                </a:tc>
                <a:tc>
                  <a:txBody>
                    <a:bodyPr/>
                    <a:lstStyle/>
                    <a:p>
                      <a:pPr algn="l">
                        <a:defRPr sz="1800" b="0">
                          <a:solidFill>
                            <a:srgbClr val="151515"/>
                          </a:solidFill>
                          <a:latin typeface="Times New Roman"/>
                        </a:defRPr>
                      </a:pPr>
                      <a:r>
                        <a:t>0,7454</a:t>
                      </a:r>
                    </a:p>
                  </a:txBody>
                  <a:tcPr>
                    <a:solidFill>
                      <a:srgbClr val="E3F2FD"/>
                    </a:solidFill>
                  </a:tcPr>
                </a:tc>
                <a:tc>
                  <a:txBody>
                    <a:bodyPr/>
                    <a:lstStyle/>
                    <a:p>
                      <a:pPr algn="l">
                        <a:defRPr sz="1800" b="0">
                          <a:solidFill>
                            <a:srgbClr val="151515"/>
                          </a:solidFill>
                          <a:latin typeface="Times New Roman"/>
                        </a:defRPr>
                      </a:pPr>
                      <a:r>
                        <a:t>0,61</a:t>
                      </a:r>
                    </a:p>
                  </a:txBody>
                  <a:tcPr>
                    <a:solidFill>
                      <a:srgbClr val="E3F2FD"/>
                    </a:solidFill>
                  </a:tcPr>
                </a:tc>
                <a:tc>
                  <a:txBody>
                    <a:bodyPr/>
                    <a:lstStyle/>
                    <a:p>
                      <a:pPr algn="l">
                        <a:defRPr sz="1800" b="0">
                          <a:solidFill>
                            <a:srgbClr val="151515"/>
                          </a:solidFill>
                          <a:latin typeface="Times New Roman"/>
                        </a:defRPr>
                      </a:pPr>
                      <a:r>
                        <a:t>Rò rỉ thông tin lân cận</a:t>
                      </a:r>
                    </a:p>
                  </a:txBody>
                  <a:tcPr>
                    <a:solidFill>
                      <a:srgbClr val="E3F2FD"/>
                    </a:solidFill>
                  </a:tcPr>
                </a:tc>
                <a:tc>
                  <a:txBody>
                    <a:bodyPr/>
                    <a:lstStyle/>
                    <a:p>
                      <a:pPr algn="l">
                        <a:defRPr sz="1800" b="0">
                          <a:solidFill>
                            <a:srgbClr val="151515"/>
                          </a:solidFill>
                          <a:latin typeface="Times New Roman"/>
                        </a:defRPr>
                      </a:pPr>
                      <a:r>
                        <a:t>+182,4 R</a:t>
                      </a:r>
                    </a:p>
                  </a:txBody>
                  <a:tcPr>
                    <a:solidFill>
                      <a:srgbClr val="E3F2FD"/>
                    </a:solidFill>
                  </a:tcPr>
                </a:tc>
                <a:tc>
                  <a:txBody>
                    <a:bodyPr/>
                    <a:lstStyle/>
                    <a:p>
                      <a:pPr algn="l">
                        <a:defRPr sz="1800" b="0">
                          <a:solidFill>
                            <a:srgbClr val="151515"/>
                          </a:solidFill>
                          <a:latin typeface="Times New Roman"/>
                        </a:defRPr>
                      </a:pPr>
                      <a:r>
                        <a:t>Kém tin cậy</a:t>
                      </a:r>
                    </a:p>
                  </a:txBody>
                  <a:tcPr>
                    <a:solidFill>
                      <a:srgbClr val="E3F2FD"/>
                    </a:solidFill>
                  </a:tcPr>
                </a:tc>
                <a:extLst>
                  <a:ext uri="{0D108BD9-81ED-4DB2-BD59-A6C34878D82A}">
                    <a16:rowId xmlns:a16="http://schemas.microsoft.com/office/drawing/2014/main" val="10002"/>
                  </a:ext>
                </a:extLst>
              </a:tr>
              <a:tr h="933333">
                <a:tc>
                  <a:txBody>
                    <a:bodyPr/>
                    <a:lstStyle/>
                    <a:p>
                      <a:pPr algn="ctr">
                        <a:defRPr sz="1800" b="0">
                          <a:solidFill>
                            <a:srgbClr val="151515"/>
                          </a:solidFill>
                          <a:latin typeface="Times New Roman"/>
                        </a:defRPr>
                      </a:pPr>
                      <a:r>
                        <a:t>Walk-Forward (Expanding)</a:t>
                      </a:r>
                    </a:p>
                  </a:txBody>
                  <a:tcPr>
                    <a:solidFill>
                      <a:srgbClr val="FFFFFF"/>
                    </a:solidFill>
                  </a:tcPr>
                </a:tc>
                <a:tc>
                  <a:txBody>
                    <a:bodyPr/>
                    <a:lstStyle/>
                    <a:p>
                      <a:pPr algn="l">
                        <a:defRPr sz="1800" b="0">
                          <a:solidFill>
                            <a:srgbClr val="151515"/>
                          </a:solidFill>
                          <a:latin typeface="Times New Roman"/>
                        </a:defRPr>
                      </a:pPr>
                      <a:r>
                        <a:t>0,5875</a:t>
                      </a:r>
                    </a:p>
                  </a:txBody>
                  <a:tcPr>
                    <a:solidFill>
                      <a:srgbClr val="FFFFFF"/>
                    </a:solidFill>
                  </a:tcPr>
                </a:tc>
                <a:tc>
                  <a:txBody>
                    <a:bodyPr/>
                    <a:lstStyle/>
                    <a:p>
                      <a:pPr algn="l">
                        <a:defRPr sz="1800" b="0">
                          <a:solidFill>
                            <a:srgbClr val="151515"/>
                          </a:solidFill>
                          <a:latin typeface="Times New Roman"/>
                        </a:defRPr>
                      </a:pPr>
                      <a:r>
                        <a:t>0,44</a:t>
                      </a:r>
                    </a:p>
                  </a:txBody>
                  <a:tcPr>
                    <a:solidFill>
                      <a:srgbClr val="FFFFFF"/>
                    </a:solidFill>
                  </a:tcPr>
                </a:tc>
                <a:tc>
                  <a:txBody>
                    <a:bodyPr/>
                    <a:lstStyle/>
                    <a:p>
                      <a:pPr algn="l">
                        <a:defRPr sz="1800" b="0">
                          <a:solidFill>
                            <a:srgbClr val="151515"/>
                          </a:solidFill>
                          <a:latin typeface="Times New Roman"/>
                        </a:defRPr>
                      </a:pPr>
                      <a:r>
                        <a:t>Đúng chiều thời gian</a:t>
                      </a:r>
                    </a:p>
                  </a:txBody>
                  <a:tcPr>
                    <a:solidFill>
                      <a:srgbClr val="FFFFFF"/>
                    </a:solidFill>
                  </a:tcPr>
                </a:tc>
                <a:tc>
                  <a:txBody>
                    <a:bodyPr/>
                    <a:lstStyle/>
                    <a:p>
                      <a:pPr algn="l">
                        <a:defRPr sz="1800" b="0">
                          <a:solidFill>
                            <a:srgbClr val="151515"/>
                          </a:solidFill>
                          <a:latin typeface="Times New Roman"/>
                        </a:defRPr>
                      </a:pPr>
                      <a:r>
                        <a:t>+48,2 R</a:t>
                      </a:r>
                    </a:p>
                  </a:txBody>
                  <a:tcPr>
                    <a:solidFill>
                      <a:srgbClr val="FFFFFF"/>
                    </a:solidFill>
                  </a:tcPr>
                </a:tc>
                <a:tc>
                  <a:txBody>
                    <a:bodyPr/>
                    <a:lstStyle/>
                    <a:p>
                      <a:pPr algn="l">
                        <a:defRPr sz="1800" b="0">
                          <a:solidFill>
                            <a:srgbClr val="151515"/>
                          </a:solidFill>
                          <a:latin typeface="Times New Roman"/>
                        </a:defRPr>
                      </a:pPr>
                      <a:r>
                        <a:t>Khá tin cậy</a:t>
                      </a:r>
                    </a:p>
                  </a:txBody>
                  <a:tcPr>
                    <a:solidFill>
                      <a:srgbClr val="FFFFFF"/>
                    </a:solidFill>
                  </a:tcPr>
                </a:tc>
                <a:extLst>
                  <a:ext uri="{0D108BD9-81ED-4DB2-BD59-A6C34878D82A}">
                    <a16:rowId xmlns:a16="http://schemas.microsoft.com/office/drawing/2014/main" val="10003"/>
                  </a:ext>
                </a:extLst>
              </a:tr>
              <a:tr h="933333">
                <a:tc>
                  <a:txBody>
                    <a:bodyPr/>
                    <a:lstStyle/>
                    <a:p>
                      <a:pPr algn="ctr">
                        <a:defRPr sz="1800" b="0">
                          <a:solidFill>
                            <a:srgbClr val="151515"/>
                          </a:solidFill>
                          <a:latin typeface="Times New Roman"/>
                        </a:defRPr>
                      </a:pPr>
                      <a:r>
                        <a:t>Purged Walk-Forward</a:t>
                      </a:r>
                    </a:p>
                  </a:txBody>
                  <a:tcPr>
                    <a:solidFill>
                      <a:srgbClr val="E3F2FD"/>
                    </a:solidFill>
                  </a:tcPr>
                </a:tc>
                <a:tc>
                  <a:txBody>
                    <a:bodyPr/>
                    <a:lstStyle/>
                    <a:p>
                      <a:pPr algn="l">
                        <a:defRPr sz="1800" b="0">
                          <a:solidFill>
                            <a:srgbClr val="151515"/>
                          </a:solidFill>
                          <a:latin typeface="Times New Roman"/>
                        </a:defRPr>
                      </a:pPr>
                      <a:r>
                        <a:t>0,5895</a:t>
                      </a:r>
                    </a:p>
                  </a:txBody>
                  <a:tcPr>
                    <a:solidFill>
                      <a:srgbClr val="E3F2FD"/>
                    </a:solidFill>
                  </a:tcPr>
                </a:tc>
                <a:tc>
                  <a:txBody>
                    <a:bodyPr/>
                    <a:lstStyle/>
                    <a:p>
                      <a:pPr algn="l">
                        <a:defRPr sz="1800" b="0">
                          <a:solidFill>
                            <a:srgbClr val="151515"/>
                          </a:solidFill>
                          <a:latin typeface="Times New Roman"/>
                        </a:defRPr>
                      </a:pPr>
                      <a:r>
                        <a:t>0,44</a:t>
                      </a:r>
                    </a:p>
                  </a:txBody>
                  <a:tcPr>
                    <a:solidFill>
                      <a:srgbClr val="E3F2FD"/>
                    </a:solidFill>
                  </a:tcPr>
                </a:tc>
                <a:tc>
                  <a:txBody>
                    <a:bodyPr/>
                    <a:lstStyle/>
                    <a:p>
                      <a:pPr algn="l">
                        <a:defRPr sz="1800" b="0">
                          <a:solidFill>
                            <a:srgbClr val="151515"/>
                          </a:solidFill>
                          <a:latin typeface="Times New Roman"/>
                        </a:defRPr>
                      </a:pPr>
                      <a:r>
                        <a:t>Triệt tiêu rò rỉ</a:t>
                      </a:r>
                    </a:p>
                  </a:txBody>
                  <a:tcPr>
                    <a:solidFill>
                      <a:srgbClr val="E3F2FD"/>
                    </a:solidFill>
                  </a:tcPr>
                </a:tc>
                <a:tc>
                  <a:txBody>
                    <a:bodyPr/>
                    <a:lstStyle/>
                    <a:p>
                      <a:pPr algn="l">
                        <a:defRPr sz="1800" b="0">
                          <a:solidFill>
                            <a:srgbClr val="151515"/>
                          </a:solidFill>
                          <a:latin typeface="Times New Roman"/>
                        </a:defRPr>
                      </a:pPr>
                      <a:r>
                        <a:t>+54,1 R</a:t>
                      </a:r>
                    </a:p>
                  </a:txBody>
                  <a:tcPr>
                    <a:solidFill>
                      <a:srgbClr val="E3F2FD"/>
                    </a:solidFill>
                  </a:tcPr>
                </a:tc>
                <a:tc>
                  <a:txBody>
                    <a:bodyPr/>
                    <a:lstStyle/>
                    <a:p>
                      <a:pPr algn="l">
                        <a:defRPr sz="1800" b="0">
                          <a:solidFill>
                            <a:srgbClr val="151515"/>
                          </a:solidFill>
                          <a:latin typeface="Times New Roman"/>
                        </a:defRPr>
                      </a:pPr>
                      <a:r>
                        <a:t>RẤT TIN CẬY</a:t>
                      </a:r>
                    </a:p>
                  </a:txBody>
                  <a:tcPr>
                    <a:solidFill>
                      <a:srgbClr val="E3F2FD"/>
                    </a:solidFill>
                  </a:tcPr>
                </a:tc>
                <a:extLst>
                  <a:ext uri="{0D108BD9-81ED-4DB2-BD59-A6C34878D82A}">
                    <a16:rowId xmlns:a16="http://schemas.microsoft.com/office/drawing/2014/main" val="10004"/>
                  </a:ext>
                </a:extLst>
              </a:tr>
              <a:tr h="933335">
                <a:tc>
                  <a:txBody>
                    <a:bodyPr/>
                    <a:lstStyle/>
                    <a:p>
                      <a:pPr algn="ctr">
                        <a:defRPr sz="1800" b="0">
                          <a:solidFill>
                            <a:srgbClr val="151515"/>
                          </a:solidFill>
                          <a:latin typeface="Times New Roman"/>
                        </a:defRPr>
                      </a:pPr>
                      <a:r>
                        <a:t>Holdout Test (Top 50%)</a:t>
                      </a:r>
                    </a:p>
                  </a:txBody>
                  <a:tcPr>
                    <a:solidFill>
                      <a:srgbClr val="FFFFFF"/>
                    </a:solidFill>
                  </a:tcPr>
                </a:tc>
                <a:tc>
                  <a:txBody>
                    <a:bodyPr/>
                    <a:lstStyle/>
                    <a:p>
                      <a:pPr algn="l">
                        <a:defRPr sz="1800" b="0">
                          <a:solidFill>
                            <a:srgbClr val="151515"/>
                          </a:solidFill>
                          <a:latin typeface="Times New Roman"/>
                        </a:defRPr>
                      </a:pPr>
                      <a:r>
                        <a:t>0,6046</a:t>
                      </a:r>
                    </a:p>
                  </a:txBody>
                  <a:tcPr>
                    <a:solidFill>
                      <a:srgbClr val="FFFFFF"/>
                    </a:solidFill>
                  </a:tcPr>
                </a:tc>
                <a:tc>
                  <a:txBody>
                    <a:bodyPr/>
                    <a:lstStyle/>
                    <a:p>
                      <a:pPr algn="l">
                        <a:defRPr sz="1800" b="0">
                          <a:solidFill>
                            <a:srgbClr val="151515"/>
                          </a:solidFill>
                          <a:latin typeface="Times New Roman"/>
                        </a:defRPr>
                      </a:pPr>
                      <a:r>
                        <a:t>0,45</a:t>
                      </a:r>
                    </a:p>
                  </a:txBody>
                  <a:tcPr>
                    <a:solidFill>
                      <a:srgbClr val="FFFFFF"/>
                    </a:solidFill>
                  </a:tcPr>
                </a:tc>
                <a:tc>
                  <a:txBody>
                    <a:bodyPr/>
                    <a:lstStyle/>
                    <a:p>
                      <a:pPr algn="l">
                        <a:defRPr sz="1800" b="0">
                          <a:solidFill>
                            <a:srgbClr val="151515"/>
                          </a:solidFill>
                          <a:latin typeface="Times New Roman"/>
                        </a:defRPr>
                      </a:pPr>
                      <a:r>
                        <a:t>Kiểm định mù ngoài mẫu</a:t>
                      </a:r>
                    </a:p>
                  </a:txBody>
                  <a:tcPr>
                    <a:solidFill>
                      <a:srgbClr val="FFFFFF"/>
                    </a:solidFill>
                  </a:tcPr>
                </a:tc>
                <a:tc>
                  <a:txBody>
                    <a:bodyPr/>
                    <a:lstStyle/>
                    <a:p>
                      <a:pPr algn="l">
                        <a:defRPr sz="1800" b="0">
                          <a:solidFill>
                            <a:srgbClr val="151515"/>
                          </a:solidFill>
                          <a:latin typeface="Times New Roman"/>
                        </a:defRPr>
                      </a:pPr>
                      <a:r>
                        <a:t>+126,5 R</a:t>
                      </a:r>
                    </a:p>
                  </a:txBody>
                  <a:tcPr>
                    <a:solidFill>
                      <a:srgbClr val="FFFFFF"/>
                    </a:solidFill>
                  </a:tcPr>
                </a:tc>
                <a:tc>
                  <a:txBody>
                    <a:bodyPr/>
                    <a:lstStyle/>
                    <a:p>
                      <a:pPr algn="l">
                        <a:defRPr sz="1800" b="0">
                          <a:solidFill>
                            <a:srgbClr val="151515"/>
                          </a:solidFill>
                          <a:latin typeface="Times New Roman"/>
                        </a:defRPr>
                      </a:pPr>
                      <a:r>
                        <a:rPr dirty="0"/>
                        <a:t>CHUẨN THỰC</a:t>
                      </a:r>
                    </a:p>
                  </a:txBody>
                  <a:tcPr>
                    <a:solidFill>
                      <a:srgbClr val="FFFFFF"/>
                    </a:solidFill>
                  </a:tcPr>
                </a:tc>
                <a:extLst>
                  <a:ext uri="{0D108BD9-81ED-4DB2-BD59-A6C34878D82A}">
                    <a16:rowId xmlns:a16="http://schemas.microsoft.com/office/drawing/2014/main" val="10005"/>
                  </a:ext>
                </a:extLst>
              </a:tr>
            </a:tbl>
          </a:graphicData>
        </a:graphic>
      </p:graphicFrame>
      <p:pic>
        <p:nvPicPr>
          <p:cNvPr id="26" name="Picture 25" descr="05_roc_curves_comparison.png"/>
          <p:cNvPicPr>
            <a:picLocks noChangeAspect="1"/>
          </p:cNvPicPr>
          <p:nvPr/>
        </p:nvPicPr>
        <p:blipFill>
          <a:blip r:embed="rId3"/>
          <a:stretch>
            <a:fillRect/>
          </a:stretch>
        </p:blipFill>
        <p:spPr>
          <a:xfrm>
            <a:off x="12500000" y="2600000"/>
            <a:ext cx="8500000" cy="5800000"/>
          </a:xfrm>
          <a:prstGeom prst="rect">
            <a:avLst/>
          </a:prstGeom>
        </p:spPr>
      </p:pic>
    </p:spTree>
    <p:extLst>
      <p:ext uri="{BB962C8B-B14F-4D97-AF65-F5344CB8AC3E}">
        <p14:creationId xmlns:p14="http://schemas.microsoft.com/office/powerpoint/2010/main" val="1370230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5"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3. Thử nghiệm &amp; Rò rỉ</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Dữ liệu nến M15 đầu vào và cơ chế Triple-Barrier</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10/18</a:t>
            </a:r>
            <a:endParaRPr sz="1600"/>
          </a:p>
        </p:txBody>
      </p:sp>
      <p:sp>
        <p:nvSpPr>
          <p:cNvPr id="29" name="Rectangle 28">
            <a:extLst>
              <a:ext uri="{FF2B5EF4-FFF2-40B4-BE49-F238E27FC236}">
                <a16:creationId xmlns:a16="http://schemas.microsoft.com/office/drawing/2014/main" id="{4F227220-4D04-47E1-AA7B-AF8BE23047CF}"/>
              </a:ext>
            </a:extLst>
          </p:cNvPr>
          <p:cNvSpPr>
            <a:spLocks noGrp="1"/>
          </p:cNvSpPr>
          <p:nvPr/>
        </p:nvSpPr>
        <p:spPr>
          <a:xfrm>
            <a:off x="16097250" y="2952750"/>
            <a:ext cx="4572000" cy="7810500"/>
          </a:xfrm>
          <a:prstGeom prst="rect">
            <a:avLst/>
          </a:prstGeom>
          <a:noFill/>
          <a:ln w="0">
            <a:noFill/>
          </a:ln>
        </p:spPr>
        <p:txBody>
          <a:bodyPr wrap="square">
            <a:noAutofit/>
          </a:bodyPr>
          <a:lstStyle/>
          <a:p>
            <a:pPr algn="l">
              <a:buNone/>
              <a:defRPr sz="2625" b="0">
                <a:solidFill>
                  <a:srgbClr val="151515"/>
                </a:solidFill>
                <a:latin typeface="Times New Roman"/>
                <a:ea typeface="Times New Roman"/>
                <a:cs typeface="Times New Roman"/>
              </a:defRPr>
            </a:pPr>
            <a:r>
              <a:rPr sz="2600" b="0" i="0">
                <a:solidFill>
                  <a:srgbClr val="151515"/>
                </a:solidFill>
                <a:latin typeface="Times New Roman"/>
              </a:rPr>
              <a:t>Dữ liệu nến M15 thực tế:</a:t>
            </a:r>
          </a:p>
          <a:p>
            <a:pPr algn="l"/>
            <a:r>
              <a:rPr sz="2600" b="0" i="0">
                <a:solidFill>
                  <a:srgbClr val="151515"/>
                </a:solidFill>
                <a:latin typeface="Times New Roman"/>
              </a:rPr>
              <a:t>• Chuỗi nến BTCUSD khung 15 phút.</a:t>
            </a:r>
          </a:p>
          <a:p>
            <a:pPr algn="l"/>
            <a:r>
              <a:rPr sz="2600" b="0" i="0">
                <a:solidFill>
                  <a:srgbClr val="151515"/>
                </a:solidFill>
                <a:latin typeface="Times New Roman"/>
              </a:rPr>
              <a:t>• Tín hiệu vào lệnh (Entry Marker).</a:t>
            </a:r>
          </a:p>
          <a:p>
            <a:pPr algn="l"/>
            <a:endParaRPr sz="2600" b="0" i="0">
              <a:solidFill>
                <a:srgbClr val="151515"/>
              </a:solidFill>
              <a:latin typeface="Times New Roman"/>
            </a:endParaRPr>
          </a:p>
          <a:p>
            <a:pPr algn="l"/>
            <a:r>
              <a:rPr sz="2600" b="0" i="0">
                <a:solidFill>
                  <a:srgbClr val="151515"/>
                </a:solidFill>
                <a:latin typeface="Times New Roman"/>
              </a:rPr>
              <a:t>Ba rào cản động:</a:t>
            </a:r>
          </a:p>
          <a:p>
            <a:pPr algn="l"/>
            <a:r>
              <a:rPr sz="2600" b="0" i="0">
                <a:solidFill>
                  <a:srgbClr val="151515"/>
                </a:solidFill>
                <a:latin typeface="Times New Roman"/>
              </a:rPr>
              <a:t>• Upper Barrier (Xanh): Take Profit (+2 ATR).</a:t>
            </a:r>
          </a:p>
          <a:p>
            <a:pPr algn="l"/>
            <a:r>
              <a:rPr sz="2600" b="0" i="0">
                <a:solidFill>
                  <a:srgbClr val="151515"/>
                </a:solidFill>
                <a:latin typeface="Times New Roman"/>
              </a:rPr>
              <a:t>• Lower Barrier (Đỏ): Stop Loss (-1 ATR).</a:t>
            </a:r>
          </a:p>
          <a:p>
            <a:pPr algn="l"/>
            <a:r>
              <a:rPr sz="2600" b="0" i="0">
                <a:solidFill>
                  <a:srgbClr val="151515"/>
                </a:solidFill>
                <a:latin typeface="Times New Roman"/>
              </a:rPr>
              <a:t>• Vertical Barrier (Xám): Giới hạn 24 bars.</a:t>
            </a:r>
          </a:p>
          <a:p>
            <a:pPr algn="l"/>
            <a:endParaRPr sz="2600" b="0" i="0">
              <a:solidFill>
                <a:srgbClr val="151515"/>
              </a:solidFill>
              <a:latin typeface="Times New Roman"/>
            </a:endParaRPr>
          </a:p>
          <a:p>
            <a:pPr algn="l"/>
            <a:r>
              <a:rPr sz="2600" b="0" i="0">
                <a:solidFill>
                  <a:srgbClr val="151515"/>
                </a:solidFill>
                <a:latin typeface="Times New Roman"/>
              </a:rPr>
              <a:t>Ý nghĩa khoa học:</a:t>
            </a:r>
          </a:p>
          <a:p>
            <a:pPr algn="l"/>
            <a:r>
              <a:rPr sz="2600" b="0" i="0">
                <a:solidFill>
                  <a:srgbClr val="151515"/>
                </a:solidFill>
                <a:latin typeface="Times New Roman"/>
              </a:rPr>
              <a:t>Chuyển đổi dữ liệu thị trường thô thành bài toán phân loại nhị phân có giám sát hoàn chỉnh.</a:t>
            </a:r>
          </a:p>
        </p:txBody>
      </p:sp>
      <p:pic>
        <p:nvPicPr>
          <p:cNvPr id="30" name="Picture 29" descr="00_btc_candlestick_sample.png"/>
          <p:cNvPicPr>
            <a:picLocks noChangeAspect="1"/>
          </p:cNvPicPr>
          <p:nvPr/>
        </p:nvPicPr>
        <p:blipFill>
          <a:blip r:embed="rId3"/>
          <a:stretch>
            <a:fillRect/>
          </a:stretch>
        </p:blipFill>
        <p:spPr>
          <a:xfrm>
            <a:off x="1214438" y="2333625"/>
            <a:ext cx="14144625" cy="7858125"/>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5"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3. Thử nghiệm &amp; Rò rỉ</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Ma trận tương quan 23 đặc trưng (Correlation Heatmap)</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11/18</a:t>
            </a:r>
            <a:endParaRPr sz="1600"/>
          </a:p>
        </p:txBody>
      </p:sp>
      <p:sp>
        <p:nvSpPr>
          <p:cNvPr id="29" name="Rectangle 28">
            <a:extLst>
              <a:ext uri="{FF2B5EF4-FFF2-40B4-BE49-F238E27FC236}">
                <a16:creationId xmlns:a16="http://schemas.microsoft.com/office/drawing/2014/main" id="{FDB53714-0D7D-429C-B217-45AF47488013}"/>
              </a:ext>
            </a:extLst>
          </p:cNvPr>
          <p:cNvSpPr>
            <a:spLocks noGrp="1"/>
          </p:cNvSpPr>
          <p:nvPr/>
        </p:nvSpPr>
        <p:spPr>
          <a:xfrm>
            <a:off x="16097250" y="2952750"/>
            <a:ext cx="4572000" cy="7810500"/>
          </a:xfrm>
          <a:prstGeom prst="rect">
            <a:avLst/>
          </a:prstGeom>
          <a:noFill/>
          <a:ln w="0">
            <a:noFill/>
          </a:ln>
        </p:spPr>
        <p:txBody>
          <a:bodyPr wrap="square">
            <a:noAutofit/>
          </a:bodyPr>
          <a:lstStyle/>
          <a:p>
            <a:pPr algn="l">
              <a:buNone/>
              <a:defRPr sz="2625" b="0">
                <a:solidFill>
                  <a:srgbClr val="151515"/>
                </a:solidFill>
                <a:latin typeface="Times New Roman"/>
                <a:ea typeface="Times New Roman"/>
                <a:cs typeface="Times New Roman"/>
              </a:defRPr>
            </a:pPr>
            <a:r>
              <a:rPr sz="2500" b="0" i="0">
                <a:solidFill>
                  <a:srgbClr val="151515"/>
                </a:solidFill>
                <a:latin typeface="Times New Roman"/>
              </a:rPr>
              <a:t>Phân tích tương quan đặc trưng:</a:t>
            </a:r>
          </a:p>
          <a:p>
            <a:pPr algn="l"/>
            <a:endParaRPr sz="2500" b="0" i="0">
              <a:solidFill>
                <a:srgbClr val="151515"/>
              </a:solidFill>
              <a:latin typeface="Times New Roman"/>
            </a:endParaRPr>
          </a:p>
          <a:p>
            <a:pPr algn="l"/>
            <a:r>
              <a:rPr sz="2500" b="0" i="0">
                <a:solidFill>
                  <a:srgbClr val="151515"/>
                </a:solidFill>
                <a:latin typeface="Times New Roman"/>
              </a:rPr>
              <a:t>• Nhóm Biến động (ATR, Volatility Ratio):</a:t>
            </a:r>
          </a:p>
          <a:p>
            <a:pPr algn="l"/>
            <a:r>
              <a:rPr sz="2500" b="0" i="0">
                <a:solidFill>
                  <a:srgbClr val="151515"/>
                </a:solidFill>
                <a:latin typeface="Times New Roman"/>
              </a:rPr>
              <a:t>Đo lường mức độ co thắt và dồn nén biên độ giá.</a:t>
            </a:r>
          </a:p>
          <a:p>
            <a:pPr algn="l"/>
            <a:endParaRPr sz="2500" b="0" i="0">
              <a:solidFill>
                <a:srgbClr val="151515"/>
              </a:solidFill>
              <a:latin typeface="Times New Roman"/>
            </a:endParaRPr>
          </a:p>
          <a:p>
            <a:pPr algn="l"/>
            <a:r>
              <a:rPr sz="2500" b="0" i="0">
                <a:solidFill>
                  <a:srgbClr val="151515"/>
                </a:solidFill>
                <a:latin typeface="Times New Roman"/>
              </a:rPr>
              <a:t>• Nhóm Động lượng (RSI, Stochastic, Return):</a:t>
            </a:r>
          </a:p>
          <a:p>
            <a:pPr algn="l"/>
            <a:r>
              <a:rPr sz="2500" b="0" i="0">
                <a:solidFill>
                  <a:srgbClr val="151515"/>
                </a:solidFill>
                <a:latin typeface="Times New Roman"/>
              </a:rPr>
              <a:t>Đo sức mạnh của xung lực giá ngắn hạn.</a:t>
            </a:r>
          </a:p>
          <a:p>
            <a:pPr algn="l"/>
            <a:endParaRPr sz="2500" b="0" i="0">
              <a:solidFill>
                <a:srgbClr val="151515"/>
              </a:solidFill>
              <a:latin typeface="Times New Roman"/>
            </a:endParaRPr>
          </a:p>
          <a:p>
            <a:pPr algn="l"/>
            <a:r>
              <a:rPr sz="2500" b="0" i="0">
                <a:solidFill>
                  <a:srgbClr val="151515"/>
                </a:solidFill>
                <a:latin typeface="Times New Roman"/>
              </a:rPr>
              <a:t>• Nhóm Cấu trúc (Breakeven R, Bars Open):</a:t>
            </a:r>
          </a:p>
          <a:p>
            <a:pPr algn="l"/>
            <a:r>
              <a:rPr sz="2500" b="0" i="0">
                <a:solidFill>
                  <a:srgbClr val="151515"/>
                </a:solidFill>
                <a:latin typeface="Times New Roman"/>
              </a:rPr>
              <a:t>Xác định rủi ro và xác suất chạm rào cản.</a:t>
            </a:r>
          </a:p>
          <a:p>
            <a:pPr algn="l"/>
            <a:endParaRPr sz="2500" b="0" i="0">
              <a:solidFill>
                <a:srgbClr val="151515"/>
              </a:solidFill>
              <a:latin typeface="Times New Roman"/>
            </a:endParaRPr>
          </a:p>
          <a:p>
            <a:pPr algn="l"/>
            <a:r>
              <a:rPr sz="2500" b="0" i="0">
                <a:solidFill>
                  <a:srgbClr val="151515"/>
                </a:solidFill>
                <a:latin typeface="Times New Roman"/>
              </a:rPr>
              <a:t>CatBoost xử lý tương tác phi tuyến cực mạnh giữa các cụm đặc trưng này.</a:t>
            </a:r>
          </a:p>
        </p:txBody>
      </p:sp>
      <p:sp>
        <p:nvSpPr>
          <p:cNvPr id="30" name="Rectangle 29">
            <a:extLst>
              <a:ext uri="{FF2B5EF4-FFF2-40B4-BE49-F238E27FC236}">
                <a16:creationId xmlns:a16="http://schemas.microsoft.com/office/drawing/2014/main" id="{996C7BB5-8A63-44A0-886F-C1820A11A8D9}"/>
              </a:ext>
            </a:extLst>
          </p:cNvPr>
          <p:cNvSpPr>
            <a:spLocks noGrp="1"/>
          </p:cNvSpPr>
          <p:nvPr/>
        </p:nvSpPr>
        <p:spPr>
          <a:xfrm>
            <a:off x="1047750" y="10858500"/>
            <a:ext cx="19050000" cy="523875"/>
          </a:xfrm>
          <a:prstGeom prst="rect">
            <a:avLst/>
          </a:prstGeom>
          <a:noFill/>
          <a:ln w="0">
            <a:noFill/>
          </a:ln>
        </p:spPr>
        <p:txBody>
          <a:bodyPr wrap="square">
            <a:noAutofit/>
          </a:bodyPr>
          <a:lstStyle/>
          <a:p>
            <a:pPr algn="l">
              <a:buNone/>
              <a:defRPr sz="2100" b="0" i="1">
                <a:solidFill>
                  <a:srgbClr val="555555"/>
                </a:solidFill>
                <a:latin typeface="Times New Roman"/>
                <a:ea typeface="Times New Roman"/>
                <a:cs typeface="Times New Roman"/>
              </a:defRPr>
            </a:pPr>
            <a:r>
              <a:rPr sz="2400" b="0" i="1">
                <a:solidFill>
                  <a:srgbClr val="1565C0"/>
                </a:solidFill>
                <a:latin typeface="Times New Roman"/>
              </a:rPr>
              <a:t>Điểm mạnh của CatBoost: Tự động kết hợp các đặc trưng có tương quan phức tạp mà không cần giả định độc lập tuyến tính.</a:t>
            </a:r>
          </a:p>
        </p:txBody>
      </p:sp>
      <p:pic>
        <p:nvPicPr>
          <p:cNvPr id="31" name="Picture 30" descr="02_feature_correlation_heatmap.png"/>
          <p:cNvPicPr>
            <a:picLocks noChangeAspect="1"/>
          </p:cNvPicPr>
          <p:nvPr/>
        </p:nvPicPr>
        <p:blipFill>
          <a:blip r:embed="rId3"/>
          <a:stretch>
            <a:fillRect/>
          </a:stretch>
        </p:blipFill>
        <p:spPr>
          <a:xfrm>
            <a:off x="952500" y="2840037"/>
            <a:ext cx="14668500" cy="6845300"/>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5"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3. Thử nghiệm &amp; Rò rỉ</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Tầm quan trọng đặc trưng trong mô hình CatBoost</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12/18</a:t>
            </a:r>
            <a:endParaRPr sz="1600"/>
          </a:p>
        </p:txBody>
      </p:sp>
      <p:sp>
        <p:nvSpPr>
          <p:cNvPr id="30" name="Rectangle 29">
            <a:extLst>
              <a:ext uri="{FF2B5EF4-FFF2-40B4-BE49-F238E27FC236}">
                <a16:creationId xmlns:a16="http://schemas.microsoft.com/office/drawing/2014/main" id="{021F5542-02FF-4D08-97F8-46738333A0F0}"/>
              </a:ext>
            </a:extLst>
          </p:cNvPr>
          <p:cNvSpPr>
            <a:spLocks noGrp="1"/>
          </p:cNvSpPr>
          <p:nvPr/>
        </p:nvSpPr>
        <p:spPr>
          <a:xfrm>
            <a:off x="1000125" y="11096625"/>
            <a:ext cx="19621500" cy="619125"/>
          </a:xfrm>
          <a:prstGeom prst="rect">
            <a:avLst/>
          </a:prstGeom>
          <a:noFill/>
          <a:ln w="0">
            <a:noFill/>
          </a:ln>
        </p:spPr>
        <p:txBody>
          <a:bodyPr wrap="square">
            <a:noAutofit/>
          </a:bodyPr>
          <a:lstStyle/>
          <a:p>
            <a:pPr algn="l">
              <a:buNone/>
              <a:defRPr sz="2175" b="0" i="1">
                <a:solidFill>
                  <a:srgbClr val="555555"/>
                </a:solidFill>
                <a:latin typeface="Times New Roman"/>
                <a:ea typeface="Times New Roman"/>
                <a:cs typeface="Times New Roman"/>
              </a:defRPr>
            </a:pPr>
            <a:r>
              <a:rPr sz="2600" b="0" i="1">
                <a:solidFill>
                  <a:srgbClr val="151515"/>
                </a:solidFill>
                <a:latin typeface="Times New Roman"/>
              </a:rPr>
              <a:t>Top đặc trưng hàng đầu: breakeven_R, atr14_pct, rsi14, volatility_ratio, bar_return. CatBoost tự động khai thác các tương tác phi tuyến giữa biến động giá và động lượng mà quy tắc thủ công không thấy được.</a:t>
            </a:r>
          </a:p>
        </p:txBody>
      </p:sp>
      <p:pic>
        <p:nvPicPr>
          <p:cNvPr id="31" name="Picture 30" descr="03_catboost_feature_importance.png"/>
          <p:cNvPicPr>
            <a:picLocks noChangeAspect="1"/>
          </p:cNvPicPr>
          <p:nvPr/>
        </p:nvPicPr>
        <p:blipFill>
          <a:blip r:embed="rId3"/>
          <a:stretch>
            <a:fillRect/>
          </a:stretch>
        </p:blipFill>
        <p:spPr>
          <a:xfrm>
            <a:off x="2516188" y="1857375"/>
            <a:ext cx="16589375" cy="9048750"/>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5"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3. Thử nghiệm &amp; Rò rỉ</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400" b="1" i="0">
                <a:solidFill>
                  <a:srgbClr val="1565C0"/>
                </a:solidFill>
                <a:latin typeface="Times New Roman"/>
              </a:rPr>
              <a:t>Ma trận nhầm lẫn trên tập kiểm định Holdout (5.028 mẫu)</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13/18</a:t>
            </a:r>
            <a:endParaRPr sz="1600"/>
          </a:p>
        </p:txBody>
      </p:sp>
      <p:sp>
        <p:nvSpPr>
          <p:cNvPr id="29" name="Rectangle 28">
            <a:extLst>
              <a:ext uri="{FF2B5EF4-FFF2-40B4-BE49-F238E27FC236}">
                <a16:creationId xmlns:a16="http://schemas.microsoft.com/office/drawing/2014/main" id="{EBE41F25-75E3-43AE-A4E9-AF76D1CA9051}"/>
              </a:ext>
            </a:extLst>
          </p:cNvPr>
          <p:cNvSpPr>
            <a:spLocks noGrp="1"/>
          </p:cNvSpPr>
          <p:nvPr/>
        </p:nvSpPr>
        <p:spPr>
          <a:xfrm>
            <a:off x="16097250" y="2857500"/>
            <a:ext cx="4572000" cy="7810500"/>
          </a:xfrm>
          <a:prstGeom prst="rect">
            <a:avLst/>
          </a:prstGeom>
          <a:noFill/>
          <a:ln w="0">
            <a:noFill/>
          </a:ln>
        </p:spPr>
        <p:txBody>
          <a:bodyPr wrap="square">
            <a:noAutofit/>
          </a:bodyPr>
          <a:lstStyle/>
          <a:p>
            <a:pPr algn="l">
              <a:buNone/>
              <a:defRPr sz="2550" b="0">
                <a:solidFill>
                  <a:srgbClr val="151515"/>
                </a:solidFill>
                <a:latin typeface="Times New Roman"/>
                <a:ea typeface="Times New Roman"/>
                <a:cs typeface="Times New Roman"/>
              </a:defRPr>
            </a:pPr>
            <a:r>
              <a:rPr sz="2600" b="0" i="0">
                <a:solidFill>
                  <a:srgbClr val="151515"/>
                </a:solidFill>
                <a:latin typeface="Times New Roman"/>
              </a:rPr>
              <a:t>Tác động lọc của CatBoost:</a:t>
            </a:r>
          </a:p>
          <a:p>
            <a:pPr algn="l"/>
            <a:endParaRPr sz="2600" b="0" i="0">
              <a:solidFill>
                <a:srgbClr val="151515"/>
              </a:solidFill>
              <a:latin typeface="Times New Roman"/>
            </a:endParaRPr>
          </a:p>
          <a:p>
            <a:pPr algn="l"/>
            <a:r>
              <a:rPr sz="2600" b="0" i="0">
                <a:solidFill>
                  <a:srgbClr val="151515"/>
                </a:solidFill>
                <a:latin typeface="Times New Roman"/>
              </a:rPr>
              <a:t>• True Negatives (Lọc đúng lệnh thua):</a:t>
            </a:r>
          </a:p>
          <a:p>
            <a:pPr algn="l"/>
            <a:r>
              <a:rPr sz="2600" b="0" i="0">
                <a:solidFill>
                  <a:srgbClr val="151515"/>
                </a:solidFill>
                <a:latin typeface="Times New Roman"/>
              </a:rPr>
              <a:t>Loại bỏ thành công 2.150 lệnh thua tiềm ẩn, cứu vốn tài khoản.</a:t>
            </a:r>
          </a:p>
          <a:p>
            <a:pPr algn="l"/>
            <a:endParaRPr sz="2600" b="0" i="0">
              <a:solidFill>
                <a:srgbClr val="151515"/>
              </a:solidFill>
              <a:latin typeface="Times New Roman"/>
            </a:endParaRPr>
          </a:p>
          <a:p>
            <a:pPr algn="l"/>
            <a:r>
              <a:rPr sz="2600" b="0" i="0">
                <a:solidFill>
                  <a:srgbClr val="151515"/>
                </a:solidFill>
                <a:latin typeface="Times New Roman"/>
              </a:rPr>
              <a:t>• False Positives (Báo động giả):</a:t>
            </a:r>
          </a:p>
          <a:p>
            <a:pPr algn="l"/>
            <a:r>
              <a:rPr sz="2600" b="0" i="0">
                <a:solidFill>
                  <a:srgbClr val="151515"/>
                </a:solidFill>
                <a:latin typeface="Times New Roman"/>
              </a:rPr>
              <a:t>Giảm thiểu tối đa, chỉ duyệt các cơ hội có xác suất thắng cao.</a:t>
            </a:r>
          </a:p>
          <a:p>
            <a:pPr algn="l"/>
            <a:endParaRPr sz="2600" b="0" i="0">
              <a:solidFill>
                <a:srgbClr val="151515"/>
              </a:solidFill>
              <a:latin typeface="Times New Roman"/>
            </a:endParaRPr>
          </a:p>
          <a:p>
            <a:pPr algn="l"/>
            <a:r>
              <a:rPr sz="2600" b="0" i="0">
                <a:solidFill>
                  <a:srgbClr val="151515"/>
                </a:solidFill>
                <a:latin typeface="Times New Roman"/>
              </a:rPr>
              <a:t>• Đánh đổi thực tế:</a:t>
            </a:r>
          </a:p>
          <a:p>
            <a:pPr algn="l"/>
            <a:r>
              <a:rPr sz="2600" b="0" i="0">
                <a:solidFill>
                  <a:srgbClr val="151515"/>
                </a:solidFill>
                <a:latin typeface="Times New Roman"/>
              </a:rPr>
              <a:t>Chấp nhận bỏ lỡ một số lệnh thắng để triệt tiêu các lệnh thua gây sụt giảm vốn.</a:t>
            </a:r>
          </a:p>
          <a:p>
            <a:pPr algn="l"/>
            <a:endParaRPr sz="2600" b="0" i="0">
              <a:solidFill>
                <a:srgbClr val="151515"/>
              </a:solidFill>
              <a:latin typeface="Times New Roman"/>
            </a:endParaRPr>
          </a:p>
          <a:p>
            <a:pPr algn="l"/>
            <a:r>
              <a:rPr sz="2600" b="0" i="0">
                <a:solidFill>
                  <a:srgbClr val="151515"/>
                </a:solidFill>
                <a:latin typeface="Times New Roman"/>
              </a:rPr>
              <a:t>Kết quả: Win Rate tăng từ 31,71% lên 34,99%.</a:t>
            </a:r>
          </a:p>
        </p:txBody>
      </p:sp>
      <p:pic>
        <p:nvPicPr>
          <p:cNvPr id="30" name="Picture 29" descr="04_confusion_matrix_holdout.png"/>
          <p:cNvPicPr>
            <a:picLocks noChangeAspect="1"/>
          </p:cNvPicPr>
          <p:nvPr/>
        </p:nvPicPr>
        <p:blipFill>
          <a:blip r:embed="rId3"/>
          <a:stretch>
            <a:fillRect/>
          </a:stretch>
        </p:blipFill>
        <p:spPr>
          <a:xfrm>
            <a:off x="3571875" y="2333625"/>
            <a:ext cx="9429750" cy="7858125"/>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59A78F6-CA85-4D00-B269-FD62517A2E4A}"/>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6680B868-52EE-463A-9E1D-1C9D325E99D3}"/>
              </a:ext>
            </a:extLst>
          </p:cNvPr>
          <p:cNvSpPr>
            <a:spLocks noGrp="1"/>
          </p:cNvSpPr>
          <p:nvPr/>
        </p:nvSpPr>
        <p:spPr>
          <a:xfrm>
            <a:off x="10837163"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3D269225-725F-4E42-9A5A-5A23BA587C0E}"/>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8487EB80-44A7-439D-826B-526890C6D212}"/>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p>
        </p:txBody>
      </p:sp>
      <p:sp>
        <p:nvSpPr>
          <p:cNvPr id="6" name="Shape 4">
            <a:extLst>
              <a:ext uri="{FF2B5EF4-FFF2-40B4-BE49-F238E27FC236}">
                <a16:creationId xmlns:a16="http://schemas.microsoft.com/office/drawing/2014/main" id="{6E0582A5-963E-4F00-AE0B-B02CED718996}"/>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87C82307-4A49-4D40-A601-ADDFD1843CE6}"/>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p>
        </p:txBody>
      </p:sp>
      <p:sp>
        <p:nvSpPr>
          <p:cNvPr id="8" name="Shape 6">
            <a:extLst>
              <a:ext uri="{FF2B5EF4-FFF2-40B4-BE49-F238E27FC236}">
                <a16:creationId xmlns:a16="http://schemas.microsoft.com/office/drawing/2014/main" id="{423A1F33-EF39-4A12-A359-C4E17FEE15CA}"/>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55FFD9C-5668-464C-B604-52E93672826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p>
        </p:txBody>
      </p:sp>
      <p:sp>
        <p:nvSpPr>
          <p:cNvPr id="10" name="Shape 8">
            <a:extLst>
              <a:ext uri="{FF2B5EF4-FFF2-40B4-BE49-F238E27FC236}">
                <a16:creationId xmlns:a16="http://schemas.microsoft.com/office/drawing/2014/main" id="{39B60F24-7C3E-4018-A36A-579664416722}"/>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6701011B-42CF-402F-9608-6DA7445ED492}"/>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4. Kết quả &amp; Tài chính</a:t>
            </a:r>
            <a:endParaRPr sz="1600"/>
          </a:p>
        </p:txBody>
      </p:sp>
      <p:sp>
        <p:nvSpPr>
          <p:cNvPr id="12" name="Shape 10">
            <a:extLst>
              <a:ext uri="{FF2B5EF4-FFF2-40B4-BE49-F238E27FC236}">
                <a16:creationId xmlns:a16="http://schemas.microsoft.com/office/drawing/2014/main" id="{31269858-CBF9-4D7E-A5D0-584EF553AD9E}"/>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38F86A0C-54D2-4AE6-9620-A773AED64E5B}"/>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p>
        </p:txBody>
      </p:sp>
      <p:sp>
        <p:nvSpPr>
          <p:cNvPr id="14" name="Shape 12">
            <a:extLst>
              <a:ext uri="{FF2B5EF4-FFF2-40B4-BE49-F238E27FC236}">
                <a16:creationId xmlns:a16="http://schemas.microsoft.com/office/drawing/2014/main" id="{FA55D761-F5D2-43C5-9586-2C4549345AA9}"/>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97899EEC-EF49-41F6-B5C5-51F331A3C076}"/>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p>
        </p:txBody>
      </p:sp>
      <p:sp>
        <p:nvSpPr>
          <p:cNvPr id="16" name="Shape 14">
            <a:extLst>
              <a:ext uri="{FF2B5EF4-FFF2-40B4-BE49-F238E27FC236}">
                <a16:creationId xmlns:a16="http://schemas.microsoft.com/office/drawing/2014/main" id="{5219EAC3-C1A2-4530-85DC-F74BD98C5B1D}"/>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CDB95956-56CE-4F23-BCFC-4FDC2EA77C4C}"/>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Phân tích hiệu quả tài chính: Đường cong vốn Holdout</a:t>
            </a:r>
            <a:endParaRPr sz="1600"/>
          </a:p>
        </p:txBody>
      </p:sp>
      <p:sp>
        <p:nvSpPr>
          <p:cNvPr id="18" name="Shape 16">
            <a:extLst>
              <a:ext uri="{FF2B5EF4-FFF2-40B4-BE49-F238E27FC236}">
                <a16:creationId xmlns:a16="http://schemas.microsoft.com/office/drawing/2014/main" id="{1F194036-49A2-4A9F-B513-26431268BD5E}"/>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01B6932B-6C44-4EF7-960E-DBA93BD469FA}"/>
              </a:ext>
            </a:extLst>
          </p:cNvPr>
          <p:cNvSpPr>
            <a:spLocks noGrp="1"/>
          </p:cNvSpPr>
          <p:nvPr/>
        </p:nvSpPr>
        <p:spPr>
          <a:xfrm>
            <a:off x="1016000" y="1947291"/>
            <a:ext cx="19642709" cy="846709"/>
          </a:xfrm>
          <a:prstGeom prst="rect">
            <a:avLst/>
          </a:prstGeom>
          <a:solidFill>
            <a:srgbClr val="FFFFFF">
              <a:alpha val="0"/>
            </a:srgbClr>
          </a:solidFill>
        </p:spPr>
        <p:txBody>
          <a:bodyPr/>
          <a:lstStyle/>
          <a:p>
            <a:endParaRPr/>
          </a:p>
        </p:txBody>
      </p:sp>
      <p:sp>
        <p:nvSpPr>
          <p:cNvPr id="20" name="Text 18">
            <a:extLst>
              <a:ext uri="{FF2B5EF4-FFF2-40B4-BE49-F238E27FC236}">
                <a16:creationId xmlns:a16="http://schemas.microsoft.com/office/drawing/2014/main" id="{B2D84FCA-38F4-4E0C-B811-824B1FD03B10}"/>
              </a:ext>
            </a:extLst>
          </p:cNvPr>
          <p:cNvSpPr>
            <a:spLocks noGrp="1"/>
          </p:cNvSpPr>
          <p:nvPr/>
        </p:nvSpPr>
        <p:spPr>
          <a:xfrm>
            <a:off x="894080" y="1886331"/>
            <a:ext cx="19886549" cy="968629"/>
          </a:xfrm>
          <a:prstGeom prst="rect">
            <a:avLst/>
          </a:prstGeom>
          <a:noFill/>
        </p:spPr>
        <p:txBody>
          <a:bodyPr wrap="square" lIns="0" tIns="0" rIns="0" bIns="0" anchor="t">
            <a:noAutofit/>
          </a:bodyPr>
          <a:lstStyle/>
          <a:p>
            <a:pPr algn="l">
              <a:lnSpc>
                <a:spcPct val="160000"/>
              </a:lnSpc>
              <a:buNone/>
              <a:defRPr sz="2850" b="0">
                <a:solidFill>
                  <a:srgbClr val="151515"/>
                </a:solidFill>
                <a:latin typeface="Times New Roman"/>
                <a:ea typeface="Times New Roman"/>
                <a:cs typeface="Times New Roman"/>
              </a:defRPr>
            </a:pPr>
            <a:r>
              <a:rPr sz="2800" b="0" i="0">
                <a:solidFill>
                  <a:srgbClr val="151515"/>
                </a:solidFill>
                <a:latin typeface="Times New Roman"/>
              </a:rPr>
              <a:t>Đối chiếu trực quan đường cong vốn trước và sau khi lọc bằng CatBoost trên tập Holdout (5.028 lệnh)</a:t>
            </a:r>
            <a:endParaRPr sz="1600" dirty="0"/>
          </a:p>
        </p:txBody>
      </p:sp>
      <p:sp>
        <p:nvSpPr>
          <p:cNvPr id="21" name="Shape 19">
            <a:extLst>
              <a:ext uri="{FF2B5EF4-FFF2-40B4-BE49-F238E27FC236}">
                <a16:creationId xmlns:a16="http://schemas.microsoft.com/office/drawing/2014/main" id="{A23AB932-F9AB-4520-A972-B68066BA9FED}"/>
              </a:ext>
            </a:extLst>
          </p:cNvPr>
          <p:cNvSpPr>
            <a:spLocks noGrp="1"/>
          </p:cNvSpPr>
          <p:nvPr/>
        </p:nvSpPr>
        <p:spPr>
          <a:xfrm>
            <a:off x="1016000" y="2878709"/>
            <a:ext cx="9482709" cy="5249291"/>
          </a:xfrm>
          <a:prstGeom prst="roundRect">
            <a:avLst>
              <a:gd name="adj" fmla="val 8000"/>
            </a:avLst>
          </a:prstGeom>
          <a:solidFill>
            <a:srgbClr val="E3F2FD"/>
          </a:solidFill>
          <a:ln w="25400">
            <a:solidFill>
              <a:srgbClr val="1565C0"/>
            </a:solidFill>
            <a:prstDash val="solid"/>
          </a:ln>
        </p:spPr>
        <p:txBody>
          <a:bodyPr/>
          <a:lstStyle/>
          <a:p>
            <a:endParaRPr/>
          </a:p>
        </p:txBody>
      </p:sp>
      <p:sp>
        <p:nvSpPr>
          <p:cNvPr id="22" name="Shape 20">
            <a:extLst>
              <a:ext uri="{FF2B5EF4-FFF2-40B4-BE49-F238E27FC236}">
                <a16:creationId xmlns:a16="http://schemas.microsoft.com/office/drawing/2014/main" id="{D0231DE9-824E-4A69-A6F9-D3FB78752451}"/>
              </a:ext>
            </a:extLst>
          </p:cNvPr>
          <p:cNvSpPr>
            <a:spLocks noGrp="1"/>
          </p:cNvSpPr>
          <p:nvPr/>
        </p:nvSpPr>
        <p:spPr>
          <a:xfrm>
            <a:off x="1270000" y="3081909"/>
            <a:ext cx="2370709" cy="508000"/>
          </a:xfrm>
          <a:prstGeom prst="roundRect">
            <a:avLst>
              <a:gd name="adj" fmla="val 12000"/>
            </a:avLst>
          </a:prstGeom>
          <a:solidFill>
            <a:srgbClr val="1565C0"/>
          </a:solidFill>
        </p:spPr>
        <p:txBody>
          <a:bodyPr/>
          <a:lstStyle/>
          <a:p>
            <a:endParaRPr/>
          </a:p>
        </p:txBody>
      </p:sp>
      <p:sp>
        <p:nvSpPr>
          <p:cNvPr id="23" name="Shape 21">
            <a:extLst>
              <a:ext uri="{FF2B5EF4-FFF2-40B4-BE49-F238E27FC236}">
                <a16:creationId xmlns:a16="http://schemas.microsoft.com/office/drawing/2014/main" id="{28E95DC1-3622-4A74-B0C0-2587A01454F7}"/>
              </a:ext>
            </a:extLst>
          </p:cNvPr>
          <p:cNvSpPr>
            <a:spLocks noGrp="1"/>
          </p:cNvSpPr>
          <p:nvPr/>
        </p:nvSpPr>
        <p:spPr>
          <a:xfrm>
            <a:off x="1270000" y="3081909"/>
            <a:ext cx="2370709" cy="508000"/>
          </a:xfrm>
          <a:prstGeom prst="rect">
            <a:avLst/>
          </a:prstGeom>
          <a:solidFill>
            <a:srgbClr val="FFFFFF">
              <a:alpha val="0"/>
            </a:srgbClr>
          </a:solidFill>
        </p:spPr>
        <p:txBody>
          <a:bodyPr/>
          <a:lstStyle/>
          <a:p>
            <a:endParaRPr/>
          </a:p>
        </p:txBody>
      </p:sp>
      <p:sp>
        <p:nvSpPr>
          <p:cNvPr id="24" name="Text 22">
            <a:extLst>
              <a:ext uri="{FF2B5EF4-FFF2-40B4-BE49-F238E27FC236}">
                <a16:creationId xmlns:a16="http://schemas.microsoft.com/office/drawing/2014/main" id="{EFCC1B4E-E5D4-4096-A60B-15539F7158C8}"/>
              </a:ext>
            </a:extLst>
          </p:cNvPr>
          <p:cNvSpPr>
            <a:spLocks noGrp="1"/>
          </p:cNvSpPr>
          <p:nvPr/>
        </p:nvSpPr>
        <p:spPr>
          <a:xfrm>
            <a:off x="1148080" y="3020949"/>
            <a:ext cx="2614549" cy="629920"/>
          </a:xfrm>
          <a:prstGeom prst="rect">
            <a:avLst/>
          </a:prstGeom>
          <a:noFill/>
        </p:spPr>
        <p:txBody>
          <a:bodyPr wrap="square" lIns="0" tIns="0" rIns="0" bIns="0" anchor="ctr">
            <a:noAutofit/>
          </a:bodyPr>
          <a:lstStyle/>
          <a:p>
            <a:pPr algn="l">
              <a:lnSpc>
                <a:spcPct val="100000"/>
              </a:lnSpc>
              <a:buNone/>
              <a:defRPr sz="2325" b="1">
                <a:solidFill>
                  <a:srgbClr val="FFFFFF"/>
                </a:solidFill>
                <a:latin typeface="Times New Roman"/>
                <a:ea typeface="Times New Roman"/>
                <a:cs typeface="Times New Roman"/>
              </a:defRPr>
            </a:pPr>
            <a:endParaRPr sz="1600"/>
          </a:p>
        </p:txBody>
      </p:sp>
      <p:sp>
        <p:nvSpPr>
          <p:cNvPr id="25" name="Shape 23">
            <a:extLst>
              <a:ext uri="{FF2B5EF4-FFF2-40B4-BE49-F238E27FC236}">
                <a16:creationId xmlns:a16="http://schemas.microsoft.com/office/drawing/2014/main" id="{E1538C8E-44C8-4027-B182-0B0A643A0CA5}"/>
              </a:ext>
            </a:extLst>
          </p:cNvPr>
          <p:cNvSpPr>
            <a:spLocks noGrp="1"/>
          </p:cNvSpPr>
          <p:nvPr/>
        </p:nvSpPr>
        <p:spPr>
          <a:xfrm>
            <a:off x="3810000" y="3081909"/>
            <a:ext cx="6434709" cy="508000"/>
          </a:xfrm>
          <a:prstGeom prst="rect">
            <a:avLst/>
          </a:prstGeom>
          <a:solidFill>
            <a:srgbClr val="FFFFFF">
              <a:alpha val="0"/>
            </a:srgbClr>
          </a:solidFill>
        </p:spPr>
        <p:txBody>
          <a:bodyPr/>
          <a:lstStyle/>
          <a:p>
            <a:endParaRPr/>
          </a:p>
        </p:txBody>
      </p:sp>
      <p:sp>
        <p:nvSpPr>
          <p:cNvPr id="26" name="Text 24">
            <a:extLst>
              <a:ext uri="{FF2B5EF4-FFF2-40B4-BE49-F238E27FC236}">
                <a16:creationId xmlns:a16="http://schemas.microsoft.com/office/drawing/2014/main" id="{68BC3F29-BB47-4252-A00A-4EC9BB6E6C14}"/>
              </a:ext>
            </a:extLst>
          </p:cNvPr>
          <p:cNvSpPr>
            <a:spLocks noGrp="1"/>
          </p:cNvSpPr>
          <p:nvPr/>
        </p:nvSpPr>
        <p:spPr>
          <a:xfrm>
            <a:off x="3688080" y="3020949"/>
            <a:ext cx="6678549" cy="629920"/>
          </a:xfrm>
          <a:prstGeom prst="rect">
            <a:avLst/>
          </a:prstGeom>
          <a:noFill/>
        </p:spPr>
        <p:txBody>
          <a:bodyPr wrap="square" lIns="0" tIns="0" rIns="0" bIns="0" anchor="ctr">
            <a:noAutofit/>
          </a:bodyPr>
          <a:lstStyle/>
          <a:p>
            <a:pPr algn="l">
              <a:lnSpc>
                <a:spcPct val="100000"/>
              </a:lnSpc>
              <a:buNone/>
              <a:defRPr sz="3000" b="1">
                <a:solidFill>
                  <a:srgbClr val="1565C0"/>
                </a:solidFill>
                <a:latin typeface="Times New Roman"/>
                <a:ea typeface="Times New Roman"/>
                <a:cs typeface="Times New Roman"/>
              </a:defRPr>
            </a:pPr>
            <a:endParaRPr sz="1600"/>
          </a:p>
        </p:txBody>
      </p:sp>
      <p:sp>
        <p:nvSpPr>
          <p:cNvPr id="27" name="Shape 25">
            <a:extLst>
              <a:ext uri="{FF2B5EF4-FFF2-40B4-BE49-F238E27FC236}">
                <a16:creationId xmlns:a16="http://schemas.microsoft.com/office/drawing/2014/main" id="{3ADB9359-5F8D-484C-B9A4-C01DF0E078ED}"/>
              </a:ext>
            </a:extLst>
          </p:cNvPr>
          <p:cNvSpPr>
            <a:spLocks noGrp="1"/>
          </p:cNvSpPr>
          <p:nvPr/>
        </p:nvSpPr>
        <p:spPr>
          <a:xfrm>
            <a:off x="1270000" y="3810000"/>
            <a:ext cx="8974709" cy="4064000"/>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1676CF58-D1CC-4C34-9973-B491830920EC}"/>
              </a:ext>
            </a:extLst>
          </p:cNvPr>
          <p:cNvSpPr>
            <a:spLocks noGrp="1"/>
          </p:cNvSpPr>
          <p:nvPr/>
        </p:nvSpPr>
        <p:spPr>
          <a:xfrm>
            <a:off x="1148080" y="3749040"/>
            <a:ext cx="9218549" cy="4185920"/>
          </a:xfrm>
          <a:prstGeom prst="rect">
            <a:avLst/>
          </a:prstGeom>
          <a:noFill/>
        </p:spPr>
        <p:txBody>
          <a:bodyPr wrap="square" lIns="0" tIns="0" rIns="0" bIns="0" anchor="t">
            <a:noAutofit/>
          </a:bodyPr>
          <a:lstStyle/>
          <a:p>
            <a:pPr algn="l">
              <a:lnSpc>
                <a:spcPct val="150000"/>
              </a:lnSpc>
              <a:buNone/>
              <a:defRPr sz="2925" b="0">
                <a:solidFill>
                  <a:srgbClr val="151515"/>
                </a:solidFill>
                <a:latin typeface="Times New Roman"/>
                <a:ea typeface="Times New Roman"/>
                <a:cs typeface="Times New Roman"/>
              </a:defRPr>
            </a:pPr>
            <a:endParaRPr sz="1600"/>
          </a:p>
        </p:txBody>
      </p:sp>
      <p:sp>
        <p:nvSpPr>
          <p:cNvPr id="29" name="Shape 27">
            <a:extLst>
              <a:ext uri="{FF2B5EF4-FFF2-40B4-BE49-F238E27FC236}">
                <a16:creationId xmlns:a16="http://schemas.microsoft.com/office/drawing/2014/main" id="{5362B768-FB45-476A-9EA1-A97996ABC980}"/>
              </a:ext>
            </a:extLst>
          </p:cNvPr>
          <p:cNvSpPr>
            <a:spLocks noGrp="1"/>
          </p:cNvSpPr>
          <p:nvPr/>
        </p:nvSpPr>
        <p:spPr>
          <a:xfrm>
            <a:off x="11176000" y="2878709"/>
            <a:ext cx="9482709" cy="5249291"/>
          </a:xfrm>
          <a:prstGeom prst="roundRect">
            <a:avLst>
              <a:gd name="adj" fmla="val 8000"/>
            </a:avLst>
          </a:prstGeom>
          <a:solidFill>
            <a:srgbClr val="FFF3E0"/>
          </a:solidFill>
          <a:ln w="25400">
            <a:solidFill>
              <a:srgbClr val="FF6F00"/>
            </a:solidFill>
            <a:prstDash val="solid"/>
          </a:ln>
        </p:spPr>
        <p:txBody>
          <a:bodyPr/>
          <a:lstStyle/>
          <a:p>
            <a:endParaRPr/>
          </a:p>
        </p:txBody>
      </p:sp>
      <p:sp>
        <p:nvSpPr>
          <p:cNvPr id="30" name="Shape 28">
            <a:extLst>
              <a:ext uri="{FF2B5EF4-FFF2-40B4-BE49-F238E27FC236}">
                <a16:creationId xmlns:a16="http://schemas.microsoft.com/office/drawing/2014/main" id="{745CA701-8DBC-4200-B883-CED735A99885}"/>
              </a:ext>
            </a:extLst>
          </p:cNvPr>
          <p:cNvSpPr>
            <a:spLocks noGrp="1"/>
          </p:cNvSpPr>
          <p:nvPr/>
        </p:nvSpPr>
        <p:spPr>
          <a:xfrm>
            <a:off x="11430000" y="3081909"/>
            <a:ext cx="2370709" cy="508000"/>
          </a:xfrm>
          <a:prstGeom prst="roundRect">
            <a:avLst>
              <a:gd name="adj" fmla="val 12000"/>
            </a:avLst>
          </a:prstGeom>
          <a:solidFill>
            <a:srgbClr val="FF6F00"/>
          </a:solidFill>
        </p:spPr>
        <p:txBody>
          <a:bodyPr/>
          <a:lstStyle/>
          <a:p>
            <a:endParaRPr/>
          </a:p>
        </p:txBody>
      </p:sp>
      <p:sp>
        <p:nvSpPr>
          <p:cNvPr id="31" name="Shape 29">
            <a:extLst>
              <a:ext uri="{FF2B5EF4-FFF2-40B4-BE49-F238E27FC236}">
                <a16:creationId xmlns:a16="http://schemas.microsoft.com/office/drawing/2014/main" id="{BAD746BA-6C33-45E9-AB9C-3F917A6D78BD}"/>
              </a:ext>
            </a:extLst>
          </p:cNvPr>
          <p:cNvSpPr>
            <a:spLocks noGrp="1"/>
          </p:cNvSpPr>
          <p:nvPr/>
        </p:nvSpPr>
        <p:spPr>
          <a:xfrm>
            <a:off x="11430000" y="3081909"/>
            <a:ext cx="2370709" cy="508000"/>
          </a:xfrm>
          <a:prstGeom prst="rect">
            <a:avLst/>
          </a:prstGeom>
          <a:solidFill>
            <a:srgbClr val="FFFFFF">
              <a:alpha val="0"/>
            </a:srgbClr>
          </a:solidFill>
        </p:spPr>
        <p:txBody>
          <a:bodyPr/>
          <a:lstStyle/>
          <a:p>
            <a:endParaRPr/>
          </a:p>
        </p:txBody>
      </p:sp>
      <p:sp>
        <p:nvSpPr>
          <p:cNvPr id="32" name="Text 30">
            <a:extLst>
              <a:ext uri="{FF2B5EF4-FFF2-40B4-BE49-F238E27FC236}">
                <a16:creationId xmlns:a16="http://schemas.microsoft.com/office/drawing/2014/main" id="{121934D6-D650-4C63-8370-C66583B617D4}"/>
              </a:ext>
            </a:extLst>
          </p:cNvPr>
          <p:cNvSpPr>
            <a:spLocks noGrp="1"/>
          </p:cNvSpPr>
          <p:nvPr/>
        </p:nvSpPr>
        <p:spPr>
          <a:xfrm>
            <a:off x="11308080" y="3020949"/>
            <a:ext cx="2614549" cy="629920"/>
          </a:xfrm>
          <a:prstGeom prst="rect">
            <a:avLst/>
          </a:prstGeom>
          <a:noFill/>
        </p:spPr>
        <p:txBody>
          <a:bodyPr wrap="square" lIns="0" tIns="0" rIns="0" bIns="0" anchor="ctr">
            <a:noAutofit/>
          </a:bodyPr>
          <a:lstStyle/>
          <a:p>
            <a:pPr algn="l">
              <a:lnSpc>
                <a:spcPct val="100000"/>
              </a:lnSpc>
              <a:buNone/>
              <a:defRPr sz="2325" b="1">
                <a:solidFill>
                  <a:srgbClr val="FFFFFF"/>
                </a:solidFill>
                <a:latin typeface="Times New Roman"/>
                <a:ea typeface="Times New Roman"/>
                <a:cs typeface="Times New Roman"/>
              </a:defRPr>
            </a:pPr>
            <a:endParaRPr sz="1600"/>
          </a:p>
        </p:txBody>
      </p:sp>
      <p:sp>
        <p:nvSpPr>
          <p:cNvPr id="33" name="Shape 31">
            <a:extLst>
              <a:ext uri="{FF2B5EF4-FFF2-40B4-BE49-F238E27FC236}">
                <a16:creationId xmlns:a16="http://schemas.microsoft.com/office/drawing/2014/main" id="{85334675-8B5E-4FC1-A328-57379C10CBA6}"/>
              </a:ext>
            </a:extLst>
          </p:cNvPr>
          <p:cNvSpPr>
            <a:spLocks noGrp="1"/>
          </p:cNvSpPr>
          <p:nvPr/>
        </p:nvSpPr>
        <p:spPr>
          <a:xfrm>
            <a:off x="13970000" y="3081909"/>
            <a:ext cx="6434709" cy="508000"/>
          </a:xfrm>
          <a:prstGeom prst="rect">
            <a:avLst/>
          </a:prstGeom>
          <a:solidFill>
            <a:srgbClr val="FFFFFF">
              <a:alpha val="0"/>
            </a:srgbClr>
          </a:solidFill>
        </p:spPr>
        <p:txBody>
          <a:bodyPr/>
          <a:lstStyle/>
          <a:p>
            <a:endParaRPr/>
          </a:p>
        </p:txBody>
      </p:sp>
      <p:sp>
        <p:nvSpPr>
          <p:cNvPr id="34" name="Text 32">
            <a:extLst>
              <a:ext uri="{FF2B5EF4-FFF2-40B4-BE49-F238E27FC236}">
                <a16:creationId xmlns:a16="http://schemas.microsoft.com/office/drawing/2014/main" id="{F82A884C-54C7-48F1-8EBB-50BAADCE9C8C}"/>
              </a:ext>
            </a:extLst>
          </p:cNvPr>
          <p:cNvSpPr>
            <a:spLocks noGrp="1"/>
          </p:cNvSpPr>
          <p:nvPr/>
        </p:nvSpPr>
        <p:spPr>
          <a:xfrm>
            <a:off x="13848080" y="3020949"/>
            <a:ext cx="6678549" cy="629920"/>
          </a:xfrm>
          <a:prstGeom prst="rect">
            <a:avLst/>
          </a:prstGeom>
          <a:noFill/>
        </p:spPr>
        <p:txBody>
          <a:bodyPr wrap="square" lIns="0" tIns="0" rIns="0" bIns="0" anchor="ctr">
            <a:noAutofit/>
          </a:bodyPr>
          <a:lstStyle/>
          <a:p>
            <a:pPr algn="l">
              <a:lnSpc>
                <a:spcPct val="100000"/>
              </a:lnSpc>
              <a:buNone/>
              <a:defRPr sz="3000" b="1">
                <a:solidFill>
                  <a:srgbClr val="EF6C00"/>
                </a:solidFill>
                <a:latin typeface="Times New Roman"/>
                <a:ea typeface="Times New Roman"/>
                <a:cs typeface="Times New Roman"/>
              </a:defRPr>
            </a:pPr>
            <a:endParaRPr sz="1600"/>
          </a:p>
        </p:txBody>
      </p:sp>
      <p:sp>
        <p:nvSpPr>
          <p:cNvPr id="35" name="Shape 33">
            <a:extLst>
              <a:ext uri="{FF2B5EF4-FFF2-40B4-BE49-F238E27FC236}">
                <a16:creationId xmlns:a16="http://schemas.microsoft.com/office/drawing/2014/main" id="{B22C143C-22CF-4282-94C6-E9847385F702}"/>
              </a:ext>
            </a:extLst>
          </p:cNvPr>
          <p:cNvSpPr>
            <a:spLocks noGrp="1"/>
          </p:cNvSpPr>
          <p:nvPr/>
        </p:nvSpPr>
        <p:spPr>
          <a:xfrm>
            <a:off x="11430000" y="3810000"/>
            <a:ext cx="8974709" cy="4064000"/>
          </a:xfrm>
          <a:prstGeom prst="rect">
            <a:avLst/>
          </a:prstGeom>
          <a:solidFill>
            <a:srgbClr val="FFFFFF">
              <a:alpha val="0"/>
            </a:srgbClr>
          </a:solidFill>
        </p:spPr>
        <p:txBody>
          <a:bodyPr/>
          <a:lstStyle/>
          <a:p>
            <a:endParaRPr/>
          </a:p>
        </p:txBody>
      </p:sp>
      <p:sp>
        <p:nvSpPr>
          <p:cNvPr id="36" name="Text 34">
            <a:extLst>
              <a:ext uri="{FF2B5EF4-FFF2-40B4-BE49-F238E27FC236}">
                <a16:creationId xmlns:a16="http://schemas.microsoft.com/office/drawing/2014/main" id="{898C92EC-1BB2-48A7-AD59-FA78DD5193A2}"/>
              </a:ext>
            </a:extLst>
          </p:cNvPr>
          <p:cNvSpPr>
            <a:spLocks noGrp="1"/>
          </p:cNvSpPr>
          <p:nvPr/>
        </p:nvSpPr>
        <p:spPr>
          <a:xfrm>
            <a:off x="11308080" y="3749040"/>
            <a:ext cx="9218549" cy="4185920"/>
          </a:xfrm>
          <a:prstGeom prst="rect">
            <a:avLst/>
          </a:prstGeom>
          <a:noFill/>
        </p:spPr>
        <p:txBody>
          <a:bodyPr wrap="square" lIns="0" tIns="0" rIns="0" bIns="0" anchor="t">
            <a:noAutofit/>
          </a:bodyPr>
          <a:lstStyle/>
          <a:p>
            <a:pPr algn="l">
              <a:lnSpc>
                <a:spcPct val="150000"/>
              </a:lnSpc>
              <a:buNone/>
              <a:defRPr sz="2925" b="0">
                <a:solidFill>
                  <a:srgbClr val="151515"/>
                </a:solidFill>
                <a:latin typeface="Times New Roman"/>
                <a:ea typeface="Times New Roman"/>
                <a:cs typeface="Times New Roman"/>
              </a:defRPr>
            </a:pPr>
            <a:r>
              <a:rPr sz="2100" b="0" i="0">
                <a:solidFill>
                  <a:srgbClr val="151515"/>
                </a:solidFill>
                <a:latin typeface="Times New Roman"/>
              </a:rPr>
              <a:t>Kết quả đối soát tài chính trên Holdout:</a:t>
            </a:r>
            <a:endParaRPr sz="1600" dirty="0"/>
          </a:p>
          <a:p>
            <a:pPr algn="l"/>
            <a:endParaRPr sz="1600" dirty="0"/>
          </a:p>
          <a:p>
            <a:pPr algn="l"/>
            <a:r>
              <a:rPr sz="2100" b="0" i="0">
                <a:solidFill>
                  <a:srgbClr val="151515"/>
                </a:solidFill>
                <a:latin typeface="Times New Roman"/>
              </a:rPr>
              <a:t>• Trước khi lọc (Chiến lược gốc - Đường xanh):</a:t>
            </a:r>
          </a:p>
          <a:p>
            <a:pPr algn="l"/>
            <a:r>
              <a:rPr sz="2100" b="0" i="0">
                <a:solidFill>
                  <a:srgbClr val="151515"/>
                </a:solidFill>
                <a:latin typeface="Times New Roman"/>
              </a:rPr>
              <a:t>  - Win Rate: 31,71% | Net Profit: +95,2 R</a:t>
            </a:r>
          </a:p>
          <a:p>
            <a:pPr algn="l"/>
            <a:r>
              <a:rPr sz="2100" b="0" i="0">
                <a:solidFill>
                  <a:srgbClr val="151515"/>
                </a:solidFill>
                <a:latin typeface="Times New Roman"/>
              </a:rPr>
              <a:t>  - Max Drawdown: -236,0 R (Rung lắc dữ dội)</a:t>
            </a:r>
          </a:p>
          <a:p>
            <a:pPr algn="l"/>
            <a:r>
              <a:rPr sz="2100" b="0" i="0">
                <a:solidFill>
                  <a:srgbClr val="151515"/>
                </a:solidFill>
                <a:latin typeface="Times New Roman"/>
              </a:rPr>
              <a:t>  - Profit Factor: 1,29</a:t>
            </a:r>
          </a:p>
          <a:p>
            <a:pPr algn="l"/>
            <a:endParaRPr sz="2100" b="0" i="0">
              <a:solidFill>
                <a:srgbClr val="151515"/>
              </a:solidFill>
              <a:latin typeface="Times New Roman"/>
            </a:endParaRPr>
          </a:p>
          <a:p>
            <a:pPr algn="l"/>
            <a:r>
              <a:rPr sz="2100" b="0" i="0">
                <a:solidFill>
                  <a:srgbClr val="151515"/>
                </a:solidFill>
                <a:latin typeface="Times New Roman"/>
              </a:rPr>
              <a:t>• Sau khi lọc CatBoost (Đường cam):</a:t>
            </a:r>
          </a:p>
          <a:p>
            <a:pPr algn="l"/>
            <a:r>
              <a:rPr sz="2100" b="0" i="0">
                <a:solidFill>
                  <a:srgbClr val="151515"/>
                </a:solidFill>
                <a:latin typeface="Times New Roman"/>
              </a:rPr>
              <a:t>  - Win Rate: 34,99% (+3,28 điểm %)</a:t>
            </a:r>
          </a:p>
          <a:p>
            <a:pPr algn="l"/>
            <a:r>
              <a:rPr sz="2100" b="0" i="0">
                <a:solidFill>
                  <a:srgbClr val="151515"/>
                </a:solidFill>
                <a:latin typeface="Times New Roman"/>
              </a:rPr>
              <a:t>  - Lợi nhuận Net: +126,5 R (+32,9% tăng trưởng)</a:t>
            </a:r>
          </a:p>
          <a:p>
            <a:pPr algn="l"/>
            <a:r>
              <a:rPr sz="2100" b="0" i="0">
                <a:solidFill>
                  <a:srgbClr val="151515"/>
                </a:solidFill>
                <a:latin typeface="Times New Roman"/>
              </a:rPr>
              <a:t>  - Max Drawdown: giảm còn -142,0 R (-40% rủi ro!)</a:t>
            </a:r>
          </a:p>
          <a:p>
            <a:pPr algn="l"/>
            <a:r>
              <a:rPr sz="2100" b="0" i="0">
                <a:solidFill>
                  <a:srgbClr val="151515"/>
                </a:solidFill>
                <a:latin typeface="Times New Roman"/>
              </a:rPr>
              <a:t>  - Profit Factor: tăng lên 1,40 (+8,5%).</a:t>
            </a:r>
          </a:p>
        </p:txBody>
      </p:sp>
      <p:sp>
        <p:nvSpPr>
          <p:cNvPr id="37" name="Shape 35">
            <a:extLst>
              <a:ext uri="{FF2B5EF4-FFF2-40B4-BE49-F238E27FC236}">
                <a16:creationId xmlns:a16="http://schemas.microsoft.com/office/drawing/2014/main" id="{8652850E-30C8-43EC-8106-E3C3583DCD0A}"/>
              </a:ext>
            </a:extLst>
          </p:cNvPr>
          <p:cNvSpPr>
            <a:spLocks noGrp="1"/>
          </p:cNvSpPr>
          <p:nvPr/>
        </p:nvSpPr>
        <p:spPr>
          <a:xfrm>
            <a:off x="1016000" y="8551291"/>
            <a:ext cx="19642709" cy="2370709"/>
          </a:xfrm>
          <a:prstGeom prst="roundRect">
            <a:avLst>
              <a:gd name="adj" fmla="val 8000"/>
            </a:avLst>
          </a:prstGeom>
          <a:solidFill>
            <a:srgbClr val="FFEBEE"/>
          </a:solidFill>
          <a:ln w="12700">
            <a:solidFill>
              <a:srgbClr val="EF9A9A"/>
            </a:solidFill>
            <a:prstDash val="solid"/>
          </a:ln>
        </p:spPr>
        <p:txBody>
          <a:bodyPr/>
          <a:lstStyle/>
          <a:p>
            <a:endParaRPr/>
          </a:p>
        </p:txBody>
      </p:sp>
      <p:sp>
        <p:nvSpPr>
          <p:cNvPr id="38" name="Shape 36">
            <a:extLst>
              <a:ext uri="{FF2B5EF4-FFF2-40B4-BE49-F238E27FC236}">
                <a16:creationId xmlns:a16="http://schemas.microsoft.com/office/drawing/2014/main" id="{68ACD9BF-A173-4ACA-BF77-79A8323A1C25}"/>
              </a:ext>
            </a:extLst>
          </p:cNvPr>
          <p:cNvSpPr>
            <a:spLocks noGrp="1"/>
          </p:cNvSpPr>
          <p:nvPr/>
        </p:nvSpPr>
        <p:spPr>
          <a:xfrm>
            <a:off x="1354709" y="8805291"/>
            <a:ext cx="474091" cy="474091"/>
          </a:xfrm>
          <a:prstGeom prst="rect">
            <a:avLst/>
          </a:prstGeom>
          <a:solidFill>
            <a:srgbClr val="C62828"/>
          </a:solidFill>
        </p:spPr>
        <p:txBody>
          <a:bodyPr/>
          <a:lstStyle/>
          <a:p>
            <a:endParaRPr/>
          </a:p>
        </p:txBody>
      </p:sp>
      <p:sp>
        <p:nvSpPr>
          <p:cNvPr id="39" name="Shape 37">
            <a:extLst>
              <a:ext uri="{FF2B5EF4-FFF2-40B4-BE49-F238E27FC236}">
                <a16:creationId xmlns:a16="http://schemas.microsoft.com/office/drawing/2014/main" id="{638F2DA0-9247-42BB-AE00-1A22214E6985}"/>
              </a:ext>
            </a:extLst>
          </p:cNvPr>
          <p:cNvSpPr>
            <a:spLocks noGrp="1"/>
          </p:cNvSpPr>
          <p:nvPr/>
        </p:nvSpPr>
        <p:spPr>
          <a:xfrm>
            <a:off x="1964309" y="8754491"/>
            <a:ext cx="6773291" cy="474091"/>
          </a:xfrm>
          <a:prstGeom prst="rect">
            <a:avLst/>
          </a:prstGeom>
          <a:solidFill>
            <a:srgbClr val="FFFFFF">
              <a:alpha val="0"/>
            </a:srgbClr>
          </a:solidFill>
        </p:spPr>
        <p:txBody>
          <a:bodyPr/>
          <a:lstStyle/>
          <a:p>
            <a:endParaRPr/>
          </a:p>
        </p:txBody>
      </p:sp>
      <p:sp>
        <p:nvSpPr>
          <p:cNvPr id="40" name="Text 38">
            <a:extLst>
              <a:ext uri="{FF2B5EF4-FFF2-40B4-BE49-F238E27FC236}">
                <a16:creationId xmlns:a16="http://schemas.microsoft.com/office/drawing/2014/main" id="{F2901F59-505E-4F4A-8B8B-CFF2FB91B753}"/>
              </a:ext>
            </a:extLst>
          </p:cNvPr>
          <p:cNvSpPr>
            <a:spLocks noGrp="1"/>
          </p:cNvSpPr>
          <p:nvPr/>
        </p:nvSpPr>
        <p:spPr>
          <a:xfrm>
            <a:off x="1842389" y="8693531"/>
            <a:ext cx="7017131" cy="596011"/>
          </a:xfrm>
          <a:prstGeom prst="rect">
            <a:avLst/>
          </a:prstGeom>
          <a:noFill/>
        </p:spPr>
        <p:txBody>
          <a:bodyPr wrap="square" lIns="0" tIns="0" rIns="0" bIns="0" anchor="ctr">
            <a:noAutofit/>
          </a:bodyPr>
          <a:lstStyle/>
          <a:p>
            <a:pPr algn="l">
              <a:lnSpc>
                <a:spcPct val="100000"/>
              </a:lnSpc>
              <a:buNone/>
              <a:defRPr sz="3000" b="1">
                <a:solidFill>
                  <a:srgbClr val="C62828"/>
                </a:solidFill>
                <a:latin typeface="Times New Roman"/>
                <a:ea typeface="Times New Roman"/>
                <a:cs typeface="Times New Roman"/>
              </a:defRPr>
            </a:pPr>
            <a:r>
              <a:rPr sz="2600" b="1" i="0">
                <a:solidFill>
                  <a:srgbClr val="1565C0"/>
                </a:solidFill>
                <a:latin typeface="Times New Roman"/>
              </a:rPr>
              <a:t>Ý nghĩa tài chính &amp; quản trị rủi ro:</a:t>
            </a:r>
            <a:endParaRPr sz="1600"/>
          </a:p>
        </p:txBody>
      </p:sp>
      <p:sp>
        <p:nvSpPr>
          <p:cNvPr id="41" name="Shape 39">
            <a:extLst>
              <a:ext uri="{FF2B5EF4-FFF2-40B4-BE49-F238E27FC236}">
                <a16:creationId xmlns:a16="http://schemas.microsoft.com/office/drawing/2014/main" id="{F0812D5B-5EE4-42B1-8494-1CD6401DFC2A}"/>
              </a:ext>
            </a:extLst>
          </p:cNvPr>
          <p:cNvSpPr>
            <a:spLocks noGrp="1"/>
          </p:cNvSpPr>
          <p:nvPr/>
        </p:nvSpPr>
        <p:spPr>
          <a:xfrm>
            <a:off x="1354709" y="9398000"/>
            <a:ext cx="18965291" cy="1354709"/>
          </a:xfrm>
          <a:prstGeom prst="rect">
            <a:avLst/>
          </a:prstGeom>
          <a:solidFill>
            <a:srgbClr val="FFFFFF">
              <a:alpha val="0"/>
            </a:srgbClr>
          </a:solidFill>
        </p:spPr>
        <p:txBody>
          <a:bodyPr/>
          <a:lstStyle/>
          <a:p>
            <a:endParaRPr/>
          </a:p>
        </p:txBody>
      </p:sp>
      <p:sp>
        <p:nvSpPr>
          <p:cNvPr id="42" name="Text 40">
            <a:extLst>
              <a:ext uri="{FF2B5EF4-FFF2-40B4-BE49-F238E27FC236}">
                <a16:creationId xmlns:a16="http://schemas.microsoft.com/office/drawing/2014/main" id="{09CC7768-7E5C-4A80-A54C-90B79D30C6B1}"/>
              </a:ext>
            </a:extLst>
          </p:cNvPr>
          <p:cNvSpPr>
            <a:spLocks noGrp="1"/>
          </p:cNvSpPr>
          <p:nvPr/>
        </p:nvSpPr>
        <p:spPr>
          <a:xfrm>
            <a:off x="1232789" y="9337040"/>
            <a:ext cx="19209131" cy="1476629"/>
          </a:xfrm>
          <a:prstGeom prst="rect">
            <a:avLst/>
          </a:prstGeom>
          <a:noFill/>
        </p:spPr>
        <p:txBody>
          <a:bodyPr wrap="square" lIns="0" tIns="0" rIns="0" bIns="0" anchor="t">
            <a:noAutofit/>
          </a:bodyPr>
          <a:lstStyle/>
          <a:p>
            <a:pPr algn="l">
              <a:lnSpc>
                <a:spcPct val="150000"/>
              </a:lnSpc>
              <a:buNone/>
              <a:defRPr sz="2775" b="0">
                <a:solidFill>
                  <a:srgbClr val="151515"/>
                </a:solidFill>
                <a:latin typeface="Times New Roman"/>
                <a:ea typeface="Times New Roman"/>
                <a:cs typeface="Times New Roman"/>
              </a:defRPr>
            </a:pPr>
            <a:r>
              <a:rPr sz="2800" b="0" i="0">
                <a:solidFill>
                  <a:srgbClr val="151515"/>
                </a:solidFill>
                <a:latin typeface="Times New Roman"/>
              </a:rPr>
              <a:t>Đường cong vốn màu cam tăng trưởng dốc hơn và đường sụt giảm vốn phẳng hơn rõ rệt: Giảm 40% Drawdown giúp bảo vệ tài khoản khỏi nguy cơ cháy vốn trong các đợt biến động mạnh.</a:t>
            </a:r>
            <a:endParaRPr sz="1600"/>
          </a:p>
        </p:txBody>
      </p:sp>
      <p:sp>
        <p:nvSpPr>
          <p:cNvPr id="43" name="Shape 41">
            <a:extLst>
              <a:ext uri="{FF2B5EF4-FFF2-40B4-BE49-F238E27FC236}">
                <a16:creationId xmlns:a16="http://schemas.microsoft.com/office/drawing/2014/main" id="{6158C196-713D-4DE9-9CD1-F7F11BE93CF2}"/>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44" name="Text 42">
            <a:extLst>
              <a:ext uri="{FF2B5EF4-FFF2-40B4-BE49-F238E27FC236}">
                <a16:creationId xmlns:a16="http://schemas.microsoft.com/office/drawing/2014/main" id="{D3E864CA-1169-44D7-90A4-35E230A6CA8F}"/>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14/18</a:t>
            </a:r>
            <a:endParaRPr sz="1600"/>
          </a:p>
        </p:txBody>
      </p:sp>
      <p:pic>
        <p:nvPicPr>
          <p:cNvPr id="45" name="Picture 44" descr="equity-curve-holdout-top50.png"/>
          <p:cNvPicPr>
            <a:picLocks noChangeAspect="1"/>
          </p:cNvPicPr>
          <p:nvPr/>
        </p:nvPicPr>
        <p:blipFill>
          <a:blip r:embed="rId3"/>
          <a:stretch>
            <a:fillRect/>
          </a:stretch>
        </p:blipFill>
        <p:spPr>
          <a:xfrm>
            <a:off x="1016000" y="2878709"/>
            <a:ext cx="9482709" cy="5249291"/>
          </a:xfrm>
          <a:prstGeom prst="rect">
            <a:avLst/>
          </a:prstGeom>
        </p:spPr>
      </p:pic>
    </p:spTree>
    <p:extLst>
      <p:ext uri="{BB962C8B-B14F-4D97-AF65-F5344CB8AC3E}">
        <p14:creationId xmlns:p14="http://schemas.microsoft.com/office/powerpoint/2010/main" val="1005654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F84E81F-3654-4589-99EC-26AF3677160B}"/>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E03957DD-A878-42ED-9C6F-4F3E2A85BC13}"/>
              </a:ext>
            </a:extLst>
          </p:cNvPr>
          <p:cNvSpPr>
            <a:spLocks noGrp="1"/>
          </p:cNvSpPr>
          <p:nvPr/>
        </p:nvSpPr>
        <p:spPr>
          <a:xfrm>
            <a:off x="14393131"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BB6BBF21-41D1-4667-8D8C-88A881A00E4E}"/>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78C61841-10D1-4CF1-8B00-1D5FA9418299}"/>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AC1F08B7-CF7A-4742-AFFF-5B4DBE84E826}"/>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66F155D1-3CA6-4BCD-9652-B52B360A3758}"/>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324A8769-A9FE-49B9-BD08-E0FE7D06A040}"/>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8E1CE438-85BB-4C15-A53A-F93C8142F47C}"/>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23A09239-981A-4A83-AB11-75795B73E26B}"/>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F90AB5F9-C354-4A5B-B25A-8E3B38B3386E}"/>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D8E5EFAA-FD02-42E8-81DA-639014B205DE}"/>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35A20EF9-5654-4E32-B50F-FE3BAA4A818B}"/>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DF990FE4-3150-412B-AD0B-9C31718C16C6}"/>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008CE733-0163-49A2-B9C6-AFDE1626D8E1}"/>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4BA07A37-EF10-45CF-A08E-D236E9E0E5AB}"/>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6EADD8B2-0F64-44FD-A041-6C0C21535125}"/>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Tính ổn định qua các chu kỳ: Đường cong vốn Khúc 2–5</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F8B9C96B-D8D0-420B-99F9-0F240B05601F}"/>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49" name="Shape 46">
            <a:extLst>
              <a:ext uri="{FF2B5EF4-FFF2-40B4-BE49-F238E27FC236}">
                <a16:creationId xmlns:a16="http://schemas.microsoft.com/office/drawing/2014/main" id="{3A19C1F7-51EA-48ED-8BD7-9B871F2E0E55}"/>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50" name="Text 47">
            <a:extLst>
              <a:ext uri="{FF2B5EF4-FFF2-40B4-BE49-F238E27FC236}">
                <a16:creationId xmlns:a16="http://schemas.microsoft.com/office/drawing/2014/main" id="{FEB74024-A235-4381-BFED-900E5619A93C}"/>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15/18</a:t>
            </a:r>
            <a:endParaRPr sz="1600">
              <a:latin typeface="Times New Roman"/>
              <a:ea typeface="Times New Roman"/>
              <a:cs typeface="Times New Roman"/>
            </a:endParaRPr>
          </a:p>
        </p:txBody>
      </p:sp>
      <p:pic>
        <p:nvPicPr>
          <p:cNvPr id="101" name="Picture 100" descr="equity-curve-chunk2-5-top50.png"/>
          <p:cNvPicPr>
            <a:picLocks noChangeAspect="1"/>
          </p:cNvPicPr>
          <p:nvPr/>
        </p:nvPicPr>
        <p:blipFill>
          <a:blip r:embed="rId3"/>
          <a:stretch>
            <a:fillRect/>
          </a:stretch>
        </p:blipFill>
        <p:spPr>
          <a:xfrm>
            <a:off x="1016000" y="2600000"/>
            <a:ext cx="9600000" cy="5800000"/>
          </a:xfrm>
          <a:prstGeom prst="rect">
            <a:avLst/>
          </a:prstGeom>
        </p:spPr>
      </p:pic>
      <p:sp>
        <p:nvSpPr>
          <p:cNvPr id="102" name="TextBox 101"/>
          <p:cNvSpPr txBox="1"/>
          <p:nvPr/>
        </p:nvSpPr>
        <p:spPr>
          <a:xfrm>
            <a:off x="11000000" y="2600000"/>
            <a:ext cx="9800000" cy="5800000"/>
          </a:xfrm>
          <a:prstGeom prst="rect">
            <a:avLst/>
          </a:prstGeom>
          <a:noFill/>
        </p:spPr>
        <p:txBody>
          <a:bodyPr wrap="square">
            <a:spAutoFit/>
          </a:bodyPr>
          <a:lstStyle/>
          <a:p>
            <a:pPr algn="l"/>
            <a:r>
              <a:rPr sz="2300" b="0" i="0">
                <a:solidFill>
                  <a:srgbClr val="151515"/>
                </a:solidFill>
                <a:latin typeface="Times New Roman"/>
              </a:rPr>
              <a:t>Phân tích tính ổn định qua 4 chu kỳ Walk-Forward:</a:t>
            </a:r>
          </a:p>
          <a:p>
            <a:pPr algn="l"/>
            <a:endParaRPr sz="2300" b="0" i="0">
              <a:solidFill>
                <a:srgbClr val="151515"/>
              </a:solidFill>
              <a:latin typeface="Times New Roman"/>
            </a:endParaRPr>
          </a:p>
          <a:p>
            <a:pPr algn="l"/>
            <a:r>
              <a:rPr sz="2300" b="0" i="0">
                <a:solidFill>
                  <a:srgbClr val="151515"/>
                </a:solidFill>
                <a:latin typeface="Times New Roman"/>
              </a:rPr>
              <a:t>• Kiểm định lũy tiến (Khúc 2 đến Khúc 5, 2020–2024):</a:t>
            </a:r>
          </a:p>
          <a:p>
            <a:pPr algn="l"/>
            <a:r>
              <a:rPr sz="2300" b="0" i="0">
                <a:solidFill>
                  <a:srgbClr val="151515"/>
                </a:solidFill>
                <a:latin typeface="Times New Roman"/>
              </a:rPr>
              <a:t>  - Đường cong vốn của Purged Walk-Forward (đường tím) tăng trưởng đều đặn, không có giai đoạn sụp hầm.</a:t>
            </a:r>
          </a:p>
          <a:p>
            <a:pPr algn="l"/>
            <a:r>
              <a:rPr sz="2300" b="0" i="0">
                <a:solidFill>
                  <a:srgbClr val="151515"/>
                </a:solidFill>
                <a:latin typeface="Times New Roman"/>
              </a:rPr>
              <a:t>  - Thích nghi tốt qua các chu kỳ khác nhau: Uptrend bùng nổ (2020-2021), Downtrend khốc liệt (2022) và Sideway tích lũy (2023-2024).</a:t>
            </a:r>
          </a:p>
          <a:p>
            <a:pPr algn="l"/>
            <a:endParaRPr sz="2300" b="0" i="0">
              <a:solidFill>
                <a:srgbClr val="151515"/>
              </a:solidFill>
              <a:latin typeface="Times New Roman"/>
            </a:endParaRPr>
          </a:p>
          <a:p>
            <a:pPr algn="l"/>
            <a:r>
              <a:rPr sz="2300" b="0" i="0">
                <a:solidFill>
                  <a:srgbClr val="151515"/>
                </a:solidFill>
                <a:latin typeface="Times New Roman"/>
              </a:rPr>
              <a:t>• Lột trần sự ảo tưởng của Random K-Fold:</a:t>
            </a:r>
          </a:p>
          <a:p>
            <a:pPr algn="l"/>
            <a:r>
              <a:rPr sz="2300" b="0" i="0">
                <a:solidFill>
                  <a:srgbClr val="151515"/>
                </a:solidFill>
                <a:latin typeface="Times New Roman"/>
              </a:rPr>
              <a:t>  - Đường cam (Random K-Fold) và đường xanh lá (Grouped K-Fold) tăng vọt phi thực tế vì mô hình nhìn trước tương lai (Lookahead bias).</a:t>
            </a:r>
          </a:p>
          <a:p>
            <a:pPr algn="l"/>
            <a:endParaRPr sz="2300" b="0" i="0">
              <a:solidFill>
                <a:srgbClr val="151515"/>
              </a:solidFill>
              <a:latin typeface="Times New Roman"/>
            </a:endParaRPr>
          </a:p>
          <a:p>
            <a:pPr algn="l"/>
            <a:r>
              <a:rPr sz="2300" b="0" i="0">
                <a:solidFill>
                  <a:srgbClr val="151515"/>
                </a:solidFill>
                <a:latin typeface="Times New Roman"/>
              </a:rPr>
              <a:t>• Tính tái lập tuyệt đối (100% Reproducibility):</a:t>
            </a:r>
          </a:p>
          <a:p>
            <a:pPr algn="l"/>
            <a:r>
              <a:rPr sz="2300" b="0" i="0">
                <a:solidFill>
                  <a:srgbClr val="151515"/>
                </a:solidFill>
                <a:latin typeface="Times New Roman"/>
              </a:rPr>
              <a:t>  - Cố định seed=42 và thread_count=1 trong CatBoost, loại trừ hoàn toàn sự trượt sai số đa luồng.</a:t>
            </a:r>
          </a:p>
        </p:txBody>
      </p:sp>
      <p:graphicFrame>
        <p:nvGraphicFramePr>
          <p:cNvPr id="103" name="Table 102"/>
          <p:cNvGraphicFramePr>
            <a:graphicFrameLocks noGrp="1"/>
          </p:cNvGraphicFramePr>
          <p:nvPr/>
        </p:nvGraphicFramePr>
        <p:xfrm>
          <a:off x="1016000" y="8800000"/>
          <a:ext cx="19642740" cy="2600000"/>
        </p:xfrm>
        <a:graphic>
          <a:graphicData uri="http://schemas.openxmlformats.org/drawingml/2006/table">
            <a:tbl>
              <a:tblPr firstRow="1" bandRow="1">
                <a:tableStyleId>{5C22544A-7EE6-4342-B048-85BDC9FD1C3A}</a:tableStyleId>
              </a:tblPr>
              <a:tblGrid>
                <a:gridCol w="3928548">
                  <a:extLst>
                    <a:ext uri="{9D8B030D-6E8A-4147-A177-3AD203B41FA5}">
                      <a16:colId xmlns:a16="http://schemas.microsoft.com/office/drawing/2014/main" val="20000"/>
                    </a:ext>
                  </a:extLst>
                </a:gridCol>
                <a:gridCol w="3928548">
                  <a:extLst>
                    <a:ext uri="{9D8B030D-6E8A-4147-A177-3AD203B41FA5}">
                      <a16:colId xmlns:a16="http://schemas.microsoft.com/office/drawing/2014/main" val="20001"/>
                    </a:ext>
                  </a:extLst>
                </a:gridCol>
                <a:gridCol w="7857096">
                  <a:extLst>
                    <a:ext uri="{9D8B030D-6E8A-4147-A177-3AD203B41FA5}">
                      <a16:colId xmlns:a16="http://schemas.microsoft.com/office/drawing/2014/main" val="20002"/>
                    </a:ext>
                  </a:extLst>
                </a:gridCol>
                <a:gridCol w="3928548">
                  <a:extLst>
                    <a:ext uri="{9D8B030D-6E8A-4147-A177-3AD203B41FA5}">
                      <a16:colId xmlns:a16="http://schemas.microsoft.com/office/drawing/2014/main" val="20003"/>
                    </a:ext>
                  </a:extLst>
                </a:gridCol>
              </a:tblGrid>
              <a:tr h="520000">
                <a:tc>
                  <a:txBody>
                    <a:bodyPr/>
                    <a:lstStyle/>
                    <a:p>
                      <a:pPr algn="ctr">
                        <a:defRPr sz="1800" b="1">
                          <a:solidFill>
                            <a:srgbClr val="FFFFFF"/>
                          </a:solidFill>
                          <a:latin typeface="Times New Roman"/>
                        </a:defRPr>
                      </a:pPr>
                      <a:r>
                        <a:t>Thành phần</a:t>
                      </a:r>
                    </a:p>
                  </a:txBody>
                  <a:tcPr>
                    <a:solidFill>
                      <a:srgbClr val="1565C0"/>
                    </a:solidFill>
                  </a:tcPr>
                </a:tc>
                <a:tc>
                  <a:txBody>
                    <a:bodyPr/>
                    <a:lstStyle/>
                    <a:p>
                      <a:pPr algn="ctr">
                        <a:defRPr sz="1800" b="1">
                          <a:solidFill>
                            <a:srgbClr val="FFFFFF"/>
                          </a:solidFill>
                          <a:latin typeface="Times New Roman"/>
                        </a:defRPr>
                      </a:pPr>
                      <a:r>
                        <a:t>Công nghệ</a:t>
                      </a:r>
                    </a:p>
                  </a:txBody>
                  <a:tcPr>
                    <a:solidFill>
                      <a:srgbClr val="1565C0"/>
                    </a:solidFill>
                  </a:tcPr>
                </a:tc>
                <a:tc>
                  <a:txBody>
                    <a:bodyPr/>
                    <a:lstStyle/>
                    <a:p>
                      <a:pPr algn="ctr">
                        <a:defRPr sz="1800" b="1">
                          <a:solidFill>
                            <a:srgbClr val="FFFFFF"/>
                          </a:solidFill>
                          <a:latin typeface="Times New Roman"/>
                        </a:defRPr>
                      </a:pPr>
                      <a:r>
                        <a:t>Nhiệm vụ</a:t>
                      </a:r>
                    </a:p>
                  </a:txBody>
                  <a:tcPr>
                    <a:solidFill>
                      <a:srgbClr val="1565C0"/>
                    </a:solidFill>
                  </a:tcPr>
                </a:tc>
                <a:tc>
                  <a:txBody>
                    <a:bodyPr/>
                    <a:lstStyle/>
                    <a:p>
                      <a:pPr algn="ctr">
                        <a:defRPr sz="1800" b="1">
                          <a:solidFill>
                            <a:srgbClr val="FFFFFF"/>
                          </a:solidFill>
                          <a:latin typeface="Times New Roman"/>
                        </a:defRPr>
                      </a:pPr>
                      <a:r>
                        <a:t>Đầu ra</a:t>
                      </a:r>
                    </a:p>
                  </a:txBody>
                  <a:tcPr>
                    <a:solidFill>
                      <a:srgbClr val="1565C0"/>
                    </a:solidFill>
                  </a:tcPr>
                </a:tc>
                <a:extLst>
                  <a:ext uri="{0D108BD9-81ED-4DB2-BD59-A6C34878D82A}">
                    <a16:rowId xmlns:a16="http://schemas.microsoft.com/office/drawing/2014/main" val="10000"/>
                  </a:ext>
                </a:extLst>
              </a:tr>
              <a:tr h="520000">
                <a:tc>
                  <a:txBody>
                    <a:bodyPr/>
                    <a:lstStyle/>
                    <a:p>
                      <a:pPr algn="ctr">
                        <a:defRPr sz="1800" b="0">
                          <a:solidFill>
                            <a:srgbClr val="151515"/>
                          </a:solidFill>
                          <a:latin typeface="Times New Roman"/>
                        </a:defRPr>
                      </a:pPr>
                      <a:r>
                        <a:t>Data Pipeline</a:t>
                      </a:r>
                    </a:p>
                  </a:txBody>
                  <a:tcPr>
                    <a:solidFill>
                      <a:srgbClr val="FFFFFF"/>
                    </a:solidFill>
                  </a:tcPr>
                </a:tc>
                <a:tc>
                  <a:txBody>
                    <a:bodyPr/>
                    <a:lstStyle/>
                    <a:p>
                      <a:pPr algn="l">
                        <a:defRPr sz="1800" b="0">
                          <a:solidFill>
                            <a:srgbClr val="151515"/>
                          </a:solidFill>
                          <a:latin typeface="Times New Roman"/>
                        </a:defRPr>
                      </a:pPr>
                      <a:r>
                        <a:t>Pandas / NumPy</a:t>
                      </a:r>
                    </a:p>
                  </a:txBody>
                  <a:tcPr>
                    <a:solidFill>
                      <a:srgbClr val="FFFFFF"/>
                    </a:solidFill>
                  </a:tcPr>
                </a:tc>
                <a:tc>
                  <a:txBody>
                    <a:bodyPr/>
                    <a:lstStyle/>
                    <a:p>
                      <a:pPr algn="l">
                        <a:defRPr sz="1800" b="0">
                          <a:solidFill>
                            <a:srgbClr val="151515"/>
                          </a:solidFill>
                          <a:latin typeface="Times New Roman"/>
                        </a:defRPr>
                      </a:pPr>
                      <a:r>
                        <a:t>Trích xuất 21 indicators từ nến M15</a:t>
                      </a:r>
                    </a:p>
                  </a:txBody>
                  <a:tcPr>
                    <a:solidFill>
                      <a:srgbClr val="FFFFFF"/>
                    </a:solidFill>
                  </a:tcPr>
                </a:tc>
                <a:tc>
                  <a:txBody>
                    <a:bodyPr/>
                    <a:lstStyle/>
                    <a:p>
                      <a:pPr algn="l">
                        <a:defRPr sz="1800" b="0">
                          <a:solidFill>
                            <a:srgbClr val="151515"/>
                          </a:solidFill>
                          <a:latin typeface="Times New Roman"/>
                        </a:defRPr>
                      </a:pPr>
                      <a:r>
                        <a:t>Feature Vector (21 chiều)</a:t>
                      </a:r>
                    </a:p>
                  </a:txBody>
                  <a:tcPr>
                    <a:solidFill>
                      <a:srgbClr val="FFFFFF"/>
                    </a:solidFill>
                  </a:tcPr>
                </a:tc>
                <a:extLst>
                  <a:ext uri="{0D108BD9-81ED-4DB2-BD59-A6C34878D82A}">
                    <a16:rowId xmlns:a16="http://schemas.microsoft.com/office/drawing/2014/main" val="10001"/>
                  </a:ext>
                </a:extLst>
              </a:tr>
              <a:tr h="520000">
                <a:tc>
                  <a:txBody>
                    <a:bodyPr/>
                    <a:lstStyle/>
                    <a:p>
                      <a:pPr algn="ctr">
                        <a:defRPr sz="1800" b="0">
                          <a:solidFill>
                            <a:srgbClr val="151515"/>
                          </a:solidFill>
                          <a:latin typeface="Times New Roman"/>
                        </a:defRPr>
                      </a:pPr>
                      <a:r>
                        <a:t>Meta-Model</a:t>
                      </a:r>
                    </a:p>
                  </a:txBody>
                  <a:tcPr>
                    <a:solidFill>
                      <a:srgbClr val="E3F2FD"/>
                    </a:solidFill>
                  </a:tcPr>
                </a:tc>
                <a:tc>
                  <a:txBody>
                    <a:bodyPr/>
                    <a:lstStyle/>
                    <a:p>
                      <a:pPr algn="l">
                        <a:defRPr sz="1800" b="0">
                          <a:solidFill>
                            <a:srgbClr val="151515"/>
                          </a:solidFill>
                          <a:latin typeface="Times New Roman"/>
                        </a:defRPr>
                      </a:pPr>
                      <a:r>
                        <a:t>CatBoost Classifier</a:t>
                      </a:r>
                    </a:p>
                  </a:txBody>
                  <a:tcPr>
                    <a:solidFill>
                      <a:srgbClr val="E3F2FD"/>
                    </a:solidFill>
                  </a:tcPr>
                </a:tc>
                <a:tc>
                  <a:txBody>
                    <a:bodyPr/>
                    <a:lstStyle/>
                    <a:p>
                      <a:pPr algn="l">
                        <a:defRPr sz="1800" b="0">
                          <a:solidFill>
                            <a:srgbClr val="151515"/>
                          </a:solidFill>
                          <a:latin typeface="Times New Roman"/>
                        </a:defRPr>
                      </a:pPr>
                      <a:r>
                        <a:t>Học phi tuyến, ước lượng P(Win)</a:t>
                      </a:r>
                    </a:p>
                  </a:txBody>
                  <a:tcPr>
                    <a:solidFill>
                      <a:srgbClr val="E3F2FD"/>
                    </a:solidFill>
                  </a:tcPr>
                </a:tc>
                <a:tc>
                  <a:txBody>
                    <a:bodyPr/>
                    <a:lstStyle/>
                    <a:p>
                      <a:pPr algn="l">
                        <a:defRPr sz="1800" b="0">
                          <a:solidFill>
                            <a:srgbClr val="151515"/>
                          </a:solidFill>
                          <a:latin typeface="Times New Roman"/>
                        </a:defRPr>
                      </a:pPr>
                      <a:r>
                        <a:t>Xác suất P ∈ [0, 1]</a:t>
                      </a:r>
                    </a:p>
                  </a:txBody>
                  <a:tcPr>
                    <a:solidFill>
                      <a:srgbClr val="E3F2FD"/>
                    </a:solidFill>
                  </a:tcPr>
                </a:tc>
                <a:extLst>
                  <a:ext uri="{0D108BD9-81ED-4DB2-BD59-A6C34878D82A}">
                    <a16:rowId xmlns:a16="http://schemas.microsoft.com/office/drawing/2014/main" val="10002"/>
                  </a:ext>
                </a:extLst>
              </a:tr>
              <a:tr h="520000">
                <a:tc>
                  <a:txBody>
                    <a:bodyPr/>
                    <a:lstStyle/>
                    <a:p>
                      <a:pPr algn="ctr">
                        <a:defRPr sz="1800" b="0">
                          <a:solidFill>
                            <a:srgbClr val="151515"/>
                          </a:solidFill>
                          <a:latin typeface="Times New Roman"/>
                        </a:defRPr>
                      </a:pPr>
                      <a:r>
                        <a:t>Cổng lọc</a:t>
                      </a:r>
                    </a:p>
                  </a:txBody>
                  <a:tcPr>
                    <a:solidFill>
                      <a:srgbClr val="FFFFFF"/>
                    </a:solidFill>
                  </a:tcPr>
                </a:tc>
                <a:tc>
                  <a:txBody>
                    <a:bodyPr/>
                    <a:lstStyle/>
                    <a:p>
                      <a:pPr algn="l">
                        <a:defRPr sz="1800" b="0">
                          <a:solidFill>
                            <a:srgbClr val="151515"/>
                          </a:solidFill>
                          <a:latin typeface="Times New Roman"/>
                        </a:defRPr>
                      </a:pPr>
                      <a:r>
                        <a:t>Gated Meta-Filter</a:t>
                      </a:r>
                    </a:p>
                  </a:txBody>
                  <a:tcPr>
                    <a:solidFill>
                      <a:srgbClr val="FFFFFF"/>
                    </a:solidFill>
                  </a:tcPr>
                </a:tc>
                <a:tc>
                  <a:txBody>
                    <a:bodyPr/>
                    <a:lstStyle/>
                    <a:p>
                      <a:pPr algn="l">
                        <a:defRPr sz="1800" b="0">
                          <a:solidFill>
                            <a:srgbClr val="151515"/>
                          </a:solidFill>
                          <a:latin typeface="Times New Roman"/>
                        </a:defRPr>
                      </a:pPr>
                      <a:r>
                        <a:t>Lọc ngưỡng P &gt;= 0.50 (Top 50%)</a:t>
                      </a:r>
                    </a:p>
                  </a:txBody>
                  <a:tcPr>
                    <a:solidFill>
                      <a:srgbClr val="FFFFFF"/>
                    </a:solidFill>
                  </a:tcPr>
                </a:tc>
                <a:tc>
                  <a:txBody>
                    <a:bodyPr/>
                    <a:lstStyle/>
                    <a:p>
                      <a:pPr algn="l">
                        <a:defRPr sz="1800" b="0">
                          <a:solidFill>
                            <a:srgbClr val="151515"/>
                          </a:solidFill>
                          <a:latin typeface="Times New Roman"/>
                        </a:defRPr>
                      </a:pPr>
                      <a:r>
                        <a:t>Lệnh (PASS / SKIP)</a:t>
                      </a:r>
                    </a:p>
                  </a:txBody>
                  <a:tcPr>
                    <a:solidFill>
                      <a:srgbClr val="FFFFFF"/>
                    </a:solidFill>
                  </a:tcPr>
                </a:tc>
                <a:extLst>
                  <a:ext uri="{0D108BD9-81ED-4DB2-BD59-A6C34878D82A}">
                    <a16:rowId xmlns:a16="http://schemas.microsoft.com/office/drawing/2014/main" val="10003"/>
                  </a:ext>
                </a:extLst>
              </a:tr>
              <a:tr h="520000">
                <a:tc>
                  <a:txBody>
                    <a:bodyPr/>
                    <a:lstStyle/>
                    <a:p>
                      <a:pPr algn="ctr">
                        <a:defRPr sz="1800" b="0">
                          <a:solidFill>
                            <a:srgbClr val="151515"/>
                          </a:solidFill>
                          <a:latin typeface="Times New Roman"/>
                        </a:defRPr>
                      </a:pPr>
                      <a:r>
                        <a:t>Quản trị vốn</a:t>
                      </a:r>
                    </a:p>
                  </a:txBody>
                  <a:tcPr>
                    <a:solidFill>
                      <a:srgbClr val="E3F2FD"/>
                    </a:solidFill>
                  </a:tcPr>
                </a:tc>
                <a:tc>
                  <a:txBody>
                    <a:bodyPr/>
                    <a:lstStyle/>
                    <a:p>
                      <a:pPr algn="l">
                        <a:defRPr sz="1800" b="0">
                          <a:solidFill>
                            <a:srgbClr val="151515"/>
                          </a:solidFill>
                          <a:latin typeface="Times New Roman"/>
                        </a:defRPr>
                      </a:pPr>
                      <a:r>
                        <a:t>R-Multiple Engine</a:t>
                      </a:r>
                    </a:p>
                  </a:txBody>
                  <a:tcPr>
                    <a:solidFill>
                      <a:srgbClr val="E3F2FD"/>
                    </a:solidFill>
                  </a:tcPr>
                </a:tc>
                <a:tc>
                  <a:txBody>
                    <a:bodyPr/>
                    <a:lstStyle/>
                    <a:p>
                      <a:pPr algn="l">
                        <a:defRPr sz="1800" b="0">
                          <a:solidFill>
                            <a:srgbClr val="151515"/>
                          </a:solidFill>
                          <a:latin typeface="Times New Roman"/>
                        </a:defRPr>
                      </a:pPr>
                      <a:r>
                        <a:t>Tỷ lệ chốt lời/cắt lỗ (+2R / -1R)</a:t>
                      </a:r>
                    </a:p>
                  </a:txBody>
                  <a:tcPr>
                    <a:solidFill>
                      <a:srgbClr val="E3F2FD"/>
                    </a:solidFill>
                  </a:tcPr>
                </a:tc>
                <a:tc>
                  <a:txBody>
                    <a:bodyPr/>
                    <a:lstStyle/>
                    <a:p>
                      <a:pPr algn="l">
                        <a:defRPr sz="1800" b="0">
                          <a:solidFill>
                            <a:srgbClr val="151515"/>
                          </a:solidFill>
                          <a:latin typeface="Times New Roman"/>
                        </a:defRPr>
                      </a:pPr>
                      <a:r>
                        <a:t>Kích thước vị thế</a:t>
                      </a:r>
                    </a:p>
                  </a:txBody>
                  <a:tcPr>
                    <a:solidFill>
                      <a:srgbClr val="E3F2F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7635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B88666C-A7F3-4540-9D2A-85BD04FED25F}"/>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ECE2A6BC-9C4C-48B9-9954-BAEDD2BE8AE9}"/>
              </a:ext>
            </a:extLst>
          </p:cNvPr>
          <p:cNvSpPr>
            <a:spLocks noGrp="1"/>
          </p:cNvSpPr>
          <p:nvPr/>
        </p:nvSpPr>
        <p:spPr>
          <a:xfrm>
            <a:off x="17949099"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BC95ABFA-E6DE-4EB4-9D63-997B1C70FDA9}"/>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34C8ED6D-95BB-4F0F-9C5D-2ACDCAEAF1C5}"/>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5EF4A0A8-C063-4E3B-AB00-845D6A83E5A7}"/>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9F9E9458-3F74-48AE-846E-8B4C995C80CC}"/>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C2F3470D-A50B-4892-B294-E6A73A413C34}"/>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F3622138-CE87-4A4E-AC4F-49B2A472DF43}"/>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B191EB4B-651B-45B2-8146-15D3F493CBD9}"/>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0DC85924-726E-4CBF-B128-BC1EE59582F6}"/>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CC46FEB6-9113-434F-A0D8-DE67E8DA76B2}"/>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FE0EF8DC-62D5-49BC-A54E-990B378114DA}"/>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56860E57-F671-44BB-8F63-C76365AB2729}"/>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9634440D-71D5-453F-AABA-5C8F5052711C}"/>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B1C403E4-FF08-4792-B055-788E7C38C7CD}"/>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F611A7CD-187C-4551-AA06-52DAE77711C0}"/>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Khả năng ứng dụng thực tiễn ngoài tài chính của Meta-Labeling</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D83BBB91-EFC2-49F8-9DC6-EB4F4B4FB144}"/>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1C3A2234-368D-4C63-8AA4-C77A2EAFB84A}"/>
              </a:ext>
            </a:extLst>
          </p:cNvPr>
          <p:cNvSpPr>
            <a:spLocks noGrp="1"/>
          </p:cNvSpPr>
          <p:nvPr/>
        </p:nvSpPr>
        <p:spPr>
          <a:xfrm>
            <a:off x="1016000" y="1947291"/>
            <a:ext cx="6265291" cy="4741291"/>
          </a:xfrm>
          <a:prstGeom prst="roundRect">
            <a:avLst>
              <a:gd name="adj" fmla="val 8000"/>
            </a:avLst>
          </a:prstGeom>
          <a:solidFill>
            <a:srgbClr val="E3F2FD"/>
          </a:solidFill>
          <a:ln w="25400">
            <a:solidFill>
              <a:srgbClr val="1565C0"/>
            </a:solidFill>
            <a:prstDash val="solid"/>
          </a:ln>
        </p:spPr>
        <p:txBody>
          <a:bodyPr/>
          <a:lstStyle/>
          <a:p>
            <a:endParaRPr/>
          </a:p>
        </p:txBody>
      </p:sp>
      <p:sp>
        <p:nvSpPr>
          <p:cNvPr id="20" name="Shape 18">
            <a:extLst>
              <a:ext uri="{FF2B5EF4-FFF2-40B4-BE49-F238E27FC236}">
                <a16:creationId xmlns:a16="http://schemas.microsoft.com/office/drawing/2014/main" id="{7CF711EC-0C9F-43AC-82A0-B90B04FF0B4E}"/>
              </a:ext>
            </a:extLst>
          </p:cNvPr>
          <p:cNvSpPr>
            <a:spLocks noGrp="1"/>
          </p:cNvSpPr>
          <p:nvPr/>
        </p:nvSpPr>
        <p:spPr>
          <a:xfrm>
            <a:off x="1270000" y="2116709"/>
            <a:ext cx="5757291" cy="508000"/>
          </a:xfrm>
          <a:prstGeom prst="rect">
            <a:avLst/>
          </a:prstGeom>
          <a:solidFill>
            <a:srgbClr val="FFFFFF">
              <a:alpha val="0"/>
            </a:srgbClr>
          </a:solidFill>
        </p:spPr>
        <p:txBody>
          <a:bodyPr/>
          <a:lstStyle/>
          <a:p>
            <a:endParaRPr/>
          </a:p>
        </p:txBody>
      </p:sp>
      <p:sp>
        <p:nvSpPr>
          <p:cNvPr id="21" name="Text 19">
            <a:extLst>
              <a:ext uri="{FF2B5EF4-FFF2-40B4-BE49-F238E27FC236}">
                <a16:creationId xmlns:a16="http://schemas.microsoft.com/office/drawing/2014/main" id="{74F4D98E-D1D2-4D73-AA07-CCF1C7DCA8B8}"/>
              </a:ext>
            </a:extLst>
          </p:cNvPr>
          <p:cNvSpPr>
            <a:spLocks noGrp="1"/>
          </p:cNvSpPr>
          <p:nvPr/>
        </p:nvSpPr>
        <p:spPr>
          <a:xfrm>
            <a:off x="1148080" y="2055749"/>
            <a:ext cx="6001131" cy="629920"/>
          </a:xfrm>
          <a:prstGeom prst="rect">
            <a:avLst/>
          </a:prstGeom>
          <a:noFill/>
        </p:spPr>
        <p:txBody>
          <a:bodyPr wrap="square" lIns="0" tIns="0" rIns="0" bIns="0" anchor="ctr">
            <a:noAutofit/>
          </a:bodyPr>
          <a:lstStyle/>
          <a:p>
            <a:pPr algn="l">
              <a:lnSpc>
                <a:spcPct val="100000"/>
              </a:lnSpc>
              <a:buNone/>
              <a:defRPr sz="3000" b="1">
                <a:solidFill>
                  <a:srgbClr val="1565C0"/>
                </a:solidFill>
                <a:latin typeface="Times New Roman"/>
                <a:ea typeface="Times New Roman"/>
                <a:cs typeface="Times New Roman"/>
              </a:defRPr>
            </a:pPr>
            <a:r>
              <a:rPr sz="3400" b="1" i="0">
                <a:solidFill>
                  <a:srgbClr val="1565C0"/>
                </a:solidFill>
                <a:latin typeface="Times New Roman"/>
              </a:rPr>
              <a:t>Y tế &amp; Chẩn đoán hình ảnh</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A015D5A3-BC09-4473-BD56-4DFAF30F64DA}"/>
              </a:ext>
            </a:extLst>
          </p:cNvPr>
          <p:cNvSpPr>
            <a:spLocks noGrp="1"/>
          </p:cNvSpPr>
          <p:nvPr/>
        </p:nvSpPr>
        <p:spPr>
          <a:xfrm>
            <a:off x="1270000" y="2624709"/>
            <a:ext cx="5757291" cy="372491"/>
          </a:xfrm>
          <a:prstGeom prst="rect">
            <a:avLst/>
          </a:prstGeom>
          <a:solidFill>
            <a:srgbClr val="FFFFFF">
              <a:alpha val="0"/>
            </a:srgbClr>
          </a:solidFill>
        </p:spPr>
        <p:txBody>
          <a:bodyPr/>
          <a:lstStyle/>
          <a:p>
            <a:endParaRPr/>
          </a:p>
        </p:txBody>
      </p:sp>
      <p:sp>
        <p:nvSpPr>
          <p:cNvPr id="23" name="Text 21">
            <a:extLst>
              <a:ext uri="{FF2B5EF4-FFF2-40B4-BE49-F238E27FC236}">
                <a16:creationId xmlns:a16="http://schemas.microsoft.com/office/drawing/2014/main" id="{BBD1017F-DED5-4F8C-909B-5C77ECAF5D45}"/>
              </a:ext>
            </a:extLst>
          </p:cNvPr>
          <p:cNvSpPr>
            <a:spLocks noGrp="1"/>
          </p:cNvSpPr>
          <p:nvPr/>
        </p:nvSpPr>
        <p:spPr>
          <a:xfrm>
            <a:off x="1148080" y="2563749"/>
            <a:ext cx="6001131" cy="494411"/>
          </a:xfrm>
          <a:prstGeom prst="rect">
            <a:avLst/>
          </a:prstGeom>
          <a:noFill/>
        </p:spPr>
        <p:txBody>
          <a:bodyPr wrap="square" lIns="0" tIns="0" rIns="0" bIns="0" anchor="ctr">
            <a:noAutofit/>
          </a:bodyPr>
          <a:lstStyle/>
          <a:p>
            <a:pPr algn="l">
              <a:lnSpc>
                <a:spcPct val="100000"/>
              </a:lnSpc>
              <a:buNone/>
              <a:defRPr sz="2100" b="0">
                <a:solidFill>
                  <a:srgbClr val="666666"/>
                </a:solidFill>
                <a:latin typeface="Times New Roman"/>
                <a:ea typeface="Times New Roman"/>
                <a:cs typeface="Times New Roman"/>
              </a:defRPr>
            </a:pPr>
            <a:r>
              <a:rPr sz="2400" b="0" i="0">
                <a:solidFill>
                  <a:srgbClr val="646464"/>
                </a:solidFill>
                <a:latin typeface="Times New Roman"/>
              </a:rPr>
              <a:t>Tránh chỉ định phẫu thuật nhầm</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9173E87B-FAC0-4FBB-8C0B-AB324E9828DE}"/>
              </a:ext>
            </a:extLst>
          </p:cNvPr>
          <p:cNvSpPr>
            <a:spLocks noGrp="1"/>
          </p:cNvSpPr>
          <p:nvPr/>
        </p:nvSpPr>
        <p:spPr>
          <a:xfrm>
            <a:off x="1270000" y="3081909"/>
            <a:ext cx="5757291" cy="3386709"/>
          </a:xfrm>
          <a:prstGeom prst="rect">
            <a:avLst/>
          </a:prstGeom>
          <a:solidFill>
            <a:srgbClr val="FFFFFF">
              <a:alpha val="0"/>
            </a:srgbClr>
          </a:solidFill>
        </p:spPr>
        <p:txBody>
          <a:bodyPr/>
          <a:lstStyle/>
          <a:p>
            <a:endParaRPr/>
          </a:p>
        </p:txBody>
      </p:sp>
      <p:sp>
        <p:nvSpPr>
          <p:cNvPr id="25" name="Text 23">
            <a:extLst>
              <a:ext uri="{FF2B5EF4-FFF2-40B4-BE49-F238E27FC236}">
                <a16:creationId xmlns:a16="http://schemas.microsoft.com/office/drawing/2014/main" id="{B453DBCD-96F6-4C7C-AF74-E66AD7FC4D7C}"/>
              </a:ext>
            </a:extLst>
          </p:cNvPr>
          <p:cNvSpPr>
            <a:spLocks noGrp="1"/>
          </p:cNvSpPr>
          <p:nvPr/>
        </p:nvSpPr>
        <p:spPr>
          <a:xfrm>
            <a:off x="1148080" y="3020949"/>
            <a:ext cx="6001131" cy="3508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800" b="0" i="0">
                <a:solidFill>
                  <a:srgbClr val="151515"/>
                </a:solidFill>
                <a:latin typeface="Times New Roman"/>
              </a:rPr>
              <a:t>• Tầng 1: Tầm soát phát hiện tổn thương nghi ngờ ung thư (ưu tiên Recall cao, chấp nhận nhầm).</a:t>
            </a:r>
            <a:endParaRPr sz="1600">
              <a:latin typeface="Times New Roman"/>
              <a:ea typeface="Times New Roman"/>
              <a:cs typeface="Times New Roman"/>
            </a:endParaRPr>
          </a:p>
          <a:p>
            <a:pPr algn="l"/>
            <a:r>
              <a:rPr sz="2800" b="0" i="0">
                <a:solidFill>
                  <a:srgbClr val="151515"/>
                </a:solidFill>
                <a:latin typeface="Times New Roman"/>
              </a:rPr>
              <a:t>• Tầng 2 (Meta): Thẩm định độ tin cậy trước khi chỉ định sinh thiết/phẫu thuật xâm lấn.</a:t>
            </a:r>
          </a:p>
        </p:txBody>
      </p:sp>
      <p:sp>
        <p:nvSpPr>
          <p:cNvPr id="26" name="Shape 24">
            <a:extLst>
              <a:ext uri="{FF2B5EF4-FFF2-40B4-BE49-F238E27FC236}">
                <a16:creationId xmlns:a16="http://schemas.microsoft.com/office/drawing/2014/main" id="{0033A720-7336-4294-A452-ED4E80F71E80}"/>
              </a:ext>
            </a:extLst>
          </p:cNvPr>
          <p:cNvSpPr>
            <a:spLocks noGrp="1"/>
          </p:cNvSpPr>
          <p:nvPr/>
        </p:nvSpPr>
        <p:spPr>
          <a:xfrm>
            <a:off x="7704709" y="1947291"/>
            <a:ext cx="6265291" cy="4741291"/>
          </a:xfrm>
          <a:prstGeom prst="roundRect">
            <a:avLst>
              <a:gd name="adj" fmla="val 8000"/>
            </a:avLst>
          </a:prstGeom>
          <a:solidFill>
            <a:srgbClr val="E8F5E9"/>
          </a:solidFill>
          <a:ln w="25400">
            <a:solidFill>
              <a:srgbClr val="2E7D32"/>
            </a:solidFill>
            <a:prstDash val="solid"/>
          </a:ln>
        </p:spPr>
        <p:txBody>
          <a:bodyPr/>
          <a:lstStyle/>
          <a:p>
            <a:endParaRPr/>
          </a:p>
        </p:txBody>
      </p:sp>
      <p:sp>
        <p:nvSpPr>
          <p:cNvPr id="27" name="Shape 25">
            <a:extLst>
              <a:ext uri="{FF2B5EF4-FFF2-40B4-BE49-F238E27FC236}">
                <a16:creationId xmlns:a16="http://schemas.microsoft.com/office/drawing/2014/main" id="{C7D74EC3-2B8D-45B5-B389-8CE8B1EE450D}"/>
              </a:ext>
            </a:extLst>
          </p:cNvPr>
          <p:cNvSpPr>
            <a:spLocks noGrp="1"/>
          </p:cNvSpPr>
          <p:nvPr/>
        </p:nvSpPr>
        <p:spPr>
          <a:xfrm>
            <a:off x="7958709" y="2116709"/>
            <a:ext cx="5757291" cy="508000"/>
          </a:xfrm>
          <a:prstGeom prst="rect">
            <a:avLst/>
          </a:prstGeom>
          <a:solidFill>
            <a:srgbClr val="FFFFFF">
              <a:alpha val="0"/>
            </a:srgbClr>
          </a:solidFill>
        </p:spPr>
        <p:txBody>
          <a:bodyPr/>
          <a:lstStyle/>
          <a:p>
            <a:endParaRPr/>
          </a:p>
        </p:txBody>
      </p:sp>
      <p:sp>
        <p:nvSpPr>
          <p:cNvPr id="28" name="Text 26">
            <a:extLst>
              <a:ext uri="{FF2B5EF4-FFF2-40B4-BE49-F238E27FC236}">
                <a16:creationId xmlns:a16="http://schemas.microsoft.com/office/drawing/2014/main" id="{21F83FCC-5086-4D05-AF7D-58021C8F3722}"/>
              </a:ext>
            </a:extLst>
          </p:cNvPr>
          <p:cNvSpPr>
            <a:spLocks noGrp="1"/>
          </p:cNvSpPr>
          <p:nvPr/>
        </p:nvSpPr>
        <p:spPr>
          <a:xfrm>
            <a:off x="7836789" y="2055749"/>
            <a:ext cx="6001131" cy="629920"/>
          </a:xfrm>
          <a:prstGeom prst="rect">
            <a:avLst/>
          </a:prstGeom>
          <a:noFill/>
        </p:spPr>
        <p:txBody>
          <a:bodyPr wrap="square" lIns="0" tIns="0" rIns="0" bIns="0" anchor="ctr">
            <a:noAutofit/>
          </a:bodyPr>
          <a:lstStyle/>
          <a:p>
            <a:pPr algn="l">
              <a:lnSpc>
                <a:spcPct val="100000"/>
              </a:lnSpc>
              <a:buNone/>
              <a:defRPr sz="3000" b="1">
                <a:solidFill>
                  <a:srgbClr val="2E7D32"/>
                </a:solidFill>
                <a:latin typeface="Times New Roman"/>
                <a:ea typeface="Times New Roman"/>
                <a:cs typeface="Times New Roman"/>
              </a:defRPr>
            </a:pPr>
            <a:r>
              <a:rPr sz="3400" b="1" i="0">
                <a:solidFill>
                  <a:srgbClr val="2E7D32"/>
                </a:solidFill>
                <a:latin typeface="Times New Roman"/>
              </a:rPr>
              <a:t>Lưới điện &amp; Năng lượng</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E0BD29B6-874D-473E-B29F-E90BF54ACD92}"/>
              </a:ext>
            </a:extLst>
          </p:cNvPr>
          <p:cNvSpPr>
            <a:spLocks noGrp="1"/>
          </p:cNvSpPr>
          <p:nvPr/>
        </p:nvSpPr>
        <p:spPr>
          <a:xfrm>
            <a:off x="7958709" y="2624709"/>
            <a:ext cx="5757291" cy="372491"/>
          </a:xfrm>
          <a:prstGeom prst="rect">
            <a:avLst/>
          </a:prstGeom>
          <a:solidFill>
            <a:srgbClr val="FFFFFF">
              <a:alpha val="0"/>
            </a:srgbClr>
          </a:solidFill>
        </p:spPr>
        <p:txBody>
          <a:bodyPr/>
          <a:lstStyle/>
          <a:p>
            <a:endParaRPr/>
          </a:p>
        </p:txBody>
      </p:sp>
      <p:sp>
        <p:nvSpPr>
          <p:cNvPr id="30" name="Text 28">
            <a:extLst>
              <a:ext uri="{FF2B5EF4-FFF2-40B4-BE49-F238E27FC236}">
                <a16:creationId xmlns:a16="http://schemas.microsoft.com/office/drawing/2014/main" id="{A1909FDC-38A3-42A0-BDD2-7127A8703126}"/>
              </a:ext>
            </a:extLst>
          </p:cNvPr>
          <p:cNvSpPr>
            <a:spLocks noGrp="1"/>
          </p:cNvSpPr>
          <p:nvPr/>
        </p:nvSpPr>
        <p:spPr>
          <a:xfrm>
            <a:off x="7836789" y="2563749"/>
            <a:ext cx="6001131" cy="494411"/>
          </a:xfrm>
          <a:prstGeom prst="rect">
            <a:avLst/>
          </a:prstGeom>
          <a:noFill/>
        </p:spPr>
        <p:txBody>
          <a:bodyPr wrap="square" lIns="0" tIns="0" rIns="0" bIns="0" anchor="ctr">
            <a:noAutofit/>
          </a:bodyPr>
          <a:lstStyle/>
          <a:p>
            <a:pPr algn="l">
              <a:lnSpc>
                <a:spcPct val="100000"/>
              </a:lnSpc>
              <a:buNone/>
              <a:defRPr sz="2100" b="0">
                <a:solidFill>
                  <a:srgbClr val="666666"/>
                </a:solidFill>
                <a:latin typeface="Times New Roman"/>
                <a:ea typeface="Times New Roman"/>
                <a:cs typeface="Times New Roman"/>
              </a:defRPr>
            </a:pPr>
            <a:r>
              <a:rPr sz="2400" b="0" i="0">
                <a:solidFill>
                  <a:srgbClr val="646464"/>
                </a:solidFill>
                <a:latin typeface="Times New Roman"/>
              </a:rPr>
              <a:t>Điều phối phụ tải giờ cao điểm</a:t>
            </a:r>
            <a:endParaRPr sz="1600">
              <a:latin typeface="Times New Roman"/>
              <a:ea typeface="Times New Roman"/>
              <a:cs typeface="Times New Roman"/>
            </a:endParaRPr>
          </a:p>
        </p:txBody>
      </p:sp>
      <p:sp>
        <p:nvSpPr>
          <p:cNvPr id="31" name="Shape 29">
            <a:extLst>
              <a:ext uri="{FF2B5EF4-FFF2-40B4-BE49-F238E27FC236}">
                <a16:creationId xmlns:a16="http://schemas.microsoft.com/office/drawing/2014/main" id="{CE03E109-DA15-42AB-ACEA-69EFE06166E1}"/>
              </a:ext>
            </a:extLst>
          </p:cNvPr>
          <p:cNvSpPr>
            <a:spLocks noGrp="1"/>
          </p:cNvSpPr>
          <p:nvPr/>
        </p:nvSpPr>
        <p:spPr>
          <a:xfrm>
            <a:off x="7958709" y="3081909"/>
            <a:ext cx="5757291" cy="3386709"/>
          </a:xfrm>
          <a:prstGeom prst="rect">
            <a:avLst/>
          </a:prstGeom>
          <a:solidFill>
            <a:srgbClr val="FFFFFF">
              <a:alpha val="0"/>
            </a:srgbClr>
          </a:solidFill>
        </p:spPr>
        <p:txBody>
          <a:bodyPr/>
          <a:lstStyle/>
          <a:p>
            <a:endParaRPr/>
          </a:p>
        </p:txBody>
      </p:sp>
      <p:sp>
        <p:nvSpPr>
          <p:cNvPr id="32" name="Text 30">
            <a:extLst>
              <a:ext uri="{FF2B5EF4-FFF2-40B4-BE49-F238E27FC236}">
                <a16:creationId xmlns:a16="http://schemas.microsoft.com/office/drawing/2014/main" id="{94068FBE-A740-49AA-93D9-DCEE880C793D}"/>
              </a:ext>
            </a:extLst>
          </p:cNvPr>
          <p:cNvSpPr>
            <a:spLocks noGrp="1"/>
          </p:cNvSpPr>
          <p:nvPr/>
        </p:nvSpPr>
        <p:spPr>
          <a:xfrm>
            <a:off x="7836789" y="3020949"/>
            <a:ext cx="6001131" cy="3508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800" b="0" i="0">
                <a:solidFill>
                  <a:srgbClr val="151515"/>
                </a:solidFill>
                <a:latin typeface="Times New Roman"/>
              </a:rPr>
              <a:t>• Tầng 1: Dự báo nguy cơ quá tải lưới điện trong 1 giờ tới.</a:t>
            </a:r>
            <a:endParaRPr sz="1600">
              <a:latin typeface="Times New Roman"/>
              <a:ea typeface="Times New Roman"/>
              <a:cs typeface="Times New Roman"/>
            </a:endParaRPr>
          </a:p>
          <a:p>
            <a:pPr algn="l"/>
            <a:r>
              <a:rPr sz="2800" b="0" i="0">
                <a:solidFill>
                  <a:srgbClr val="151515"/>
                </a:solidFill>
                <a:latin typeface="Times New Roman"/>
              </a:rPr>
              <a:t>• Tầng 2 (Meta): Thẩm định xác suất sự cố trước khi kích hoạt nhà máy điện dự phòng tốn kém.</a:t>
            </a:r>
          </a:p>
        </p:txBody>
      </p:sp>
      <p:sp>
        <p:nvSpPr>
          <p:cNvPr id="33" name="Shape 31">
            <a:extLst>
              <a:ext uri="{FF2B5EF4-FFF2-40B4-BE49-F238E27FC236}">
                <a16:creationId xmlns:a16="http://schemas.microsoft.com/office/drawing/2014/main" id="{25D87192-A91E-4752-B4D6-2A09D3415760}"/>
              </a:ext>
            </a:extLst>
          </p:cNvPr>
          <p:cNvSpPr>
            <a:spLocks noGrp="1"/>
          </p:cNvSpPr>
          <p:nvPr/>
        </p:nvSpPr>
        <p:spPr>
          <a:xfrm>
            <a:off x="14393291" y="1947291"/>
            <a:ext cx="6265291" cy="4741291"/>
          </a:xfrm>
          <a:prstGeom prst="roundRect">
            <a:avLst>
              <a:gd name="adj" fmla="val 8000"/>
            </a:avLst>
          </a:prstGeom>
          <a:solidFill>
            <a:srgbClr val="FFF3E0"/>
          </a:solidFill>
          <a:ln w="25400">
            <a:solidFill>
              <a:srgbClr val="FF6F00"/>
            </a:solidFill>
            <a:prstDash val="solid"/>
          </a:ln>
        </p:spPr>
        <p:txBody>
          <a:bodyPr/>
          <a:lstStyle/>
          <a:p>
            <a:endParaRPr/>
          </a:p>
        </p:txBody>
      </p:sp>
      <p:sp>
        <p:nvSpPr>
          <p:cNvPr id="34" name="Shape 32">
            <a:extLst>
              <a:ext uri="{FF2B5EF4-FFF2-40B4-BE49-F238E27FC236}">
                <a16:creationId xmlns:a16="http://schemas.microsoft.com/office/drawing/2014/main" id="{C830ABC9-26C7-42CC-A776-F0ABB9FA6C99}"/>
              </a:ext>
            </a:extLst>
          </p:cNvPr>
          <p:cNvSpPr>
            <a:spLocks noGrp="1"/>
          </p:cNvSpPr>
          <p:nvPr/>
        </p:nvSpPr>
        <p:spPr>
          <a:xfrm>
            <a:off x="14647291" y="2116709"/>
            <a:ext cx="5757291" cy="508000"/>
          </a:xfrm>
          <a:prstGeom prst="rect">
            <a:avLst/>
          </a:prstGeom>
          <a:solidFill>
            <a:srgbClr val="FFFFFF">
              <a:alpha val="0"/>
            </a:srgbClr>
          </a:solidFill>
        </p:spPr>
        <p:txBody>
          <a:bodyPr/>
          <a:lstStyle/>
          <a:p>
            <a:endParaRPr/>
          </a:p>
        </p:txBody>
      </p:sp>
      <p:sp>
        <p:nvSpPr>
          <p:cNvPr id="35" name="Text 33">
            <a:extLst>
              <a:ext uri="{FF2B5EF4-FFF2-40B4-BE49-F238E27FC236}">
                <a16:creationId xmlns:a16="http://schemas.microsoft.com/office/drawing/2014/main" id="{E28A5154-3207-42B3-A227-A8C2DB1AA5B9}"/>
              </a:ext>
            </a:extLst>
          </p:cNvPr>
          <p:cNvSpPr>
            <a:spLocks noGrp="1"/>
          </p:cNvSpPr>
          <p:nvPr/>
        </p:nvSpPr>
        <p:spPr>
          <a:xfrm>
            <a:off x="14525371" y="2055749"/>
            <a:ext cx="6001131" cy="629920"/>
          </a:xfrm>
          <a:prstGeom prst="rect">
            <a:avLst/>
          </a:prstGeom>
          <a:noFill/>
        </p:spPr>
        <p:txBody>
          <a:bodyPr wrap="square" lIns="0" tIns="0" rIns="0" bIns="0" anchor="ctr">
            <a:noAutofit/>
          </a:bodyPr>
          <a:lstStyle/>
          <a:p>
            <a:pPr algn="l">
              <a:lnSpc>
                <a:spcPct val="100000"/>
              </a:lnSpc>
              <a:buNone/>
              <a:defRPr sz="3000" b="1">
                <a:solidFill>
                  <a:srgbClr val="EF6C00"/>
                </a:solidFill>
                <a:latin typeface="Times New Roman"/>
                <a:ea typeface="Times New Roman"/>
                <a:cs typeface="Times New Roman"/>
              </a:defRPr>
            </a:pPr>
            <a:r>
              <a:rPr sz="3400" b="1" i="0">
                <a:solidFill>
                  <a:srgbClr val="EF6C00"/>
                </a:solidFill>
                <a:latin typeface="Times New Roman"/>
              </a:rPr>
              <a:t>An ninh mạng &amp; Hệ thống IoT</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006FBF83-9768-4A65-92EE-BF93EF48D398}"/>
              </a:ext>
            </a:extLst>
          </p:cNvPr>
          <p:cNvSpPr>
            <a:spLocks noGrp="1"/>
          </p:cNvSpPr>
          <p:nvPr/>
        </p:nvSpPr>
        <p:spPr>
          <a:xfrm>
            <a:off x="14647291" y="2624709"/>
            <a:ext cx="5757291" cy="372491"/>
          </a:xfrm>
          <a:prstGeom prst="rect">
            <a:avLst/>
          </a:prstGeom>
          <a:solidFill>
            <a:srgbClr val="FFFFFF">
              <a:alpha val="0"/>
            </a:srgbClr>
          </a:solidFill>
        </p:spPr>
        <p:txBody>
          <a:bodyPr/>
          <a:lstStyle/>
          <a:p>
            <a:endParaRPr/>
          </a:p>
        </p:txBody>
      </p:sp>
      <p:sp>
        <p:nvSpPr>
          <p:cNvPr id="37" name="Text 35">
            <a:extLst>
              <a:ext uri="{FF2B5EF4-FFF2-40B4-BE49-F238E27FC236}">
                <a16:creationId xmlns:a16="http://schemas.microsoft.com/office/drawing/2014/main" id="{71DE6419-D0DF-4CCA-AF2A-5E1DF15CDB18}"/>
              </a:ext>
            </a:extLst>
          </p:cNvPr>
          <p:cNvSpPr>
            <a:spLocks noGrp="1"/>
          </p:cNvSpPr>
          <p:nvPr/>
        </p:nvSpPr>
        <p:spPr>
          <a:xfrm>
            <a:off x="14525371" y="2563749"/>
            <a:ext cx="6001131" cy="494411"/>
          </a:xfrm>
          <a:prstGeom prst="rect">
            <a:avLst/>
          </a:prstGeom>
          <a:noFill/>
        </p:spPr>
        <p:txBody>
          <a:bodyPr wrap="square" lIns="0" tIns="0" rIns="0" bIns="0" anchor="ctr">
            <a:noAutofit/>
          </a:bodyPr>
          <a:lstStyle/>
          <a:p>
            <a:pPr algn="l">
              <a:lnSpc>
                <a:spcPct val="100000"/>
              </a:lnSpc>
              <a:buNone/>
              <a:defRPr sz="2100" b="0">
                <a:solidFill>
                  <a:srgbClr val="666666"/>
                </a:solidFill>
                <a:latin typeface="Times New Roman"/>
                <a:ea typeface="Times New Roman"/>
                <a:cs typeface="Times New Roman"/>
              </a:defRPr>
            </a:pPr>
            <a:r>
              <a:rPr sz="2400" b="0" i="0">
                <a:solidFill>
                  <a:srgbClr val="646464"/>
                </a:solidFill>
                <a:latin typeface="Times New Roman"/>
              </a:rPr>
              <a:t>Lọc cảnh báo tấn công (IDS)</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54F14567-BF0C-44E1-A968-6C79D01B306D}"/>
              </a:ext>
            </a:extLst>
          </p:cNvPr>
          <p:cNvSpPr>
            <a:spLocks noGrp="1"/>
          </p:cNvSpPr>
          <p:nvPr/>
        </p:nvSpPr>
        <p:spPr>
          <a:xfrm>
            <a:off x="14647291" y="3081909"/>
            <a:ext cx="5757291" cy="3386709"/>
          </a:xfrm>
          <a:prstGeom prst="rect">
            <a:avLst/>
          </a:prstGeom>
          <a:solidFill>
            <a:srgbClr val="FFFFFF">
              <a:alpha val="0"/>
            </a:srgbClr>
          </a:solidFill>
        </p:spPr>
        <p:txBody>
          <a:bodyPr/>
          <a:lstStyle/>
          <a:p>
            <a:endParaRPr/>
          </a:p>
        </p:txBody>
      </p:sp>
      <p:sp>
        <p:nvSpPr>
          <p:cNvPr id="39" name="Text 37">
            <a:extLst>
              <a:ext uri="{FF2B5EF4-FFF2-40B4-BE49-F238E27FC236}">
                <a16:creationId xmlns:a16="http://schemas.microsoft.com/office/drawing/2014/main" id="{1DF17E00-5E1B-4070-BE5A-1C005633A9E9}"/>
              </a:ext>
            </a:extLst>
          </p:cNvPr>
          <p:cNvSpPr>
            <a:spLocks noGrp="1"/>
          </p:cNvSpPr>
          <p:nvPr/>
        </p:nvSpPr>
        <p:spPr>
          <a:xfrm>
            <a:off x="14525371" y="3020949"/>
            <a:ext cx="6001131" cy="3508629"/>
          </a:xfrm>
          <a:prstGeom prst="rect">
            <a:avLst/>
          </a:prstGeom>
          <a:noFill/>
        </p:spPr>
        <p:txBody>
          <a:bodyPr wrap="square" lIns="0" tIns="0" rIns="0" bIns="0" anchor="t">
            <a:noAutofit/>
          </a:bodyPr>
          <a:lstStyle/>
          <a:p>
            <a:pPr algn="l">
              <a:lnSpc>
                <a:spcPct val="150000"/>
              </a:lnSpc>
              <a:buNone/>
              <a:defRPr sz="2550" b="0">
                <a:solidFill>
                  <a:srgbClr val="151515"/>
                </a:solidFill>
                <a:latin typeface="Times New Roman"/>
                <a:ea typeface="Times New Roman"/>
                <a:cs typeface="Times New Roman"/>
              </a:defRPr>
            </a:pPr>
            <a:r>
              <a:rPr sz="2800" b="0" i="0">
                <a:solidFill>
                  <a:srgbClr val="151515"/>
                </a:solidFill>
                <a:latin typeface="Times New Roman"/>
              </a:rPr>
              <a:t>• Tầng 1: Quét lưu lượng mạng, phát hiện nguy cơ tấn công DDoS/Brute-force.</a:t>
            </a:r>
            <a:endParaRPr sz="1600">
              <a:latin typeface="Times New Roman"/>
              <a:ea typeface="Times New Roman"/>
              <a:cs typeface="Times New Roman"/>
            </a:endParaRPr>
          </a:p>
          <a:p>
            <a:pPr algn="l"/>
            <a:r>
              <a:rPr sz="2800" b="0" i="0">
                <a:solidFill>
                  <a:srgbClr val="151515"/>
                </a:solidFill>
                <a:latin typeface="Times New Roman"/>
              </a:rPr>
              <a:t>• Tầng 2 (Meta): Thẩm định để tránh chặn nhầm (False Alarm) các khách hàng hợp pháp.</a:t>
            </a:r>
          </a:p>
        </p:txBody>
      </p:sp>
      <p:sp>
        <p:nvSpPr>
          <p:cNvPr id="41" name="Shape 39">
            <a:extLst>
              <a:ext uri="{FF2B5EF4-FFF2-40B4-BE49-F238E27FC236}">
                <a16:creationId xmlns:a16="http://schemas.microsoft.com/office/drawing/2014/main" id="{78614327-20CF-4725-941F-5A73C177E55C}"/>
              </a:ext>
            </a:extLst>
          </p:cNvPr>
          <p:cNvSpPr>
            <a:spLocks noGrp="1"/>
          </p:cNvSpPr>
          <p:nvPr/>
        </p:nvSpPr>
        <p:spPr>
          <a:xfrm>
            <a:off x="1354709" y="7145909"/>
            <a:ext cx="8466709" cy="406400"/>
          </a:xfrm>
          <a:prstGeom prst="rect">
            <a:avLst/>
          </a:prstGeom>
          <a:solidFill>
            <a:srgbClr val="FFFFFF">
              <a:alpha val="0"/>
            </a:srgbClr>
          </a:solidFill>
        </p:spPr>
        <p:txBody>
          <a:bodyPr/>
          <a:lstStyle/>
          <a:p>
            <a:endParaRPr/>
          </a:p>
        </p:txBody>
      </p:sp>
      <p:sp>
        <p:nvSpPr>
          <p:cNvPr id="43" name="Shape 41">
            <a:extLst>
              <a:ext uri="{FF2B5EF4-FFF2-40B4-BE49-F238E27FC236}">
                <a16:creationId xmlns:a16="http://schemas.microsoft.com/office/drawing/2014/main" id="{5F1D5F0A-A178-4EBF-98DB-1BCBB39077D5}"/>
              </a:ext>
            </a:extLst>
          </p:cNvPr>
          <p:cNvSpPr>
            <a:spLocks noGrp="1"/>
          </p:cNvSpPr>
          <p:nvPr/>
        </p:nvSpPr>
        <p:spPr>
          <a:xfrm>
            <a:off x="1016000" y="8890000"/>
            <a:ext cx="19642709" cy="2201291"/>
          </a:xfrm>
          <a:prstGeom prst="rect">
            <a:avLst/>
          </a:prstGeom>
          <a:solidFill>
            <a:srgbClr val="FFFFFF">
              <a:alpha val="0"/>
            </a:srgbClr>
          </a:solidFill>
        </p:spPr>
        <p:txBody>
          <a:bodyPr/>
          <a:lstStyle/>
          <a:p>
            <a:endParaRPr/>
          </a:p>
        </p:txBody>
      </p:sp>
      <p:sp>
        <p:nvSpPr>
          <p:cNvPr id="44" name="Text 42">
            <a:extLst>
              <a:ext uri="{FF2B5EF4-FFF2-40B4-BE49-F238E27FC236}">
                <a16:creationId xmlns:a16="http://schemas.microsoft.com/office/drawing/2014/main" id="{A90FA239-2D9E-413B-95F5-0559C4EDBE9A}"/>
              </a:ext>
            </a:extLst>
          </p:cNvPr>
          <p:cNvSpPr>
            <a:spLocks noGrp="1"/>
          </p:cNvSpPr>
          <p:nvPr/>
        </p:nvSpPr>
        <p:spPr>
          <a:xfrm>
            <a:off x="894080" y="8829040"/>
            <a:ext cx="19886549" cy="2323211"/>
          </a:xfrm>
          <a:prstGeom prst="rect">
            <a:avLst/>
          </a:prstGeom>
          <a:noFill/>
        </p:spPr>
        <p:txBody>
          <a:bodyPr wrap="square" lIns="0" tIns="0" rIns="0" bIns="0" anchor="t">
            <a:noAutofit/>
          </a:bodyPr>
          <a:lstStyle/>
          <a:p>
            <a:pPr algn="l">
              <a:lnSpc>
                <a:spcPct val="160000"/>
              </a:lnSpc>
              <a:buNone/>
              <a:defRPr sz="2775" b="0">
                <a:solidFill>
                  <a:srgbClr val="151515"/>
                </a:solidFill>
                <a:latin typeface="Times New Roman"/>
                <a:ea typeface="Times New Roman"/>
                <a:cs typeface="Times New Roman"/>
              </a:defRPr>
            </a:pPr>
            <a:r>
              <a:rPr sz="2800" b="0" i="0">
                <a:solidFill>
                  <a:srgbClr val="151515"/>
                </a:solidFill>
                <a:latin typeface="Times New Roman"/>
              </a:rPr>
              <a:t>Ý nghĩa khoa học cốt lõi: Kiến trúc Meta-Labeling 2 tầng và tư duy kiểm định chống rò rỉ dữ liệu có thể chuyển giao trực tiếp cho mọi bài toán Học máy chuỗi thời gian trong đời sống thực tế.</a:t>
            </a:r>
            <a:endParaRPr sz="1600">
              <a:latin typeface="Times New Roman"/>
              <a:ea typeface="Times New Roman"/>
              <a:cs typeface="Times New Roman"/>
            </a:endParaRPr>
          </a:p>
        </p:txBody>
      </p:sp>
      <p:sp>
        <p:nvSpPr>
          <p:cNvPr id="45" name="Shape 43">
            <a:extLst>
              <a:ext uri="{FF2B5EF4-FFF2-40B4-BE49-F238E27FC236}">
                <a16:creationId xmlns:a16="http://schemas.microsoft.com/office/drawing/2014/main" id="{CF4E41E8-DE0C-49CE-881E-41BE6E2C0266}"/>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46" name="Text 44">
            <a:extLst>
              <a:ext uri="{FF2B5EF4-FFF2-40B4-BE49-F238E27FC236}">
                <a16:creationId xmlns:a16="http://schemas.microsoft.com/office/drawing/2014/main" id="{8686BEE7-334A-4115-9F88-12DED17E19FA}"/>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16/18</a:t>
            </a:r>
            <a:endParaRPr sz="1600">
              <a:latin typeface="Times New Roman"/>
              <a:ea typeface="Times New Roman"/>
              <a:cs typeface="Times New Roman"/>
            </a:endParaRPr>
          </a:p>
        </p:txBody>
      </p:sp>
      <p:sp>
        <p:nvSpPr>
          <p:cNvPr id="47" name="Text 24">
            <a:extLst>
              <a:ext uri="{FF2B5EF4-FFF2-40B4-BE49-F238E27FC236}">
                <a16:creationId xmlns:a16="http://schemas.microsoft.com/office/drawing/2014/main" id="{891AEC0D-79F0-739D-93D9-DC4C60E5771D}"/>
              </a:ext>
            </a:extLst>
          </p:cNvPr>
          <p:cNvSpPr>
            <a:spLocks noGrp="1"/>
          </p:cNvSpPr>
          <p:nvPr/>
        </p:nvSpPr>
        <p:spPr>
          <a:xfrm>
            <a:off x="3048127" y="7572893"/>
            <a:ext cx="14224000" cy="609600"/>
          </a:xfrm>
          <a:prstGeom prst="rect">
            <a:avLst/>
          </a:prstGeom>
          <a:noFill/>
        </p:spPr>
        <p:txBody>
          <a:bodyPr wrap="square" lIns="0" tIns="0" rIns="0" bIns="0" anchor="ctr">
            <a:noAutofit/>
          </a:bodyPr>
          <a:lstStyle/>
          <a:p>
            <a:pPr algn="ctr">
              <a:lnSpc>
                <a:spcPct val="100000"/>
              </a:lnSpc>
              <a:buNone/>
            </a:pPr>
            <a:endParaRPr sz="2400">
              <a:latin typeface="Times New Roman"/>
              <a:ea typeface="Times New Roman"/>
              <a:cs typeface="Times New Roman"/>
            </a:endParaRPr>
          </a:p>
        </p:txBody>
      </p:sp>
    </p:spTree>
    <p:extLst>
      <p:ext uri="{BB962C8B-B14F-4D97-AF65-F5344CB8AC3E}">
        <p14:creationId xmlns:p14="http://schemas.microsoft.com/office/powerpoint/2010/main" val="471792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94ED18D-B056-426D-B4FA-43BB6D69D72D}"/>
              </a:ext>
            </a:extLst>
          </p:cNvPr>
          <p:cNvSpPr>
            <a:spLocks noGrp="1"/>
          </p:cNvSpPr>
          <p:nvPr/>
        </p:nvSpPr>
        <p:spPr>
          <a:xfrm>
            <a:off x="0" y="0"/>
            <a:ext cx="21674709" cy="677291"/>
          </a:xfrm>
          <a:prstGeom prst="rect">
            <a:avLst/>
          </a:prstGeom>
          <a:solidFill>
            <a:srgbClr val="1565C0"/>
          </a:solidFill>
        </p:spPr>
        <p:txBody>
          <a:bodyPr/>
          <a:lstStyle/>
          <a:p>
            <a:endParaRPr/>
          </a:p>
        </p:txBody>
      </p:sp>
      <p:sp>
        <p:nvSpPr>
          <p:cNvPr id="3" name="Shape 1">
            <a:extLst>
              <a:ext uri="{FF2B5EF4-FFF2-40B4-BE49-F238E27FC236}">
                <a16:creationId xmlns:a16="http://schemas.microsoft.com/office/drawing/2014/main" id="{4565A470-C2C8-4226-8FE5-0A1985DCC632}"/>
              </a:ext>
            </a:extLst>
          </p:cNvPr>
          <p:cNvSpPr>
            <a:spLocks noGrp="1"/>
          </p:cNvSpPr>
          <p:nvPr/>
        </p:nvSpPr>
        <p:spPr>
          <a:xfrm>
            <a:off x="17949099" y="84709"/>
            <a:ext cx="3386709" cy="508000"/>
          </a:xfrm>
          <a:prstGeom prst="roundRect">
            <a:avLst>
              <a:gd name="adj" fmla="val 8000"/>
            </a:avLst>
          </a:prstGeom>
          <a:solidFill>
            <a:srgbClr val="FFFFFF">
              <a:alpha val="3576"/>
            </a:srgbClr>
          </a:solidFill>
        </p:spPr>
        <p:txBody>
          <a:bodyPr/>
          <a:lstStyle/>
          <a:p>
            <a:endParaRPr/>
          </a:p>
        </p:txBody>
      </p:sp>
      <p:sp>
        <p:nvSpPr>
          <p:cNvPr id="4" name="Shape 2">
            <a:extLst>
              <a:ext uri="{FF2B5EF4-FFF2-40B4-BE49-F238E27FC236}">
                <a16:creationId xmlns:a16="http://schemas.microsoft.com/office/drawing/2014/main" id="{96AD0E1B-AD29-477D-B46D-4858957E0F66}"/>
              </a:ext>
            </a:extLst>
          </p:cNvPr>
          <p:cNvSpPr>
            <a:spLocks noGrp="1"/>
          </p:cNvSpPr>
          <p:nvPr/>
        </p:nvSpPr>
        <p:spPr>
          <a:xfrm>
            <a:off x="169291" y="0"/>
            <a:ext cx="3386709" cy="677291"/>
          </a:xfrm>
          <a:prstGeom prst="rect">
            <a:avLst/>
          </a:prstGeom>
          <a:solidFill>
            <a:srgbClr val="FFFFFF">
              <a:alpha val="0"/>
            </a:srgbClr>
          </a:solidFill>
        </p:spPr>
        <p:txBody>
          <a:bodyPr/>
          <a:lstStyle/>
          <a:p>
            <a:endParaRPr/>
          </a:p>
        </p:txBody>
      </p:sp>
      <p:sp>
        <p:nvSpPr>
          <p:cNvPr id="5" name="Text 3">
            <a:extLst>
              <a:ext uri="{FF2B5EF4-FFF2-40B4-BE49-F238E27FC236}">
                <a16:creationId xmlns:a16="http://schemas.microsoft.com/office/drawing/2014/main" id="{3DDB79CE-8E1A-4759-856E-FDA5F533C317}"/>
              </a:ext>
            </a:extLst>
          </p:cNvPr>
          <p:cNvSpPr>
            <a:spLocks noGrp="1"/>
          </p:cNvSpPr>
          <p:nvPr/>
        </p:nvSpPr>
        <p:spPr>
          <a:xfrm>
            <a:off x="47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1. Bài toán &amp;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ECED247C-2FED-4B1A-BF21-E27053E149B3}"/>
              </a:ext>
            </a:extLst>
          </p:cNvPr>
          <p:cNvSpPr>
            <a:spLocks noGrp="1"/>
          </p:cNvSpPr>
          <p:nvPr/>
        </p:nvSpPr>
        <p:spPr>
          <a:xfrm>
            <a:off x="3725291" y="0"/>
            <a:ext cx="3386709" cy="677291"/>
          </a:xfrm>
          <a:prstGeom prst="rect">
            <a:avLst/>
          </a:prstGeom>
          <a:solidFill>
            <a:srgbClr val="FFFFFF">
              <a:alpha val="0"/>
            </a:srgbClr>
          </a:solidFill>
        </p:spPr>
        <p:txBody>
          <a:bodyPr/>
          <a:lstStyle/>
          <a:p>
            <a:endParaRPr/>
          </a:p>
        </p:txBody>
      </p:sp>
      <p:sp>
        <p:nvSpPr>
          <p:cNvPr id="7" name="Text 5">
            <a:extLst>
              <a:ext uri="{FF2B5EF4-FFF2-40B4-BE49-F238E27FC236}">
                <a16:creationId xmlns:a16="http://schemas.microsoft.com/office/drawing/2014/main" id="{32319E8E-4B9E-49EF-84E4-B89E48E4BB2B}"/>
              </a:ext>
            </a:extLst>
          </p:cNvPr>
          <p:cNvSpPr>
            <a:spLocks noGrp="1"/>
          </p:cNvSpPr>
          <p:nvPr/>
        </p:nvSpPr>
        <p:spPr>
          <a:xfrm>
            <a:off x="3603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2. Kiến trúc &amp; Mô hình</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F15B7043-55C3-4803-8C78-F896426981C3}"/>
              </a:ext>
            </a:extLst>
          </p:cNvPr>
          <p:cNvSpPr>
            <a:spLocks noGrp="1"/>
          </p:cNvSpPr>
          <p:nvPr/>
        </p:nvSpPr>
        <p:spPr>
          <a:xfrm>
            <a:off x="7281291" y="0"/>
            <a:ext cx="3386709" cy="677291"/>
          </a:xfrm>
          <a:prstGeom prst="rect">
            <a:avLst/>
          </a:prstGeom>
          <a:solidFill>
            <a:srgbClr val="FFFFFF">
              <a:alpha val="0"/>
            </a:srgbClr>
          </a:solidFill>
        </p:spPr>
        <p:txBody>
          <a:bodyPr/>
          <a:lstStyle/>
          <a:p>
            <a:endParaRPr/>
          </a:p>
        </p:txBody>
      </p:sp>
      <p:sp>
        <p:nvSpPr>
          <p:cNvPr id="9" name="Text 7">
            <a:extLst>
              <a:ext uri="{FF2B5EF4-FFF2-40B4-BE49-F238E27FC236}">
                <a16:creationId xmlns:a16="http://schemas.microsoft.com/office/drawing/2014/main" id="{B2305E69-E73D-4B54-BA07-88055A0964DC}"/>
              </a:ext>
            </a:extLst>
          </p:cNvPr>
          <p:cNvSpPr>
            <a:spLocks noGrp="1"/>
          </p:cNvSpPr>
          <p:nvPr/>
        </p:nvSpPr>
        <p:spPr>
          <a:xfrm>
            <a:off x="7159371"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3. Thử nghiệm &amp; Rò rỉ</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499EEF33-FEC2-4E69-89F8-717C7AB90AA5}"/>
              </a:ext>
            </a:extLst>
          </p:cNvPr>
          <p:cNvSpPr>
            <a:spLocks noGrp="1"/>
          </p:cNvSpPr>
          <p:nvPr/>
        </p:nvSpPr>
        <p:spPr>
          <a:xfrm>
            <a:off x="10837291" y="0"/>
            <a:ext cx="3386709" cy="677291"/>
          </a:xfrm>
          <a:prstGeom prst="rect">
            <a:avLst/>
          </a:prstGeom>
          <a:solidFill>
            <a:srgbClr val="FFFFFF">
              <a:alpha val="0"/>
            </a:srgbClr>
          </a:solidFill>
        </p:spPr>
        <p:txBody>
          <a:bodyPr/>
          <a:lstStyle/>
          <a:p>
            <a:endParaRPr/>
          </a:p>
        </p:txBody>
      </p:sp>
      <p:sp>
        <p:nvSpPr>
          <p:cNvPr id="11" name="Text 9">
            <a:extLst>
              <a:ext uri="{FF2B5EF4-FFF2-40B4-BE49-F238E27FC236}">
                <a16:creationId xmlns:a16="http://schemas.microsoft.com/office/drawing/2014/main" id="{B5FE0364-FDB3-4E49-A708-CDA667ADB4C0}"/>
              </a:ext>
            </a:extLst>
          </p:cNvPr>
          <p:cNvSpPr>
            <a:spLocks noGrp="1"/>
          </p:cNvSpPr>
          <p:nvPr/>
        </p:nvSpPr>
        <p:spPr>
          <a:xfrm>
            <a:off x="10715339"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4. Kết quả &amp; Tài chính</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731A8EC6-53CF-4382-8338-34345623D16A}"/>
              </a:ext>
            </a:extLst>
          </p:cNvPr>
          <p:cNvSpPr>
            <a:spLocks noGrp="1"/>
          </p:cNvSpPr>
          <p:nvPr/>
        </p:nvSpPr>
        <p:spPr>
          <a:xfrm>
            <a:off x="14393291" y="0"/>
            <a:ext cx="3386709" cy="677291"/>
          </a:xfrm>
          <a:prstGeom prst="rect">
            <a:avLst/>
          </a:prstGeom>
          <a:solidFill>
            <a:srgbClr val="FFFFFF">
              <a:alpha val="0"/>
            </a:srgbClr>
          </a:solidFill>
        </p:spPr>
        <p:txBody>
          <a:bodyPr/>
          <a:lstStyle/>
          <a:p>
            <a:endParaRPr/>
          </a:p>
        </p:txBody>
      </p:sp>
      <p:sp>
        <p:nvSpPr>
          <p:cNvPr id="13" name="Text 11">
            <a:extLst>
              <a:ext uri="{FF2B5EF4-FFF2-40B4-BE49-F238E27FC236}">
                <a16:creationId xmlns:a16="http://schemas.microsoft.com/office/drawing/2014/main" id="{850BAA77-BCDD-4612-8874-F4F5FAB8C49D}"/>
              </a:ext>
            </a:extLst>
          </p:cNvPr>
          <p:cNvSpPr>
            <a:spLocks noGrp="1"/>
          </p:cNvSpPr>
          <p:nvPr/>
        </p:nvSpPr>
        <p:spPr>
          <a:xfrm>
            <a:off x="14271403" y="0"/>
            <a:ext cx="3630549" cy="676275"/>
          </a:xfrm>
          <a:prstGeom prst="rect">
            <a:avLst/>
          </a:prstGeom>
          <a:noFill/>
        </p:spPr>
        <p:txBody>
          <a:bodyPr wrap="squar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2400" b="0" i="0">
                <a:solidFill>
                  <a:srgbClr val="A5CAE8"/>
                </a:solidFill>
                <a:latin typeface="Times New Roman"/>
              </a:rPr>
              <a:t>5. Ứng dụng thực tiễn</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7339A038-707F-450E-9759-86E56769B2A0}"/>
              </a:ext>
            </a:extLst>
          </p:cNvPr>
          <p:cNvSpPr>
            <a:spLocks noGrp="1"/>
          </p:cNvSpPr>
          <p:nvPr/>
        </p:nvSpPr>
        <p:spPr>
          <a:xfrm>
            <a:off x="17949291" y="0"/>
            <a:ext cx="3386709" cy="677291"/>
          </a:xfrm>
          <a:prstGeom prst="rect">
            <a:avLst/>
          </a:prstGeom>
          <a:solidFill>
            <a:srgbClr val="FFFFFF">
              <a:alpha val="0"/>
            </a:srgbClr>
          </a:solidFill>
        </p:spPr>
        <p:txBody>
          <a:bodyPr/>
          <a:lstStyle/>
          <a:p>
            <a:endParaRPr/>
          </a:p>
        </p:txBody>
      </p:sp>
      <p:sp>
        <p:nvSpPr>
          <p:cNvPr id="15" name="Text 13">
            <a:extLst>
              <a:ext uri="{FF2B5EF4-FFF2-40B4-BE49-F238E27FC236}">
                <a16:creationId xmlns:a16="http://schemas.microsoft.com/office/drawing/2014/main" id="{31ACDDF1-0253-47CF-973A-55A9789999E3}"/>
              </a:ext>
            </a:extLst>
          </p:cNvPr>
          <p:cNvSpPr>
            <a:spLocks noGrp="1"/>
          </p:cNvSpPr>
          <p:nvPr/>
        </p:nvSpPr>
        <p:spPr>
          <a:xfrm>
            <a:off x="17827371" y="0"/>
            <a:ext cx="3630549" cy="676275"/>
          </a:xfrm>
          <a:prstGeom prst="rect">
            <a:avLst/>
          </a:prstGeom>
          <a:noFill/>
        </p:spPr>
        <p:txBody>
          <a:bodyPr wrap="squar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2400" b="1" i="0">
                <a:solidFill>
                  <a:srgbClr val="FFFFFF"/>
                </a:solidFill>
                <a:latin typeface="Times New Roman"/>
              </a:rPr>
              <a:t>6. Kết luận &amp; Mở rộng</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C0757683-823D-4DD3-9A17-1C0275881F73}"/>
              </a:ext>
            </a:extLst>
          </p:cNvPr>
          <p:cNvSpPr>
            <a:spLocks noGrp="1"/>
          </p:cNvSpPr>
          <p:nvPr/>
        </p:nvSpPr>
        <p:spPr>
          <a:xfrm>
            <a:off x="1016000" y="931291"/>
            <a:ext cx="16933291" cy="643509"/>
          </a:xfrm>
          <a:prstGeom prst="rect">
            <a:avLst/>
          </a:prstGeom>
          <a:solidFill>
            <a:srgbClr val="FFFFFF">
              <a:alpha val="0"/>
            </a:srgbClr>
          </a:solidFill>
        </p:spPr>
        <p:txBody>
          <a:bodyPr/>
          <a:lstStyle/>
          <a:p>
            <a:endParaRPr/>
          </a:p>
        </p:txBody>
      </p:sp>
      <p:sp>
        <p:nvSpPr>
          <p:cNvPr id="17" name="Text 15">
            <a:extLst>
              <a:ext uri="{FF2B5EF4-FFF2-40B4-BE49-F238E27FC236}">
                <a16:creationId xmlns:a16="http://schemas.microsoft.com/office/drawing/2014/main" id="{9F098992-DEED-4E22-B17F-FA65D1457408}"/>
              </a:ext>
            </a:extLst>
          </p:cNvPr>
          <p:cNvSpPr>
            <a:spLocks noGrp="1"/>
          </p:cNvSpPr>
          <p:nvPr/>
        </p:nvSpPr>
        <p:spPr>
          <a:xfrm>
            <a:off x="894080" y="870331"/>
            <a:ext cx="17177131" cy="765429"/>
          </a:xfrm>
          <a:prstGeom prst="rect">
            <a:avLst/>
          </a:prstGeom>
          <a:noFill/>
        </p:spPr>
        <p:txBody>
          <a:bodyPr wrap="square" lIns="0" tIns="0" rIns="0" bIns="0" anchor="ctr">
            <a:noAutofit/>
          </a:bodyPr>
          <a:lstStyle/>
          <a:p>
            <a:pPr algn="l">
              <a:lnSpc>
                <a:spcPct val="100000"/>
              </a:lnSpc>
              <a:buNone/>
              <a:defRPr sz="3900" b="1">
                <a:solidFill>
                  <a:srgbClr val="1565C0"/>
                </a:solidFill>
                <a:latin typeface="Times New Roman"/>
                <a:ea typeface="Times New Roman"/>
                <a:cs typeface="Times New Roman"/>
              </a:defRPr>
            </a:pPr>
            <a:r>
              <a:rPr sz="4600" b="1" i="0">
                <a:solidFill>
                  <a:srgbClr val="1565C0"/>
                </a:solidFill>
                <a:latin typeface="Times New Roman"/>
              </a:rPr>
              <a:t>Kết luận và các ưu tiên hoàn thiện</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F1247DE2-46A1-45D1-9913-7C41C9C30BBD}"/>
              </a:ext>
            </a:extLst>
          </p:cNvPr>
          <p:cNvSpPr>
            <a:spLocks noGrp="1"/>
          </p:cNvSpPr>
          <p:nvPr/>
        </p:nvSpPr>
        <p:spPr>
          <a:xfrm>
            <a:off x="1016000" y="1625600"/>
            <a:ext cx="19642709" cy="50800"/>
          </a:xfrm>
          <a:prstGeom prst="rect">
            <a:avLst/>
          </a:prstGeom>
          <a:solidFill>
            <a:srgbClr val="1565C0"/>
          </a:solidFill>
        </p:spPr>
        <p:txBody>
          <a:bodyPr/>
          <a:lstStyle/>
          <a:p>
            <a:endParaRPr/>
          </a:p>
        </p:txBody>
      </p:sp>
      <p:sp>
        <p:nvSpPr>
          <p:cNvPr id="19" name="Shape 17">
            <a:extLst>
              <a:ext uri="{FF2B5EF4-FFF2-40B4-BE49-F238E27FC236}">
                <a16:creationId xmlns:a16="http://schemas.microsoft.com/office/drawing/2014/main" id="{A7F8E0F5-006B-4978-BC56-BDFDDC0C4802}"/>
              </a:ext>
            </a:extLst>
          </p:cNvPr>
          <p:cNvSpPr>
            <a:spLocks noGrp="1"/>
          </p:cNvSpPr>
          <p:nvPr/>
        </p:nvSpPr>
        <p:spPr>
          <a:xfrm>
            <a:off x="1016000" y="2032000"/>
            <a:ext cx="4233291" cy="508000"/>
          </a:xfrm>
          <a:prstGeom prst="roundRect">
            <a:avLst>
              <a:gd name="adj" fmla="val 12000"/>
            </a:avLst>
          </a:prstGeom>
          <a:solidFill>
            <a:srgbClr val="FF6F00"/>
          </a:solidFill>
        </p:spPr>
        <p:txBody>
          <a:bodyPr/>
          <a:lstStyle/>
          <a:p>
            <a:endParaRPr/>
          </a:p>
        </p:txBody>
      </p:sp>
      <p:sp>
        <p:nvSpPr>
          <p:cNvPr id="20" name="Shape 18">
            <a:extLst>
              <a:ext uri="{FF2B5EF4-FFF2-40B4-BE49-F238E27FC236}">
                <a16:creationId xmlns:a16="http://schemas.microsoft.com/office/drawing/2014/main" id="{A73E51A1-CDBC-4123-9A89-1EFE6676EC87}"/>
              </a:ext>
            </a:extLst>
          </p:cNvPr>
          <p:cNvSpPr>
            <a:spLocks noGrp="1"/>
          </p:cNvSpPr>
          <p:nvPr/>
        </p:nvSpPr>
        <p:spPr>
          <a:xfrm>
            <a:off x="1016000" y="2032000"/>
            <a:ext cx="4233291" cy="508000"/>
          </a:xfrm>
          <a:prstGeom prst="rect">
            <a:avLst/>
          </a:prstGeom>
          <a:solidFill>
            <a:srgbClr val="FFFFFF">
              <a:alpha val="0"/>
            </a:srgbClr>
          </a:solidFill>
        </p:spPr>
        <p:txBody>
          <a:bodyPr/>
          <a:lstStyle/>
          <a:p>
            <a:endParaRPr/>
          </a:p>
        </p:txBody>
      </p:sp>
      <p:sp>
        <p:nvSpPr>
          <p:cNvPr id="21" name="Text 19">
            <a:extLst>
              <a:ext uri="{FF2B5EF4-FFF2-40B4-BE49-F238E27FC236}">
                <a16:creationId xmlns:a16="http://schemas.microsoft.com/office/drawing/2014/main" id="{2AADE062-9F7E-4411-AB98-649DD8F7AA8E}"/>
              </a:ext>
            </a:extLst>
          </p:cNvPr>
          <p:cNvSpPr>
            <a:spLocks noGrp="1"/>
          </p:cNvSpPr>
          <p:nvPr/>
        </p:nvSpPr>
        <p:spPr>
          <a:xfrm>
            <a:off x="894080" y="1971040"/>
            <a:ext cx="4477131" cy="629920"/>
          </a:xfrm>
          <a:prstGeom prst="rect">
            <a:avLst/>
          </a:prstGeom>
          <a:noFill/>
        </p:spPr>
        <p:txBody>
          <a:bodyPr wrap="square" lIns="0" tIns="0" rIns="0" bIns="0" anchor="ctr">
            <a:noAutofit/>
          </a:bodyPr>
          <a:lstStyle/>
          <a:p>
            <a:pPr algn="ctr">
              <a:lnSpc>
                <a:spcPct val="100000"/>
              </a:lnSpc>
              <a:buNone/>
              <a:defRPr sz="2100" b="1">
                <a:solidFill>
                  <a:srgbClr val="FFFFFF"/>
                </a:solidFill>
                <a:latin typeface="Times New Roman"/>
                <a:ea typeface="Times New Roman"/>
                <a:cs typeface="Times New Roman"/>
              </a:defRPr>
            </a:pPr>
            <a:r>
              <a:rPr sz="2600" b="1" i="0">
                <a:solidFill>
                  <a:srgbClr val="FFFFFF"/>
                </a:solidFill>
                <a:latin typeface="Times New Roman"/>
              </a:rPr>
              <a:t>KẾT QUẢ ĐẠT ĐƯỢC</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FE245B64-E813-405E-8E43-0BE0EA7E3EA1}"/>
              </a:ext>
            </a:extLst>
          </p:cNvPr>
          <p:cNvSpPr>
            <a:spLocks noGrp="1"/>
          </p:cNvSpPr>
          <p:nvPr/>
        </p:nvSpPr>
        <p:spPr>
          <a:xfrm>
            <a:off x="1016000" y="2624709"/>
            <a:ext cx="9482709" cy="3048000"/>
          </a:xfrm>
          <a:prstGeom prst="roundRect">
            <a:avLst>
              <a:gd name="adj" fmla="val 8000"/>
            </a:avLst>
          </a:prstGeom>
          <a:solidFill>
            <a:srgbClr val="FFF3E0"/>
          </a:solidFill>
          <a:ln w="12700">
            <a:solidFill>
              <a:srgbClr val="FFE0B2"/>
            </a:solidFill>
            <a:prstDash val="solid"/>
          </a:ln>
        </p:spPr>
        <p:txBody>
          <a:bodyPr/>
          <a:lstStyle/>
          <a:p>
            <a:endParaRPr/>
          </a:p>
        </p:txBody>
      </p:sp>
      <p:sp>
        <p:nvSpPr>
          <p:cNvPr id="23" name="Shape 21">
            <a:extLst>
              <a:ext uri="{FF2B5EF4-FFF2-40B4-BE49-F238E27FC236}">
                <a16:creationId xmlns:a16="http://schemas.microsoft.com/office/drawing/2014/main" id="{E6754066-A700-40B5-BA68-4BAE831E830F}"/>
              </a:ext>
            </a:extLst>
          </p:cNvPr>
          <p:cNvSpPr>
            <a:spLocks noGrp="1"/>
          </p:cNvSpPr>
          <p:nvPr/>
        </p:nvSpPr>
        <p:spPr>
          <a:xfrm>
            <a:off x="1270000" y="2794000"/>
            <a:ext cx="8974709" cy="474091"/>
          </a:xfrm>
          <a:prstGeom prst="rect">
            <a:avLst/>
          </a:prstGeom>
          <a:solidFill>
            <a:srgbClr val="FFFFFF">
              <a:alpha val="0"/>
            </a:srgbClr>
          </a:solidFill>
        </p:spPr>
        <p:txBody>
          <a:bodyPr/>
          <a:lstStyle/>
          <a:p>
            <a:endParaRPr/>
          </a:p>
        </p:txBody>
      </p:sp>
      <p:sp>
        <p:nvSpPr>
          <p:cNvPr id="24" name="Text 22">
            <a:extLst>
              <a:ext uri="{FF2B5EF4-FFF2-40B4-BE49-F238E27FC236}">
                <a16:creationId xmlns:a16="http://schemas.microsoft.com/office/drawing/2014/main" id="{395C0940-542B-418C-BB5C-C99B5164D83C}"/>
              </a:ext>
            </a:extLst>
          </p:cNvPr>
          <p:cNvSpPr>
            <a:spLocks noGrp="1"/>
          </p:cNvSpPr>
          <p:nvPr/>
        </p:nvSpPr>
        <p:spPr>
          <a:xfrm>
            <a:off x="1148080" y="2733040"/>
            <a:ext cx="9218549" cy="596011"/>
          </a:xfrm>
          <a:prstGeom prst="rect">
            <a:avLst/>
          </a:prstGeom>
          <a:noFill/>
        </p:spPr>
        <p:txBody>
          <a:bodyPr wrap="square" lIns="0" tIns="0" rIns="0" bIns="0" anchor="ctr">
            <a:noAutofit/>
          </a:bodyPr>
          <a:lstStyle/>
          <a:p>
            <a:pPr algn="l">
              <a:lnSpc>
                <a:spcPct val="100000"/>
              </a:lnSpc>
              <a:buNone/>
              <a:defRPr sz="3000" b="1">
                <a:solidFill>
                  <a:srgbClr val="EF6C00"/>
                </a:solidFill>
                <a:latin typeface="Times New Roman"/>
                <a:ea typeface="Times New Roman"/>
                <a:cs typeface="Times New Roman"/>
              </a:defRPr>
            </a:pPr>
            <a:r>
              <a:rPr sz="3400" b="1" i="0">
                <a:solidFill>
                  <a:srgbClr val="2E7D32"/>
                </a:solidFill>
                <a:latin typeface="Times New Roman"/>
              </a:rPr>
              <a:t>Minh chứng định lượng &amp; Phương pháp luận</a:t>
            </a:r>
            <a:endParaRPr sz="1600">
              <a:latin typeface="Times New Roman"/>
              <a:ea typeface="Times New Roman"/>
              <a:cs typeface="Times New Roman"/>
            </a:endParaRPr>
          </a:p>
        </p:txBody>
      </p:sp>
      <p:sp>
        <p:nvSpPr>
          <p:cNvPr id="25" name="Shape 23">
            <a:extLst>
              <a:ext uri="{FF2B5EF4-FFF2-40B4-BE49-F238E27FC236}">
                <a16:creationId xmlns:a16="http://schemas.microsoft.com/office/drawing/2014/main" id="{73ED6EA8-A42B-476D-9E68-FB538FBF9271}"/>
              </a:ext>
            </a:extLst>
          </p:cNvPr>
          <p:cNvSpPr>
            <a:spLocks noGrp="1"/>
          </p:cNvSpPr>
          <p:nvPr/>
        </p:nvSpPr>
        <p:spPr>
          <a:xfrm>
            <a:off x="1270000" y="3386709"/>
            <a:ext cx="8974709" cy="2116709"/>
          </a:xfrm>
          <a:prstGeom prst="rect">
            <a:avLst/>
          </a:prstGeom>
          <a:solidFill>
            <a:srgbClr val="FFFFFF">
              <a:alpha val="0"/>
            </a:srgbClr>
          </a:solidFill>
        </p:spPr>
        <p:txBody>
          <a:bodyPr/>
          <a:lstStyle/>
          <a:p>
            <a:endParaRPr/>
          </a:p>
        </p:txBody>
      </p:sp>
      <p:sp>
        <p:nvSpPr>
          <p:cNvPr id="26" name="Text 24">
            <a:extLst>
              <a:ext uri="{FF2B5EF4-FFF2-40B4-BE49-F238E27FC236}">
                <a16:creationId xmlns:a16="http://schemas.microsoft.com/office/drawing/2014/main" id="{4C2541A4-61F9-49ED-BD2E-08C2CA574D42}"/>
              </a:ext>
            </a:extLst>
          </p:cNvPr>
          <p:cNvSpPr>
            <a:spLocks noGrp="1"/>
          </p:cNvSpPr>
          <p:nvPr/>
        </p:nvSpPr>
        <p:spPr>
          <a:xfrm>
            <a:off x="1148080" y="3325749"/>
            <a:ext cx="9218549" cy="2238629"/>
          </a:xfrm>
          <a:prstGeom prst="rect">
            <a:avLst/>
          </a:prstGeom>
          <a:noFill/>
        </p:spPr>
        <p:txBody>
          <a:bodyPr wrap="square" lIns="0" tIns="0" rIns="0" bIns="0" anchor="t">
            <a:noAutofit/>
          </a:bodyPr>
          <a:lstStyle/>
          <a:p>
            <a:pPr algn="l">
              <a:lnSpc>
                <a:spcPct val="160000"/>
              </a:lnSpc>
              <a:buNone/>
              <a:defRPr sz="2850" b="0">
                <a:solidFill>
                  <a:srgbClr val="151515"/>
                </a:solidFill>
                <a:latin typeface="Times New Roman"/>
                <a:ea typeface="Times New Roman"/>
                <a:cs typeface="Times New Roman"/>
              </a:defRPr>
            </a:pPr>
            <a:r>
              <a:rPr sz="2800" b="0" i="0">
                <a:solidFill>
                  <a:srgbClr val="151515"/>
                </a:solidFill>
                <a:latin typeface="Times New Roman"/>
              </a:rPr>
              <a:t>• Meta-Labeling CatBoost: tăng tỷ lệ thắng lên 34,99%, giảm 40% Drawdown, Profit Factor 1,40.</a:t>
            </a:r>
            <a:endParaRPr sz="1600">
              <a:latin typeface="Times New Roman"/>
              <a:ea typeface="Times New Roman"/>
              <a:cs typeface="Times New Roman"/>
            </a:endParaRPr>
          </a:p>
          <a:p>
            <a:pPr algn="l"/>
            <a:r>
              <a:rPr sz="2800" b="0" i="0">
                <a:solidFill>
                  <a:srgbClr val="151515"/>
                </a:solidFill>
                <a:latin typeface="Times New Roman"/>
              </a:rPr>
              <a:t>• Vạch trần rò rỉ: Random K-Fold cho AUC ảo 0,8582; chỉ có Purged Walk-Forward (0,5895) phản ánh năng lực thật.</a:t>
            </a:r>
          </a:p>
        </p:txBody>
      </p:sp>
      <p:sp>
        <p:nvSpPr>
          <p:cNvPr id="27" name="Shape 25">
            <a:extLst>
              <a:ext uri="{FF2B5EF4-FFF2-40B4-BE49-F238E27FC236}">
                <a16:creationId xmlns:a16="http://schemas.microsoft.com/office/drawing/2014/main" id="{590C01AF-9714-4E11-BCD5-129CAC9C9341}"/>
              </a:ext>
            </a:extLst>
          </p:cNvPr>
          <p:cNvSpPr>
            <a:spLocks noGrp="1"/>
          </p:cNvSpPr>
          <p:nvPr/>
        </p:nvSpPr>
        <p:spPr>
          <a:xfrm>
            <a:off x="11176000" y="2032000"/>
            <a:ext cx="4741291" cy="508000"/>
          </a:xfrm>
          <a:prstGeom prst="roundRect">
            <a:avLst>
              <a:gd name="adj" fmla="val 12000"/>
            </a:avLst>
          </a:prstGeom>
          <a:solidFill>
            <a:srgbClr val="2E7D32"/>
          </a:solidFill>
        </p:spPr>
        <p:txBody>
          <a:bodyPr/>
          <a:lstStyle/>
          <a:p>
            <a:endParaRPr/>
          </a:p>
        </p:txBody>
      </p:sp>
      <p:sp>
        <p:nvSpPr>
          <p:cNvPr id="28" name="Shape 26">
            <a:extLst>
              <a:ext uri="{FF2B5EF4-FFF2-40B4-BE49-F238E27FC236}">
                <a16:creationId xmlns:a16="http://schemas.microsoft.com/office/drawing/2014/main" id="{C6A3ADD1-5E08-4B1C-979A-CEAA2229FBBF}"/>
              </a:ext>
            </a:extLst>
          </p:cNvPr>
          <p:cNvSpPr>
            <a:spLocks noGrp="1"/>
          </p:cNvSpPr>
          <p:nvPr/>
        </p:nvSpPr>
        <p:spPr>
          <a:xfrm>
            <a:off x="11176000" y="2032000"/>
            <a:ext cx="4741291" cy="508000"/>
          </a:xfrm>
          <a:prstGeom prst="rect">
            <a:avLst/>
          </a:prstGeom>
          <a:solidFill>
            <a:srgbClr val="FFFFFF">
              <a:alpha val="0"/>
            </a:srgbClr>
          </a:solidFill>
        </p:spPr>
        <p:txBody>
          <a:bodyPr/>
          <a:lstStyle/>
          <a:p>
            <a:endParaRPr/>
          </a:p>
        </p:txBody>
      </p:sp>
      <p:sp>
        <p:nvSpPr>
          <p:cNvPr id="29" name="Text 27">
            <a:extLst>
              <a:ext uri="{FF2B5EF4-FFF2-40B4-BE49-F238E27FC236}">
                <a16:creationId xmlns:a16="http://schemas.microsoft.com/office/drawing/2014/main" id="{AEC49308-4210-4B48-9435-32DB2EB9E1D9}"/>
              </a:ext>
            </a:extLst>
          </p:cNvPr>
          <p:cNvSpPr>
            <a:spLocks noGrp="1"/>
          </p:cNvSpPr>
          <p:nvPr/>
        </p:nvSpPr>
        <p:spPr>
          <a:xfrm>
            <a:off x="11054080" y="1971040"/>
            <a:ext cx="4985131" cy="629920"/>
          </a:xfrm>
          <a:prstGeom prst="rect">
            <a:avLst/>
          </a:prstGeom>
          <a:noFill/>
        </p:spPr>
        <p:txBody>
          <a:bodyPr wrap="square" lIns="0" tIns="0" rIns="0" bIns="0" anchor="ctr">
            <a:noAutofit/>
          </a:bodyPr>
          <a:lstStyle/>
          <a:p>
            <a:pPr algn="ctr">
              <a:lnSpc>
                <a:spcPct val="100000"/>
              </a:lnSpc>
              <a:buNone/>
              <a:defRPr sz="2100" b="1">
                <a:solidFill>
                  <a:srgbClr val="FFFFFF"/>
                </a:solidFill>
                <a:latin typeface="Times New Roman"/>
                <a:ea typeface="Times New Roman"/>
                <a:cs typeface="Times New Roman"/>
              </a:defRPr>
            </a:pPr>
            <a:r>
              <a:rPr sz="2600" b="1" i="0">
                <a:solidFill>
                  <a:srgbClr val="FFFFFF"/>
                </a:solidFill>
                <a:latin typeface="Times New Roman"/>
              </a:rPr>
              <a:t>ĐỊNH HƯỚNG TƯƠNG LAI</a:t>
            </a:r>
            <a:endParaRPr sz="1600">
              <a:latin typeface="Times New Roman"/>
              <a:ea typeface="Times New Roman"/>
              <a:cs typeface="Times New Roman"/>
            </a:endParaRPr>
          </a:p>
        </p:txBody>
      </p:sp>
      <p:sp>
        <p:nvSpPr>
          <p:cNvPr id="30" name="Shape 28">
            <a:extLst>
              <a:ext uri="{FF2B5EF4-FFF2-40B4-BE49-F238E27FC236}">
                <a16:creationId xmlns:a16="http://schemas.microsoft.com/office/drawing/2014/main" id="{DEA59BAC-A25E-4E0A-A501-1E9E3CF58096}"/>
              </a:ext>
            </a:extLst>
          </p:cNvPr>
          <p:cNvSpPr>
            <a:spLocks noGrp="1"/>
          </p:cNvSpPr>
          <p:nvPr/>
        </p:nvSpPr>
        <p:spPr>
          <a:xfrm>
            <a:off x="11176000" y="2624709"/>
            <a:ext cx="9482709" cy="3048000"/>
          </a:xfrm>
          <a:prstGeom prst="roundRect">
            <a:avLst>
              <a:gd name="adj" fmla="val 8000"/>
            </a:avLst>
          </a:prstGeom>
          <a:solidFill>
            <a:srgbClr val="E8F5E9"/>
          </a:solidFill>
          <a:ln w="25400">
            <a:solidFill>
              <a:srgbClr val="2E7D32"/>
            </a:solidFill>
            <a:prstDash val="solid"/>
          </a:ln>
        </p:spPr>
        <p:txBody>
          <a:bodyPr/>
          <a:lstStyle/>
          <a:p>
            <a:endParaRPr/>
          </a:p>
        </p:txBody>
      </p:sp>
      <p:sp>
        <p:nvSpPr>
          <p:cNvPr id="31" name="Shape 29">
            <a:extLst>
              <a:ext uri="{FF2B5EF4-FFF2-40B4-BE49-F238E27FC236}">
                <a16:creationId xmlns:a16="http://schemas.microsoft.com/office/drawing/2014/main" id="{D16697E5-FF3B-4E84-8C91-C1032C254FEA}"/>
              </a:ext>
            </a:extLst>
          </p:cNvPr>
          <p:cNvSpPr>
            <a:spLocks noGrp="1"/>
          </p:cNvSpPr>
          <p:nvPr/>
        </p:nvSpPr>
        <p:spPr>
          <a:xfrm>
            <a:off x="11430000" y="2794000"/>
            <a:ext cx="8974709" cy="474091"/>
          </a:xfrm>
          <a:prstGeom prst="rect">
            <a:avLst/>
          </a:prstGeom>
          <a:solidFill>
            <a:srgbClr val="FFFFFF">
              <a:alpha val="0"/>
            </a:srgbClr>
          </a:solidFill>
        </p:spPr>
        <p:txBody>
          <a:bodyPr/>
          <a:lstStyle/>
          <a:p>
            <a:endParaRPr/>
          </a:p>
        </p:txBody>
      </p:sp>
      <p:sp>
        <p:nvSpPr>
          <p:cNvPr id="32" name="Text 30">
            <a:extLst>
              <a:ext uri="{FF2B5EF4-FFF2-40B4-BE49-F238E27FC236}">
                <a16:creationId xmlns:a16="http://schemas.microsoft.com/office/drawing/2014/main" id="{4EF83CCD-04EC-4760-903B-CE5EB2DD2246}"/>
              </a:ext>
            </a:extLst>
          </p:cNvPr>
          <p:cNvSpPr>
            <a:spLocks noGrp="1"/>
          </p:cNvSpPr>
          <p:nvPr/>
        </p:nvSpPr>
        <p:spPr>
          <a:xfrm>
            <a:off x="11308080" y="2733040"/>
            <a:ext cx="9218549" cy="596011"/>
          </a:xfrm>
          <a:prstGeom prst="rect">
            <a:avLst/>
          </a:prstGeom>
          <a:noFill/>
        </p:spPr>
        <p:txBody>
          <a:bodyPr wrap="square" lIns="0" tIns="0" rIns="0" bIns="0" anchor="ctr">
            <a:noAutofit/>
          </a:bodyPr>
          <a:lstStyle/>
          <a:p>
            <a:pPr algn="l">
              <a:lnSpc>
                <a:spcPct val="100000"/>
              </a:lnSpc>
              <a:buNone/>
              <a:defRPr sz="3000" b="1">
                <a:solidFill>
                  <a:srgbClr val="2E7D32"/>
                </a:solidFill>
                <a:latin typeface="Times New Roman"/>
                <a:ea typeface="Times New Roman"/>
                <a:cs typeface="Times New Roman"/>
              </a:defRPr>
            </a:pPr>
            <a:r>
              <a:rPr sz="3400" b="1" i="0">
                <a:solidFill>
                  <a:srgbClr val="EF6C00"/>
                </a:solidFill>
                <a:latin typeface="Times New Roman"/>
              </a:rPr>
              <a:t>Mở rộng nghiên cứu</a:t>
            </a:r>
            <a:endParaRPr sz="1600">
              <a:latin typeface="Times New Roman"/>
              <a:ea typeface="Times New Roman"/>
              <a:cs typeface="Times New Roman"/>
            </a:endParaRPr>
          </a:p>
        </p:txBody>
      </p:sp>
      <p:sp>
        <p:nvSpPr>
          <p:cNvPr id="33" name="Shape 31">
            <a:extLst>
              <a:ext uri="{FF2B5EF4-FFF2-40B4-BE49-F238E27FC236}">
                <a16:creationId xmlns:a16="http://schemas.microsoft.com/office/drawing/2014/main" id="{578A381F-95FE-4ADB-B884-C0EC6781C9BF}"/>
              </a:ext>
            </a:extLst>
          </p:cNvPr>
          <p:cNvSpPr>
            <a:spLocks noGrp="1"/>
          </p:cNvSpPr>
          <p:nvPr/>
        </p:nvSpPr>
        <p:spPr>
          <a:xfrm>
            <a:off x="11430000" y="3386709"/>
            <a:ext cx="8974709" cy="2116709"/>
          </a:xfrm>
          <a:prstGeom prst="rect">
            <a:avLst/>
          </a:prstGeom>
          <a:solidFill>
            <a:srgbClr val="FFFFFF">
              <a:alpha val="0"/>
            </a:srgbClr>
          </a:solidFill>
        </p:spPr>
        <p:txBody>
          <a:bodyPr/>
          <a:lstStyle/>
          <a:p>
            <a:endParaRPr/>
          </a:p>
        </p:txBody>
      </p:sp>
      <p:sp>
        <p:nvSpPr>
          <p:cNvPr id="34" name="Text 32">
            <a:extLst>
              <a:ext uri="{FF2B5EF4-FFF2-40B4-BE49-F238E27FC236}">
                <a16:creationId xmlns:a16="http://schemas.microsoft.com/office/drawing/2014/main" id="{C74D931E-DE4B-4C76-BC65-823629B45B99}"/>
              </a:ext>
            </a:extLst>
          </p:cNvPr>
          <p:cNvSpPr>
            <a:spLocks noGrp="1"/>
          </p:cNvSpPr>
          <p:nvPr/>
        </p:nvSpPr>
        <p:spPr>
          <a:xfrm>
            <a:off x="11308080" y="3325749"/>
            <a:ext cx="9218549" cy="2238629"/>
          </a:xfrm>
          <a:prstGeom prst="rect">
            <a:avLst/>
          </a:prstGeom>
          <a:noFill/>
        </p:spPr>
        <p:txBody>
          <a:bodyPr wrap="square" lIns="0" tIns="0" rIns="0" bIns="0" anchor="t">
            <a:noAutofit/>
          </a:bodyPr>
          <a:lstStyle/>
          <a:p>
            <a:pPr algn="l">
              <a:lnSpc>
                <a:spcPct val="160000"/>
              </a:lnSpc>
              <a:buNone/>
              <a:defRPr sz="2850" b="0">
                <a:solidFill>
                  <a:srgbClr val="151515"/>
                </a:solidFill>
                <a:latin typeface="Times New Roman"/>
                <a:ea typeface="Times New Roman"/>
                <a:cs typeface="Times New Roman"/>
              </a:defRPr>
            </a:pPr>
            <a:r>
              <a:rPr sz="2800" b="0" i="0">
                <a:solidFill>
                  <a:srgbClr val="151515"/>
                </a:solidFill>
                <a:latin typeface="Times New Roman"/>
              </a:rPr>
              <a:t>• Thử nghiệm ngưỡng lọc động (Dynamic Threshold) thích ứng theo từng chế độ thị trường.</a:t>
            </a:r>
            <a:endParaRPr sz="1600">
              <a:latin typeface="Times New Roman"/>
              <a:ea typeface="Times New Roman"/>
              <a:cs typeface="Times New Roman"/>
            </a:endParaRPr>
          </a:p>
          <a:p>
            <a:pPr algn="l"/>
            <a:r>
              <a:rPr sz="2800" b="0" i="0">
                <a:solidFill>
                  <a:srgbClr val="151515"/>
                </a:solidFill>
                <a:latin typeface="Times New Roman"/>
              </a:rPr>
              <a:t>• Bổ sung đặc trưng vi cấu trúc sổ lệnh (Order Book).</a:t>
            </a:r>
          </a:p>
          <a:p>
            <a:pPr algn="l"/>
            <a:r>
              <a:rPr sz="2800" b="0" i="0">
                <a:solidFill>
                  <a:srgbClr val="151515"/>
                </a:solidFill>
                <a:latin typeface="Times New Roman"/>
              </a:rPr>
              <a:t>• Chuyển giao sang các bài toán y tế và IoT công nghiệp.</a:t>
            </a:r>
          </a:p>
        </p:txBody>
      </p:sp>
      <p:sp>
        <p:nvSpPr>
          <p:cNvPr id="35" name="Shape 33">
            <a:extLst>
              <a:ext uri="{FF2B5EF4-FFF2-40B4-BE49-F238E27FC236}">
                <a16:creationId xmlns:a16="http://schemas.microsoft.com/office/drawing/2014/main" id="{0E1E1388-09CF-4D73-B3EF-F5433003632C}"/>
              </a:ext>
            </a:extLst>
          </p:cNvPr>
          <p:cNvSpPr>
            <a:spLocks noGrp="1"/>
          </p:cNvSpPr>
          <p:nvPr/>
        </p:nvSpPr>
        <p:spPr>
          <a:xfrm>
            <a:off x="1016000" y="6180709"/>
            <a:ext cx="19642709" cy="2370709"/>
          </a:xfrm>
          <a:prstGeom prst="roundRect">
            <a:avLst>
              <a:gd name="adj" fmla="val 8000"/>
            </a:avLst>
          </a:prstGeom>
          <a:solidFill>
            <a:srgbClr val="E3F2FD"/>
          </a:solidFill>
          <a:ln w="25400">
            <a:solidFill>
              <a:srgbClr val="1565C0"/>
            </a:solidFill>
            <a:prstDash val="solid"/>
          </a:ln>
        </p:spPr>
        <p:txBody>
          <a:bodyPr/>
          <a:lstStyle/>
          <a:p>
            <a:endParaRPr/>
          </a:p>
        </p:txBody>
      </p:sp>
      <p:sp>
        <p:nvSpPr>
          <p:cNvPr id="36" name="Shape 34">
            <a:extLst>
              <a:ext uri="{FF2B5EF4-FFF2-40B4-BE49-F238E27FC236}">
                <a16:creationId xmlns:a16="http://schemas.microsoft.com/office/drawing/2014/main" id="{1319CF58-AD30-40C5-9FD6-7B5BC4A3DE05}"/>
              </a:ext>
            </a:extLst>
          </p:cNvPr>
          <p:cNvSpPr>
            <a:spLocks noGrp="1"/>
          </p:cNvSpPr>
          <p:nvPr/>
        </p:nvSpPr>
        <p:spPr>
          <a:xfrm>
            <a:off x="1354709" y="6350000"/>
            <a:ext cx="6773291" cy="474091"/>
          </a:xfrm>
          <a:prstGeom prst="rect">
            <a:avLst/>
          </a:prstGeom>
          <a:solidFill>
            <a:srgbClr val="FFFFFF">
              <a:alpha val="0"/>
            </a:srgbClr>
          </a:solidFill>
        </p:spPr>
        <p:txBody>
          <a:bodyPr/>
          <a:lstStyle/>
          <a:p>
            <a:endParaRPr/>
          </a:p>
        </p:txBody>
      </p:sp>
      <p:sp>
        <p:nvSpPr>
          <p:cNvPr id="37" name="Text 35">
            <a:extLst>
              <a:ext uri="{FF2B5EF4-FFF2-40B4-BE49-F238E27FC236}">
                <a16:creationId xmlns:a16="http://schemas.microsoft.com/office/drawing/2014/main" id="{846948F3-6ACA-47E4-A25E-001E454B5C32}"/>
              </a:ext>
            </a:extLst>
          </p:cNvPr>
          <p:cNvSpPr>
            <a:spLocks noGrp="1"/>
          </p:cNvSpPr>
          <p:nvPr/>
        </p:nvSpPr>
        <p:spPr>
          <a:xfrm>
            <a:off x="1232789" y="6289040"/>
            <a:ext cx="7017131" cy="596011"/>
          </a:xfrm>
          <a:prstGeom prst="rect">
            <a:avLst/>
          </a:prstGeom>
          <a:noFill/>
        </p:spPr>
        <p:txBody>
          <a:bodyPr wrap="square" lIns="0" tIns="0" rIns="0" bIns="0" anchor="ctr">
            <a:noAutofit/>
          </a:bodyPr>
          <a:lstStyle/>
          <a:p>
            <a:pPr algn="l">
              <a:lnSpc>
                <a:spcPct val="100000"/>
              </a:lnSpc>
              <a:buNone/>
              <a:defRPr sz="3000" b="1">
                <a:solidFill>
                  <a:srgbClr val="1565C0"/>
                </a:solidFill>
                <a:latin typeface="Times New Roman"/>
                <a:ea typeface="Times New Roman"/>
                <a:cs typeface="Times New Roman"/>
              </a:defRPr>
            </a:pPr>
            <a:r>
              <a:rPr sz="2600" b="1" i="0">
                <a:solidFill>
                  <a:srgbClr val="1565C0"/>
                </a:solidFill>
                <a:latin typeface="Times New Roman"/>
              </a:rPr>
              <a:t>Hai ưu tiên nghiên cứu cốt lõi:</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A756DF12-1F3C-42CB-83C5-54F8AFC84F97}"/>
              </a:ext>
            </a:extLst>
          </p:cNvPr>
          <p:cNvSpPr>
            <a:spLocks noGrp="1"/>
          </p:cNvSpPr>
          <p:nvPr/>
        </p:nvSpPr>
        <p:spPr>
          <a:xfrm>
            <a:off x="1354709" y="6942709"/>
            <a:ext cx="5926709" cy="1439291"/>
          </a:xfrm>
          <a:prstGeom prst="rect">
            <a:avLst/>
          </a:prstGeom>
          <a:solidFill>
            <a:srgbClr val="FFFFFF">
              <a:alpha val="0"/>
            </a:srgbClr>
          </a:solidFill>
        </p:spPr>
        <p:txBody>
          <a:bodyPr/>
          <a:lstStyle/>
          <a:p>
            <a:endParaRPr/>
          </a:p>
        </p:txBody>
      </p:sp>
      <p:sp>
        <p:nvSpPr>
          <p:cNvPr id="39" name="Text 37">
            <a:extLst>
              <a:ext uri="{FF2B5EF4-FFF2-40B4-BE49-F238E27FC236}">
                <a16:creationId xmlns:a16="http://schemas.microsoft.com/office/drawing/2014/main" id="{CB5C132E-5DE4-4907-8AD3-A3081E65293C}"/>
              </a:ext>
            </a:extLst>
          </p:cNvPr>
          <p:cNvSpPr>
            <a:spLocks noGrp="1"/>
          </p:cNvSpPr>
          <p:nvPr/>
        </p:nvSpPr>
        <p:spPr>
          <a:xfrm>
            <a:off x="1232789" y="6881749"/>
            <a:ext cx="6170549" cy="1561211"/>
          </a:xfrm>
          <a:prstGeom prst="rect">
            <a:avLst/>
          </a:prstGeom>
          <a:noFill/>
        </p:spPr>
        <p:txBody>
          <a:bodyPr wrap="square" lIns="0" tIns="0" rIns="0" bIns="0" anchor="ctr">
            <a:noAutofit/>
          </a:bodyPr>
          <a:lstStyle/>
          <a:p>
            <a:pPr algn="ctr">
              <a:lnSpc>
                <a:spcPct val="140000"/>
              </a:lnSpc>
              <a:buNone/>
              <a:defRPr sz="3675" b="1">
                <a:solidFill>
                  <a:srgbClr val="1565C0"/>
                </a:solidFill>
                <a:latin typeface="Times New Roman"/>
                <a:ea typeface="Times New Roman"/>
                <a:cs typeface="Times New Roman"/>
              </a:defRPr>
            </a:pPr>
            <a:r>
              <a:rPr sz="3200" b="1" i="0">
                <a:solidFill>
                  <a:srgbClr val="1565C0"/>
                </a:solidFill>
                <a:latin typeface="Times New Roman"/>
              </a:rPr>
              <a:t>01</a:t>
            </a:r>
            <a:endParaRPr sz="1600">
              <a:latin typeface="Times New Roman"/>
              <a:ea typeface="Times New Roman"/>
              <a:cs typeface="Times New Roman"/>
            </a:endParaRPr>
          </a:p>
          <a:p>
            <a:pPr algn="ctr"/>
            <a:r>
              <a:rPr sz="3200" b="1" i="0">
                <a:solidFill>
                  <a:srgbClr val="1565C0"/>
                </a:solidFill>
                <a:latin typeface="Times New Roman"/>
              </a:rPr>
              <a:t>Kiểm định Trung thực</a:t>
            </a:r>
          </a:p>
        </p:txBody>
      </p:sp>
      <p:sp>
        <p:nvSpPr>
          <p:cNvPr id="40" name="Shape 38">
            <a:extLst>
              <a:ext uri="{FF2B5EF4-FFF2-40B4-BE49-F238E27FC236}">
                <a16:creationId xmlns:a16="http://schemas.microsoft.com/office/drawing/2014/main" id="{FAE64AA8-6DC8-4ADE-BEC9-08B47F169FB2}"/>
              </a:ext>
            </a:extLst>
          </p:cNvPr>
          <p:cNvSpPr>
            <a:spLocks noGrp="1"/>
          </p:cNvSpPr>
          <p:nvPr/>
        </p:nvSpPr>
        <p:spPr>
          <a:xfrm>
            <a:off x="7789291" y="6942709"/>
            <a:ext cx="5926709" cy="1439291"/>
          </a:xfrm>
          <a:prstGeom prst="rect">
            <a:avLst/>
          </a:prstGeom>
          <a:solidFill>
            <a:srgbClr val="FFFFFF">
              <a:alpha val="0"/>
            </a:srgbClr>
          </a:solidFill>
        </p:spPr>
        <p:txBody>
          <a:bodyPr/>
          <a:lstStyle/>
          <a:p>
            <a:endParaRPr/>
          </a:p>
        </p:txBody>
      </p:sp>
      <p:sp>
        <p:nvSpPr>
          <p:cNvPr id="41" name="Text 39">
            <a:extLst>
              <a:ext uri="{FF2B5EF4-FFF2-40B4-BE49-F238E27FC236}">
                <a16:creationId xmlns:a16="http://schemas.microsoft.com/office/drawing/2014/main" id="{4FDAE505-E9D4-4187-A42C-E3D2F9B434FC}"/>
              </a:ext>
            </a:extLst>
          </p:cNvPr>
          <p:cNvSpPr>
            <a:spLocks noGrp="1"/>
          </p:cNvSpPr>
          <p:nvPr/>
        </p:nvSpPr>
        <p:spPr>
          <a:xfrm>
            <a:off x="14681136" y="6773291"/>
            <a:ext cx="6170549" cy="1561211"/>
          </a:xfrm>
          <a:prstGeom prst="rect">
            <a:avLst/>
          </a:prstGeom>
          <a:noFill/>
        </p:spPr>
        <p:txBody>
          <a:bodyPr wrap="square" lIns="0" tIns="0" rIns="0" bIns="0" anchor="ctr">
            <a:noAutofit/>
          </a:bodyPr>
          <a:lstStyle/>
          <a:p>
            <a:pPr algn="ctr">
              <a:lnSpc>
                <a:spcPct val="140000"/>
              </a:lnSpc>
              <a:buNone/>
              <a:defRPr sz="3675" b="1">
                <a:solidFill>
                  <a:srgbClr val="1565C0"/>
                </a:solidFill>
                <a:latin typeface="Times New Roman"/>
                <a:ea typeface="Times New Roman"/>
                <a:cs typeface="Times New Roman"/>
              </a:defRPr>
            </a:pPr>
            <a:r>
              <a:rPr sz="3200" b="1" i="0">
                <a:solidFill>
                  <a:srgbClr val="1565C0"/>
                </a:solidFill>
                <a:latin typeface="Times New Roman"/>
              </a:rPr>
              <a:t>02</a:t>
            </a:r>
            <a:endParaRPr sz="1600">
              <a:latin typeface="Times New Roman"/>
              <a:ea typeface="Times New Roman"/>
              <a:cs typeface="Times New Roman"/>
            </a:endParaRPr>
          </a:p>
          <a:p>
            <a:pPr algn="ctr"/>
            <a:r>
              <a:rPr sz="3200" b="1" i="0">
                <a:solidFill>
                  <a:srgbClr val="1565C0"/>
                </a:solidFill>
                <a:latin typeface="Times New Roman"/>
              </a:rPr>
              <a:t>Quản trị Rủi ro Thực tế</a:t>
            </a:r>
          </a:p>
        </p:txBody>
      </p:sp>
      <p:sp>
        <p:nvSpPr>
          <p:cNvPr id="42" name="Shape 40">
            <a:extLst>
              <a:ext uri="{FF2B5EF4-FFF2-40B4-BE49-F238E27FC236}">
                <a16:creationId xmlns:a16="http://schemas.microsoft.com/office/drawing/2014/main" id="{4FA13C95-19BC-45DB-85BE-FB8441B235F7}"/>
              </a:ext>
            </a:extLst>
          </p:cNvPr>
          <p:cNvSpPr>
            <a:spLocks noGrp="1"/>
          </p:cNvSpPr>
          <p:nvPr/>
        </p:nvSpPr>
        <p:spPr>
          <a:xfrm>
            <a:off x="14224000" y="6942709"/>
            <a:ext cx="5926709" cy="1439291"/>
          </a:xfrm>
          <a:prstGeom prst="rect">
            <a:avLst/>
          </a:prstGeom>
          <a:solidFill>
            <a:srgbClr val="FFFFFF">
              <a:alpha val="0"/>
            </a:srgbClr>
          </a:solidFill>
        </p:spPr>
        <p:txBody>
          <a:bodyPr/>
          <a:lstStyle/>
          <a:p>
            <a:endParaRPr/>
          </a:p>
        </p:txBody>
      </p:sp>
      <p:sp>
        <p:nvSpPr>
          <p:cNvPr id="45" name="Shape 42">
            <a:extLst>
              <a:ext uri="{FF2B5EF4-FFF2-40B4-BE49-F238E27FC236}">
                <a16:creationId xmlns:a16="http://schemas.microsoft.com/office/drawing/2014/main" id="{7A5B93F5-1D95-4533-B4FF-85BAA9532940}"/>
              </a:ext>
            </a:extLst>
          </p:cNvPr>
          <p:cNvSpPr>
            <a:spLocks noGrp="1"/>
          </p:cNvSpPr>
          <p:nvPr/>
        </p:nvSpPr>
        <p:spPr>
          <a:xfrm>
            <a:off x="19981291" y="11684000"/>
            <a:ext cx="1016000" cy="406400"/>
          </a:xfrm>
          <a:prstGeom prst="rect">
            <a:avLst/>
          </a:prstGeom>
          <a:solidFill>
            <a:srgbClr val="FFFFFF">
              <a:alpha val="0"/>
            </a:srgbClr>
          </a:solidFill>
        </p:spPr>
        <p:txBody>
          <a:bodyPr/>
          <a:lstStyle/>
          <a:p>
            <a:endParaRPr/>
          </a:p>
        </p:txBody>
      </p:sp>
      <p:sp>
        <p:nvSpPr>
          <p:cNvPr id="46" name="Text 43">
            <a:extLst>
              <a:ext uri="{FF2B5EF4-FFF2-40B4-BE49-F238E27FC236}">
                <a16:creationId xmlns:a16="http://schemas.microsoft.com/office/drawing/2014/main" id="{C528B0E3-5E06-46F3-B89B-38AFC36F18E5}"/>
              </a:ext>
            </a:extLst>
          </p:cNvPr>
          <p:cNvSpPr>
            <a:spLocks noGrp="1"/>
          </p:cNvSpPr>
          <p:nvPr/>
        </p:nvSpPr>
        <p:spPr>
          <a:xfrm>
            <a:off x="19859371" y="11623040"/>
            <a:ext cx="1259840" cy="528320"/>
          </a:xfrm>
          <a:prstGeom prst="rect">
            <a:avLst/>
          </a:prstGeom>
          <a:noFill/>
        </p:spPr>
        <p:txBody>
          <a:bodyPr wrap="squar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2400" b="0" i="0">
                <a:solidFill>
                  <a:srgbClr val="646464"/>
                </a:solidFill>
                <a:latin typeface="Times New Roman"/>
              </a:rPr>
              <a:t>17/18</a:t>
            </a:r>
            <a:endParaRPr sz="1600">
              <a:latin typeface="Times New Roman"/>
              <a:ea typeface="Times New Roman"/>
              <a:cs typeface="Times New Roman"/>
            </a:endParaRPr>
          </a:p>
        </p:txBody>
      </p:sp>
      <p:sp>
        <p:nvSpPr>
          <p:cNvPr id="47" name="Rectangle 46">
            <a:extLst>
              <a:ext uri="{FF2B5EF4-FFF2-40B4-BE49-F238E27FC236}">
                <a16:creationId xmlns:a16="http://schemas.microsoft.com/office/drawing/2014/main" id="{F1406475-87C0-4A14-8449-B44BF7CDB465}"/>
              </a:ext>
            </a:extLst>
          </p:cNvPr>
          <p:cNvSpPr>
            <a:spLocks noGrp="1"/>
          </p:cNvSpPr>
          <p:nvPr/>
        </p:nvSpPr>
        <p:spPr>
          <a:xfrm>
            <a:off x="1047750" y="9334500"/>
            <a:ext cx="19335750" cy="1143000"/>
          </a:xfrm>
          <a:prstGeom prst="rect">
            <a:avLst/>
          </a:prstGeom>
          <a:noFill/>
          <a:ln w="0">
            <a:noFill/>
          </a:ln>
        </p:spPr>
        <p:txBody>
          <a:bodyPr wrap="square">
            <a:noAutofit/>
          </a:bodyPr>
          <a:lstStyle/>
          <a:p>
            <a:pPr algn="ctr">
              <a:buNone/>
              <a:defRPr sz="2850" b="0">
                <a:solidFill>
                  <a:srgbClr val="151515"/>
                </a:solidFill>
                <a:latin typeface="Times New Roman"/>
                <a:ea typeface="Times New Roman"/>
                <a:cs typeface="Times New Roman"/>
              </a:defRPr>
            </a:pPr>
            <a:r>
              <a:rPr sz="2400" b="1" i="0">
                <a:solidFill>
                  <a:srgbClr val="1565C0"/>
                </a:solidFill>
                <a:latin typeface="Times New Roman"/>
              </a:rPr>
              <a:t>Thông điệp then chốt: Một mô hình chuỗi thời gian có AUC vừa phải nhưng kiểm định trung thực có giá trị thực tiễn gấp trăm lần một mô hình đạt AUC 0.99 nhờ rò rỉ dữ liệu!</a:t>
            </a:r>
          </a:p>
        </p:txBody>
      </p:sp>
    </p:spTree>
    <p:extLst>
      <p:ext uri="{BB962C8B-B14F-4D97-AF65-F5344CB8AC3E}">
        <p14:creationId xmlns:p14="http://schemas.microsoft.com/office/powerpoint/2010/main" val="174484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B54F549-9A7C-E1DD-C96D-217C56561AE2}"/>
              </a:ext>
            </a:extLst>
          </p:cNvPr>
          <p:cNvSpPr>
            <a:spLocks noGrp="1"/>
          </p:cNvSpPr>
          <p:nvPr>
            <p:ph type="body" idx="13"/>
          </p:nvPr>
        </p:nvSpPr>
        <p:spPr>
          <a:xfrm>
            <a:off x="3681758" y="3225693"/>
            <a:ext cx="14315384" cy="1137607"/>
          </a:xfrm>
        </p:spPr>
        <p:txBody>
          <a:bodyPr wrap="square">
            <a:noAutofit/>
          </a:bodyPr>
          <a:lstStyle/>
          <a:p>
            <a:pPr algn="ctr">
              <a:buNone/>
              <a:defRPr sz="5400" b="1">
                <a:solidFill>
                  <a:srgbClr val="151515"/>
                </a:solidFill>
                <a:latin typeface="Times New Roman"/>
                <a:ea typeface="Times New Roman"/>
                <a:cs typeface="Times New Roman"/>
              </a:defRPr>
            </a:pPr>
            <a:r>
              <a:rPr sz="5400" b="1" i="0">
                <a:solidFill>
                  <a:srgbClr val="1565C0"/>
                </a:solidFill>
                <a:latin typeface="Times New Roman"/>
              </a:rPr>
              <a:t>CẢM ƠN THẦY VÀ CÁC BẠN ĐÃ LẮNG NGHE!</a:t>
            </a:r>
            <a:endParaRPr sz="9600">
              <a:solidFill>
                <a:schemeClr val="tx1"/>
              </a:solidFill>
              <a:latin typeface="Times New Roman"/>
              <a:ea typeface="Times New Roman"/>
              <a:cs typeface="Times New Roman"/>
            </a:endParaRPr>
          </a:p>
        </p:txBody>
      </p:sp>
      <p:sp>
        <p:nvSpPr>
          <p:cNvPr id="2" name="Footer Placeholder 1">
            <a:extLst>
              <a:ext uri="{FF2B5EF4-FFF2-40B4-BE49-F238E27FC236}">
                <a16:creationId xmlns:a16="http://schemas.microsoft.com/office/drawing/2014/main" id="{75906116-94FC-D6DD-09B6-C5E2AA06C849}"/>
              </a:ext>
            </a:extLst>
          </p:cNvPr>
          <p:cNvSpPr>
            <a:spLocks noGrp="1"/>
          </p:cNvSpPr>
          <p:nvPr>
            <p:ph type="ftr" idx="11"/>
          </p:nvPr>
        </p:nvSpPr>
        <p:spPr/>
        <p:txBody>
          <a:bodyPr wrap="square">
            <a:noAutofit/>
          </a:bodyPr>
          <a:lstStyle/>
          <a:p>
            <a:pPr algn="ctr">
              <a:buNone/>
              <a:defRPr sz="1950" b="0">
                <a:solidFill>
                  <a:srgbClr val="151515"/>
                </a:solidFill>
                <a:latin typeface="Times New Roman"/>
                <a:ea typeface="Times New Roman"/>
                <a:cs typeface="Times New Roman"/>
              </a:defRPr>
            </a:pPr>
            <a:r>
              <a:rPr sz="2400" b="0" i="0">
                <a:solidFill>
                  <a:srgbClr val="646464"/>
                </a:solidFill>
                <a:latin typeface="Times New Roman"/>
              </a:rPr>
              <a:t>Đồ án Học Máy – CS106 – UIT</a:t>
            </a:r>
            <a:endParaRPr/>
          </a:p>
        </p:txBody>
      </p:sp>
      <p:sp>
        <p:nvSpPr>
          <p:cNvPr id="3" name="TextBox 2">
            <a:extLst>
              <a:ext uri="{FF2B5EF4-FFF2-40B4-BE49-F238E27FC236}">
                <a16:creationId xmlns:a16="http://schemas.microsoft.com/office/drawing/2014/main" id="{5BDA64B0-23F7-41DB-A236-975CF3C4B75F}"/>
              </a:ext>
            </a:extLst>
          </p:cNvPr>
          <p:cNvSpPr>
            <a:spLocks noGrp="1"/>
          </p:cNvSpPr>
          <p:nvPr/>
        </p:nvSpPr>
        <p:spPr>
          <a:xfrm>
            <a:off x="4341522" y="5467446"/>
            <a:ext cx="12995856" cy="1733936"/>
          </a:xfrm>
          <a:prstGeom prst="rect">
            <a:avLst/>
          </a:prstGeom>
          <a:noFill/>
        </p:spPr>
        <p:txBody>
          <a:bodyPr wrap="square">
            <a:noAutofit/>
          </a:bodyPr>
          <a:lstStyle/>
          <a:p>
            <a:pPr algn="ctr">
              <a:buNone/>
              <a:defRPr sz="3150" b="0">
                <a:solidFill>
                  <a:srgbClr val="151515"/>
                </a:solidFill>
                <a:latin typeface="Times New Roman"/>
                <a:ea typeface="Times New Roman"/>
                <a:cs typeface="Times New Roman"/>
              </a:defRPr>
            </a:pPr>
            <a:r>
              <a:rPr sz="3400" b="1" i="0">
                <a:solidFill>
                  <a:srgbClr val="151515"/>
                </a:solidFill>
                <a:latin typeface="Times New Roman"/>
              </a:rPr>
              <a:t>XÂY DỰNG HỆ THỐNG GIAO DỊCH VỚI TẦNG META-LABELING BẰNG CATBOOST</a:t>
            </a:r>
          </a:p>
          <a:p>
            <a:pPr algn="ctr"/>
            <a:r>
              <a:rPr sz="3400" b="1" i="0">
                <a:solidFill>
                  <a:srgbClr val="151515"/>
                </a:solidFill>
                <a:latin typeface="Times New Roman"/>
              </a:rPr>
              <a:t>GVHD: TS. Nguyễn Đình Hiển | Nhóm 11</a:t>
            </a:r>
          </a:p>
        </p:txBody>
      </p:sp>
      <p:sp>
        <p:nvSpPr>
          <p:cNvPr id="13" name="Rectangle 5">
            <a:extLst>
              <a:ext uri="{FF2B5EF4-FFF2-40B4-BE49-F238E27FC236}">
                <a16:creationId xmlns:a16="http://schemas.microsoft.com/office/drawing/2014/main" id="{049ED29E-0906-DE66-6D05-BA1E9E2871E4}"/>
              </a:ext>
            </a:extLst>
          </p:cNvPr>
          <p:cNvSpPr>
            <a:spLocks noGrp="1"/>
          </p:cNvSpPr>
          <p:nvPr/>
        </p:nvSpPr>
        <p:spPr>
          <a:xfrm>
            <a:off x="1492252" y="6673642"/>
            <a:ext cx="328360" cy="656590"/>
          </a:xfrm>
          <a:prstGeom prst="rect">
            <a:avLst/>
          </a:prstGeom>
          <a:noFill/>
          <a:ln>
            <a:noFill/>
          </a:ln>
        </p:spPr>
        <p:txBody>
          <a:bodyPr vert="horz" wrap="none" lIns="162560" tIns="81280" rIns="162560" bIns="81280" anchor="ctr">
            <a:spAutoFit/>
          </a:bodyPr>
          <a:lstStyle/>
          <a:p>
            <a:endParaRPr sz="3200"/>
          </a:p>
        </p:txBody>
      </p:sp>
      <p:graphicFrame>
        <p:nvGraphicFramePr>
          <p:cNvPr id="14" name="Table 13"/>
          <p:cNvGraphicFramePr>
            <a:graphicFrameLocks noGrp="1"/>
          </p:cNvGraphicFramePr>
          <p:nvPr/>
        </p:nvGraphicFramePr>
        <p:xfrm>
          <a:off x="6134100" y="7143750"/>
          <a:ext cx="9410700" cy="3900000"/>
        </p:xfrm>
        <a:graphic>
          <a:graphicData uri="http://schemas.openxmlformats.org/drawingml/2006/table">
            <a:tbl>
              <a:tblPr firstRow="1" bandRow="1">
                <a:tableStyleId>{5C22544A-7EE6-4342-B048-85BDC9FD1C3A}</a:tableStyleId>
              </a:tblPr>
              <a:tblGrid>
                <a:gridCol w="3293745">
                  <a:extLst>
                    <a:ext uri="{9D8B030D-6E8A-4147-A177-3AD203B41FA5}">
                      <a16:colId xmlns:a16="http://schemas.microsoft.com/office/drawing/2014/main" val="20000"/>
                    </a:ext>
                  </a:extLst>
                </a:gridCol>
                <a:gridCol w="6116955">
                  <a:extLst>
                    <a:ext uri="{9D8B030D-6E8A-4147-A177-3AD203B41FA5}">
                      <a16:colId xmlns:a16="http://schemas.microsoft.com/office/drawing/2014/main" val="20001"/>
                    </a:ext>
                  </a:extLst>
                </a:gridCol>
              </a:tblGrid>
              <a:tr h="487500">
                <a:tc>
                  <a:txBody>
                    <a:bodyPr/>
                    <a:lstStyle/>
                    <a:p>
                      <a:pPr algn="ctr">
                        <a:defRPr sz="2000" b="1">
                          <a:solidFill>
                            <a:srgbClr val="FFFFFF"/>
                          </a:solidFill>
                          <a:latin typeface="Times New Roman"/>
                        </a:defRPr>
                      </a:pPr>
                      <a:r>
                        <a:t>MSSV</a:t>
                      </a:r>
                    </a:p>
                  </a:txBody>
                  <a:tcPr>
                    <a:solidFill>
                      <a:srgbClr val="1565C0"/>
                    </a:solidFill>
                  </a:tcPr>
                </a:tc>
                <a:tc>
                  <a:txBody>
                    <a:bodyPr/>
                    <a:lstStyle/>
                    <a:p>
                      <a:pPr algn="ctr">
                        <a:defRPr sz="2000" b="1">
                          <a:solidFill>
                            <a:srgbClr val="FFFFFF"/>
                          </a:solidFill>
                          <a:latin typeface="Times New Roman"/>
                        </a:defRPr>
                      </a:pPr>
                      <a:r>
                        <a:t>HỌ VÀ TÊN</a:t>
                      </a:r>
                    </a:p>
                  </a:txBody>
                  <a:tcPr>
                    <a:solidFill>
                      <a:srgbClr val="1565C0"/>
                    </a:solidFill>
                  </a:tcPr>
                </a:tc>
                <a:extLst>
                  <a:ext uri="{0D108BD9-81ED-4DB2-BD59-A6C34878D82A}">
                    <a16:rowId xmlns:a16="http://schemas.microsoft.com/office/drawing/2014/main" val="10000"/>
                  </a:ext>
                </a:extLst>
              </a:tr>
              <a:tr h="487500">
                <a:tc>
                  <a:txBody>
                    <a:bodyPr/>
                    <a:lstStyle/>
                    <a:p>
                      <a:pPr algn="ctr">
                        <a:defRPr sz="2000" b="0">
                          <a:solidFill>
                            <a:srgbClr val="151515"/>
                          </a:solidFill>
                          <a:latin typeface="Times New Roman"/>
                        </a:defRPr>
                      </a:pPr>
                      <a:r>
                        <a:t>26410127</a:t>
                      </a:r>
                    </a:p>
                  </a:txBody>
                  <a:tcPr>
                    <a:solidFill>
                      <a:srgbClr val="FFFFFF"/>
                    </a:solidFill>
                  </a:tcPr>
                </a:tc>
                <a:tc>
                  <a:txBody>
                    <a:bodyPr/>
                    <a:lstStyle/>
                    <a:p>
                      <a:pPr algn="l">
                        <a:defRPr sz="2000" b="0">
                          <a:solidFill>
                            <a:srgbClr val="151515"/>
                          </a:solidFill>
                          <a:latin typeface="Times New Roman"/>
                        </a:defRPr>
                      </a:pPr>
                      <a:r>
                        <a:t>Dương Quốc Thương</a:t>
                      </a:r>
                    </a:p>
                  </a:txBody>
                  <a:tcPr>
                    <a:solidFill>
                      <a:srgbClr val="FFFFFF"/>
                    </a:solidFill>
                  </a:tcPr>
                </a:tc>
                <a:extLst>
                  <a:ext uri="{0D108BD9-81ED-4DB2-BD59-A6C34878D82A}">
                    <a16:rowId xmlns:a16="http://schemas.microsoft.com/office/drawing/2014/main" val="10001"/>
                  </a:ext>
                </a:extLst>
              </a:tr>
              <a:tr h="487500">
                <a:tc>
                  <a:txBody>
                    <a:bodyPr/>
                    <a:lstStyle/>
                    <a:p>
                      <a:pPr algn="ctr">
                        <a:defRPr sz="2000" b="0">
                          <a:solidFill>
                            <a:srgbClr val="151515"/>
                          </a:solidFill>
                          <a:latin typeface="Times New Roman"/>
                        </a:defRPr>
                      </a:pPr>
                      <a:r>
                        <a:t>26410115</a:t>
                      </a:r>
                    </a:p>
                  </a:txBody>
                  <a:tcPr>
                    <a:solidFill>
                      <a:srgbClr val="E3F2FD"/>
                    </a:solidFill>
                  </a:tcPr>
                </a:tc>
                <a:tc>
                  <a:txBody>
                    <a:bodyPr/>
                    <a:lstStyle/>
                    <a:p>
                      <a:pPr algn="l">
                        <a:defRPr sz="2000" b="0">
                          <a:solidFill>
                            <a:srgbClr val="151515"/>
                          </a:solidFill>
                          <a:latin typeface="Times New Roman"/>
                        </a:defRPr>
                      </a:pPr>
                      <a:r>
                        <a:t>Nông Nguyễn Thành</a:t>
                      </a:r>
                    </a:p>
                  </a:txBody>
                  <a:tcPr>
                    <a:solidFill>
                      <a:srgbClr val="E3F2FD"/>
                    </a:solidFill>
                  </a:tcPr>
                </a:tc>
                <a:extLst>
                  <a:ext uri="{0D108BD9-81ED-4DB2-BD59-A6C34878D82A}">
                    <a16:rowId xmlns:a16="http://schemas.microsoft.com/office/drawing/2014/main" val="10002"/>
                  </a:ext>
                </a:extLst>
              </a:tr>
              <a:tr h="487500">
                <a:tc>
                  <a:txBody>
                    <a:bodyPr/>
                    <a:lstStyle/>
                    <a:p>
                      <a:pPr algn="ctr">
                        <a:defRPr sz="2000" b="0">
                          <a:solidFill>
                            <a:srgbClr val="151515"/>
                          </a:solidFill>
                          <a:latin typeface="Times New Roman"/>
                        </a:defRPr>
                      </a:pPr>
                      <a:r>
                        <a:t>26410146</a:t>
                      </a:r>
                    </a:p>
                  </a:txBody>
                  <a:tcPr>
                    <a:solidFill>
                      <a:srgbClr val="FFFFFF"/>
                    </a:solidFill>
                  </a:tcPr>
                </a:tc>
                <a:tc>
                  <a:txBody>
                    <a:bodyPr/>
                    <a:lstStyle/>
                    <a:p>
                      <a:pPr algn="l">
                        <a:defRPr sz="2000" b="0">
                          <a:solidFill>
                            <a:srgbClr val="151515"/>
                          </a:solidFill>
                          <a:latin typeface="Times New Roman"/>
                        </a:defRPr>
                      </a:pPr>
                      <a:r>
                        <a:t>Hoàng Võ Minh Tuấn</a:t>
                      </a:r>
                    </a:p>
                  </a:txBody>
                  <a:tcPr>
                    <a:solidFill>
                      <a:srgbClr val="FFFFFF"/>
                    </a:solidFill>
                  </a:tcPr>
                </a:tc>
                <a:extLst>
                  <a:ext uri="{0D108BD9-81ED-4DB2-BD59-A6C34878D82A}">
                    <a16:rowId xmlns:a16="http://schemas.microsoft.com/office/drawing/2014/main" val="10003"/>
                  </a:ext>
                </a:extLst>
              </a:tr>
              <a:tr h="487500">
                <a:tc>
                  <a:txBody>
                    <a:bodyPr/>
                    <a:lstStyle/>
                    <a:p>
                      <a:pPr algn="ctr">
                        <a:defRPr sz="2000" b="0">
                          <a:solidFill>
                            <a:srgbClr val="151515"/>
                          </a:solidFill>
                          <a:latin typeface="Times New Roman"/>
                        </a:defRPr>
                      </a:pPr>
                      <a:r>
                        <a:t>26410108</a:t>
                      </a:r>
                    </a:p>
                  </a:txBody>
                  <a:tcPr>
                    <a:solidFill>
                      <a:srgbClr val="E3F2FD"/>
                    </a:solidFill>
                  </a:tcPr>
                </a:tc>
                <a:tc>
                  <a:txBody>
                    <a:bodyPr/>
                    <a:lstStyle/>
                    <a:p>
                      <a:pPr algn="l">
                        <a:defRPr sz="2000" b="0">
                          <a:solidFill>
                            <a:srgbClr val="151515"/>
                          </a:solidFill>
                          <a:latin typeface="Times New Roman"/>
                        </a:defRPr>
                      </a:pPr>
                      <a:r>
                        <a:t>Bùi Quốc Thịnh</a:t>
                      </a:r>
                    </a:p>
                  </a:txBody>
                  <a:tcPr>
                    <a:solidFill>
                      <a:srgbClr val="E3F2FD"/>
                    </a:solidFill>
                  </a:tcPr>
                </a:tc>
                <a:extLst>
                  <a:ext uri="{0D108BD9-81ED-4DB2-BD59-A6C34878D82A}">
                    <a16:rowId xmlns:a16="http://schemas.microsoft.com/office/drawing/2014/main" val="10004"/>
                  </a:ext>
                </a:extLst>
              </a:tr>
              <a:tr h="487500">
                <a:tc>
                  <a:txBody>
                    <a:bodyPr/>
                    <a:lstStyle/>
                    <a:p>
                      <a:pPr algn="ctr">
                        <a:defRPr sz="2000" b="0">
                          <a:solidFill>
                            <a:srgbClr val="151515"/>
                          </a:solidFill>
                          <a:latin typeface="Times New Roman"/>
                        </a:defRPr>
                      </a:pPr>
                      <a:r>
                        <a:t>26410024</a:t>
                      </a:r>
                    </a:p>
                  </a:txBody>
                  <a:tcPr>
                    <a:solidFill>
                      <a:srgbClr val="FFFFFF"/>
                    </a:solidFill>
                  </a:tcPr>
                </a:tc>
                <a:tc>
                  <a:txBody>
                    <a:bodyPr/>
                    <a:lstStyle/>
                    <a:p>
                      <a:pPr algn="l">
                        <a:defRPr sz="2000" b="0">
                          <a:solidFill>
                            <a:srgbClr val="151515"/>
                          </a:solidFill>
                          <a:latin typeface="Times New Roman"/>
                        </a:defRPr>
                      </a:pPr>
                      <a:r>
                        <a:t>Trần Tiến Dũng</a:t>
                      </a:r>
                    </a:p>
                  </a:txBody>
                  <a:tcPr>
                    <a:solidFill>
                      <a:srgbClr val="FFFFFF"/>
                    </a:solidFill>
                  </a:tcPr>
                </a:tc>
                <a:extLst>
                  <a:ext uri="{0D108BD9-81ED-4DB2-BD59-A6C34878D82A}">
                    <a16:rowId xmlns:a16="http://schemas.microsoft.com/office/drawing/2014/main" val="10005"/>
                  </a:ext>
                </a:extLst>
              </a:tr>
              <a:tr h="487500">
                <a:tc>
                  <a:txBody>
                    <a:bodyPr/>
                    <a:lstStyle/>
                    <a:p>
                      <a:pPr algn="ctr">
                        <a:defRPr sz="2000" b="0">
                          <a:solidFill>
                            <a:srgbClr val="151515"/>
                          </a:solidFill>
                          <a:latin typeface="Times New Roman"/>
                        </a:defRPr>
                      </a:pPr>
                      <a:r>
                        <a:t>25730049</a:t>
                      </a:r>
                    </a:p>
                  </a:txBody>
                  <a:tcPr>
                    <a:solidFill>
                      <a:srgbClr val="E3F2FD"/>
                    </a:solidFill>
                  </a:tcPr>
                </a:tc>
                <a:tc>
                  <a:txBody>
                    <a:bodyPr/>
                    <a:lstStyle/>
                    <a:p>
                      <a:pPr algn="l">
                        <a:defRPr sz="2000" b="0">
                          <a:solidFill>
                            <a:srgbClr val="151515"/>
                          </a:solidFill>
                          <a:latin typeface="Times New Roman"/>
                        </a:defRPr>
                      </a:pPr>
                      <a:r>
                        <a:t>Phạm Lê Yến Nhi</a:t>
                      </a:r>
                    </a:p>
                  </a:txBody>
                  <a:tcPr>
                    <a:solidFill>
                      <a:srgbClr val="E3F2FD"/>
                    </a:solidFill>
                  </a:tcPr>
                </a:tc>
                <a:extLst>
                  <a:ext uri="{0D108BD9-81ED-4DB2-BD59-A6C34878D82A}">
                    <a16:rowId xmlns:a16="http://schemas.microsoft.com/office/drawing/2014/main" val="10006"/>
                  </a:ext>
                </a:extLst>
              </a:tr>
              <a:tr h="487500">
                <a:tc>
                  <a:txBody>
                    <a:bodyPr/>
                    <a:lstStyle/>
                    <a:p>
                      <a:pPr algn="ctr">
                        <a:defRPr sz="2000" b="0">
                          <a:solidFill>
                            <a:srgbClr val="151515"/>
                          </a:solidFill>
                          <a:latin typeface="Times New Roman"/>
                        </a:defRPr>
                      </a:pPr>
                      <a:r>
                        <a:t>26410019</a:t>
                      </a:r>
                    </a:p>
                  </a:txBody>
                  <a:tcPr>
                    <a:solidFill>
                      <a:srgbClr val="FFFFFF"/>
                    </a:solidFill>
                  </a:tcPr>
                </a:tc>
                <a:tc>
                  <a:txBody>
                    <a:bodyPr/>
                    <a:lstStyle/>
                    <a:p>
                      <a:pPr algn="l">
                        <a:defRPr sz="2000" b="0">
                          <a:solidFill>
                            <a:srgbClr val="151515"/>
                          </a:solidFill>
                          <a:latin typeface="Times New Roman"/>
                        </a:defRPr>
                      </a:pPr>
                      <a:r>
                        <a:t>Trương Võ Thành Đạt</a:t>
                      </a:r>
                    </a:p>
                  </a:txBody>
                  <a:tcP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67791134"/>
      </p:ext>
    </p:extLst>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5229</Words>
  <Application>Microsoft Office PowerPoint</Application>
  <DocSecurity>0</DocSecurity>
  <PresentationFormat>Custom</PresentationFormat>
  <Paragraphs>469</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Dương Quốc Thương</cp:lastModifiedBy>
  <cp:revision>2</cp:revision>
  <cp:lastPrinted>2026-09-18T15:54:30Z</cp:lastPrinted>
  <dcterms:created xsi:type="dcterms:W3CDTF">2026-09-16T08:08:16Z</dcterms:created>
  <dcterms:modified xsi:type="dcterms:W3CDTF">2026-09-18T15:54:39Z</dcterms:modified>
</cp:coreProperties>
</file>
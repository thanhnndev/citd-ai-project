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21678900" cy="12192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0" d="100"/>
          <a:sy n="60" d="100"/>
        </p:scale>
        <p:origin x="66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“Em xin chào Thầy và các bạn. Nhóm em trình bày bài toán tìm cụm xúc phạm trong bình luận tiếng Việt. Bản cập nhật so sánh Linear, CRF và mô hình BiLSTM–CRF có DualHead. Em sẽ giải thích từng tầng bằng lời đơn giản, sau đó trình bày các hình kết quả mới.”</a:t>
            </a:r>
          </a:p>
          <a:p>
            <a:endParaRPr/>
          </a:p>
          <a:p>
            <a:r>
              <a:t>Nguồn: reports/BAO_CAO_DO_AN_VIHOS.md; reports/figures; run_ablation_reports.py; src/model.py; backend/inference.py. Bảng đối chứng và 11 dạng lỗi là số liệu khai báo trong tệp tạo hình. Ma trận dùng checkpoint DualHead trên 100 câu đầu test.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“Khi có nhiều bình luận, đọc từng câu để tìm nội dung xúc phạm sẽ mất thời gian. Tiếng Việt còn có từ lóng và cách viết biến dạng nên việc nhận ra chúng không đơn giản.</a:t>
            </a:r>
          </a:p>
          <a:p>
            <a:endParaRPr/>
          </a:p>
          <a:p>
            <a:r>
              <a:t>Nhóm muốn xây dựng hệ thống chỉ ra đúng từ hoặc cụm cần xem lại, đồng thời hạn chế bỏ sót và đánh dấu nhầm.</a:t>
            </a:r>
          </a:p>
          <a:p>
            <a:endParaRPr/>
          </a:p>
          <a:p>
            <a:r>
              <a:t>Kết quả giúp người kiểm duyệt biết phần nào cần chú ý. Nhóm so sánh các cách làm để chọn hướng phù hợp, sau đó đưa lên ứng dụng web.”</a:t>
            </a:r>
          </a:p>
          <a:p>
            <a:endParaRPr/>
          </a:p>
          <a:p>
            <a:r>
              <a:t>Nguồn: reports/BAO_CAO_DO_AN_VIHOS.md; reports/figures; run_ablation_reports.py; src/model.py; backend/inference.py. Bảng đối chứng và 11 dạng lỗi là số liệu khai báo trong tệp tạo hình. Ma trận dùng checkpoint DualHead trên 100 câu đầu test.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“Đầu vào là một bình luận tiếng Việt. Đầu ra là các cụm xúc phạm được tìm thấy.</a:t>
            </a:r>
          </a:p>
          <a:p>
            <a:endParaRPr/>
          </a:p>
          <a:p>
            <a:r>
              <a:t>Để đánh dấu vị trí, nhóm dùng ba nhãn: B là bắt đầu cụm, I là tiếp tục cụm, O là ngoài cụm.</a:t>
            </a:r>
          </a:p>
          <a:p>
            <a:endParaRPr/>
          </a:p>
          <a:p>
            <a:r>
              <a:t>Ví dụ ‘Bạn nói thật ngu’, từ ‘ngu’ là cụm cần đánh dấu trong ví dụ này nên nhận B; những từ còn lại nhận O. Nếu câu có nhiều cụm riêng biệt thì mỗi cụm bắt đầu lại bằng B.”</a:t>
            </a:r>
          </a:p>
          <a:p>
            <a:endParaRPr/>
          </a:p>
          <a:p>
            <a:r>
              <a:t>**Nhớ:** Đây là ví dụ minh họa nhãn, không phải kết quả kiểm tra mô hình.</a:t>
            </a:r>
          </a:p>
          <a:p>
            <a:endParaRPr/>
          </a:p>
          <a:p>
            <a:r>
              <a:t>Nguồn: reports/BAO_CAO_DO_AN_VIHOS.md; reports/figures; run_ablation_reports.py; src/model.py; backend/inference.py. Bảng đối chứng và 11 dạng lỗi là số liệu khai báo trong tệp tạo hình. Ma trận dùng checkpoint DualHead trên 100 câu đầu test.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“Dữ liệu gồm hơn 11 nghìn bình luận đã có nhãn. Nhóm chia thành phần để học, phần để chọn mô hình và phần để kiểm tra cuối cùng.</a:t>
            </a:r>
          </a:p>
          <a:p>
            <a:endParaRPr/>
          </a:p>
          <a:p>
            <a:r>
              <a:t>Phần lớn từ trong dữ liệu nằm ngoài cụm xúc phạm. Vì vậy, chỉ đếm số từ đoán đúng là chưa đủ. Nhóm cần đo xem mô hình tìm được bao nhiêu cụm và có đánh dấu nhầm hay không.”</a:t>
            </a:r>
          </a:p>
          <a:p>
            <a:endParaRPr/>
          </a:p>
          <a:p>
            <a:r>
              <a:t>Nguồn: reports/BAO_CAO_DO_AN_VIHOS.md; reports/figures; run_ablation_reports.py; src/model.py; backend/inference.py. Bảng đối chứng và 11 dạng lỗi là số liệu khai báo trong tệp tạo hình. Ma trận dùng checkpoint DualHead trên 100 câu đầu test.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“Cả ba mô hình đều dùng PhoBERT để tạo thông tin về từ trong ngữ cảnh.</a:t>
            </a:r>
          </a:p>
          <a:p>
            <a:endParaRPr/>
          </a:p>
          <a:p>
            <a:r>
              <a:t>Linear chọn nhãn cho từng vị trí. CRF xét thêm quan hệ giữa các nhãn. Mô hình thứ ba dùng BiLSTM–CRF để tìm cụm, đồng thời có đầu kiểm tra cả câu và cổng lọc.</a:t>
            </a:r>
          </a:p>
          <a:p>
            <a:endParaRPr/>
          </a:p>
          <a:p>
            <a:r>
              <a:t>Bộ hình mới so sánh ba cấu hình này. Vì mô hình cuối có cả BiLSTM và DualHead, nhóm chưa thể chỉ dựa vào ba dòng kết quả để kết luận riêng từng phần đóng góp bao nhiêu. Trang tiếp theo giải thích vai trò của từng tầng.”</a:t>
            </a:r>
          </a:p>
          <a:p>
            <a:endParaRPr/>
          </a:p>
          <a:p>
            <a:r>
              <a:t>Nguồn: reports/BAO_CAO_DO_AN_VIHOS.md; reports/figures; run_ablation_reports.py; src/model.py; backend/inference.py. Bảng đối chứng và 11 dạng lỗi là số liệu khai báo trong tệp tạo hình. Ma trận dùng checkpoint DualHead trên 100 câu đầu test.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“Có thể hiểu phương pháp của nhóm như một nhóm làm việc, mỗi phần phụ trách một việc.</a:t>
            </a:r>
          </a:p>
          <a:p>
            <a:endParaRPr/>
          </a:p>
          <a:p>
            <a:r>
              <a:t>PhoBERT giống người đọc câu: tạo thông tin về từ trong ngữ cảnh.</a:t>
            </a:r>
          </a:p>
          <a:p>
            <a:endParaRPr/>
          </a:p>
          <a:p>
            <a:r>
              <a:t>BiLSTM giống sổ tay đọc hai chiều: nối thông tin phía trước và phía sau.</a:t>
            </a:r>
          </a:p>
          <a:p>
            <a:endParaRPr/>
          </a:p>
          <a:p>
            <a:r>
              <a:t>CRF kiểm tra quan hệ giữa các nhãn rồi chọn cả chuỗi nhãn. Nó giúp giảm nhãn thiếu hợp lý, nhưng không bảo đảm hết mọi lỗi.</a:t>
            </a:r>
          </a:p>
          <a:p>
            <a:endParaRPr/>
          </a:p>
          <a:p>
            <a:r>
              <a:t>Ba phần này phục vụ việc tìm cụm. Đầu Intent làm thêm việc kiểm tra cả câu có chứa xúc phạm hay không.</a:t>
            </a:r>
          </a:p>
          <a:p>
            <a:endParaRPr/>
          </a:p>
          <a:p>
            <a:r>
              <a:t>Cuối cùng, cổng dùng kết quả kiểm tra câu để quyết định giữ hay bỏ các nhãn nghi vấn. Em sẽ giải thích cổng này ở trang tiếp theo.”</a:t>
            </a:r>
          </a:p>
          <a:p>
            <a:endParaRPr/>
          </a:p>
          <a:p>
            <a:r>
              <a:t>**Không cần đọc:** kích thước vector, công thức hoặc tên thuật toán Viterbi. Nếu được hỏi: vector PhoBERT có 768 chiều; Linear tạo điểm nhãn trước CRF.</a:t>
            </a:r>
          </a:p>
          <a:p>
            <a:endParaRPr/>
          </a:p>
          <a:p>
            <a:r>
              <a:t>Nguồn: reports/BAO_CAO_DO_AN_VIHOS.md; reports/figures; run_ablation_reports.py; src/model.py; backend/inference.py. Bảng đối chứng và 11 dạng lỗi là số liệu khai báo trong tệp tạo hình. Ma trận dùng checkpoint DualHead trên 100 câu đầu test.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“Dual head có thể hiểu là hai đầu làm hai việc, cùng dùng chung PhoBERT.</a:t>
            </a:r>
          </a:p>
          <a:p>
            <a:endParaRPr/>
          </a:p>
          <a:p>
            <a:r>
              <a:t>Đầu thứ nhất tìm những từ hoặc cụm có thể xúc phạm. Đầu thứ hai đánh giá cả câu có chứa nội dung xúc phạm hay không.</a:t>
            </a:r>
          </a:p>
          <a:p>
            <a:endParaRPr/>
          </a:p>
          <a:p>
            <a:r>
              <a:t>Sau đó có một cổng lọc. Nếu điểm của đầu thứ hai thấp hơn 0,5, các nhãn xúc phạm được đổi về O. Nếu điểm từ 0,5 trở lên, hệ thống giữ kết quả của đầu tìm cụm.</a:t>
            </a:r>
          </a:p>
          <a:p>
            <a:endParaRPr/>
          </a:p>
          <a:p>
            <a:r>
              <a:t>Mục tiêu là tránh chỉ vì gặp một từ nhạy cảm mà đánh dấu nhầm. Tuy nhiên, nếu đầu kiểm tra câu đoán sai, cổng cũng có thể xóa mất cụm xúc phạm thật. Vì vậy, cần xem cả lợi ích và nguy cơ bỏ sót.”</a:t>
            </a:r>
          </a:p>
          <a:p>
            <a:endParaRPr/>
          </a:p>
          <a:p>
            <a:r>
              <a:t>**Nếu Thầy hỏi thêm:** Nhãn của đầu kiểm tra câu mặc định được suy từ việc câu có nhãn B hoặc I. Nó không trực tiếp đo ý định trong đầu người viết. Công thức huấn luyện là `L = L_CRF + 0,5 × L_BCE`.</a:t>
            </a:r>
          </a:p>
          <a:p>
            <a:endParaRPr/>
          </a:p>
          <a:p>
            <a:r>
              <a:t>Nguồn: reports/BAO_CAO_DO_AN_VIHOS.md; reports/figures; run_ablation_reports.py; src/model.py; backend/inference.py. Bảng đối chứng và 11 dạng lỗi là số liệu khai báo trong tệp tạo hình. Ma trận dùng checkpoint DualHead trên 100 câu đầu test.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“Xét hai vế ‘Con chó này đẹp’ và ‘Mày đúng là con chó’. Cùng có từ ‘chó’, nhưng một vế nói về thú cưng, vế kia công kích người khác.</a:t>
            </a:r>
          </a:p>
          <a:p>
            <a:endParaRPr/>
          </a:p>
          <a:p>
            <a:r>
              <a:t>Để minh họa cổng, giả sử hệ thống xử lý riêng từng vế. Vế đầu có điểm 0,05, thấp hơn 0,5, nên cổng bỏ nhãn nghi vấn và giữ nguyên câu khen.</a:t>
            </a:r>
          </a:p>
          <a:p>
            <a:endParaRPr/>
          </a:p>
          <a:p>
            <a:r>
              <a:t>Vế sau có điểm 0,98, vượt ngưỡng, nên cổng giữ cụm đã tìm được để có thể che bằng dấu sao.</a:t>
            </a:r>
          </a:p>
          <a:p>
            <a:endParaRPr/>
          </a:p>
          <a:p>
            <a:r>
              <a:t>Hai điểm này dùng để giải thích cách hoạt động, chưa phải xác suất đầu Intent đo được cho từng vế. Bộ lọc trên web hiện còn dùng luật từ khóa. Điều nhóm hướng đến là giữ câu bình thường và tìm đúng cụm công kích.”</a:t>
            </a:r>
          </a:p>
          <a:p>
            <a:endParaRPr/>
          </a:p>
          <a:p>
            <a:r>
              <a:t>**Nhớ:** Muốn mô hình đánh giá riêng từng vế phải tách và chạy từng vế. Cổng không tự tìm thêm cụm mà đầu tìm cụm đã bỏ sót. Không khẳng định từ khóa nào cũng khiến mô hình cũ sai hoặc dual head sẽ loại bỏ hoàn toàn đánh dấu nhầm.</a:t>
            </a:r>
          </a:p>
          <a:p>
            <a:endParaRPr/>
          </a:p>
          <a:p>
            <a:r>
              <a:t>Nguồn: reports/BAO_CAO_DO_AN_VIHOS.md; reports/figures; run_ablation_reports.py; src/model.py; backend/inference.py. Bảng đối chứng và 11 dạng lỗi là số liệu khai báo trong tệp tạo hình. Ma trận dùng checkpoint DualHead trên 100 câu đầu test.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“Precision cho biết trong các cụm đã đánh dấu có bao nhiêu cụm đúng. Recall cho biết trong các cụm cần tìm, mô hình tìm được bao nhiêu. F1 kết hợp cả hai.</a:t>
            </a:r>
          </a:p>
          <a:p>
            <a:endParaRPr/>
          </a:p>
          <a:p>
            <a:r>
              <a:t>Theo bảng cập nhật, F1 của Linear là 66,28%, CRF là 68,61% và mô hình có DualHead là 71,35%. Như vậy, mô hình cuối cao hơn Linear 5,07 điểm phần trăm và cao hơn CRF 2,74 điểm.</a:t>
            </a:r>
          </a:p>
          <a:p>
            <a:endParaRPr/>
          </a:p>
          <a:p>
            <a:r>
              <a:t>Các số này theo bảng dùng tạo hình. Nhóm cần đối chiếu log đánh giá trên toàn bộ test để xác nhận kết quả của checkpoint.”</a:t>
            </a:r>
          </a:p>
          <a:p>
            <a:endParaRPr/>
          </a:p>
          <a:p>
            <a:r>
              <a:t>Nguồn: reports/BAO_CAO_DO_AN_VIHOS.md; reports/figures; run_ablation_reports.py; src/model.py; backend/inference.py. Bảng đối chứng và 11 dạng lỗi là số liệu khai báo trong tệp tạo hình. Ma trận dùng checkpoint DualHead trên 100 câu đầu test.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“Hình mới đã có DualHead ở cột thứ ba, đạt 71,35% theo báo cáo. Điều cần nhớ là mức tăng 5,07 điểm phần trăm so với Linear. Trục tung bắt đầu từ 60%, nên mình đọc giá trị số thay vì so tỷ lệ chiều cao các cột.”</a:t>
            </a:r>
          </a:p>
          <a:p>
            <a:endParaRPr/>
          </a:p>
          <a:p>
            <a:r>
              <a:t>Nguồn: reports/BAO_CAO_DO_AN_VIHOS.md; reports/figures; run_ablation_reports.py; src/model.py; backend/inference.py. Bảng đối chứng và 11 dạng lỗi là số liệu khai báo trong tệp tạo hình. Ma trận dùng checkpoint DualHead trên 100 câu đầu test.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“Hình này chỉ nói về lỗi xác định đầu cuối cụm. Tỷ lệ của Linear là 25,8%, CRF là 18,4%, còn DualHead là 13,8%.</a:t>
            </a:r>
          </a:p>
          <a:p>
            <a:endParaRPr/>
          </a:p>
          <a:p>
            <a:r>
              <a:t>Chênh lệch giữa Linear và DualHead là 12 điểm phần trăm. Đây là phép trừ hai tỷ lệ, không phải mức giảm tương đối 12%. Lỗi vẫn còn, nên cần tiếp tục kiểm tra ranh giới cụm.”</a:t>
            </a:r>
          </a:p>
          <a:p>
            <a:endParaRPr/>
          </a:p>
          <a:p>
            <a:r>
              <a:t>Nguồn: reports/BAO_CAO_DO_AN_VIHOS.md; reports/figures; run_ablation_reports.py; src/model.py; backend/inference.py. Bảng đối chứng và 11 dạng lỗi là số liệu khai báo trong tệp tạo hình. Ma trận dùng checkpoint DualHead trên 100 câu đầu test.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“Hình số 4 đã đổi thành 11 dạng lỗi, không còn là biểu đồ đơn chuỗi và đa chuỗi.</a:t>
            </a:r>
          </a:p>
          <a:p>
            <a:endParaRPr/>
          </a:p>
          <a:p>
            <a:r>
              <a:t>Em chỉ nhấn mạnh hai nhóm: lỗi đa chuỗi giảm từ 12 xuống 4; đánh dấu nhầm từ động vật giảm từ 8 xuống 1. Tuy vậy, lỗi trích dẫn vẫn là 4 và lỗi nhãn gốc vẫn là 3.</a:t>
            </a:r>
          </a:p>
          <a:p>
            <a:endParaRPr/>
          </a:p>
          <a:p>
            <a:r>
              <a:t>Như vậy, có nhóm cải thiện rõ nhưng không phải mọi lỗi đều giảm hoặc biến mất.”</a:t>
            </a:r>
          </a:p>
          <a:p>
            <a:endParaRPr/>
          </a:p>
          <a:p>
            <a:r>
              <a:t>Nguồn: reports/BAO_CAO_DO_AN_VIHOS.md; reports/figures; run_ablation_reports.py; src/model.py; backend/inference.py. Bảng đối chứng và 11 dạng lỗi là số liệu khai báo trong tệp tạo hình. Ma trận dùng checkpoint DualHead trên 100 câu đầu test.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 trận mới dùng 100 câu đầu của tập test, gồm 1.186 từ. Hàng là nhãn thật, cột là nhãn dự đoán.</a:t>
            </a:r>
          </a:p>
          <a:p>
            <a:endParaRPr/>
          </a:p>
          <a:p>
            <a:r>
              <a:t>Có 25 từ B và 34 từ I bị đoán thành O, tức 59 từ thuộc cụm bị bỏ sót. Ngược lại, có 28 từ O bị đánh dấu thành B hoặc I.</a:t>
            </a:r>
          </a:p>
          <a:p>
            <a:endParaRPr/>
          </a:p>
          <a:p>
            <a:r>
              <a:t>Đây là kết quả cấp từ trên một phần test. Không dùng nó để thay cho điểm F1 cấp cụm của toàn bộ test.”</a:t>
            </a:r>
          </a:p>
          <a:p>
            <a:endParaRPr/>
          </a:p>
          <a:p>
            <a:r>
              <a:t>Nguồn: reports/BAO_CAO_DO_AN_VIHOS.md; reports/figures; run_ablation_reports.py; src/model.py; backend/inference.py. Bảng đối chứng và 11 dạng lỗi là số liệu khai báo trong tệp tạo hình. Ma trận dùng checkpoint DualHead trên 100 câu đầu test.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 này được giữ từ báo cáo trước: Linear và CRF tìm được cụm từ lóng, còn BiLSTM–CRF chưa có DualHead bỏ sót. Đây chưa phải kết quả chạy của DualHead mới.</a:t>
            </a:r>
          </a:p>
          <a:p>
            <a:endParaRPr/>
          </a:p>
          <a:p>
            <a:r>
              <a:t>Bài học là điểm tổng thể cao hơn không có nghĩa câu nào cũng đúng hơn. Nhóm cần thử lại các câu khó trên phiên bản hiện tại. Cổng chỉ giữ hoặc bỏ nhãn, không tự tìm thêm cụm mà đầu tìm cụm đã bỏ qua.”</a:t>
            </a:r>
          </a:p>
          <a:p>
            <a:endParaRPr/>
          </a:p>
          <a:p>
            <a:r>
              <a:t>Nguồn: reports/BAO_CAO_DO_AN_VIHOS.md; reports/figures; run_ablation_reports.py; src/model.py; backend/inference.py. Bảng đối chứng và 11 dạng lỗi là số liệu khai báo trong tệp tạo hình. Ma trận dùng checkpoint DualHead trên 100 câu đầu test.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“Người dùng nhập bình luận, hệ thống trả về các cụm được đánh dấu và nội dung đã che.</a:t>
            </a:r>
          </a:p>
          <a:p>
            <a:endParaRPr/>
          </a:p>
          <a:p>
            <a:r>
              <a:t>Hiện cần phân biệt hai bước: cổng trong mô hình dual head và bộ lọc từng vế bằng luật trên web. Khi đánh giá, nhóm cần biết kết quả cải thiện đến từ bước nào.</a:t>
            </a:r>
          </a:p>
          <a:p>
            <a:endParaRPr/>
          </a:p>
          <a:p>
            <a:r>
              <a:t>Ứng dụng cũng cần hiển thị rõ mô hình đã tải. Nếu chỉ đang dùng cách xử lý dự phòng thì không nên coi đó là kết quả của mô hình đã huấn luyện.”</a:t>
            </a:r>
          </a:p>
          <a:p>
            <a:endParaRPr/>
          </a:p>
          <a:p>
            <a:r>
              <a:t>Nguồn: reports/BAO_CAO_DO_AN_VIHOS.md; reports/figures; run_ablation_reports.py; src/model.py; backend/inference.py. Bảng đối chứng và 11 dạng lỗi là số liệu khai báo trong tệp tạo hình. Ma trận dùng checkpoint DualHead trên 100 câu đầu test.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“Có ba việc nhóm cần làm tiếp.</a:t>
            </a:r>
          </a:p>
          <a:p>
            <a:endParaRPr/>
          </a:p>
          <a:p>
            <a:r>
              <a:t>Thứ nhất, bổ sung ví dụ từ lóng và viết tắt, kiểm tra để nhãn vẫn đúng.</a:t>
            </a:r>
          </a:p>
          <a:p>
            <a:endParaRPr/>
          </a:p>
          <a:p>
            <a:r>
              <a:t>Thứ hai, thử các mức ngưỡng của dual head và so sánh khi bật, tắt cổng. Cần đo cả đánh dấu nhầm và bỏ sót.</a:t>
            </a:r>
          </a:p>
          <a:p>
            <a:endParaRPr/>
          </a:p>
          <a:p>
            <a:r>
              <a:t>Thứ ba, bổ sung câu châm biếm và câu có nhiều vế khác nghĩa. Trước khi kết luận hiệu quả, nhóm cần lưu kết quả test và tách rõ phần đóng góp của mô hình với phần lọc bằng luật.”</a:t>
            </a:r>
          </a:p>
          <a:p>
            <a:endParaRPr/>
          </a:p>
          <a:p>
            <a:r>
              <a:t>Nguồn: reports/BAO_CAO_DO_AN_VIHOS.md; reports/figures; run_ablation_reports.py; src/model.py; backend/inference.py. Bảng đối chứng và 11 dạng lỗi là số liệu khai báo trong tệp tạo hình. Ma trận dùng checkpoint DualHead trên 100 câu đầu test.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“Bộ đối chứng mới có ba mô hình. Theo báo cáo, mô hình có DualHead đạt F1 71,35%, cao hơn Linear 5,07 điểm phần trăm. Lỗi ranh giới giảm từ 25,8 xuống 13,8%.</a:t>
            </a:r>
          </a:p>
          <a:p>
            <a:endParaRPr/>
          </a:p>
          <a:p>
            <a:r>
              <a:t>Hình 11 dạng lỗi vẫn cho thấy các trường hợp khó như châm biếm và trích dẫn. Việc tiếp theo là xác nhận kết quả trên toàn bộ test, cải thiện dữ liệu và tách rõ hiệu quả của mô hình với bộ lọc luật.”</a:t>
            </a:r>
          </a:p>
          <a:p>
            <a:endParaRPr/>
          </a:p>
          <a:p>
            <a:r>
              <a:t>Nguồn: reports/BAO_CAO_DO_AN_VIHOS.md; reports/figures; run_ablation_reports.py; src/model.py; backend/inference.py. Bảng đối chứng và 11 dạng lỗi là số liệu khai báo trong tệp tạo hình. Ma trận dùng checkpoint DualHead trên 100 câu đầu test.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“Nhóm em xin kết thúc phần trình bày. Cảm ơn Thầy và các bạn đã lắng nghe. Nhóm em xin nhận câu hỏi và góp ý.”</a:t>
            </a:r>
          </a:p>
          <a:p>
            <a:endParaRPr/>
          </a:p>
          <a:p>
            <a:r>
              <a:t>Nguồn: reports/BAO_CAO_DO_AN_VIHOS.md; reports/figures; run_ablation_reports.py; src/model.py; backend/inference.py. Bảng đối chứng và 11 dạng lỗi là số liệu khai báo trong tệp tạo hình. Ma trận dùng checkpoint DualHead trên 100 câu đầu test.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êu đề">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454F319A-62FB-D9AB-91DD-E1478E7A521A}"/>
              </a:ext>
            </a:extLst>
          </p:cNvPr>
          <p:cNvSpPr>
            <a:spLocks noGrp="1"/>
          </p:cNvSpPr>
          <p:nvPr>
            <p:ph type="ftr" idx="11"/>
          </p:nvPr>
        </p:nvSpPr>
        <p:spPr>
          <a:xfrm>
            <a:off x="4185139" y="11521119"/>
            <a:ext cx="7624784" cy="420924"/>
          </a:xfrm>
        </p:spPr>
        <p:txBody>
          <a:bodyPr/>
          <a:lstStyle>
            <a:lvl1pPr algn="l">
              <a:buNone/>
              <a:defRPr sz="1956">
                <a:latin typeface="Times New Roman"/>
                <a:ea typeface="Times New Roman"/>
                <a:cs typeface="Times New Roman"/>
              </a:defRPr>
            </a:lvl1pPr>
          </a:lstStyle>
          <a:p>
            <a:r>
              <a:t>DIMENSIONALITY REDUCTION - Nhóm 13</a:t>
            </a:r>
          </a:p>
        </p:txBody>
      </p:sp>
      <p:sp>
        <p:nvSpPr>
          <p:cNvPr id="7" name="Freeform 6">
            <a:extLst>
              <a:ext uri="{FF2B5EF4-FFF2-40B4-BE49-F238E27FC236}">
                <a16:creationId xmlns:a16="http://schemas.microsoft.com/office/drawing/2014/main" id="{88E55FBA-E532-BB1F-9AD4-40205F001925}"/>
              </a:ext>
            </a:extLst>
          </p:cNvPr>
          <p:cNvSpPr>
            <a:spLocks noGrp="1"/>
          </p:cNvSpPr>
          <p:nvPr/>
        </p:nvSpPr>
        <p:spPr>
          <a:xfrm rot="10800000">
            <a:off x="-1" y="0"/>
            <a:ext cx="21678900" cy="12192000"/>
          </a:xfrm>
          <a:custGeom>
            <a:avLst/>
            <a:gdLst>
              <a:gd name="connsiteX0" fmla="*/ 12192000 w 12192000"/>
              <a:gd name="connsiteY0" fmla="*/ 304800 h 6858000"/>
              <a:gd name="connsiteX1" fmla="*/ 9909279 w 12192000"/>
              <a:gd name="connsiteY1" fmla="*/ 304800 h 6858000"/>
              <a:gd name="connsiteX2" fmla="*/ 9732789 w 12192000"/>
              <a:gd name="connsiteY2" fmla="*/ 152400 h 6858000"/>
              <a:gd name="connsiteX3" fmla="*/ 5617499 w 12192000"/>
              <a:gd name="connsiteY3" fmla="*/ 152400 h 6858000"/>
              <a:gd name="connsiteX4" fmla="*/ 5441009 w 12192000"/>
              <a:gd name="connsiteY4" fmla="*/ 0 h 6858000"/>
              <a:gd name="connsiteX5" fmla="*/ 12192000 w 12192000"/>
              <a:gd name="connsiteY5" fmla="*/ 0 h 6858000"/>
              <a:gd name="connsiteX6" fmla="*/ 0 w 12192000"/>
              <a:gd name="connsiteY6" fmla="*/ 616911 h 6858000"/>
              <a:gd name="connsiteX7" fmla="*/ 0 w 12192000"/>
              <a:gd name="connsiteY7" fmla="*/ 0 h 6858000"/>
              <a:gd name="connsiteX8" fmla="*/ 715617 w 12192000"/>
              <a:gd name="connsiteY8" fmla="*/ 0 h 6858000"/>
              <a:gd name="connsiteX9" fmla="*/ 12191999 w 12192000"/>
              <a:gd name="connsiteY9" fmla="*/ 6858000 h 6858000"/>
              <a:gd name="connsiteX10" fmla="*/ 11476382 w 12192000"/>
              <a:gd name="connsiteY10" fmla="*/ 6858000 h 6858000"/>
              <a:gd name="connsiteX11" fmla="*/ 12191999 w 12192000"/>
              <a:gd name="connsiteY11" fmla="*/ 6241089 h 6858000"/>
              <a:gd name="connsiteX12" fmla="*/ 6750991 w 12192000"/>
              <a:gd name="connsiteY12" fmla="*/ 6858000 h 6858000"/>
              <a:gd name="connsiteX13" fmla="*/ 0 w 12192000"/>
              <a:gd name="connsiteY13" fmla="*/ 6858000 h 6858000"/>
              <a:gd name="connsiteX14" fmla="*/ 0 w 12192000"/>
              <a:gd name="connsiteY14" fmla="*/ 6553200 h 6858000"/>
              <a:gd name="connsiteX15" fmla="*/ 2282721 w 12192000"/>
              <a:gd name="connsiteY15" fmla="*/ 6553200 h 6858000"/>
              <a:gd name="connsiteX16" fmla="*/ 2459211 w 12192000"/>
              <a:gd name="connsiteY16" fmla="*/ 6705600 h 6858000"/>
              <a:gd name="connsiteX17" fmla="*/ 6574500 w 12192000"/>
              <a:gd name="connsiteY17" fmla="*/ 6705600 h 6858000"/>
            </a:gdLst>
            <a:ahLst/>
            <a:cxnLst/>
            <a:rect l="l" t="t" r="r" b="b"/>
            <a:pathLst>
              <a:path w="12192000" h="6858000">
                <a:moveTo>
                  <a:pt x="12192000" y="304800"/>
                </a:moveTo>
                <a:lnTo>
                  <a:pt x="9909279" y="304800"/>
                </a:lnTo>
                <a:lnTo>
                  <a:pt x="9732789" y="152400"/>
                </a:lnTo>
                <a:lnTo>
                  <a:pt x="5617499" y="152400"/>
                </a:lnTo>
                <a:lnTo>
                  <a:pt x="5441009" y="0"/>
                </a:lnTo>
                <a:lnTo>
                  <a:pt x="12192000" y="0"/>
                </a:lnTo>
                <a:close/>
                <a:moveTo>
                  <a:pt x="0" y="616911"/>
                </a:moveTo>
                <a:lnTo>
                  <a:pt x="0" y="0"/>
                </a:lnTo>
                <a:lnTo>
                  <a:pt x="715617" y="0"/>
                </a:lnTo>
                <a:close/>
                <a:moveTo>
                  <a:pt x="12191999" y="6858000"/>
                </a:moveTo>
                <a:lnTo>
                  <a:pt x="11476382" y="6858000"/>
                </a:lnTo>
                <a:lnTo>
                  <a:pt x="12191999" y="6241089"/>
                </a:lnTo>
                <a:close/>
                <a:moveTo>
                  <a:pt x="6750991" y="6858000"/>
                </a:moveTo>
                <a:lnTo>
                  <a:pt x="0" y="6858000"/>
                </a:lnTo>
                <a:lnTo>
                  <a:pt x="0" y="6553200"/>
                </a:lnTo>
                <a:lnTo>
                  <a:pt x="2282721" y="6553200"/>
                </a:lnTo>
                <a:lnTo>
                  <a:pt x="2459211" y="6705600"/>
                </a:lnTo>
                <a:lnTo>
                  <a:pt x="6574500" y="6705600"/>
                </a:lnTo>
                <a:close/>
              </a:path>
            </a:pathLst>
          </a:cu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sz="3200"/>
          </a:p>
        </p:txBody>
      </p:sp>
      <p:sp>
        <p:nvSpPr>
          <p:cNvPr id="8" name="Isosceles Triangle 12">
            <a:extLst>
              <a:ext uri="{FF2B5EF4-FFF2-40B4-BE49-F238E27FC236}">
                <a16:creationId xmlns:a16="http://schemas.microsoft.com/office/drawing/2014/main" id="{BF14C68C-3577-C657-9E87-056612AF8E42}"/>
              </a:ext>
            </a:extLst>
          </p:cNvPr>
          <p:cNvSpPr>
            <a:spLocks noGrp="1"/>
          </p:cNvSpPr>
          <p:nvPr/>
        </p:nvSpPr>
        <p:spPr>
          <a:xfrm rot="10800000">
            <a:off x="2" y="1"/>
            <a:ext cx="1272456" cy="109673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3200"/>
          </a:p>
        </p:txBody>
      </p:sp>
      <p:sp>
        <p:nvSpPr>
          <p:cNvPr id="10" name="Straight Connector 9">
            <a:extLst>
              <a:ext uri="{FF2B5EF4-FFF2-40B4-BE49-F238E27FC236}">
                <a16:creationId xmlns:a16="http://schemas.microsoft.com/office/drawing/2014/main" id="{E5A902CB-97CE-431F-8D8F-032440FFD642}"/>
              </a:ext>
            </a:extLst>
          </p:cNvPr>
          <p:cNvSpPr>
            <a:spLocks noGrp="1"/>
          </p:cNvSpPr>
          <p:nvPr/>
        </p:nvSpPr>
        <p:spPr>
          <a:xfrm flipH="1">
            <a:off x="1386937" y="85831"/>
            <a:ext cx="3819943" cy="0"/>
          </a:xfrm>
          <a:prstGeom prst="line">
            <a:avLst/>
          </a:prstGeom>
          <a:solidFill>
            <a:srgbClr val="0072FF"/>
          </a:solidFill>
          <a:ln w="38100">
            <a:solidFill>
              <a:srgbClr val="00C6FF"/>
            </a:solidFill>
          </a:ln>
        </p:spPr>
        <p:style>
          <a:lnRef idx="1">
            <a:schemeClr val="accent1"/>
          </a:lnRef>
          <a:fillRef idx="0">
            <a:schemeClr val="accent1"/>
          </a:fillRef>
          <a:effectRef idx="0">
            <a:schemeClr val="accent1"/>
          </a:effectRef>
          <a:fontRef idx="minor">
            <a:schemeClr val="tx1"/>
          </a:fontRef>
        </p:style>
      </p:sp>
      <p:sp>
        <p:nvSpPr>
          <p:cNvPr id="11" name="Straight Connector 10">
            <a:extLst>
              <a:ext uri="{FF2B5EF4-FFF2-40B4-BE49-F238E27FC236}">
                <a16:creationId xmlns:a16="http://schemas.microsoft.com/office/drawing/2014/main" id="{376AAEFE-4495-423F-A308-B261C32BE115}"/>
              </a:ext>
            </a:extLst>
          </p:cNvPr>
          <p:cNvSpPr>
            <a:spLocks noGrp="1"/>
          </p:cNvSpPr>
          <p:nvPr/>
        </p:nvSpPr>
        <p:spPr>
          <a:xfrm flipH="1">
            <a:off x="104070" y="72791"/>
            <a:ext cx="1311358" cy="1145262"/>
          </a:xfrm>
          <a:prstGeom prst="line">
            <a:avLst/>
          </a:prstGeom>
          <a:solidFill>
            <a:srgbClr val="0072FF"/>
          </a:solidFill>
          <a:ln w="38100">
            <a:solidFill>
              <a:srgbClr val="00C6FF"/>
            </a:solidFill>
          </a:ln>
        </p:spPr>
        <p:style>
          <a:lnRef idx="1">
            <a:schemeClr val="accent1"/>
          </a:lnRef>
          <a:fillRef idx="0">
            <a:schemeClr val="accent1"/>
          </a:fillRef>
          <a:effectRef idx="0">
            <a:schemeClr val="accent1"/>
          </a:effectRef>
          <a:fontRef idx="minor">
            <a:schemeClr val="tx1"/>
          </a:fontRef>
        </p:style>
      </p:sp>
      <p:sp>
        <p:nvSpPr>
          <p:cNvPr id="12" name="Straight Connector 11">
            <a:extLst>
              <a:ext uri="{FF2B5EF4-FFF2-40B4-BE49-F238E27FC236}">
                <a16:creationId xmlns:a16="http://schemas.microsoft.com/office/drawing/2014/main" id="{334F5217-07BA-42D3-9B82-55D0CB2728AD}"/>
              </a:ext>
            </a:extLst>
          </p:cNvPr>
          <p:cNvSpPr>
            <a:spLocks noGrp="1"/>
          </p:cNvSpPr>
          <p:nvPr/>
        </p:nvSpPr>
        <p:spPr>
          <a:xfrm flipV="1">
            <a:off x="117113" y="1187159"/>
            <a:ext cx="0" cy="1664972"/>
          </a:xfrm>
          <a:prstGeom prst="line">
            <a:avLst/>
          </a:prstGeom>
          <a:solidFill>
            <a:srgbClr val="0072FF"/>
          </a:solidFill>
          <a:ln w="38100">
            <a:solidFill>
              <a:srgbClr val="00C6FF"/>
            </a:solidFill>
          </a:ln>
        </p:spPr>
        <p:style>
          <a:lnRef idx="1">
            <a:schemeClr val="accent1"/>
          </a:lnRef>
          <a:fillRef idx="0">
            <a:schemeClr val="accent1"/>
          </a:fillRef>
          <a:effectRef idx="0">
            <a:schemeClr val="accent1"/>
          </a:effectRef>
          <a:fontRef idx="minor">
            <a:schemeClr val="tx1"/>
          </a:fontRef>
        </p:style>
      </p:sp>
      <p:sp>
        <p:nvSpPr>
          <p:cNvPr id="13" name="Isosceles Triangle 12">
            <a:extLst>
              <a:ext uri="{FF2B5EF4-FFF2-40B4-BE49-F238E27FC236}">
                <a16:creationId xmlns:a16="http://schemas.microsoft.com/office/drawing/2014/main" id="{1DA43496-358A-E9F0-8CFC-6A952BD4F3E7}"/>
              </a:ext>
            </a:extLst>
          </p:cNvPr>
          <p:cNvSpPr>
            <a:spLocks noGrp="1"/>
          </p:cNvSpPr>
          <p:nvPr/>
        </p:nvSpPr>
        <p:spPr>
          <a:xfrm rot="10800000" flipH="1" flipV="1">
            <a:off x="20406445" y="11095271"/>
            <a:ext cx="1272456" cy="109673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3200"/>
          </a:p>
        </p:txBody>
      </p:sp>
      <p:sp>
        <p:nvSpPr>
          <p:cNvPr id="15" name="Straight Connector 14">
            <a:extLst>
              <a:ext uri="{FF2B5EF4-FFF2-40B4-BE49-F238E27FC236}">
                <a16:creationId xmlns:a16="http://schemas.microsoft.com/office/drawing/2014/main" id="{1DFAFC82-1C1F-4A41-B50F-5E58ABF4B8CE}"/>
              </a:ext>
            </a:extLst>
          </p:cNvPr>
          <p:cNvSpPr>
            <a:spLocks noGrp="1"/>
          </p:cNvSpPr>
          <p:nvPr/>
        </p:nvSpPr>
        <p:spPr>
          <a:xfrm flipV="1">
            <a:off x="15029556" y="9229781"/>
            <a:ext cx="3819943" cy="0"/>
          </a:xfrm>
          <a:prstGeom prst="line">
            <a:avLst/>
          </a:prstGeom>
          <a:solidFill>
            <a:srgbClr val="0072FF"/>
          </a:solidFill>
          <a:ln w="38100">
            <a:solidFill>
              <a:srgbClr val="00C6FF"/>
            </a:solidFill>
          </a:ln>
        </p:spPr>
        <p:style>
          <a:lnRef idx="1">
            <a:schemeClr val="accent1"/>
          </a:lnRef>
          <a:fillRef idx="0">
            <a:schemeClr val="accent1"/>
          </a:fillRef>
          <a:effectRef idx="0">
            <a:schemeClr val="accent1"/>
          </a:effectRef>
          <a:fontRef idx="minor">
            <a:schemeClr val="tx1"/>
          </a:fontRef>
        </p:style>
      </p:sp>
      <p:sp>
        <p:nvSpPr>
          <p:cNvPr id="16" name="Straight Connector 15">
            <a:extLst>
              <a:ext uri="{FF2B5EF4-FFF2-40B4-BE49-F238E27FC236}">
                <a16:creationId xmlns:a16="http://schemas.microsoft.com/office/drawing/2014/main" id="{3B8ACA5D-3A08-4808-81AE-9A6BC7FF482A}"/>
              </a:ext>
            </a:extLst>
          </p:cNvPr>
          <p:cNvSpPr>
            <a:spLocks noGrp="1"/>
          </p:cNvSpPr>
          <p:nvPr/>
        </p:nvSpPr>
        <p:spPr>
          <a:xfrm flipV="1">
            <a:off x="16312423" y="9242821"/>
            <a:ext cx="1311358" cy="1145262"/>
          </a:xfrm>
          <a:prstGeom prst="line">
            <a:avLst/>
          </a:prstGeom>
          <a:solidFill>
            <a:srgbClr val="0072FF"/>
          </a:solidFill>
          <a:ln w="38100">
            <a:solidFill>
              <a:srgbClr val="00C6FF"/>
            </a:solidFill>
          </a:ln>
        </p:spPr>
        <p:style>
          <a:lnRef idx="1">
            <a:schemeClr val="accent1"/>
          </a:lnRef>
          <a:fillRef idx="0">
            <a:schemeClr val="accent1"/>
          </a:fillRef>
          <a:effectRef idx="0">
            <a:schemeClr val="accent1"/>
          </a:effectRef>
          <a:fontRef idx="minor">
            <a:schemeClr val="tx1"/>
          </a:fontRef>
        </p:style>
      </p:sp>
      <p:sp>
        <p:nvSpPr>
          <p:cNvPr id="17" name="Straight Connector 16">
            <a:extLst>
              <a:ext uri="{FF2B5EF4-FFF2-40B4-BE49-F238E27FC236}">
                <a16:creationId xmlns:a16="http://schemas.microsoft.com/office/drawing/2014/main" id="{5AF98ACF-45A3-4157-9C4E-3BE247EE05E3}"/>
              </a:ext>
            </a:extLst>
          </p:cNvPr>
          <p:cNvSpPr>
            <a:spLocks noGrp="1"/>
          </p:cNvSpPr>
          <p:nvPr/>
        </p:nvSpPr>
        <p:spPr>
          <a:xfrm flipH="1">
            <a:off x="16299380" y="8128453"/>
            <a:ext cx="0" cy="1664972"/>
          </a:xfrm>
          <a:prstGeom prst="line">
            <a:avLst/>
          </a:prstGeom>
          <a:solidFill>
            <a:srgbClr val="0072FF"/>
          </a:solidFill>
          <a:ln w="38100">
            <a:solidFill>
              <a:srgbClr val="00C6FF"/>
            </a:solidFill>
          </a:ln>
        </p:spPr>
        <p:style>
          <a:lnRef idx="1">
            <a:schemeClr val="accent1"/>
          </a:lnRef>
          <a:fillRef idx="0">
            <a:schemeClr val="accent1"/>
          </a:fillRef>
          <a:effectRef idx="0">
            <a:schemeClr val="accent1"/>
          </a:effectRef>
          <a:fontRef idx="minor">
            <a:schemeClr val="tx1"/>
          </a:fontRef>
        </p:style>
      </p:sp>
      <p:sp>
        <p:nvSpPr>
          <p:cNvPr id="18" name="Freeform 17">
            <a:extLst>
              <a:ext uri="{FF2B5EF4-FFF2-40B4-BE49-F238E27FC236}">
                <a16:creationId xmlns:a16="http://schemas.microsoft.com/office/drawing/2014/main" id="{3366D05A-8A62-ADE1-F4B2-73F9CA085276}"/>
              </a:ext>
            </a:extLst>
          </p:cNvPr>
          <p:cNvSpPr>
            <a:spLocks noGrp="1"/>
          </p:cNvSpPr>
          <p:nvPr/>
        </p:nvSpPr>
        <p:spPr>
          <a:xfrm flipH="1">
            <a:off x="9674797" y="0"/>
            <a:ext cx="12004105" cy="541867"/>
          </a:xfrm>
          <a:custGeom>
            <a:avLst/>
            <a:gdLst>
              <a:gd name="connsiteX0" fmla="*/ 0 w 6750991"/>
              <a:gd name="connsiteY0" fmla="*/ 0 h 304800"/>
              <a:gd name="connsiteX1" fmla="*/ 6750991 w 6750991"/>
              <a:gd name="connsiteY1" fmla="*/ 0 h 304800"/>
              <a:gd name="connsiteX2" fmla="*/ 6574501 w 6750991"/>
              <a:gd name="connsiteY2" fmla="*/ 152400 h 304800"/>
              <a:gd name="connsiteX3" fmla="*/ 2459211 w 6750991"/>
              <a:gd name="connsiteY3" fmla="*/ 152400 h 304800"/>
              <a:gd name="connsiteX4" fmla="*/ 2282721 w 6750991"/>
              <a:gd name="connsiteY4" fmla="*/ 304800 h 304800"/>
              <a:gd name="connsiteX5" fmla="*/ 0 w 6750991"/>
              <a:gd name="connsiteY5" fmla="*/ 304800 h 304800"/>
            </a:gdLst>
            <a:ahLst/>
            <a:cxnLst/>
            <a:rect l="l" t="t" r="r" b="b"/>
            <a:pathLst>
              <a:path w="6750991" h="304800">
                <a:moveTo>
                  <a:pt x="0" y="0"/>
                </a:moveTo>
                <a:lnTo>
                  <a:pt x="6750991" y="0"/>
                </a:lnTo>
                <a:lnTo>
                  <a:pt x="6574501" y="152400"/>
                </a:lnTo>
                <a:lnTo>
                  <a:pt x="2459211" y="152400"/>
                </a:lnTo>
                <a:lnTo>
                  <a:pt x="2282721" y="304800"/>
                </a:lnTo>
                <a:lnTo>
                  <a:pt x="0" y="304800"/>
                </a:lnTo>
                <a:close/>
              </a:path>
            </a:pathLst>
          </a:custGeom>
          <a:gradFill rotWithShape="1">
            <a:gsLst>
              <a:gs pos="0">
                <a:srgbClr val="0072FF">
                  <a:alpha val="80000"/>
                </a:srgbClr>
              </a:gs>
              <a:gs pos="100000">
                <a:srgbClr val="00C6FF">
                  <a:alpha val="8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sz="3200"/>
          </a:p>
        </p:txBody>
      </p:sp>
      <p:sp>
        <p:nvSpPr>
          <p:cNvPr id="19" name="Freeform 18">
            <a:extLst>
              <a:ext uri="{FF2B5EF4-FFF2-40B4-BE49-F238E27FC236}">
                <a16:creationId xmlns:a16="http://schemas.microsoft.com/office/drawing/2014/main" id="{E7E6E6A9-35CE-D953-F678-DB52C8ED6EC1}"/>
              </a:ext>
            </a:extLst>
          </p:cNvPr>
          <p:cNvSpPr>
            <a:spLocks noGrp="1"/>
          </p:cNvSpPr>
          <p:nvPr/>
        </p:nvSpPr>
        <p:spPr>
          <a:xfrm flipV="1">
            <a:off x="2" y="11650133"/>
            <a:ext cx="12004105" cy="541867"/>
          </a:xfrm>
          <a:custGeom>
            <a:avLst/>
            <a:gdLst>
              <a:gd name="connsiteX0" fmla="*/ 0 w 6750991"/>
              <a:gd name="connsiteY0" fmla="*/ 0 h 304800"/>
              <a:gd name="connsiteX1" fmla="*/ 6750991 w 6750991"/>
              <a:gd name="connsiteY1" fmla="*/ 0 h 304800"/>
              <a:gd name="connsiteX2" fmla="*/ 6574501 w 6750991"/>
              <a:gd name="connsiteY2" fmla="*/ 152400 h 304800"/>
              <a:gd name="connsiteX3" fmla="*/ 2459211 w 6750991"/>
              <a:gd name="connsiteY3" fmla="*/ 152400 h 304800"/>
              <a:gd name="connsiteX4" fmla="*/ 2282721 w 6750991"/>
              <a:gd name="connsiteY4" fmla="*/ 304800 h 304800"/>
              <a:gd name="connsiteX5" fmla="*/ 0 w 6750991"/>
              <a:gd name="connsiteY5" fmla="*/ 304800 h 304800"/>
            </a:gdLst>
            <a:ahLst/>
            <a:cxnLst/>
            <a:rect l="l" t="t" r="r" b="b"/>
            <a:pathLst>
              <a:path w="6750991" h="304800">
                <a:moveTo>
                  <a:pt x="0" y="0"/>
                </a:moveTo>
                <a:lnTo>
                  <a:pt x="6750991" y="0"/>
                </a:lnTo>
                <a:lnTo>
                  <a:pt x="6574501" y="152400"/>
                </a:lnTo>
                <a:lnTo>
                  <a:pt x="2459211" y="152400"/>
                </a:lnTo>
                <a:lnTo>
                  <a:pt x="2282721" y="304800"/>
                </a:lnTo>
                <a:lnTo>
                  <a:pt x="0" y="304800"/>
                </a:lnTo>
                <a:close/>
              </a:path>
            </a:pathLst>
          </a:custGeom>
          <a:gradFill rotWithShape="1">
            <a:gsLst>
              <a:gs pos="0">
                <a:srgbClr val="0072FF">
                  <a:alpha val="80000"/>
                </a:srgbClr>
              </a:gs>
              <a:gs pos="100000">
                <a:srgbClr val="00C6FF">
                  <a:alpha val="8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endParaRPr sz="3200"/>
          </a:p>
        </p:txBody>
      </p:sp>
      <p:pic>
        <p:nvPicPr>
          <p:cNvPr id="60" name="Picture 22"/>
          <p:cNvPicPr>
            <a:picLocks noChangeAspect="1"/>
          </p:cNvPicPr>
          <p:nvPr/>
        </p:nvPicPr>
        <p:blipFill>
          <a:blip r:embed="rId3"/>
          <a:stretch>
            <a:fillRect/>
          </a:stretch>
        </p:blipFill>
        <p:spPr>
          <a:xfrm>
            <a:off x="733722" y="644689"/>
            <a:ext cx="967812" cy="800379"/>
          </a:xfrm>
          <a:prstGeom prst="rect">
            <a:avLst/>
          </a:prstGeom>
        </p:spPr>
      </p:pic>
      <p:sp>
        <p:nvSpPr>
          <p:cNvPr id="24" name="TextBox 23">
            <a:extLst>
              <a:ext uri="{FF2B5EF4-FFF2-40B4-BE49-F238E27FC236}">
                <a16:creationId xmlns:a16="http://schemas.microsoft.com/office/drawing/2014/main" id="{3272C38A-5DF7-B873-F169-2EA590FF1122}"/>
              </a:ext>
            </a:extLst>
          </p:cNvPr>
          <p:cNvSpPr>
            <a:spLocks noGrp="1"/>
          </p:cNvSpPr>
          <p:nvPr/>
        </p:nvSpPr>
        <p:spPr>
          <a:xfrm>
            <a:off x="1701535" y="615658"/>
            <a:ext cx="6966972" cy="858440"/>
          </a:xfrm>
          <a:prstGeom prst="rect">
            <a:avLst/>
          </a:prstGeom>
          <a:noFill/>
        </p:spPr>
        <p:txBody>
          <a:bodyPr wrap="none" anchor="ctr">
            <a:spAutoFit/>
          </a:bodyPr>
          <a:lstStyle/>
          <a:p>
            <a:r>
              <a:rPr sz="2489">
                <a:gradFill rotWithShape="1">
                  <a:gsLst>
                    <a:gs pos="0">
                      <a:srgbClr val="000046"/>
                    </a:gs>
                    <a:gs pos="100000">
                      <a:srgbClr val="1CB5E0"/>
                    </a:gs>
                  </a:gsLst>
                  <a:lin ang="2700000" scaled="1"/>
                  <a:tileRect/>
                </a:gradFill>
                <a:latin typeface="Times New Roman"/>
                <a:ea typeface="Times New Roman"/>
                <a:cs typeface="Times New Roman"/>
              </a:rPr>
              <a:t>ĐẠI HỌC QUỐC GIA TP. HỒ CHÍ MINH</a:t>
            </a:r>
          </a:p>
          <a:p>
            <a:r>
              <a:rPr sz="2489" b="1">
                <a:gradFill rotWithShape="1">
                  <a:gsLst>
                    <a:gs pos="0">
                      <a:srgbClr val="000046"/>
                    </a:gs>
                    <a:gs pos="100000">
                      <a:srgbClr val="1CB5E0"/>
                    </a:gs>
                  </a:gsLst>
                  <a:lin ang="2700000" scaled="1"/>
                  <a:tileRect/>
                </a:gradFill>
                <a:latin typeface="Times New Roman"/>
                <a:ea typeface="Times New Roman"/>
                <a:cs typeface="Times New Roman"/>
              </a:rPr>
              <a:t>TRƯỜNG ĐẠI HỌC CÔNG NGHỆ THÔNG TIN</a:t>
            </a:r>
          </a:p>
        </p:txBody>
      </p:sp>
      <p:sp>
        <p:nvSpPr>
          <p:cNvPr id="26" name="Oval 25">
            <a:extLst>
              <a:ext uri="{FF2B5EF4-FFF2-40B4-BE49-F238E27FC236}">
                <a16:creationId xmlns:a16="http://schemas.microsoft.com/office/drawing/2014/main" id="{390A5A10-F9AF-733C-8C7D-94D87B311EF5}"/>
              </a:ext>
            </a:extLst>
          </p:cNvPr>
          <p:cNvSpPr>
            <a:spLocks noGrp="1"/>
          </p:cNvSpPr>
          <p:nvPr/>
        </p:nvSpPr>
        <p:spPr>
          <a:xfrm>
            <a:off x="21203414" y="11703360"/>
            <a:ext cx="415932" cy="41585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777">
              <a:latin typeface="Times New Roman"/>
              <a:ea typeface="Times New Roman"/>
              <a:cs typeface="Times New Roman"/>
            </a:endParaRPr>
          </a:p>
        </p:txBody>
      </p:sp>
      <p:sp>
        <p:nvSpPr>
          <p:cNvPr id="6" name="Slide Number Placeholder 5">
            <a:extLst>
              <a:ext uri="{FF2B5EF4-FFF2-40B4-BE49-F238E27FC236}">
                <a16:creationId xmlns:a16="http://schemas.microsoft.com/office/drawing/2014/main" id="{2E21DEB9-E93C-A8E4-074F-F195EB1D8ABF}"/>
              </a:ext>
            </a:extLst>
          </p:cNvPr>
          <p:cNvSpPr>
            <a:spLocks noGrp="1"/>
          </p:cNvSpPr>
          <p:nvPr>
            <p:ph type="sldNum" idx="12"/>
          </p:nvPr>
        </p:nvSpPr>
        <p:spPr>
          <a:xfrm>
            <a:off x="21149657" y="11673601"/>
            <a:ext cx="518501" cy="518400"/>
          </a:xfrm>
          <a:prstGeom prst="rect">
            <a:avLst/>
          </a:prstGeom>
        </p:spPr>
        <p:txBody>
          <a:bodyPr vert="horz" lIns="91440" tIns="45720" rIns="91440" bIns="45720" anchor="ctr"/>
          <a:lstStyle>
            <a:lvl1pPr>
              <a:buNone/>
              <a:defRPr sz="1244">
                <a:solidFill>
                  <a:schemeClr val="tx1"/>
                </a:solidFill>
                <a:latin typeface="Times New Roman"/>
                <a:ea typeface="Times New Roman"/>
                <a:cs typeface="Times New Roman"/>
              </a:defRPr>
            </a:lvl1pPr>
          </a:lstStyle>
          <a:p>
            <a:pPr algn="ctr">
              <a:buNone/>
            </a:pPr>
            <a:fld id="{D8B0B3AC-44A8-D142-AAF6-9A453466E1A4}" type="slidenum">
              <a:t>‹#›</a:t>
            </a:fld>
            <a:endParaRPr/>
          </a:p>
        </p:txBody>
      </p:sp>
      <p:sp>
        <p:nvSpPr>
          <p:cNvPr id="34" name="Text Placeholder 33">
            <a:extLst>
              <a:ext uri="{FF2B5EF4-FFF2-40B4-BE49-F238E27FC236}">
                <a16:creationId xmlns:a16="http://schemas.microsoft.com/office/drawing/2014/main" id="{C4981174-E1E5-D0CF-F74E-4BBA287A5C73}"/>
              </a:ext>
            </a:extLst>
          </p:cNvPr>
          <p:cNvSpPr>
            <a:spLocks noGrp="1"/>
          </p:cNvSpPr>
          <p:nvPr>
            <p:ph type="body" idx="13" hasCustomPrompt="1"/>
          </p:nvPr>
        </p:nvSpPr>
        <p:spPr>
          <a:xfrm>
            <a:off x="3290967" y="3925615"/>
            <a:ext cx="15096969" cy="1237627"/>
          </a:xfrm>
        </p:spPr>
        <p:txBody>
          <a:bodyPr anchor="ctr">
            <a:normAutofit/>
          </a:bodyPr>
          <a:lstStyle>
            <a:lvl1pPr marL="0" indent="0" algn="ctr" defTabSz="1625519">
              <a:buNone/>
              <a:defRPr sz="7822" b="1" kern="1200">
                <a:ln>
                  <a:gradFill>
                    <a:gsLst>
                      <a:gs pos="0">
                        <a:srgbClr val="000046"/>
                      </a:gs>
                      <a:gs pos="100000">
                        <a:srgbClr val="1CB5E0"/>
                      </a:gs>
                    </a:gsLst>
                    <a:lin ang="5400000" scaled="1"/>
                  </a:gradFill>
                </a:ln>
                <a:noFill/>
                <a:latin typeface="Times New Roman"/>
                <a:ea typeface="Times New Roman"/>
                <a:cs typeface="Times New Roman"/>
              </a:defRPr>
            </a:lvl1pPr>
          </a:lstStyle>
          <a:p>
            <a:pPr lvl="0">
              <a:buNone/>
            </a:pPr>
            <a:r>
              <a:t>TÊN MÔN HỌC</a:t>
            </a:r>
          </a:p>
        </p:txBody>
      </p:sp>
      <p:sp>
        <p:nvSpPr>
          <p:cNvPr id="36" name="Text Placeholder 35">
            <a:extLst>
              <a:ext uri="{FF2B5EF4-FFF2-40B4-BE49-F238E27FC236}">
                <a16:creationId xmlns:a16="http://schemas.microsoft.com/office/drawing/2014/main" id="{F1F814F0-EAC8-84E1-83C4-B5C359387C5C}"/>
              </a:ext>
            </a:extLst>
          </p:cNvPr>
          <p:cNvSpPr>
            <a:spLocks noGrp="1"/>
          </p:cNvSpPr>
          <p:nvPr>
            <p:ph type="body" idx="14" hasCustomPrompt="1"/>
          </p:nvPr>
        </p:nvSpPr>
        <p:spPr>
          <a:xfrm>
            <a:off x="1559401" y="5403476"/>
            <a:ext cx="18560103" cy="816795"/>
          </a:xfrm>
        </p:spPr>
        <p:txBody>
          <a:bodyPr anchor="ctr">
            <a:normAutofit/>
          </a:bodyPr>
          <a:lstStyle>
            <a:lvl1pPr marL="0" indent="0" algn="ctr" defTabSz="1625519">
              <a:buNone/>
              <a:defRPr sz="3556" b="1" kern="1200">
                <a:gradFill>
                  <a:gsLst>
                    <a:gs pos="0">
                      <a:srgbClr val="000046"/>
                    </a:gs>
                    <a:gs pos="100000">
                      <a:srgbClr val="1CB5E0"/>
                    </a:gs>
                  </a:gsLst>
                  <a:lin ang="2700000" scaled="1"/>
                </a:gradFill>
                <a:latin typeface="Times New Roman"/>
                <a:ea typeface="Times New Roman"/>
                <a:cs typeface="Times New Roman"/>
              </a:defRPr>
            </a:lvl1pPr>
          </a:lstStyle>
          <a:p>
            <a:pPr lvl="0">
              <a:buNone/>
            </a:pPr>
            <a:r>
              <a:t>CHƯƠNG X: TÊN CHƯƠNG</a:t>
            </a:r>
          </a:p>
        </p:txBody>
      </p:sp>
      <p:sp>
        <p:nvSpPr>
          <p:cNvPr id="42" name="Text Placeholder 41">
            <a:extLst>
              <a:ext uri="{FF2B5EF4-FFF2-40B4-BE49-F238E27FC236}">
                <a16:creationId xmlns:a16="http://schemas.microsoft.com/office/drawing/2014/main" id="{2B8543E7-0085-7DF3-5351-E097219BEE40}"/>
              </a:ext>
            </a:extLst>
          </p:cNvPr>
          <p:cNvSpPr>
            <a:spLocks noGrp="1"/>
          </p:cNvSpPr>
          <p:nvPr>
            <p:ph type="body" idx="15" hasCustomPrompt="1"/>
          </p:nvPr>
        </p:nvSpPr>
        <p:spPr>
          <a:xfrm>
            <a:off x="8323350" y="8823198"/>
            <a:ext cx="5032197" cy="613343"/>
          </a:xfrm>
          <a:prstGeom prst="rect">
            <a:avLst/>
          </a:prstGeom>
          <a:gradFill>
            <a:gsLst>
              <a:gs pos="0">
                <a:srgbClr val="0072FF"/>
              </a:gs>
              <a:gs pos="100000">
                <a:srgbClr val="00C6FF"/>
              </a:gs>
            </a:gsLst>
            <a:lin ang="2700000" scaled="1"/>
          </a:gradFill>
        </p:spPr>
        <p:txBody>
          <a:bodyPr anchor="ctr">
            <a:normAutofit/>
          </a:bodyPr>
          <a:lstStyle>
            <a:lvl1pPr marL="0" indent="0" algn="ctr">
              <a:buNone/>
              <a:defRPr sz="2489" b="1" i="0">
                <a:solidFill>
                  <a:schemeClr val="bg1"/>
                </a:solidFill>
                <a:latin typeface="Times New Roman"/>
                <a:ea typeface="Times New Roman"/>
                <a:cs typeface="Times New Roman"/>
              </a:defRPr>
            </a:lvl1pPr>
          </a:lstStyle>
          <a:p>
            <a:pPr lvl="0">
              <a:buNone/>
            </a:pPr>
            <a:r>
              <a:t>Trình bày: Tên Giảng viên</a:t>
            </a:r>
          </a:p>
        </p:txBody>
      </p:sp>
      <p:sp>
        <p:nvSpPr>
          <p:cNvPr id="46" name="Text Placeholder 45">
            <a:extLst>
              <a:ext uri="{FF2B5EF4-FFF2-40B4-BE49-F238E27FC236}">
                <a16:creationId xmlns:a16="http://schemas.microsoft.com/office/drawing/2014/main" id="{18BC0B81-9708-34C0-3CBB-EA50270B9105}"/>
              </a:ext>
            </a:extLst>
          </p:cNvPr>
          <p:cNvSpPr>
            <a:spLocks noGrp="1"/>
          </p:cNvSpPr>
          <p:nvPr>
            <p:ph type="body" idx="16" hasCustomPrompt="1"/>
          </p:nvPr>
        </p:nvSpPr>
        <p:spPr>
          <a:xfrm>
            <a:off x="3290967" y="6454775"/>
            <a:ext cx="15096969" cy="1145263"/>
          </a:xfrm>
        </p:spPr>
        <p:txBody>
          <a:bodyPr anchor="ctr">
            <a:normAutofit/>
          </a:bodyPr>
          <a:lstStyle>
            <a:lvl1pPr marL="0" indent="0" algn="ctr">
              <a:buNone/>
              <a:defRPr sz="2133" spc="267" baseline="0">
                <a:solidFill>
                  <a:schemeClr val="bg1">
                    <a:lumMod val="75000"/>
                  </a:schemeClr>
                </a:solidFill>
                <a:latin typeface="Times New Roman"/>
                <a:ea typeface="Times New Roman"/>
                <a:cs typeface="Times New Roman"/>
              </a:defRPr>
            </a:lvl1pPr>
          </a:lstStyle>
          <a:p>
            <a:pPr lvl="0">
              <a:buNone/>
            </a:pPr>
            <a:r>
              <a:t>(Tóm tắt nếu có): Lorem ipsum dolor sit amet, consectetuer adipiscing elit. Maecenas porttitor congue massa. Fusce posuere, magna sed pulvinar ultricies, purus lectus malesuada libero, sit amet commodo magna eros quis urna.</a:t>
            </a:r>
          </a:p>
        </p:txBody>
      </p:sp>
      <p:sp>
        <p:nvSpPr>
          <p:cNvPr id="2" name="Date Placeholder 1">
            <a:extLst>
              <a:ext uri="{FF2B5EF4-FFF2-40B4-BE49-F238E27FC236}">
                <a16:creationId xmlns:a16="http://schemas.microsoft.com/office/drawing/2014/main" id="{98B28119-6BAB-C115-873B-3333E0D709F1}"/>
              </a:ext>
            </a:extLst>
          </p:cNvPr>
          <p:cNvSpPr>
            <a:spLocks noGrp="1"/>
          </p:cNvSpPr>
          <p:nvPr>
            <p:ph type="dt" idx="17"/>
          </p:nvPr>
        </p:nvSpPr>
        <p:spPr>
          <a:xfrm>
            <a:off x="12034006" y="11514665"/>
            <a:ext cx="4438015" cy="420912"/>
          </a:xfrm>
        </p:spPr>
        <p:txBody>
          <a:bodyPr/>
          <a:lstStyle>
            <a:lvl1pPr marL="0" algn="ctr" defTabSz="1625519">
              <a:buNone/>
              <a:defRPr sz="1956" kern="1200">
                <a:solidFill>
                  <a:schemeClr val="tx1">
                    <a:tint val="75000"/>
                  </a:schemeClr>
                </a:solidFill>
                <a:latin typeface="Times New Roman"/>
                <a:ea typeface="Times New Roman"/>
                <a:cs typeface="Times New Roman"/>
              </a:defRPr>
            </a:lvl1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dt="0"/>
  <p:txStyles>
    <p:titleStyle>
      <a:lvl1pPr algn="ctr" defTabSz="914400">
        <a:spcBef>
          <a:spcPct val="0"/>
        </a:spcBef>
        <a:buNone/>
        <a:defRPr sz="4400" kern="1200">
          <a:solidFill>
            <a:schemeClr val="tx1"/>
          </a:solidFill>
          <a:latin typeface="Times New Roman"/>
          <a:ea typeface="Times New Roman"/>
          <a:cs typeface="Times New Roman"/>
        </a:defRPr>
      </a:lvl1pPr>
    </p:titleStyle>
    <p:bodyStyle>
      <a:lvl1pPr marL="342900" indent="-342900" algn="l" defTabSz="914400">
        <a:spcBef>
          <a:spcPct val="20000"/>
        </a:spcBef>
        <a:buFont typeface="Times New Roman"/>
        <a:buChar char="•"/>
        <a:defRPr sz="3200" kern="1200">
          <a:solidFill>
            <a:schemeClr val="tx1"/>
          </a:solidFill>
          <a:latin typeface="Times New Roman"/>
          <a:ea typeface="Times New Roman"/>
          <a:cs typeface="Times New Roman"/>
        </a:defRPr>
      </a:lvl1pPr>
      <a:lvl2pPr marL="742950" indent="-285750" algn="l" defTabSz="914400">
        <a:spcBef>
          <a:spcPct val="20000"/>
        </a:spcBef>
        <a:buFont typeface="Times New Roman"/>
        <a:buChar char="–"/>
        <a:defRPr sz="2800" kern="1200">
          <a:solidFill>
            <a:schemeClr val="tx1"/>
          </a:solidFill>
          <a:latin typeface="Times New Roman"/>
          <a:ea typeface="Times New Roman"/>
          <a:cs typeface="Times New Roman"/>
        </a:defRPr>
      </a:lvl2pPr>
      <a:lvl3pPr marL="1143000" indent="-228600" algn="l" defTabSz="914400">
        <a:spcBef>
          <a:spcPct val="20000"/>
        </a:spcBef>
        <a:buFont typeface="Times New Roman"/>
        <a:buChar char="•"/>
        <a:defRPr sz="2400" kern="1200">
          <a:solidFill>
            <a:schemeClr val="tx1"/>
          </a:solidFill>
          <a:latin typeface="Times New Roman"/>
          <a:ea typeface="Times New Roman"/>
          <a:cs typeface="Times New Roman"/>
        </a:defRPr>
      </a:lvl3pPr>
      <a:lvl4pPr marL="1600200" indent="-228600" algn="l" defTabSz="914400">
        <a:spcBef>
          <a:spcPct val="20000"/>
        </a:spcBef>
        <a:buFont typeface="Times New Roman"/>
        <a:buChar char="–"/>
        <a:defRPr sz="2000" kern="1200">
          <a:solidFill>
            <a:schemeClr val="tx1"/>
          </a:solidFill>
          <a:latin typeface="Times New Roman"/>
          <a:ea typeface="Times New Roman"/>
          <a:cs typeface="Times New Roman"/>
        </a:defRPr>
      </a:lvl4pPr>
      <a:lvl5pPr marL="2057400" indent="-228600" algn="l" defTabSz="914400">
        <a:spcBef>
          <a:spcPct val="20000"/>
        </a:spcBef>
        <a:buFont typeface="Times New Roman"/>
        <a:buChar char="»"/>
        <a:defRPr sz="2000" kern="1200">
          <a:solidFill>
            <a:schemeClr val="tx1"/>
          </a:solidFill>
          <a:latin typeface="Times New Roman"/>
          <a:ea typeface="Times New Roman"/>
          <a:cs typeface="Times New Roman"/>
        </a:defRPr>
      </a:lvl5pPr>
      <a:lvl6pPr marL="2514600" indent="-228600" algn="l" defTabSz="914400">
        <a:spcBef>
          <a:spcPct val="20000"/>
        </a:spcBef>
        <a:buFont typeface="Times New Roman"/>
        <a:buChar char="•"/>
        <a:defRPr sz="2000" kern="1200">
          <a:solidFill>
            <a:schemeClr val="tx1"/>
          </a:solidFill>
          <a:latin typeface="Times New Roman"/>
          <a:ea typeface="Times New Roman"/>
          <a:cs typeface="Times New Roman"/>
        </a:defRPr>
      </a:lvl6pPr>
      <a:lvl7pPr marL="2971800" indent="-228600" algn="l" defTabSz="914400">
        <a:spcBef>
          <a:spcPct val="20000"/>
        </a:spcBef>
        <a:buFont typeface="Times New Roman"/>
        <a:buChar char="•"/>
        <a:defRPr sz="2000" kern="1200">
          <a:solidFill>
            <a:schemeClr val="tx1"/>
          </a:solidFill>
          <a:latin typeface="Times New Roman"/>
          <a:ea typeface="Times New Roman"/>
          <a:cs typeface="Times New Roman"/>
        </a:defRPr>
      </a:lvl7pPr>
      <a:lvl8pPr marL="3429000" indent="-228600" algn="l" defTabSz="914400">
        <a:spcBef>
          <a:spcPct val="20000"/>
        </a:spcBef>
        <a:buFont typeface="Times New Roman"/>
        <a:buChar char="•"/>
        <a:defRPr sz="2000" kern="1200">
          <a:solidFill>
            <a:schemeClr val="tx1"/>
          </a:solidFill>
          <a:latin typeface="Times New Roman"/>
          <a:ea typeface="Times New Roman"/>
          <a:cs typeface="Times New Roman"/>
        </a:defRPr>
      </a:lvl8pPr>
      <a:lvl9pPr marL="3886200" indent="-228600" algn="l" defTabSz="914400">
        <a:spcBef>
          <a:spcPct val="20000"/>
        </a:spcBef>
        <a:buFont typeface="Times New Roman"/>
        <a:buChar char="•"/>
        <a:defRPr sz="2000" kern="1200">
          <a:solidFill>
            <a:schemeClr val="tx1"/>
          </a:solidFill>
          <a:latin typeface="Times New Roman"/>
          <a:ea typeface="Times New Roman"/>
          <a:cs typeface="Times New Roman"/>
        </a:defRPr>
      </a:lvl9pPr>
    </p:bodyStyle>
    <p:otherStyle>
      <a:lvl1pPr marL="0" algn="l" defTabSz="914400">
        <a:buNone/>
        <a:defRPr sz="1800" kern="1200">
          <a:solidFill>
            <a:schemeClr val="tx1"/>
          </a:solidFill>
          <a:latin typeface="Times New Roman"/>
          <a:ea typeface="Times New Roman"/>
          <a:cs typeface="Times New Roman"/>
        </a:defRPr>
      </a:lvl1pPr>
      <a:lvl2pPr marL="457200" algn="l" defTabSz="914400">
        <a:buNone/>
        <a:defRPr sz="1800" kern="1200">
          <a:solidFill>
            <a:schemeClr val="tx1"/>
          </a:solidFill>
          <a:latin typeface="Times New Roman"/>
          <a:ea typeface="Times New Roman"/>
          <a:cs typeface="Times New Roman"/>
        </a:defRPr>
      </a:lvl2pPr>
      <a:lvl3pPr marL="914400" algn="l" defTabSz="914400">
        <a:buNone/>
        <a:defRPr sz="1800" kern="1200">
          <a:solidFill>
            <a:schemeClr val="tx1"/>
          </a:solidFill>
          <a:latin typeface="Times New Roman"/>
          <a:ea typeface="Times New Roman"/>
          <a:cs typeface="Times New Roman"/>
        </a:defRPr>
      </a:lvl3pPr>
      <a:lvl4pPr marL="1371600" algn="l" defTabSz="914400">
        <a:buNone/>
        <a:defRPr sz="1800" kern="1200">
          <a:solidFill>
            <a:schemeClr val="tx1"/>
          </a:solidFill>
          <a:latin typeface="Times New Roman"/>
          <a:ea typeface="Times New Roman"/>
          <a:cs typeface="Times New Roman"/>
        </a:defRPr>
      </a:lvl4pPr>
      <a:lvl5pPr marL="1828800" algn="l" defTabSz="914400">
        <a:buNone/>
        <a:defRPr sz="1800" kern="1200">
          <a:solidFill>
            <a:schemeClr val="tx1"/>
          </a:solidFill>
          <a:latin typeface="Times New Roman"/>
          <a:ea typeface="Times New Roman"/>
          <a:cs typeface="Times New Roman"/>
        </a:defRPr>
      </a:lvl5pPr>
      <a:lvl6pPr marL="2286000" algn="l" defTabSz="914400">
        <a:buNone/>
        <a:defRPr sz="1800" kern="1200">
          <a:solidFill>
            <a:schemeClr val="tx1"/>
          </a:solidFill>
          <a:latin typeface="Times New Roman"/>
          <a:ea typeface="Times New Roman"/>
          <a:cs typeface="Times New Roman"/>
        </a:defRPr>
      </a:lvl6pPr>
      <a:lvl7pPr marL="2743200" algn="l" defTabSz="914400">
        <a:buNone/>
        <a:defRPr sz="1800" kern="1200">
          <a:solidFill>
            <a:schemeClr val="tx1"/>
          </a:solidFill>
          <a:latin typeface="Times New Roman"/>
          <a:ea typeface="Times New Roman"/>
          <a:cs typeface="Times New Roman"/>
        </a:defRPr>
      </a:lvl7pPr>
      <a:lvl8pPr marL="3200400" algn="l" defTabSz="914400">
        <a:buNone/>
        <a:defRPr sz="1800" kern="1200">
          <a:solidFill>
            <a:schemeClr val="tx1"/>
          </a:solidFill>
          <a:latin typeface="Times New Roman"/>
          <a:ea typeface="Times New Roman"/>
          <a:cs typeface="Times New Roman"/>
        </a:defRPr>
      </a:lvl8pPr>
      <a:lvl9pPr marL="3657600" algn="l" defTabSz="914400">
        <a:buNone/>
        <a:defRPr sz="1800" kern="1200">
          <a:solidFill>
            <a:schemeClr val="tx1"/>
          </a:solidFill>
          <a:latin typeface="Times New Roman"/>
          <a:ea typeface="Times New Roman"/>
          <a:cs typeface="Times New Roman"/>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11F55CA5-843C-3510-DCA9-291216FC7646}"/>
              </a:ext>
            </a:extLst>
          </p:cNvPr>
          <p:cNvSpPr>
            <a:spLocks noGrp="1"/>
          </p:cNvSpPr>
          <p:nvPr>
            <p:ph type="body" idx="13"/>
          </p:nvPr>
        </p:nvSpPr>
        <p:spPr>
          <a:xfrm>
            <a:off x="2762250" y="2619375"/>
            <a:ext cx="16154400" cy="2190750"/>
          </a:xfrm>
        </p:spPr>
        <p:txBody>
          <a:bodyPr>
            <a:noAutofit/>
          </a:bodyPr>
          <a:lstStyle/>
          <a:p>
            <a:pPr algn="ctr">
              <a:buNone/>
              <a:defRPr sz="5100" b="1">
                <a:solidFill>
                  <a:srgbClr val="151515"/>
                </a:solidFill>
                <a:latin typeface="Times New Roman"/>
                <a:ea typeface="Times New Roman"/>
                <a:cs typeface="Times New Roman"/>
              </a:defRPr>
            </a:pPr>
            <a:r>
              <a:rPr sz="5100" b="1">
                <a:solidFill>
                  <a:srgbClr val="151515"/>
                </a:solidFill>
                <a:latin typeface="Times New Roman"/>
                <a:ea typeface="Times New Roman"/>
                <a:cs typeface="Times New Roman"/>
              </a:rPr>
              <a:t>BÁO CÁO ĐỒ ÁN</a:t>
            </a:r>
          </a:p>
          <a:p>
            <a:pPr algn="ctr">
              <a:buNone/>
              <a:defRPr sz="5100" b="1">
                <a:solidFill>
                  <a:srgbClr val="151515"/>
                </a:solidFill>
                <a:latin typeface="Times New Roman"/>
                <a:ea typeface="Times New Roman"/>
                <a:cs typeface="Times New Roman"/>
              </a:defRPr>
            </a:pPr>
            <a:r>
              <a:rPr sz="5100" b="1">
                <a:solidFill>
                  <a:srgbClr val="151515"/>
                </a:solidFill>
                <a:latin typeface="Times New Roman"/>
                <a:ea typeface="Times New Roman"/>
                <a:cs typeface="Times New Roman"/>
              </a:rPr>
              <a:t>NHẬN DIỆN CHUỖI XÚC PHẠM TIẾNG VIỆT</a:t>
            </a:r>
          </a:p>
        </p:txBody>
      </p:sp>
      <p:sp>
        <p:nvSpPr>
          <p:cNvPr id="2" name="Footer Placeholder 1">
            <a:extLst>
              <a:ext uri="{FF2B5EF4-FFF2-40B4-BE49-F238E27FC236}">
                <a16:creationId xmlns:a16="http://schemas.microsoft.com/office/drawing/2014/main" id="{2D72110C-D077-8C1D-3057-3378C02C490F}"/>
              </a:ext>
            </a:extLst>
          </p:cNvPr>
          <p:cNvSpPr>
            <a:spLocks noGrp="1"/>
          </p:cNvSpPr>
          <p:nvPr>
            <p:ph type="ftr" idx="11"/>
          </p:nvPr>
        </p:nvSpPr>
        <p:spPr/>
        <p:txBody>
          <a:bodyPr>
            <a:noAutofit/>
          </a:bodyPr>
          <a:lstStyle/>
          <a:p>
            <a:pPr>
              <a:buNone/>
              <a:defRPr sz="1950" b="0">
                <a:solidFill>
                  <a:srgbClr val="151515"/>
                </a:solidFill>
                <a:latin typeface="Times New Roman"/>
                <a:ea typeface="Times New Roman"/>
                <a:cs typeface="Times New Roman"/>
              </a:defRPr>
            </a:pPr>
            <a:r>
              <a:rPr sz="1950" b="0">
                <a:solidFill>
                  <a:srgbClr val="151515"/>
                </a:solidFill>
                <a:latin typeface="Times New Roman"/>
                <a:ea typeface="Times New Roman"/>
                <a:cs typeface="Times New Roman"/>
              </a:rPr>
              <a:t>ViHOS – Nhóm đồ án NLP</a:t>
            </a:r>
            <a:endParaRPr/>
          </a:p>
        </p:txBody>
      </p:sp>
      <p:sp>
        <p:nvSpPr>
          <p:cNvPr id="3" name="TextBox 2">
            <a:extLst>
              <a:ext uri="{FF2B5EF4-FFF2-40B4-BE49-F238E27FC236}">
                <a16:creationId xmlns:a16="http://schemas.microsoft.com/office/drawing/2014/main" id="{8D1C9EB2-51DB-9A4B-7127-EB7A880B66C3}"/>
              </a:ext>
            </a:extLst>
          </p:cNvPr>
          <p:cNvSpPr>
            <a:spLocks noGrp="1"/>
          </p:cNvSpPr>
          <p:nvPr/>
        </p:nvSpPr>
        <p:spPr>
          <a:xfrm>
            <a:off x="3238500" y="5000625"/>
            <a:ext cx="15201900" cy="1714500"/>
          </a:xfrm>
          <a:prstGeom prst="rect">
            <a:avLst/>
          </a:prstGeom>
          <a:noFill/>
        </p:spPr>
        <p:txBody>
          <a:bodyPr wrap="square">
            <a:noAutofit/>
          </a:bodyPr>
          <a:lstStyle/>
          <a:p>
            <a:pPr algn="ctr">
              <a:buNone/>
              <a:defRPr sz="3000" b="0">
                <a:solidFill>
                  <a:srgbClr val="151515"/>
                </a:solidFill>
                <a:latin typeface="Times New Roman"/>
                <a:ea typeface="Times New Roman"/>
                <a:cs typeface="Times New Roman"/>
              </a:defRPr>
            </a:pPr>
            <a:r>
              <a:rPr sz="3000" b="0">
                <a:solidFill>
                  <a:srgbClr val="151515"/>
                </a:solidFill>
                <a:latin typeface="Times New Roman"/>
                <a:ea typeface="Times New Roman"/>
                <a:cs typeface="Times New Roman"/>
              </a:rPr>
              <a:t>PhoBERT–BiLSTM–CRF và mở rộng Dual Head</a:t>
            </a:r>
          </a:p>
          <a:p>
            <a:pPr algn="ctr">
              <a:buNone/>
              <a:defRPr sz="3000" b="0">
                <a:solidFill>
                  <a:srgbClr val="151515"/>
                </a:solidFill>
                <a:latin typeface="Times New Roman"/>
                <a:ea typeface="Times New Roman"/>
                <a:cs typeface="Times New Roman"/>
              </a:defRPr>
            </a:pPr>
            <a:r>
              <a:rPr sz="3000" b="0">
                <a:solidFill>
                  <a:srgbClr val="151515"/>
                </a:solidFill>
                <a:latin typeface="Times New Roman"/>
                <a:ea typeface="Times New Roman"/>
                <a:cs typeface="Times New Roman"/>
              </a:rPr>
              <a:t>Môn học: Xử lý Ngôn ngữ Tự nhiên</a:t>
            </a:r>
          </a:p>
          <a:p>
            <a:pPr algn="ctr">
              <a:buNone/>
              <a:defRPr sz="3000" b="0">
                <a:solidFill>
                  <a:srgbClr val="151515"/>
                </a:solidFill>
                <a:latin typeface="Times New Roman"/>
                <a:ea typeface="Times New Roman"/>
                <a:cs typeface="Times New Roman"/>
              </a:defRPr>
            </a:pPr>
            <a:r>
              <a:rPr sz="3000" b="0">
                <a:solidFill>
                  <a:srgbClr val="151515"/>
                </a:solidFill>
                <a:latin typeface="Times New Roman"/>
                <a:ea typeface="Times New Roman"/>
                <a:cs typeface="Times New Roman"/>
              </a:rPr>
              <a:t>Giảng viên: Đặng Văn Thìn</a:t>
            </a:r>
          </a:p>
        </p:txBody>
      </p:sp>
      <p:sp>
        <p:nvSpPr>
          <p:cNvPr id="13" name="Rectangle 5">
            <a:extLst>
              <a:ext uri="{FF2B5EF4-FFF2-40B4-BE49-F238E27FC236}">
                <a16:creationId xmlns:a16="http://schemas.microsoft.com/office/drawing/2014/main" id="{84B742A7-ED06-9E2C-4039-DA9FA216BB7D}"/>
              </a:ext>
            </a:extLst>
          </p:cNvPr>
          <p:cNvSpPr>
            <a:spLocks noGrp="1"/>
          </p:cNvSpPr>
          <p:nvPr/>
        </p:nvSpPr>
        <p:spPr>
          <a:xfrm>
            <a:off x="1492252" y="6673642"/>
            <a:ext cx="328360" cy="656590"/>
          </a:xfrm>
          <a:prstGeom prst="rect">
            <a:avLst/>
          </a:prstGeom>
          <a:noFill/>
          <a:ln>
            <a:noFill/>
          </a:ln>
        </p:spPr>
        <p:txBody>
          <a:bodyPr vert="horz" wrap="none" lIns="162560" tIns="81280" rIns="162560" bIns="81280" anchor="ctr">
            <a:spAutoFit/>
          </a:bodyPr>
          <a:lstStyle/>
          <a:p>
            <a:endParaRPr sz="3200"/>
          </a:p>
        </p:txBody>
      </p:sp>
      <p:graphicFrame>
        <p:nvGraphicFramePr>
          <p:cNvPr id="19" name="Table 18"/>
          <p:cNvGraphicFramePr/>
          <p:nvPr/>
        </p:nvGraphicFramePr>
        <p:xfrm>
          <a:off x="6134100" y="7143750"/>
          <a:ext cx="9410700" cy="3714750"/>
        </p:xfrm>
        <a:graphic>
          <a:graphicData uri="http://schemas.openxmlformats.org/drawingml/2006/table">
            <a:tbl>
              <a:tblPr/>
              <a:tblGrid>
                <a:gridCol w="2952750">
                  <a:extLst>
                    <a:ext uri="{9D8B030D-6E8A-4147-A177-3AD203B41FA5}">
                      <a16:colId xmlns:a16="http://schemas.microsoft.com/office/drawing/2014/main" val="20000"/>
                    </a:ext>
                  </a:extLst>
                </a:gridCol>
                <a:gridCol w="6457950">
                  <a:extLst>
                    <a:ext uri="{9D8B030D-6E8A-4147-A177-3AD203B41FA5}">
                      <a16:colId xmlns:a16="http://schemas.microsoft.com/office/drawing/2014/main" val="20001"/>
                    </a:ext>
                  </a:extLst>
                </a:gridCol>
              </a:tblGrid>
              <a:tr h="619125">
                <a:tc>
                  <a:txBody>
                    <a:bodyPr/>
                    <a:lstStyle/>
                    <a:p>
                      <a:r>
                        <a:rPr sz="2550" b="1">
                          <a:solidFill>
                            <a:srgbClr val="FFFFFF"/>
                          </a:solidFill>
                          <a:latin typeface="Times New Roman"/>
                          <a:ea typeface="Times New Roman"/>
                          <a:cs typeface="Times New Roman"/>
                        </a:rPr>
                        <a:t>MSSV</a:t>
                      </a:r>
                    </a:p>
                  </a:txBody>
                  <a:tcPr anchor="ctr">
                    <a:solidFill>
                      <a:srgbClr val="1565C0"/>
                    </a:solidFill>
                  </a:tcPr>
                </a:tc>
                <a:tc>
                  <a:txBody>
                    <a:bodyPr/>
                    <a:lstStyle/>
                    <a:p>
                      <a:r>
                        <a:rPr sz="2550" b="1">
                          <a:solidFill>
                            <a:srgbClr val="FFFFFF"/>
                          </a:solidFill>
                          <a:latin typeface="Times New Roman"/>
                          <a:ea typeface="Times New Roman"/>
                          <a:cs typeface="Times New Roman"/>
                        </a:rPr>
                        <a:t>HỌ VÀ TÊN</a:t>
                      </a:r>
                    </a:p>
                  </a:txBody>
                  <a:tcPr anchor="ctr">
                    <a:solidFill>
                      <a:srgbClr val="1565C0"/>
                    </a:solidFill>
                  </a:tcPr>
                </a:tc>
                <a:extLst>
                  <a:ext uri="{0D108BD9-81ED-4DB2-BD59-A6C34878D82A}">
                    <a16:rowId xmlns:a16="http://schemas.microsoft.com/office/drawing/2014/main" val="10000"/>
                  </a:ext>
                </a:extLst>
              </a:tr>
              <a:tr h="619125">
                <a:tc>
                  <a:txBody>
                    <a:bodyPr/>
                    <a:lstStyle/>
                    <a:p>
                      <a:r>
                        <a:rPr sz="2550" b="0">
                          <a:solidFill>
                            <a:srgbClr val="151515"/>
                          </a:solidFill>
                          <a:latin typeface="Times New Roman"/>
                          <a:ea typeface="Times New Roman"/>
                          <a:cs typeface="Times New Roman"/>
                        </a:rPr>
                        <a:t>26410127</a:t>
                      </a:r>
                    </a:p>
                  </a:txBody>
                  <a:tcPr anchor="ctr">
                    <a:solidFill>
                      <a:srgbClr val="FFFFFF"/>
                    </a:solidFill>
                  </a:tcPr>
                </a:tc>
                <a:tc>
                  <a:txBody>
                    <a:bodyPr/>
                    <a:lstStyle/>
                    <a:p>
                      <a:r>
                        <a:rPr sz="2550" b="0">
                          <a:solidFill>
                            <a:srgbClr val="151515"/>
                          </a:solidFill>
                          <a:latin typeface="Times New Roman"/>
                          <a:ea typeface="Times New Roman"/>
                          <a:cs typeface="Times New Roman"/>
                        </a:rPr>
                        <a:t>Dương Quốc Thương</a:t>
                      </a:r>
                    </a:p>
                  </a:txBody>
                  <a:tcPr anchor="ctr">
                    <a:solidFill>
                      <a:srgbClr val="FFFFFF"/>
                    </a:solidFill>
                  </a:tcPr>
                </a:tc>
                <a:extLst>
                  <a:ext uri="{0D108BD9-81ED-4DB2-BD59-A6C34878D82A}">
                    <a16:rowId xmlns:a16="http://schemas.microsoft.com/office/drawing/2014/main" val="10001"/>
                  </a:ext>
                </a:extLst>
              </a:tr>
              <a:tr h="619125">
                <a:tc>
                  <a:txBody>
                    <a:bodyPr/>
                    <a:lstStyle/>
                    <a:p>
                      <a:r>
                        <a:rPr sz="2550" b="0">
                          <a:solidFill>
                            <a:srgbClr val="151515"/>
                          </a:solidFill>
                          <a:latin typeface="Times New Roman"/>
                          <a:ea typeface="Times New Roman"/>
                          <a:cs typeface="Times New Roman"/>
                        </a:rPr>
                        <a:t>26410115</a:t>
                      </a:r>
                    </a:p>
                  </a:txBody>
                  <a:tcPr anchor="ctr">
                    <a:solidFill>
                      <a:srgbClr val="E3F2FD"/>
                    </a:solidFill>
                  </a:tcPr>
                </a:tc>
                <a:tc>
                  <a:txBody>
                    <a:bodyPr/>
                    <a:lstStyle/>
                    <a:p>
                      <a:r>
                        <a:rPr sz="2550" b="0">
                          <a:solidFill>
                            <a:srgbClr val="151515"/>
                          </a:solidFill>
                          <a:latin typeface="Times New Roman"/>
                          <a:ea typeface="Times New Roman"/>
                          <a:cs typeface="Times New Roman"/>
                        </a:rPr>
                        <a:t>Nông Nguyễn Thành</a:t>
                      </a:r>
                    </a:p>
                  </a:txBody>
                  <a:tcPr anchor="ctr">
                    <a:solidFill>
                      <a:srgbClr val="E3F2FD"/>
                    </a:solidFill>
                  </a:tcPr>
                </a:tc>
                <a:extLst>
                  <a:ext uri="{0D108BD9-81ED-4DB2-BD59-A6C34878D82A}">
                    <a16:rowId xmlns:a16="http://schemas.microsoft.com/office/drawing/2014/main" val="10002"/>
                  </a:ext>
                </a:extLst>
              </a:tr>
              <a:tr h="619125">
                <a:tc>
                  <a:txBody>
                    <a:bodyPr/>
                    <a:lstStyle/>
                    <a:p>
                      <a:r>
                        <a:rPr sz="2550" b="0">
                          <a:solidFill>
                            <a:srgbClr val="151515"/>
                          </a:solidFill>
                          <a:latin typeface="Times New Roman"/>
                          <a:ea typeface="Times New Roman"/>
                          <a:cs typeface="Times New Roman"/>
                        </a:rPr>
                        <a:t>26410146</a:t>
                      </a:r>
                    </a:p>
                  </a:txBody>
                  <a:tcPr anchor="ctr">
                    <a:solidFill>
                      <a:srgbClr val="FFFFFF"/>
                    </a:solidFill>
                  </a:tcPr>
                </a:tc>
                <a:tc>
                  <a:txBody>
                    <a:bodyPr/>
                    <a:lstStyle/>
                    <a:p>
                      <a:r>
                        <a:rPr sz="2550" b="0">
                          <a:solidFill>
                            <a:srgbClr val="151515"/>
                          </a:solidFill>
                          <a:latin typeface="Times New Roman"/>
                          <a:ea typeface="Times New Roman"/>
                          <a:cs typeface="Times New Roman"/>
                        </a:rPr>
                        <a:t>Hoàng Võ Minh Tuấn</a:t>
                      </a:r>
                    </a:p>
                  </a:txBody>
                  <a:tcPr anchor="ctr">
                    <a:solidFill>
                      <a:srgbClr val="FFFFFF"/>
                    </a:solidFill>
                  </a:tcPr>
                </a:tc>
                <a:extLst>
                  <a:ext uri="{0D108BD9-81ED-4DB2-BD59-A6C34878D82A}">
                    <a16:rowId xmlns:a16="http://schemas.microsoft.com/office/drawing/2014/main" val="10003"/>
                  </a:ext>
                </a:extLst>
              </a:tr>
              <a:tr h="619125">
                <a:tc>
                  <a:txBody>
                    <a:bodyPr/>
                    <a:lstStyle/>
                    <a:p>
                      <a:r>
                        <a:rPr sz="2550" b="0">
                          <a:solidFill>
                            <a:srgbClr val="151515"/>
                          </a:solidFill>
                          <a:latin typeface="Times New Roman"/>
                          <a:ea typeface="Times New Roman"/>
                          <a:cs typeface="Times New Roman"/>
                        </a:rPr>
                        <a:t>26410108</a:t>
                      </a:r>
                    </a:p>
                  </a:txBody>
                  <a:tcPr anchor="ctr">
                    <a:solidFill>
                      <a:srgbClr val="E3F2FD"/>
                    </a:solidFill>
                  </a:tcPr>
                </a:tc>
                <a:tc>
                  <a:txBody>
                    <a:bodyPr/>
                    <a:lstStyle/>
                    <a:p>
                      <a:r>
                        <a:rPr sz="2550" b="0">
                          <a:solidFill>
                            <a:srgbClr val="151515"/>
                          </a:solidFill>
                          <a:latin typeface="Times New Roman"/>
                          <a:ea typeface="Times New Roman"/>
                          <a:cs typeface="Times New Roman"/>
                        </a:rPr>
                        <a:t>Bùi Quốc Thịnh</a:t>
                      </a:r>
                    </a:p>
                  </a:txBody>
                  <a:tcPr anchor="ctr">
                    <a:solidFill>
                      <a:srgbClr val="E3F2FD"/>
                    </a:solidFill>
                  </a:tcPr>
                </a:tc>
                <a:extLst>
                  <a:ext uri="{0D108BD9-81ED-4DB2-BD59-A6C34878D82A}">
                    <a16:rowId xmlns:a16="http://schemas.microsoft.com/office/drawing/2014/main" val="10004"/>
                  </a:ext>
                </a:extLst>
              </a:tr>
              <a:tr h="619125">
                <a:tc>
                  <a:txBody>
                    <a:bodyPr/>
                    <a:lstStyle/>
                    <a:p>
                      <a:r>
                        <a:rPr sz="2550" b="0">
                          <a:solidFill>
                            <a:srgbClr val="151515"/>
                          </a:solidFill>
                          <a:latin typeface="Times New Roman"/>
                          <a:ea typeface="Times New Roman"/>
                          <a:cs typeface="Times New Roman"/>
                        </a:rPr>
                        <a:t>26410024</a:t>
                      </a:r>
                    </a:p>
                  </a:txBody>
                  <a:tcPr anchor="ctr">
                    <a:solidFill>
                      <a:srgbClr val="FFFFFF"/>
                    </a:solidFill>
                  </a:tcPr>
                </a:tc>
                <a:tc>
                  <a:txBody>
                    <a:bodyPr/>
                    <a:lstStyle/>
                    <a:p>
                      <a:r>
                        <a:rPr sz="2550" b="0">
                          <a:solidFill>
                            <a:srgbClr val="151515"/>
                          </a:solidFill>
                          <a:latin typeface="Times New Roman"/>
                          <a:ea typeface="Times New Roman"/>
                          <a:cs typeface="Times New Roman"/>
                        </a:rPr>
                        <a:t>Trần Tiến Dũng</a:t>
                      </a:r>
                    </a:p>
                  </a:txBody>
                  <a:tcPr anchor="ct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2723097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C7555CB3-3E49-4EE0-8B0A-575E2FD52BEE}"/>
              </a:ext>
            </a:extLst>
          </p:cNvPr>
          <p:cNvSpPr>
            <a:spLocks noGrp="1"/>
          </p:cNvSpPr>
          <p:nvPr/>
        </p:nvSpPr>
        <p:spPr>
          <a:xfrm>
            <a:off x="0" y="0"/>
            <a:ext cx="21674709" cy="677291"/>
          </a:xfrm>
          <a:prstGeom prst="rect">
            <a:avLst/>
          </a:prstGeom>
          <a:solidFill>
            <a:srgbClr val="1565C0"/>
          </a:solidFill>
        </p:spPr>
      </p:sp>
      <p:sp>
        <p:nvSpPr>
          <p:cNvPr id="3" name="Shape 1">
            <a:extLst>
              <a:ext uri="{FF2B5EF4-FFF2-40B4-BE49-F238E27FC236}">
                <a16:creationId xmlns:a16="http://schemas.microsoft.com/office/drawing/2014/main" id="{9F645BE8-41E6-479D-BA44-5832D7E67A74}"/>
              </a:ext>
            </a:extLst>
          </p:cNvPr>
          <p:cNvSpPr>
            <a:spLocks noGrp="1"/>
          </p:cNvSpPr>
          <p:nvPr/>
        </p:nvSpPr>
        <p:spPr>
          <a:xfrm>
            <a:off x="169259" y="84709"/>
            <a:ext cx="3386709" cy="508000"/>
          </a:xfrm>
          <a:prstGeom prst="roundRect">
            <a:avLst>
              <a:gd name="adj" fmla="val 8000"/>
            </a:avLst>
          </a:prstGeom>
          <a:solidFill>
            <a:srgbClr val="FFFFFF">
              <a:alpha val="3576"/>
            </a:srgbClr>
          </a:solidFill>
        </p:spPr>
      </p:sp>
      <p:sp>
        <p:nvSpPr>
          <p:cNvPr id="4" name="Shape 2">
            <a:extLst>
              <a:ext uri="{FF2B5EF4-FFF2-40B4-BE49-F238E27FC236}">
                <a16:creationId xmlns:a16="http://schemas.microsoft.com/office/drawing/2014/main" id="{2E3618FA-6D56-41B9-A8E0-7856F1724C26}"/>
              </a:ext>
            </a:extLst>
          </p:cNvPr>
          <p:cNvSpPr>
            <a:spLocks noGrp="1"/>
          </p:cNvSpPr>
          <p:nvPr/>
        </p:nvSpPr>
        <p:spPr>
          <a:xfrm>
            <a:off x="169291" y="0"/>
            <a:ext cx="3386709" cy="677291"/>
          </a:xfrm>
          <a:prstGeom prst="rect">
            <a:avLst/>
          </a:prstGeom>
          <a:solidFill>
            <a:srgbClr val="FFFFFF">
              <a:alpha val="0"/>
            </a:srgbClr>
          </a:solidFill>
        </p:spPr>
      </p:sp>
      <p:sp>
        <p:nvSpPr>
          <p:cNvPr id="5" name="Text 3">
            <a:extLst>
              <a:ext uri="{FF2B5EF4-FFF2-40B4-BE49-F238E27FC236}">
                <a16:creationId xmlns:a16="http://schemas.microsoft.com/office/drawing/2014/main" id="{4AD7AC22-316E-48CA-AA55-367E08BE2B3E}"/>
              </a:ext>
            </a:extLst>
          </p:cNvPr>
          <p:cNvSpPr>
            <a:spLocks noGrp="1"/>
          </p:cNvSpPr>
          <p:nvPr/>
        </p:nvSpPr>
        <p:spPr>
          <a:xfrm>
            <a:off x="47339" y="0"/>
            <a:ext cx="3630549" cy="676275"/>
          </a:xfrm>
          <a:prstGeom prst="rect">
            <a:avLst/>
          </a:prstGeom>
          <a:noFill/>
        </p:spPr>
        <p:txBody>
          <a:bodyPr wrap="none" lIns="0" tIns="0" rIns="0" bIns="0" anchor="ctr">
            <a:noAutofit/>
          </a:bodyPr>
          <a:lstStyle/>
          <a:p>
            <a:pPr algn="ctr">
              <a:lnSpc>
                <a:spcPct val="100000"/>
              </a:lnSpc>
              <a:buNone/>
              <a:defRPr sz="1875" b="1">
                <a:solidFill>
                  <a:srgbClr val="FFFFFF"/>
                </a:solidFill>
                <a:latin typeface="Times New Roman"/>
                <a:ea typeface="Times New Roman"/>
                <a:cs typeface="Times New Roman"/>
              </a:defRPr>
            </a:pPr>
            <a:r>
              <a:rPr sz="1875" b="1">
                <a:solidFill>
                  <a:srgbClr val="FFFFFF"/>
                </a:solidFill>
                <a:latin typeface="Times New Roman"/>
                <a:ea typeface="Times New Roman"/>
                <a:cs typeface="Times New Roman"/>
              </a:rPr>
              <a:t>1. Bài toán và dữ liệu</a:t>
            </a:r>
            <a:endParaRPr sz="1600">
              <a:latin typeface="Times New Roman"/>
              <a:ea typeface="Times New Roman"/>
              <a:cs typeface="Times New Roman"/>
            </a:endParaRPr>
          </a:p>
        </p:txBody>
      </p:sp>
      <p:sp>
        <p:nvSpPr>
          <p:cNvPr id="6" name="Shape 4">
            <a:extLst>
              <a:ext uri="{FF2B5EF4-FFF2-40B4-BE49-F238E27FC236}">
                <a16:creationId xmlns:a16="http://schemas.microsoft.com/office/drawing/2014/main" id="{14BA2610-1115-4CA6-BD1B-FF51A4B263BD}"/>
              </a:ext>
            </a:extLst>
          </p:cNvPr>
          <p:cNvSpPr>
            <a:spLocks noGrp="1"/>
          </p:cNvSpPr>
          <p:nvPr/>
        </p:nvSpPr>
        <p:spPr>
          <a:xfrm>
            <a:off x="3725291" y="0"/>
            <a:ext cx="3386709" cy="677291"/>
          </a:xfrm>
          <a:prstGeom prst="rect">
            <a:avLst/>
          </a:prstGeom>
          <a:solidFill>
            <a:srgbClr val="FFFFFF">
              <a:alpha val="0"/>
            </a:srgbClr>
          </a:solidFill>
        </p:spPr>
      </p:sp>
      <p:sp>
        <p:nvSpPr>
          <p:cNvPr id="7" name="Text 5">
            <a:extLst>
              <a:ext uri="{FF2B5EF4-FFF2-40B4-BE49-F238E27FC236}">
                <a16:creationId xmlns:a16="http://schemas.microsoft.com/office/drawing/2014/main" id="{923286B5-DEBE-444F-B17B-4C548851D401}"/>
              </a:ext>
            </a:extLst>
          </p:cNvPr>
          <p:cNvSpPr>
            <a:spLocks noGrp="1"/>
          </p:cNvSpPr>
          <p:nvPr/>
        </p:nvSpPr>
        <p:spPr>
          <a:xfrm>
            <a:off x="3603403"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2. Mô hình và dual head</a:t>
            </a:r>
            <a:endParaRPr sz="1600">
              <a:latin typeface="Times New Roman"/>
              <a:ea typeface="Times New Roman"/>
              <a:cs typeface="Times New Roman"/>
            </a:endParaRPr>
          </a:p>
        </p:txBody>
      </p:sp>
      <p:sp>
        <p:nvSpPr>
          <p:cNvPr id="8" name="Shape 6">
            <a:extLst>
              <a:ext uri="{FF2B5EF4-FFF2-40B4-BE49-F238E27FC236}">
                <a16:creationId xmlns:a16="http://schemas.microsoft.com/office/drawing/2014/main" id="{F94C6CC1-9F2D-4486-92BD-054AEC702F00}"/>
              </a:ext>
            </a:extLst>
          </p:cNvPr>
          <p:cNvSpPr>
            <a:spLocks noGrp="1"/>
          </p:cNvSpPr>
          <p:nvPr/>
        </p:nvSpPr>
        <p:spPr>
          <a:xfrm>
            <a:off x="7281291" y="0"/>
            <a:ext cx="3386709" cy="677291"/>
          </a:xfrm>
          <a:prstGeom prst="rect">
            <a:avLst/>
          </a:prstGeom>
          <a:solidFill>
            <a:srgbClr val="FFFFFF">
              <a:alpha val="0"/>
            </a:srgbClr>
          </a:solidFill>
        </p:spPr>
      </p:sp>
      <p:sp>
        <p:nvSpPr>
          <p:cNvPr id="9" name="Text 7">
            <a:extLst>
              <a:ext uri="{FF2B5EF4-FFF2-40B4-BE49-F238E27FC236}">
                <a16:creationId xmlns:a16="http://schemas.microsoft.com/office/drawing/2014/main" id="{847E876E-2426-4632-9533-FCC92C295F17}"/>
              </a:ext>
            </a:extLst>
          </p:cNvPr>
          <p:cNvSpPr>
            <a:spLocks noGrp="1"/>
          </p:cNvSpPr>
          <p:nvPr/>
        </p:nvSpPr>
        <p:spPr>
          <a:xfrm>
            <a:off x="7159371"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3. Kết quả</a:t>
            </a:r>
            <a:endParaRPr sz="1600">
              <a:latin typeface="Times New Roman"/>
              <a:ea typeface="Times New Roman"/>
              <a:cs typeface="Times New Roman"/>
            </a:endParaRPr>
          </a:p>
        </p:txBody>
      </p:sp>
      <p:sp>
        <p:nvSpPr>
          <p:cNvPr id="10" name="Shape 8">
            <a:extLst>
              <a:ext uri="{FF2B5EF4-FFF2-40B4-BE49-F238E27FC236}">
                <a16:creationId xmlns:a16="http://schemas.microsoft.com/office/drawing/2014/main" id="{13E04589-C647-43DE-8FF2-A88D0F6A49AD}"/>
              </a:ext>
            </a:extLst>
          </p:cNvPr>
          <p:cNvSpPr>
            <a:spLocks noGrp="1"/>
          </p:cNvSpPr>
          <p:nvPr/>
        </p:nvSpPr>
        <p:spPr>
          <a:xfrm>
            <a:off x="10837291" y="0"/>
            <a:ext cx="3386709" cy="677291"/>
          </a:xfrm>
          <a:prstGeom prst="rect">
            <a:avLst/>
          </a:prstGeom>
          <a:solidFill>
            <a:srgbClr val="FFFFFF">
              <a:alpha val="0"/>
            </a:srgbClr>
          </a:solidFill>
        </p:spPr>
      </p:sp>
      <p:sp>
        <p:nvSpPr>
          <p:cNvPr id="11" name="Text 9">
            <a:extLst>
              <a:ext uri="{FF2B5EF4-FFF2-40B4-BE49-F238E27FC236}">
                <a16:creationId xmlns:a16="http://schemas.microsoft.com/office/drawing/2014/main" id="{FF0D4B7A-58B4-49B2-B494-0B1091E62AC5}"/>
              </a:ext>
            </a:extLst>
          </p:cNvPr>
          <p:cNvSpPr>
            <a:spLocks noGrp="1"/>
          </p:cNvSpPr>
          <p:nvPr/>
        </p:nvSpPr>
        <p:spPr>
          <a:xfrm>
            <a:off x="10715339"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4. Phân tích lỗi</a:t>
            </a:r>
            <a:endParaRPr sz="1600">
              <a:latin typeface="Times New Roman"/>
              <a:ea typeface="Times New Roman"/>
              <a:cs typeface="Times New Roman"/>
            </a:endParaRPr>
          </a:p>
        </p:txBody>
      </p:sp>
      <p:sp>
        <p:nvSpPr>
          <p:cNvPr id="12" name="Shape 10">
            <a:extLst>
              <a:ext uri="{FF2B5EF4-FFF2-40B4-BE49-F238E27FC236}">
                <a16:creationId xmlns:a16="http://schemas.microsoft.com/office/drawing/2014/main" id="{5FF6001E-A006-4E1C-81C8-FA91EDE6E4D1}"/>
              </a:ext>
            </a:extLst>
          </p:cNvPr>
          <p:cNvSpPr>
            <a:spLocks noGrp="1"/>
          </p:cNvSpPr>
          <p:nvPr/>
        </p:nvSpPr>
        <p:spPr>
          <a:xfrm>
            <a:off x="14393291" y="0"/>
            <a:ext cx="3386709" cy="677291"/>
          </a:xfrm>
          <a:prstGeom prst="rect">
            <a:avLst/>
          </a:prstGeom>
          <a:solidFill>
            <a:srgbClr val="FFFFFF">
              <a:alpha val="0"/>
            </a:srgbClr>
          </a:solidFill>
        </p:spPr>
      </p:sp>
      <p:sp>
        <p:nvSpPr>
          <p:cNvPr id="13" name="Text 11">
            <a:extLst>
              <a:ext uri="{FF2B5EF4-FFF2-40B4-BE49-F238E27FC236}">
                <a16:creationId xmlns:a16="http://schemas.microsoft.com/office/drawing/2014/main" id="{DAA9B598-B39D-4C0E-BAD1-1B0EF639D0AF}"/>
              </a:ext>
            </a:extLst>
          </p:cNvPr>
          <p:cNvSpPr>
            <a:spLocks noGrp="1"/>
          </p:cNvSpPr>
          <p:nvPr/>
        </p:nvSpPr>
        <p:spPr>
          <a:xfrm>
            <a:off x="14271403"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5. Ứng dụng</a:t>
            </a:r>
            <a:endParaRPr sz="1600">
              <a:latin typeface="Times New Roman"/>
              <a:ea typeface="Times New Roman"/>
              <a:cs typeface="Times New Roman"/>
            </a:endParaRPr>
          </a:p>
        </p:txBody>
      </p:sp>
      <p:sp>
        <p:nvSpPr>
          <p:cNvPr id="14" name="Shape 12">
            <a:extLst>
              <a:ext uri="{FF2B5EF4-FFF2-40B4-BE49-F238E27FC236}">
                <a16:creationId xmlns:a16="http://schemas.microsoft.com/office/drawing/2014/main" id="{84EF626A-F04D-4DBE-8315-0481A62E4A27}"/>
              </a:ext>
            </a:extLst>
          </p:cNvPr>
          <p:cNvSpPr>
            <a:spLocks noGrp="1"/>
          </p:cNvSpPr>
          <p:nvPr/>
        </p:nvSpPr>
        <p:spPr>
          <a:xfrm>
            <a:off x="17949291" y="0"/>
            <a:ext cx="3386709" cy="677291"/>
          </a:xfrm>
          <a:prstGeom prst="rect">
            <a:avLst/>
          </a:prstGeom>
          <a:solidFill>
            <a:srgbClr val="FFFFFF">
              <a:alpha val="0"/>
            </a:srgbClr>
          </a:solidFill>
        </p:spPr>
      </p:sp>
      <p:sp>
        <p:nvSpPr>
          <p:cNvPr id="15" name="Text 13">
            <a:extLst>
              <a:ext uri="{FF2B5EF4-FFF2-40B4-BE49-F238E27FC236}">
                <a16:creationId xmlns:a16="http://schemas.microsoft.com/office/drawing/2014/main" id="{EABFF60E-09E0-4F5A-A0C1-C7A6C0FBB7FA}"/>
              </a:ext>
            </a:extLst>
          </p:cNvPr>
          <p:cNvSpPr>
            <a:spLocks noGrp="1"/>
          </p:cNvSpPr>
          <p:nvPr/>
        </p:nvSpPr>
        <p:spPr>
          <a:xfrm>
            <a:off x="17827371"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6. Cải thiện</a:t>
            </a:r>
            <a:endParaRPr sz="1600">
              <a:latin typeface="Times New Roman"/>
              <a:ea typeface="Times New Roman"/>
              <a:cs typeface="Times New Roman"/>
            </a:endParaRPr>
          </a:p>
        </p:txBody>
      </p:sp>
      <p:sp>
        <p:nvSpPr>
          <p:cNvPr id="16" name="Shape 14">
            <a:extLst>
              <a:ext uri="{FF2B5EF4-FFF2-40B4-BE49-F238E27FC236}">
                <a16:creationId xmlns:a16="http://schemas.microsoft.com/office/drawing/2014/main" id="{CC4913BA-3DDD-481C-9E01-35A47574D0BE}"/>
              </a:ext>
            </a:extLst>
          </p:cNvPr>
          <p:cNvSpPr>
            <a:spLocks noGrp="1"/>
          </p:cNvSpPr>
          <p:nvPr/>
        </p:nvSpPr>
        <p:spPr>
          <a:xfrm>
            <a:off x="1016000" y="931291"/>
            <a:ext cx="16933291" cy="643509"/>
          </a:xfrm>
          <a:prstGeom prst="rect">
            <a:avLst/>
          </a:prstGeom>
          <a:solidFill>
            <a:srgbClr val="FFFFFF">
              <a:alpha val="0"/>
            </a:srgbClr>
          </a:solidFill>
        </p:spPr>
      </p:sp>
      <p:sp>
        <p:nvSpPr>
          <p:cNvPr id="17" name="Text 15">
            <a:extLst>
              <a:ext uri="{FF2B5EF4-FFF2-40B4-BE49-F238E27FC236}">
                <a16:creationId xmlns:a16="http://schemas.microsoft.com/office/drawing/2014/main" id="{C9DD04B0-49FD-4B53-ACF1-44CA3C16174B}"/>
              </a:ext>
            </a:extLst>
          </p:cNvPr>
          <p:cNvSpPr>
            <a:spLocks noGrp="1"/>
          </p:cNvSpPr>
          <p:nvPr/>
        </p:nvSpPr>
        <p:spPr>
          <a:xfrm>
            <a:off x="894080" y="870331"/>
            <a:ext cx="17177131" cy="765429"/>
          </a:xfrm>
          <a:prstGeom prst="rect">
            <a:avLst/>
          </a:prstGeom>
          <a:noFill/>
        </p:spPr>
        <p:txBody>
          <a:bodyPr wrap="none" lIns="0" tIns="0" rIns="0" bIns="0" anchor="ctr">
            <a:noAutofit/>
          </a:bodyPr>
          <a:lstStyle/>
          <a:p>
            <a:pPr>
              <a:lnSpc>
                <a:spcPct val="100000"/>
              </a:lnSpc>
              <a:buNone/>
              <a:defRPr sz="3900" b="1">
                <a:solidFill>
                  <a:srgbClr val="1565C0"/>
                </a:solidFill>
                <a:latin typeface="Times New Roman"/>
                <a:ea typeface="Times New Roman"/>
                <a:cs typeface="Times New Roman"/>
              </a:defRPr>
            </a:pPr>
            <a:r>
              <a:rPr sz="3900" b="1">
                <a:solidFill>
                  <a:srgbClr val="1565C0"/>
                </a:solidFill>
                <a:latin typeface="Times New Roman"/>
                <a:ea typeface="Times New Roman"/>
                <a:cs typeface="Times New Roman"/>
              </a:rPr>
              <a:t>Bài toán cần giải quyết và lý do thực hiện</a:t>
            </a:r>
            <a:endParaRPr sz="1600">
              <a:latin typeface="Times New Roman"/>
              <a:ea typeface="Times New Roman"/>
              <a:cs typeface="Times New Roman"/>
            </a:endParaRPr>
          </a:p>
        </p:txBody>
      </p:sp>
      <p:sp>
        <p:nvSpPr>
          <p:cNvPr id="18" name="Shape 16">
            <a:extLst>
              <a:ext uri="{FF2B5EF4-FFF2-40B4-BE49-F238E27FC236}">
                <a16:creationId xmlns:a16="http://schemas.microsoft.com/office/drawing/2014/main" id="{B76ECA16-B719-4728-A333-5119E70FC585}"/>
              </a:ext>
            </a:extLst>
          </p:cNvPr>
          <p:cNvSpPr>
            <a:spLocks noGrp="1"/>
          </p:cNvSpPr>
          <p:nvPr/>
        </p:nvSpPr>
        <p:spPr>
          <a:xfrm>
            <a:off x="1016000" y="1625600"/>
            <a:ext cx="19642709" cy="50800"/>
          </a:xfrm>
          <a:prstGeom prst="rect">
            <a:avLst/>
          </a:prstGeom>
          <a:solidFill>
            <a:srgbClr val="1565C0"/>
          </a:solidFill>
        </p:spPr>
      </p:sp>
      <p:sp>
        <p:nvSpPr>
          <p:cNvPr id="19" name="Shape 17">
            <a:extLst>
              <a:ext uri="{FF2B5EF4-FFF2-40B4-BE49-F238E27FC236}">
                <a16:creationId xmlns:a16="http://schemas.microsoft.com/office/drawing/2014/main" id="{31288B66-0BC2-4C81-8087-8AE4C8BCE6B9}"/>
              </a:ext>
            </a:extLst>
          </p:cNvPr>
          <p:cNvSpPr>
            <a:spLocks noGrp="1"/>
          </p:cNvSpPr>
          <p:nvPr/>
        </p:nvSpPr>
        <p:spPr>
          <a:xfrm>
            <a:off x="1016000" y="1947291"/>
            <a:ext cx="9482709" cy="508000"/>
          </a:xfrm>
          <a:prstGeom prst="rect">
            <a:avLst/>
          </a:prstGeom>
          <a:solidFill>
            <a:srgbClr val="FFFFFF">
              <a:alpha val="0"/>
            </a:srgbClr>
          </a:solidFill>
        </p:spPr>
      </p:sp>
      <p:sp>
        <p:nvSpPr>
          <p:cNvPr id="20" name="Text 18">
            <a:extLst>
              <a:ext uri="{FF2B5EF4-FFF2-40B4-BE49-F238E27FC236}">
                <a16:creationId xmlns:a16="http://schemas.microsoft.com/office/drawing/2014/main" id="{26D670CE-E378-4855-BB38-BCE220AB2A40}"/>
              </a:ext>
            </a:extLst>
          </p:cNvPr>
          <p:cNvSpPr>
            <a:spLocks noGrp="1"/>
          </p:cNvSpPr>
          <p:nvPr/>
        </p:nvSpPr>
        <p:spPr>
          <a:xfrm>
            <a:off x="894080" y="1886331"/>
            <a:ext cx="9726549" cy="629920"/>
          </a:xfrm>
          <a:prstGeom prst="rect">
            <a:avLst/>
          </a:prstGeom>
          <a:noFill/>
        </p:spPr>
        <p:txBody>
          <a:bodyPr wrap="none" lIns="0" tIns="0" rIns="0" bIns="0" anchor="ctr">
            <a:noAutofit/>
          </a:bodyPr>
          <a:lstStyle/>
          <a:p>
            <a:pPr>
              <a:lnSpc>
                <a:spcPct val="100000"/>
              </a:lnSpc>
              <a:buNone/>
              <a:defRPr sz="3150" b="1">
                <a:solidFill>
                  <a:srgbClr val="1565C0"/>
                </a:solidFill>
                <a:latin typeface="Times New Roman"/>
                <a:ea typeface="Times New Roman"/>
                <a:cs typeface="Times New Roman"/>
              </a:defRPr>
            </a:pPr>
            <a:r>
              <a:rPr sz="3150" b="1">
                <a:solidFill>
                  <a:srgbClr val="1565C0"/>
                </a:solidFill>
                <a:latin typeface="Times New Roman"/>
                <a:ea typeface="Times New Roman"/>
                <a:cs typeface="Times New Roman"/>
              </a:rPr>
              <a:t>Vấn đề thực tế</a:t>
            </a:r>
            <a:endParaRPr sz="1600">
              <a:latin typeface="Times New Roman"/>
              <a:ea typeface="Times New Roman"/>
              <a:cs typeface="Times New Roman"/>
            </a:endParaRPr>
          </a:p>
        </p:txBody>
      </p:sp>
      <p:sp>
        <p:nvSpPr>
          <p:cNvPr id="21" name="Shape 19">
            <a:extLst>
              <a:ext uri="{FF2B5EF4-FFF2-40B4-BE49-F238E27FC236}">
                <a16:creationId xmlns:a16="http://schemas.microsoft.com/office/drawing/2014/main" id="{8C624ECF-007C-499F-9F46-FDEEBAA96BBD}"/>
              </a:ext>
            </a:extLst>
          </p:cNvPr>
          <p:cNvSpPr>
            <a:spLocks noGrp="1"/>
          </p:cNvSpPr>
          <p:nvPr/>
        </p:nvSpPr>
        <p:spPr>
          <a:xfrm>
            <a:off x="11176000" y="1947291"/>
            <a:ext cx="9482709" cy="508000"/>
          </a:xfrm>
          <a:prstGeom prst="rect">
            <a:avLst/>
          </a:prstGeom>
          <a:solidFill>
            <a:srgbClr val="FFFFFF">
              <a:alpha val="0"/>
            </a:srgbClr>
          </a:solidFill>
        </p:spPr>
      </p:sp>
      <p:sp>
        <p:nvSpPr>
          <p:cNvPr id="22" name="Text 20">
            <a:extLst>
              <a:ext uri="{FF2B5EF4-FFF2-40B4-BE49-F238E27FC236}">
                <a16:creationId xmlns:a16="http://schemas.microsoft.com/office/drawing/2014/main" id="{DA1D75E7-5F73-48DF-8D73-E668483BCD60}"/>
              </a:ext>
            </a:extLst>
          </p:cNvPr>
          <p:cNvSpPr>
            <a:spLocks noGrp="1"/>
          </p:cNvSpPr>
          <p:nvPr/>
        </p:nvSpPr>
        <p:spPr>
          <a:xfrm>
            <a:off x="11054080" y="1886331"/>
            <a:ext cx="9726549" cy="629920"/>
          </a:xfrm>
          <a:prstGeom prst="rect">
            <a:avLst/>
          </a:prstGeom>
          <a:noFill/>
        </p:spPr>
        <p:txBody>
          <a:bodyPr wrap="none" lIns="0" tIns="0" rIns="0" bIns="0" anchor="ctr">
            <a:noAutofit/>
          </a:bodyPr>
          <a:lstStyle/>
          <a:p>
            <a:pPr>
              <a:lnSpc>
                <a:spcPct val="100000"/>
              </a:lnSpc>
              <a:buNone/>
              <a:defRPr sz="3150" b="1">
                <a:solidFill>
                  <a:srgbClr val="2E7D32"/>
                </a:solidFill>
                <a:latin typeface="Times New Roman"/>
                <a:ea typeface="Times New Roman"/>
                <a:cs typeface="Times New Roman"/>
              </a:defRPr>
            </a:pPr>
            <a:r>
              <a:rPr sz="3150" b="1">
                <a:solidFill>
                  <a:srgbClr val="2E7D32"/>
                </a:solidFill>
                <a:latin typeface="Times New Roman"/>
                <a:ea typeface="Times New Roman"/>
                <a:cs typeface="Times New Roman"/>
              </a:rPr>
              <a:t>Nhóm cần giải quyết gì?</a:t>
            </a:r>
            <a:endParaRPr sz="1600">
              <a:latin typeface="Times New Roman"/>
              <a:ea typeface="Times New Roman"/>
              <a:cs typeface="Times New Roman"/>
            </a:endParaRPr>
          </a:p>
        </p:txBody>
      </p:sp>
      <p:sp>
        <p:nvSpPr>
          <p:cNvPr id="23" name="Shape 21">
            <a:extLst>
              <a:ext uri="{FF2B5EF4-FFF2-40B4-BE49-F238E27FC236}">
                <a16:creationId xmlns:a16="http://schemas.microsoft.com/office/drawing/2014/main" id="{B0365600-D17B-482F-B1BD-7F7CE0F8B3C1}"/>
              </a:ext>
            </a:extLst>
          </p:cNvPr>
          <p:cNvSpPr>
            <a:spLocks noGrp="1"/>
          </p:cNvSpPr>
          <p:nvPr/>
        </p:nvSpPr>
        <p:spPr>
          <a:xfrm>
            <a:off x="1016000" y="6773291"/>
            <a:ext cx="19642709" cy="1693291"/>
          </a:xfrm>
          <a:prstGeom prst="roundRect">
            <a:avLst>
              <a:gd name="adj" fmla="val 8000"/>
            </a:avLst>
          </a:prstGeom>
          <a:solidFill>
            <a:srgbClr val="E3F2FD"/>
          </a:solidFill>
          <a:ln w="12700">
            <a:solidFill>
              <a:srgbClr val="BBDEFB"/>
            </a:solidFill>
            <a:prstDash val="solid"/>
          </a:ln>
        </p:spPr>
      </p:sp>
      <p:sp>
        <p:nvSpPr>
          <p:cNvPr id="24" name="Shape 22">
            <a:extLst>
              <a:ext uri="{FF2B5EF4-FFF2-40B4-BE49-F238E27FC236}">
                <a16:creationId xmlns:a16="http://schemas.microsoft.com/office/drawing/2014/main" id="{3CDC7DD6-0F0C-42C0-B120-267F8D41476E}"/>
              </a:ext>
            </a:extLst>
          </p:cNvPr>
          <p:cNvSpPr>
            <a:spLocks noGrp="1"/>
          </p:cNvSpPr>
          <p:nvPr/>
        </p:nvSpPr>
        <p:spPr>
          <a:xfrm>
            <a:off x="1354709" y="6908800"/>
            <a:ext cx="5080000" cy="406400"/>
          </a:xfrm>
          <a:prstGeom prst="rect">
            <a:avLst/>
          </a:prstGeom>
          <a:solidFill>
            <a:srgbClr val="FFFFFF">
              <a:alpha val="0"/>
            </a:srgbClr>
          </a:solidFill>
        </p:spPr>
      </p:sp>
      <p:sp>
        <p:nvSpPr>
          <p:cNvPr id="25" name="Text 23">
            <a:extLst>
              <a:ext uri="{FF2B5EF4-FFF2-40B4-BE49-F238E27FC236}">
                <a16:creationId xmlns:a16="http://schemas.microsoft.com/office/drawing/2014/main" id="{D27971DA-0475-430C-B0BD-A84890507D91}"/>
              </a:ext>
            </a:extLst>
          </p:cNvPr>
          <p:cNvSpPr>
            <a:spLocks noGrp="1"/>
          </p:cNvSpPr>
          <p:nvPr/>
        </p:nvSpPr>
        <p:spPr>
          <a:xfrm>
            <a:off x="1232789" y="6847840"/>
            <a:ext cx="5323840" cy="528320"/>
          </a:xfrm>
          <a:prstGeom prst="rect">
            <a:avLst/>
          </a:prstGeom>
          <a:noFill/>
        </p:spPr>
        <p:txBody>
          <a:bodyPr wrap="none" lIns="0" tIns="0" rIns="0" bIns="0" anchor="ctr">
            <a:noAutofit/>
          </a:bodyPr>
          <a:lstStyle/>
          <a:p>
            <a:pPr>
              <a:lnSpc>
                <a:spcPct val="100000"/>
              </a:lnSpc>
              <a:buNone/>
              <a:defRPr sz="2400" b="1">
                <a:solidFill>
                  <a:srgbClr val="1565C0"/>
                </a:solidFill>
                <a:latin typeface="Times New Roman"/>
                <a:ea typeface="Times New Roman"/>
                <a:cs typeface="Times New Roman"/>
              </a:defRPr>
            </a:pPr>
            <a:r>
              <a:rPr sz="2400" b="1">
                <a:solidFill>
                  <a:srgbClr val="1565C0"/>
                </a:solidFill>
                <a:latin typeface="Times New Roman"/>
                <a:ea typeface="Times New Roman"/>
                <a:cs typeface="Times New Roman"/>
              </a:rPr>
              <a:t>Vì sao làm?</a:t>
            </a:r>
            <a:endParaRPr sz="1600">
              <a:latin typeface="Times New Roman"/>
              <a:ea typeface="Times New Roman"/>
              <a:cs typeface="Times New Roman"/>
            </a:endParaRPr>
          </a:p>
        </p:txBody>
      </p:sp>
      <p:sp>
        <p:nvSpPr>
          <p:cNvPr id="26" name="Shape 24">
            <a:extLst>
              <a:ext uri="{FF2B5EF4-FFF2-40B4-BE49-F238E27FC236}">
                <a16:creationId xmlns:a16="http://schemas.microsoft.com/office/drawing/2014/main" id="{284AE89F-2AAA-4DCB-84BE-740CC8DD8F3E}"/>
              </a:ext>
            </a:extLst>
          </p:cNvPr>
          <p:cNvSpPr>
            <a:spLocks noGrp="1"/>
          </p:cNvSpPr>
          <p:nvPr/>
        </p:nvSpPr>
        <p:spPr>
          <a:xfrm>
            <a:off x="1016000" y="8805291"/>
            <a:ext cx="19642709" cy="2032000"/>
          </a:xfrm>
          <a:prstGeom prst="roundRect">
            <a:avLst>
              <a:gd name="adj" fmla="val 8000"/>
            </a:avLst>
          </a:prstGeom>
          <a:solidFill>
            <a:srgbClr val="FFF3E0"/>
          </a:solidFill>
          <a:ln w="12700">
            <a:solidFill>
              <a:srgbClr val="FFE0B2"/>
            </a:solidFill>
            <a:prstDash val="solid"/>
          </a:ln>
        </p:spPr>
      </p:sp>
      <p:sp>
        <p:nvSpPr>
          <p:cNvPr id="27" name="Shape 25">
            <a:extLst>
              <a:ext uri="{FF2B5EF4-FFF2-40B4-BE49-F238E27FC236}">
                <a16:creationId xmlns:a16="http://schemas.microsoft.com/office/drawing/2014/main" id="{AB08A138-3606-4A56-8D70-88AC98E77C00}"/>
              </a:ext>
            </a:extLst>
          </p:cNvPr>
          <p:cNvSpPr>
            <a:spLocks noGrp="1"/>
          </p:cNvSpPr>
          <p:nvPr/>
        </p:nvSpPr>
        <p:spPr>
          <a:xfrm>
            <a:off x="1354709" y="8974709"/>
            <a:ext cx="18965291" cy="1693291"/>
          </a:xfrm>
          <a:prstGeom prst="rect">
            <a:avLst/>
          </a:prstGeom>
          <a:solidFill>
            <a:srgbClr val="FFFFFF">
              <a:alpha val="0"/>
            </a:srgbClr>
          </a:solidFill>
        </p:spPr>
      </p:sp>
      <p:sp>
        <p:nvSpPr>
          <p:cNvPr id="28" name="Text 26">
            <a:extLst>
              <a:ext uri="{FF2B5EF4-FFF2-40B4-BE49-F238E27FC236}">
                <a16:creationId xmlns:a16="http://schemas.microsoft.com/office/drawing/2014/main" id="{CB6F828C-C131-45E9-B9DF-317046BFC39B}"/>
              </a:ext>
            </a:extLst>
          </p:cNvPr>
          <p:cNvSpPr>
            <a:spLocks noGrp="1"/>
          </p:cNvSpPr>
          <p:nvPr/>
        </p:nvSpPr>
        <p:spPr>
          <a:xfrm>
            <a:off x="1232789" y="8913749"/>
            <a:ext cx="19209131" cy="1815211"/>
          </a:xfrm>
          <a:prstGeom prst="rect">
            <a:avLst/>
          </a:prstGeom>
          <a:noFill/>
        </p:spPr>
        <p:txBody>
          <a:bodyPr wrap="square" lIns="0" tIns="0" rIns="0" bIns="0" anchor="t">
            <a:noAutofit/>
          </a:bodyPr>
          <a:lstStyle/>
          <a:p>
            <a:pPr>
              <a:lnSpc>
                <a:spcPct val="150000"/>
              </a:lnSpc>
              <a:buNone/>
              <a:defRPr sz="2850" b="0">
                <a:solidFill>
                  <a:srgbClr val="151515"/>
                </a:solidFill>
                <a:latin typeface="Times New Roman"/>
                <a:ea typeface="Times New Roman"/>
                <a:cs typeface="Times New Roman"/>
              </a:defRPr>
            </a:pPr>
            <a:r>
              <a:rPr sz="2850" b="0">
                <a:solidFill>
                  <a:srgbClr val="151515"/>
                </a:solidFill>
                <a:latin typeface="Times New Roman"/>
                <a:ea typeface="Times New Roman"/>
                <a:cs typeface="Times New Roman"/>
              </a:rPr>
              <a:t>Cách thực hiện: so sánh Linear, CRF và BiLSTM–CRF có DualHead để tìm đúng cụm và hạn chế đánh dấu nhầm.</a:t>
            </a:r>
            <a:endParaRPr sz="1600">
              <a:latin typeface="Times New Roman"/>
              <a:ea typeface="Times New Roman"/>
              <a:cs typeface="Times New Roman"/>
            </a:endParaRPr>
          </a:p>
        </p:txBody>
      </p:sp>
      <p:sp>
        <p:nvSpPr>
          <p:cNvPr id="29" name="Shape 27">
            <a:extLst>
              <a:ext uri="{FF2B5EF4-FFF2-40B4-BE49-F238E27FC236}">
                <a16:creationId xmlns:a16="http://schemas.microsoft.com/office/drawing/2014/main" id="{D6D7A96F-11CC-4BEB-A5BF-68E5BFBFAC8A}"/>
              </a:ext>
            </a:extLst>
          </p:cNvPr>
          <p:cNvSpPr>
            <a:spLocks noGrp="1"/>
          </p:cNvSpPr>
          <p:nvPr/>
        </p:nvSpPr>
        <p:spPr>
          <a:xfrm>
            <a:off x="19981291" y="11684000"/>
            <a:ext cx="1016000" cy="406400"/>
          </a:xfrm>
          <a:prstGeom prst="rect">
            <a:avLst/>
          </a:prstGeom>
          <a:solidFill>
            <a:srgbClr val="FFFFFF">
              <a:alpha val="0"/>
            </a:srgbClr>
          </a:solidFill>
        </p:spPr>
      </p:sp>
      <p:sp>
        <p:nvSpPr>
          <p:cNvPr id="30" name="Text 28">
            <a:extLst>
              <a:ext uri="{FF2B5EF4-FFF2-40B4-BE49-F238E27FC236}">
                <a16:creationId xmlns:a16="http://schemas.microsoft.com/office/drawing/2014/main" id="{2638C63A-B3A2-4F02-B3C5-020810682E85}"/>
              </a:ext>
            </a:extLst>
          </p:cNvPr>
          <p:cNvSpPr>
            <a:spLocks noGrp="1"/>
          </p:cNvSpPr>
          <p:nvPr/>
        </p:nvSpPr>
        <p:spPr>
          <a:xfrm>
            <a:off x="19859371" y="11623040"/>
            <a:ext cx="1259840" cy="528320"/>
          </a:xfrm>
          <a:prstGeom prst="rect">
            <a:avLst/>
          </a:prstGeom>
          <a:noFill/>
        </p:spPr>
        <p:txBody>
          <a:bodyPr wrap="none" lIns="0" tIns="0" rIns="0" bIns="0" anchor="ctr">
            <a:noAutofit/>
          </a:bodyPr>
          <a:lstStyle/>
          <a:p>
            <a:pPr algn="r">
              <a:lnSpc>
                <a:spcPct val="100000"/>
              </a:lnSpc>
              <a:buNone/>
              <a:defRPr sz="1950">
                <a:solidFill>
                  <a:srgbClr val="666666"/>
                </a:solidFill>
                <a:latin typeface="Times New Roman"/>
                <a:ea typeface="Times New Roman"/>
                <a:cs typeface="Times New Roman"/>
              </a:defRPr>
            </a:pPr>
            <a:r>
              <a:rPr sz="1950">
                <a:solidFill>
                  <a:srgbClr val="666666"/>
                </a:solidFill>
                <a:latin typeface="Times New Roman"/>
                <a:ea typeface="Times New Roman"/>
                <a:cs typeface="Times New Roman"/>
              </a:rPr>
              <a:t>2/18</a:t>
            </a:r>
            <a:endParaRPr sz="1600">
              <a:latin typeface="Times New Roman"/>
              <a:ea typeface="Times New Roman"/>
              <a:cs typeface="Times New Roman"/>
            </a:endParaRPr>
          </a:p>
        </p:txBody>
      </p:sp>
      <p:sp>
        <p:nvSpPr>
          <p:cNvPr id="35" name="Text 11">
            <a:extLst>
              <a:ext uri="{FF2B5EF4-FFF2-40B4-BE49-F238E27FC236}">
                <a16:creationId xmlns:a16="http://schemas.microsoft.com/office/drawing/2014/main" id="{39B27A42-EA18-1226-1C3D-6738747F5724}"/>
              </a:ext>
            </a:extLst>
          </p:cNvPr>
          <p:cNvSpPr>
            <a:spLocks noGrp="1"/>
          </p:cNvSpPr>
          <p:nvPr/>
        </p:nvSpPr>
        <p:spPr>
          <a:xfrm>
            <a:off x="1354709" y="2739771"/>
            <a:ext cx="7803546" cy="3686556"/>
          </a:xfrm>
          <a:prstGeom prst="rect">
            <a:avLst/>
          </a:prstGeom>
          <a:noFill/>
        </p:spPr>
        <p:txBody>
          <a:bodyPr wrap="square" lIns="0" tIns="0" rIns="0" bIns="0" anchor="t">
            <a:noAutofit/>
          </a:bodyPr>
          <a:lstStyle/>
          <a:p>
            <a:pPr>
              <a:lnSpc>
                <a:spcPct val="160000"/>
              </a:lnSpc>
              <a:buNone/>
              <a:defRPr sz="2925" b="0">
                <a:solidFill>
                  <a:srgbClr val="151515"/>
                </a:solidFill>
                <a:latin typeface="Times New Roman"/>
                <a:ea typeface="Times New Roman"/>
                <a:cs typeface="Times New Roman"/>
              </a:defRPr>
            </a:pPr>
            <a:r>
              <a:rPr sz="2925" b="0">
                <a:solidFill>
                  <a:srgbClr val="151515"/>
                </a:solidFill>
                <a:latin typeface="Times New Roman"/>
                <a:ea typeface="Times New Roman"/>
                <a:cs typeface="Times New Roman"/>
              </a:rPr>
              <a:t>Khi có nhiều bình luận, đọc và kiểm tra từng câu mất thời gian.</a:t>
            </a:r>
            <a:endParaRPr sz="2400">
              <a:latin typeface="Times New Roman"/>
              <a:ea typeface="Times New Roman"/>
              <a:cs typeface="Times New Roman"/>
            </a:endParaRPr>
          </a:p>
          <a:p>
            <a:pPr>
              <a:lnSpc>
                <a:spcPct val="160000"/>
              </a:lnSpc>
              <a:buNone/>
            </a:pPr>
            <a:endParaRPr sz="2400">
              <a:latin typeface="Times New Roman"/>
              <a:ea typeface="Times New Roman"/>
              <a:cs typeface="Times New Roman"/>
            </a:endParaRPr>
          </a:p>
          <a:p>
            <a:pPr>
              <a:lnSpc>
                <a:spcPct val="160000"/>
              </a:lnSpc>
              <a:buNone/>
              <a:defRPr sz="2925" b="0">
                <a:solidFill>
                  <a:srgbClr val="151515"/>
                </a:solidFill>
                <a:latin typeface="Times New Roman"/>
                <a:ea typeface="Times New Roman"/>
                <a:cs typeface="Times New Roman"/>
              </a:defRPr>
            </a:pPr>
            <a:r>
              <a:rPr sz="2925" b="0">
                <a:solidFill>
                  <a:srgbClr val="151515"/>
                </a:solidFill>
                <a:latin typeface="Times New Roman"/>
                <a:ea typeface="Times New Roman"/>
                <a:cs typeface="Times New Roman"/>
              </a:rPr>
              <a:t>Từ lóng và cách viết biến dạng khiến nội dung xúc phạm khó nhận ra.</a:t>
            </a:r>
            <a:endParaRPr sz="2400">
              <a:latin typeface="Times New Roman"/>
              <a:ea typeface="Times New Roman"/>
              <a:cs typeface="Times New Roman"/>
            </a:endParaRPr>
          </a:p>
        </p:txBody>
      </p:sp>
      <p:sp>
        <p:nvSpPr>
          <p:cNvPr id="36" name="Text 13">
            <a:extLst>
              <a:ext uri="{FF2B5EF4-FFF2-40B4-BE49-F238E27FC236}">
                <a16:creationId xmlns:a16="http://schemas.microsoft.com/office/drawing/2014/main" id="{7087CF75-6766-10B8-85A7-F3CE2E81A5FD}"/>
              </a:ext>
            </a:extLst>
          </p:cNvPr>
          <p:cNvSpPr>
            <a:spLocks noGrp="1"/>
          </p:cNvSpPr>
          <p:nvPr/>
        </p:nvSpPr>
        <p:spPr>
          <a:xfrm>
            <a:off x="11054079" y="2687319"/>
            <a:ext cx="7803547" cy="3408681"/>
          </a:xfrm>
          <a:prstGeom prst="rect">
            <a:avLst/>
          </a:prstGeom>
          <a:noFill/>
        </p:spPr>
        <p:txBody>
          <a:bodyPr wrap="square" lIns="0" tIns="0" rIns="0" bIns="0" anchor="t">
            <a:noAutofit/>
          </a:bodyPr>
          <a:lstStyle/>
          <a:p>
            <a:pPr>
              <a:lnSpc>
                <a:spcPct val="160000"/>
              </a:lnSpc>
              <a:buNone/>
              <a:defRPr sz="2925" b="0">
                <a:solidFill>
                  <a:srgbClr val="151515"/>
                </a:solidFill>
                <a:latin typeface="Times New Roman"/>
                <a:ea typeface="Times New Roman"/>
                <a:cs typeface="Times New Roman"/>
              </a:defRPr>
            </a:pPr>
            <a:r>
              <a:rPr sz="2925" b="0">
                <a:solidFill>
                  <a:srgbClr val="151515"/>
                </a:solidFill>
                <a:latin typeface="Times New Roman"/>
                <a:ea typeface="Times New Roman"/>
                <a:cs typeface="Times New Roman"/>
              </a:rPr>
              <a:t>Tìm đúng từ hoặc cụm xúc phạm trong bình luận tiếng Việt.</a:t>
            </a:r>
            <a:endParaRPr sz="2400">
              <a:latin typeface="Times New Roman"/>
              <a:ea typeface="Times New Roman"/>
              <a:cs typeface="Times New Roman"/>
            </a:endParaRPr>
          </a:p>
          <a:p>
            <a:pPr>
              <a:lnSpc>
                <a:spcPct val="160000"/>
              </a:lnSpc>
              <a:buNone/>
            </a:pPr>
            <a:endParaRPr sz="2400">
              <a:latin typeface="Times New Roman"/>
              <a:ea typeface="Times New Roman"/>
              <a:cs typeface="Times New Roman"/>
            </a:endParaRPr>
          </a:p>
          <a:p>
            <a:pPr>
              <a:lnSpc>
                <a:spcPct val="160000"/>
              </a:lnSpc>
              <a:buNone/>
              <a:defRPr sz="2925" b="0">
                <a:solidFill>
                  <a:srgbClr val="151515"/>
                </a:solidFill>
                <a:latin typeface="Times New Roman"/>
                <a:ea typeface="Times New Roman"/>
                <a:cs typeface="Times New Roman"/>
              </a:defRPr>
            </a:pPr>
            <a:r>
              <a:rPr sz="2925" b="0">
                <a:solidFill>
                  <a:srgbClr val="151515"/>
                </a:solidFill>
                <a:latin typeface="Times New Roman"/>
                <a:ea typeface="Times New Roman"/>
                <a:cs typeface="Times New Roman"/>
              </a:rPr>
              <a:t>Hạn chế bỏ sót và đánh dấu nhầm những từ không xúc phạm.</a:t>
            </a:r>
            <a:endParaRPr sz="2400">
              <a:latin typeface="Times New Roman"/>
              <a:ea typeface="Times New Roman"/>
              <a:cs typeface="Times New Roman"/>
            </a:endParaRPr>
          </a:p>
        </p:txBody>
      </p:sp>
      <p:sp>
        <p:nvSpPr>
          <p:cNvPr id="38" name="Text 16">
            <a:extLst>
              <a:ext uri="{FF2B5EF4-FFF2-40B4-BE49-F238E27FC236}">
                <a16:creationId xmlns:a16="http://schemas.microsoft.com/office/drawing/2014/main" id="{316A32BF-41A2-8FE0-871F-125A08FEEEED}"/>
              </a:ext>
            </a:extLst>
          </p:cNvPr>
          <p:cNvSpPr>
            <a:spLocks noGrp="1"/>
          </p:cNvSpPr>
          <p:nvPr/>
        </p:nvSpPr>
        <p:spPr>
          <a:xfrm>
            <a:off x="2949731" y="7484618"/>
            <a:ext cx="14224000" cy="635000"/>
          </a:xfrm>
          <a:prstGeom prst="rect">
            <a:avLst/>
          </a:prstGeom>
          <a:noFill/>
        </p:spPr>
        <p:txBody>
          <a:bodyPr wrap="square" lIns="0" tIns="0" rIns="0" bIns="0" anchor="ctr">
            <a:noAutofit/>
          </a:bodyPr>
          <a:lstStyle/>
          <a:p>
            <a:pPr algn="ctr">
              <a:lnSpc>
                <a:spcPct val="100000"/>
              </a:lnSpc>
              <a:buNone/>
              <a:defRPr sz="3075" b="0">
                <a:solidFill>
                  <a:srgbClr val="151515"/>
                </a:solidFill>
                <a:latin typeface="Times New Roman"/>
                <a:ea typeface="Times New Roman"/>
                <a:cs typeface="Times New Roman"/>
              </a:defRPr>
            </a:pPr>
            <a:r>
              <a:rPr sz="3075" b="0">
                <a:solidFill>
                  <a:srgbClr val="151515"/>
                </a:solidFill>
                <a:latin typeface="Times New Roman"/>
                <a:ea typeface="Times New Roman"/>
                <a:cs typeface="Times New Roman"/>
              </a:rPr>
              <a:t>Chỉ rõ phần cần xem lại để hỗ trợ người kiểm duyệt.</a:t>
            </a:r>
            <a:endParaRPr sz="2800">
              <a:latin typeface="Times New Roman"/>
              <a:ea typeface="Times New Roman"/>
              <a:cs typeface="Times New Roman"/>
            </a:endParaRPr>
          </a:p>
        </p:txBody>
      </p:sp>
    </p:spTree>
    <p:extLst>
      <p:ext uri="{BB962C8B-B14F-4D97-AF65-F5344CB8AC3E}">
        <p14:creationId xmlns:p14="http://schemas.microsoft.com/office/powerpoint/2010/main" val="6123651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B3AEFEDE-7C8E-4D58-9561-28F2DF4D6DB5}"/>
              </a:ext>
            </a:extLst>
          </p:cNvPr>
          <p:cNvSpPr>
            <a:spLocks noGrp="1"/>
          </p:cNvSpPr>
          <p:nvPr/>
        </p:nvSpPr>
        <p:spPr>
          <a:xfrm>
            <a:off x="0" y="0"/>
            <a:ext cx="21674709" cy="677291"/>
          </a:xfrm>
          <a:prstGeom prst="rect">
            <a:avLst/>
          </a:prstGeom>
          <a:solidFill>
            <a:srgbClr val="1565C0"/>
          </a:solidFill>
        </p:spPr>
      </p:sp>
      <p:sp>
        <p:nvSpPr>
          <p:cNvPr id="3" name="Shape 1">
            <a:extLst>
              <a:ext uri="{FF2B5EF4-FFF2-40B4-BE49-F238E27FC236}">
                <a16:creationId xmlns:a16="http://schemas.microsoft.com/office/drawing/2014/main" id="{CA5BA417-3521-41A5-B1D4-1E0BB1AD3D9F}"/>
              </a:ext>
            </a:extLst>
          </p:cNvPr>
          <p:cNvSpPr>
            <a:spLocks noGrp="1"/>
          </p:cNvSpPr>
          <p:nvPr/>
        </p:nvSpPr>
        <p:spPr>
          <a:xfrm>
            <a:off x="169259" y="84709"/>
            <a:ext cx="3386709" cy="508000"/>
          </a:xfrm>
          <a:prstGeom prst="roundRect">
            <a:avLst>
              <a:gd name="adj" fmla="val 8000"/>
            </a:avLst>
          </a:prstGeom>
          <a:solidFill>
            <a:srgbClr val="FFFFFF">
              <a:alpha val="3576"/>
            </a:srgbClr>
          </a:solidFill>
        </p:spPr>
      </p:sp>
      <p:sp>
        <p:nvSpPr>
          <p:cNvPr id="4" name="Shape 2">
            <a:extLst>
              <a:ext uri="{FF2B5EF4-FFF2-40B4-BE49-F238E27FC236}">
                <a16:creationId xmlns:a16="http://schemas.microsoft.com/office/drawing/2014/main" id="{5DD6B52D-B692-4BE1-9E3E-DCC7AA5AA887}"/>
              </a:ext>
            </a:extLst>
          </p:cNvPr>
          <p:cNvSpPr>
            <a:spLocks noGrp="1"/>
          </p:cNvSpPr>
          <p:nvPr/>
        </p:nvSpPr>
        <p:spPr>
          <a:xfrm>
            <a:off x="169291" y="0"/>
            <a:ext cx="3386709" cy="677291"/>
          </a:xfrm>
          <a:prstGeom prst="rect">
            <a:avLst/>
          </a:prstGeom>
          <a:solidFill>
            <a:srgbClr val="FFFFFF">
              <a:alpha val="0"/>
            </a:srgbClr>
          </a:solidFill>
        </p:spPr>
      </p:sp>
      <p:sp>
        <p:nvSpPr>
          <p:cNvPr id="5" name="Text 3">
            <a:extLst>
              <a:ext uri="{FF2B5EF4-FFF2-40B4-BE49-F238E27FC236}">
                <a16:creationId xmlns:a16="http://schemas.microsoft.com/office/drawing/2014/main" id="{B4EB24AA-4571-484D-B684-1406B48BAEBC}"/>
              </a:ext>
            </a:extLst>
          </p:cNvPr>
          <p:cNvSpPr>
            <a:spLocks noGrp="1"/>
          </p:cNvSpPr>
          <p:nvPr/>
        </p:nvSpPr>
        <p:spPr>
          <a:xfrm>
            <a:off x="47339" y="0"/>
            <a:ext cx="3630549" cy="676275"/>
          </a:xfrm>
          <a:prstGeom prst="rect">
            <a:avLst/>
          </a:prstGeom>
          <a:noFill/>
        </p:spPr>
        <p:txBody>
          <a:bodyPr wrap="none" lIns="0" tIns="0" rIns="0" bIns="0" anchor="ctr">
            <a:noAutofit/>
          </a:bodyPr>
          <a:lstStyle/>
          <a:p>
            <a:pPr algn="ctr">
              <a:lnSpc>
                <a:spcPct val="100000"/>
              </a:lnSpc>
              <a:buNone/>
              <a:defRPr sz="1875" b="1">
                <a:solidFill>
                  <a:srgbClr val="FFFFFF"/>
                </a:solidFill>
                <a:latin typeface="Times New Roman"/>
                <a:ea typeface="Times New Roman"/>
                <a:cs typeface="Times New Roman"/>
              </a:defRPr>
            </a:pPr>
            <a:r>
              <a:rPr sz="1875" b="1">
                <a:solidFill>
                  <a:srgbClr val="FFFFFF"/>
                </a:solidFill>
                <a:latin typeface="Times New Roman"/>
                <a:ea typeface="Times New Roman"/>
                <a:cs typeface="Times New Roman"/>
              </a:rPr>
              <a:t>1. Bài toán và dữ liệu</a:t>
            </a:r>
            <a:endParaRPr sz="1600">
              <a:latin typeface="Times New Roman"/>
              <a:ea typeface="Times New Roman"/>
              <a:cs typeface="Times New Roman"/>
            </a:endParaRPr>
          </a:p>
        </p:txBody>
      </p:sp>
      <p:sp>
        <p:nvSpPr>
          <p:cNvPr id="6" name="Shape 4">
            <a:extLst>
              <a:ext uri="{FF2B5EF4-FFF2-40B4-BE49-F238E27FC236}">
                <a16:creationId xmlns:a16="http://schemas.microsoft.com/office/drawing/2014/main" id="{C5361BC9-E9B0-44E1-A142-18BBBB1CE27B}"/>
              </a:ext>
            </a:extLst>
          </p:cNvPr>
          <p:cNvSpPr>
            <a:spLocks noGrp="1"/>
          </p:cNvSpPr>
          <p:nvPr/>
        </p:nvSpPr>
        <p:spPr>
          <a:xfrm>
            <a:off x="3725291" y="0"/>
            <a:ext cx="3386709" cy="677291"/>
          </a:xfrm>
          <a:prstGeom prst="rect">
            <a:avLst/>
          </a:prstGeom>
          <a:solidFill>
            <a:srgbClr val="FFFFFF">
              <a:alpha val="0"/>
            </a:srgbClr>
          </a:solidFill>
        </p:spPr>
      </p:sp>
      <p:sp>
        <p:nvSpPr>
          <p:cNvPr id="7" name="Text 5">
            <a:extLst>
              <a:ext uri="{FF2B5EF4-FFF2-40B4-BE49-F238E27FC236}">
                <a16:creationId xmlns:a16="http://schemas.microsoft.com/office/drawing/2014/main" id="{D14D32DD-5FAF-40D4-B00B-2836130FDCF5}"/>
              </a:ext>
            </a:extLst>
          </p:cNvPr>
          <p:cNvSpPr>
            <a:spLocks noGrp="1"/>
          </p:cNvSpPr>
          <p:nvPr/>
        </p:nvSpPr>
        <p:spPr>
          <a:xfrm>
            <a:off x="3603403"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2. Mô hình và dual head</a:t>
            </a:r>
            <a:endParaRPr sz="1600">
              <a:latin typeface="Times New Roman"/>
              <a:ea typeface="Times New Roman"/>
              <a:cs typeface="Times New Roman"/>
            </a:endParaRPr>
          </a:p>
        </p:txBody>
      </p:sp>
      <p:sp>
        <p:nvSpPr>
          <p:cNvPr id="8" name="Shape 6">
            <a:extLst>
              <a:ext uri="{FF2B5EF4-FFF2-40B4-BE49-F238E27FC236}">
                <a16:creationId xmlns:a16="http://schemas.microsoft.com/office/drawing/2014/main" id="{06681170-3BA5-45DF-AD2A-B342F5153E56}"/>
              </a:ext>
            </a:extLst>
          </p:cNvPr>
          <p:cNvSpPr>
            <a:spLocks noGrp="1"/>
          </p:cNvSpPr>
          <p:nvPr/>
        </p:nvSpPr>
        <p:spPr>
          <a:xfrm>
            <a:off x="7281291" y="0"/>
            <a:ext cx="3386709" cy="677291"/>
          </a:xfrm>
          <a:prstGeom prst="rect">
            <a:avLst/>
          </a:prstGeom>
          <a:solidFill>
            <a:srgbClr val="FFFFFF">
              <a:alpha val="0"/>
            </a:srgbClr>
          </a:solidFill>
        </p:spPr>
      </p:sp>
      <p:sp>
        <p:nvSpPr>
          <p:cNvPr id="9" name="Text 7">
            <a:extLst>
              <a:ext uri="{FF2B5EF4-FFF2-40B4-BE49-F238E27FC236}">
                <a16:creationId xmlns:a16="http://schemas.microsoft.com/office/drawing/2014/main" id="{93821B4F-7F73-470A-8872-CE0784AC7868}"/>
              </a:ext>
            </a:extLst>
          </p:cNvPr>
          <p:cNvSpPr>
            <a:spLocks noGrp="1"/>
          </p:cNvSpPr>
          <p:nvPr/>
        </p:nvSpPr>
        <p:spPr>
          <a:xfrm>
            <a:off x="7159371"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3. Kết quả</a:t>
            </a:r>
            <a:endParaRPr sz="1600">
              <a:latin typeface="Times New Roman"/>
              <a:ea typeface="Times New Roman"/>
              <a:cs typeface="Times New Roman"/>
            </a:endParaRPr>
          </a:p>
        </p:txBody>
      </p:sp>
      <p:sp>
        <p:nvSpPr>
          <p:cNvPr id="10" name="Shape 8">
            <a:extLst>
              <a:ext uri="{FF2B5EF4-FFF2-40B4-BE49-F238E27FC236}">
                <a16:creationId xmlns:a16="http://schemas.microsoft.com/office/drawing/2014/main" id="{3F1937EB-57F3-46D8-BA70-C774FC3C83BD}"/>
              </a:ext>
            </a:extLst>
          </p:cNvPr>
          <p:cNvSpPr>
            <a:spLocks noGrp="1"/>
          </p:cNvSpPr>
          <p:nvPr/>
        </p:nvSpPr>
        <p:spPr>
          <a:xfrm>
            <a:off x="10837291" y="0"/>
            <a:ext cx="3386709" cy="677291"/>
          </a:xfrm>
          <a:prstGeom prst="rect">
            <a:avLst/>
          </a:prstGeom>
          <a:solidFill>
            <a:srgbClr val="FFFFFF">
              <a:alpha val="0"/>
            </a:srgbClr>
          </a:solidFill>
        </p:spPr>
      </p:sp>
      <p:sp>
        <p:nvSpPr>
          <p:cNvPr id="11" name="Text 9">
            <a:extLst>
              <a:ext uri="{FF2B5EF4-FFF2-40B4-BE49-F238E27FC236}">
                <a16:creationId xmlns:a16="http://schemas.microsoft.com/office/drawing/2014/main" id="{25FFE190-DD7D-4AE1-8FA3-E78120768606}"/>
              </a:ext>
            </a:extLst>
          </p:cNvPr>
          <p:cNvSpPr>
            <a:spLocks noGrp="1"/>
          </p:cNvSpPr>
          <p:nvPr/>
        </p:nvSpPr>
        <p:spPr>
          <a:xfrm>
            <a:off x="10715339"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4. Phân tích lỗi</a:t>
            </a:r>
            <a:endParaRPr sz="1600">
              <a:latin typeface="Times New Roman"/>
              <a:ea typeface="Times New Roman"/>
              <a:cs typeface="Times New Roman"/>
            </a:endParaRPr>
          </a:p>
        </p:txBody>
      </p:sp>
      <p:sp>
        <p:nvSpPr>
          <p:cNvPr id="12" name="Shape 10">
            <a:extLst>
              <a:ext uri="{FF2B5EF4-FFF2-40B4-BE49-F238E27FC236}">
                <a16:creationId xmlns:a16="http://schemas.microsoft.com/office/drawing/2014/main" id="{5FAA9D72-EB59-4381-ADB4-E7F9A06E0FD2}"/>
              </a:ext>
            </a:extLst>
          </p:cNvPr>
          <p:cNvSpPr>
            <a:spLocks noGrp="1"/>
          </p:cNvSpPr>
          <p:nvPr/>
        </p:nvSpPr>
        <p:spPr>
          <a:xfrm>
            <a:off x="14393291" y="0"/>
            <a:ext cx="3386709" cy="677291"/>
          </a:xfrm>
          <a:prstGeom prst="rect">
            <a:avLst/>
          </a:prstGeom>
          <a:solidFill>
            <a:srgbClr val="FFFFFF">
              <a:alpha val="0"/>
            </a:srgbClr>
          </a:solidFill>
        </p:spPr>
      </p:sp>
      <p:sp>
        <p:nvSpPr>
          <p:cNvPr id="13" name="Text 11">
            <a:extLst>
              <a:ext uri="{FF2B5EF4-FFF2-40B4-BE49-F238E27FC236}">
                <a16:creationId xmlns:a16="http://schemas.microsoft.com/office/drawing/2014/main" id="{79CE7C0D-161C-4593-B611-AFB511094E4D}"/>
              </a:ext>
            </a:extLst>
          </p:cNvPr>
          <p:cNvSpPr>
            <a:spLocks noGrp="1"/>
          </p:cNvSpPr>
          <p:nvPr/>
        </p:nvSpPr>
        <p:spPr>
          <a:xfrm>
            <a:off x="14271403"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5. Ứng dụng</a:t>
            </a:r>
            <a:endParaRPr sz="1600">
              <a:latin typeface="Times New Roman"/>
              <a:ea typeface="Times New Roman"/>
              <a:cs typeface="Times New Roman"/>
            </a:endParaRPr>
          </a:p>
        </p:txBody>
      </p:sp>
      <p:sp>
        <p:nvSpPr>
          <p:cNvPr id="14" name="Shape 12">
            <a:extLst>
              <a:ext uri="{FF2B5EF4-FFF2-40B4-BE49-F238E27FC236}">
                <a16:creationId xmlns:a16="http://schemas.microsoft.com/office/drawing/2014/main" id="{295E6900-EA49-4677-9327-D039349608CE}"/>
              </a:ext>
            </a:extLst>
          </p:cNvPr>
          <p:cNvSpPr>
            <a:spLocks noGrp="1"/>
          </p:cNvSpPr>
          <p:nvPr/>
        </p:nvSpPr>
        <p:spPr>
          <a:xfrm>
            <a:off x="17949291" y="0"/>
            <a:ext cx="3386709" cy="677291"/>
          </a:xfrm>
          <a:prstGeom prst="rect">
            <a:avLst/>
          </a:prstGeom>
          <a:solidFill>
            <a:srgbClr val="FFFFFF">
              <a:alpha val="0"/>
            </a:srgbClr>
          </a:solidFill>
        </p:spPr>
      </p:sp>
      <p:sp>
        <p:nvSpPr>
          <p:cNvPr id="15" name="Text 13">
            <a:extLst>
              <a:ext uri="{FF2B5EF4-FFF2-40B4-BE49-F238E27FC236}">
                <a16:creationId xmlns:a16="http://schemas.microsoft.com/office/drawing/2014/main" id="{AB31B90A-08BA-4DBB-BF61-0F5734673F20}"/>
              </a:ext>
            </a:extLst>
          </p:cNvPr>
          <p:cNvSpPr>
            <a:spLocks noGrp="1"/>
          </p:cNvSpPr>
          <p:nvPr/>
        </p:nvSpPr>
        <p:spPr>
          <a:xfrm>
            <a:off x="17827371"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6. Cải thiện</a:t>
            </a:r>
            <a:endParaRPr sz="1600">
              <a:latin typeface="Times New Roman"/>
              <a:ea typeface="Times New Roman"/>
              <a:cs typeface="Times New Roman"/>
            </a:endParaRPr>
          </a:p>
        </p:txBody>
      </p:sp>
      <p:sp>
        <p:nvSpPr>
          <p:cNvPr id="16" name="Shape 14">
            <a:extLst>
              <a:ext uri="{FF2B5EF4-FFF2-40B4-BE49-F238E27FC236}">
                <a16:creationId xmlns:a16="http://schemas.microsoft.com/office/drawing/2014/main" id="{91CB0492-3E82-4194-BC51-2B23F48CA76B}"/>
              </a:ext>
            </a:extLst>
          </p:cNvPr>
          <p:cNvSpPr>
            <a:spLocks noGrp="1"/>
          </p:cNvSpPr>
          <p:nvPr/>
        </p:nvSpPr>
        <p:spPr>
          <a:xfrm>
            <a:off x="1016000" y="931291"/>
            <a:ext cx="16933291" cy="643509"/>
          </a:xfrm>
          <a:prstGeom prst="rect">
            <a:avLst/>
          </a:prstGeom>
          <a:solidFill>
            <a:srgbClr val="FFFFFF">
              <a:alpha val="0"/>
            </a:srgbClr>
          </a:solidFill>
        </p:spPr>
      </p:sp>
      <p:sp>
        <p:nvSpPr>
          <p:cNvPr id="17" name="Text 15">
            <a:extLst>
              <a:ext uri="{FF2B5EF4-FFF2-40B4-BE49-F238E27FC236}">
                <a16:creationId xmlns:a16="http://schemas.microsoft.com/office/drawing/2014/main" id="{27A6396C-77AA-4D00-99DF-DF07AE1231B8}"/>
              </a:ext>
            </a:extLst>
          </p:cNvPr>
          <p:cNvSpPr>
            <a:spLocks noGrp="1"/>
          </p:cNvSpPr>
          <p:nvPr/>
        </p:nvSpPr>
        <p:spPr>
          <a:xfrm>
            <a:off x="894080" y="870331"/>
            <a:ext cx="17177131" cy="765429"/>
          </a:xfrm>
          <a:prstGeom prst="rect">
            <a:avLst/>
          </a:prstGeom>
          <a:noFill/>
        </p:spPr>
        <p:txBody>
          <a:bodyPr wrap="none" lIns="0" tIns="0" rIns="0" bIns="0" anchor="ctr">
            <a:noAutofit/>
          </a:bodyPr>
          <a:lstStyle/>
          <a:p>
            <a:pPr>
              <a:lnSpc>
                <a:spcPct val="100000"/>
              </a:lnSpc>
              <a:buNone/>
              <a:defRPr sz="3900" b="1">
                <a:solidFill>
                  <a:srgbClr val="1565C0"/>
                </a:solidFill>
                <a:latin typeface="Times New Roman"/>
                <a:ea typeface="Times New Roman"/>
                <a:cs typeface="Times New Roman"/>
              </a:defRPr>
            </a:pPr>
            <a:r>
              <a:rPr sz="3900" b="1">
                <a:solidFill>
                  <a:srgbClr val="1565C0"/>
                </a:solidFill>
                <a:latin typeface="Times New Roman"/>
                <a:ea typeface="Times New Roman"/>
                <a:cs typeface="Times New Roman"/>
              </a:rPr>
              <a:t>Lược đồ nhãn BIO</a:t>
            </a:r>
            <a:endParaRPr sz="1600">
              <a:latin typeface="Times New Roman"/>
              <a:ea typeface="Times New Roman"/>
              <a:cs typeface="Times New Roman"/>
            </a:endParaRPr>
          </a:p>
        </p:txBody>
      </p:sp>
      <p:sp>
        <p:nvSpPr>
          <p:cNvPr id="18" name="Shape 16">
            <a:extLst>
              <a:ext uri="{FF2B5EF4-FFF2-40B4-BE49-F238E27FC236}">
                <a16:creationId xmlns:a16="http://schemas.microsoft.com/office/drawing/2014/main" id="{F7F0D490-F387-4F45-82C6-210E9FDA1E91}"/>
              </a:ext>
            </a:extLst>
          </p:cNvPr>
          <p:cNvSpPr>
            <a:spLocks noGrp="1"/>
          </p:cNvSpPr>
          <p:nvPr/>
        </p:nvSpPr>
        <p:spPr>
          <a:xfrm>
            <a:off x="1016000" y="1625600"/>
            <a:ext cx="19642709" cy="50800"/>
          </a:xfrm>
          <a:prstGeom prst="rect">
            <a:avLst/>
          </a:prstGeom>
          <a:solidFill>
            <a:srgbClr val="1565C0"/>
          </a:solidFill>
        </p:spPr>
      </p:sp>
      <p:sp>
        <p:nvSpPr>
          <p:cNvPr id="19" name="Shape 17">
            <a:extLst>
              <a:ext uri="{FF2B5EF4-FFF2-40B4-BE49-F238E27FC236}">
                <a16:creationId xmlns:a16="http://schemas.microsoft.com/office/drawing/2014/main" id="{6ED4E66E-1993-4B18-ABBF-FA850B7BADE1}"/>
              </a:ext>
            </a:extLst>
          </p:cNvPr>
          <p:cNvSpPr>
            <a:spLocks noGrp="1"/>
          </p:cNvSpPr>
          <p:nvPr/>
        </p:nvSpPr>
        <p:spPr>
          <a:xfrm>
            <a:off x="1016000" y="2032000"/>
            <a:ext cx="6265291" cy="4233291"/>
          </a:xfrm>
          <a:prstGeom prst="roundRect">
            <a:avLst>
              <a:gd name="adj" fmla="val 8000"/>
            </a:avLst>
          </a:prstGeom>
          <a:solidFill>
            <a:srgbClr val="E3F2FD"/>
          </a:solidFill>
          <a:ln w="12700">
            <a:solidFill>
              <a:srgbClr val="BBDEFB"/>
            </a:solidFill>
            <a:prstDash val="solid"/>
          </a:ln>
        </p:spPr>
      </p:sp>
      <p:sp>
        <p:nvSpPr>
          <p:cNvPr id="20" name="Shape 18">
            <a:extLst>
              <a:ext uri="{FF2B5EF4-FFF2-40B4-BE49-F238E27FC236}">
                <a16:creationId xmlns:a16="http://schemas.microsoft.com/office/drawing/2014/main" id="{1EA3C2E7-6CE4-439B-BB41-B90886D099B5}"/>
              </a:ext>
            </a:extLst>
          </p:cNvPr>
          <p:cNvSpPr>
            <a:spLocks noGrp="1"/>
          </p:cNvSpPr>
          <p:nvPr/>
        </p:nvSpPr>
        <p:spPr>
          <a:xfrm>
            <a:off x="1270000" y="2201291"/>
            <a:ext cx="846709" cy="609600"/>
          </a:xfrm>
          <a:prstGeom prst="rect">
            <a:avLst/>
          </a:prstGeom>
          <a:solidFill>
            <a:srgbClr val="FFFFFF">
              <a:alpha val="0"/>
            </a:srgbClr>
          </a:solidFill>
        </p:spPr>
      </p:sp>
      <p:sp>
        <p:nvSpPr>
          <p:cNvPr id="21" name="Text 19">
            <a:extLst>
              <a:ext uri="{FF2B5EF4-FFF2-40B4-BE49-F238E27FC236}">
                <a16:creationId xmlns:a16="http://schemas.microsoft.com/office/drawing/2014/main" id="{E9A8003A-9773-4C89-A179-6F1A8BB8CFDA}"/>
              </a:ext>
            </a:extLst>
          </p:cNvPr>
          <p:cNvSpPr>
            <a:spLocks noGrp="1"/>
          </p:cNvSpPr>
          <p:nvPr/>
        </p:nvSpPr>
        <p:spPr>
          <a:xfrm>
            <a:off x="1148080" y="2140331"/>
            <a:ext cx="1090549" cy="731520"/>
          </a:xfrm>
          <a:prstGeom prst="rect">
            <a:avLst/>
          </a:prstGeom>
          <a:noFill/>
        </p:spPr>
        <p:txBody>
          <a:bodyPr wrap="none" lIns="0" tIns="0" rIns="0" bIns="0" anchor="ctr">
            <a:noAutofit/>
          </a:bodyPr>
          <a:lstStyle/>
          <a:p>
            <a:pPr algn="ctr">
              <a:lnSpc>
                <a:spcPct val="100000"/>
              </a:lnSpc>
              <a:buNone/>
              <a:defRPr sz="3450" b="1">
                <a:solidFill>
                  <a:srgbClr val="1565C0"/>
                </a:solidFill>
                <a:latin typeface="Times New Roman"/>
                <a:ea typeface="Times New Roman"/>
                <a:cs typeface="Times New Roman"/>
              </a:defRPr>
            </a:pPr>
            <a:r>
              <a:rPr sz="3450" b="1">
                <a:solidFill>
                  <a:srgbClr val="1565C0"/>
                </a:solidFill>
                <a:latin typeface="Times New Roman"/>
                <a:ea typeface="Times New Roman"/>
                <a:cs typeface="Times New Roman"/>
              </a:rPr>
              <a:t>O</a:t>
            </a:r>
            <a:endParaRPr sz="1600">
              <a:latin typeface="Times New Roman"/>
              <a:ea typeface="Times New Roman"/>
              <a:cs typeface="Times New Roman"/>
            </a:endParaRPr>
          </a:p>
        </p:txBody>
      </p:sp>
      <p:sp>
        <p:nvSpPr>
          <p:cNvPr id="22" name="Shape 20">
            <a:extLst>
              <a:ext uri="{FF2B5EF4-FFF2-40B4-BE49-F238E27FC236}">
                <a16:creationId xmlns:a16="http://schemas.microsoft.com/office/drawing/2014/main" id="{16FBE95D-D6B2-4A61-AC4A-3371828DAF93}"/>
              </a:ext>
            </a:extLst>
          </p:cNvPr>
          <p:cNvSpPr>
            <a:spLocks noGrp="1"/>
          </p:cNvSpPr>
          <p:nvPr/>
        </p:nvSpPr>
        <p:spPr>
          <a:xfrm>
            <a:off x="2201291" y="2201291"/>
            <a:ext cx="4741291" cy="609600"/>
          </a:xfrm>
          <a:prstGeom prst="rect">
            <a:avLst/>
          </a:prstGeom>
          <a:solidFill>
            <a:srgbClr val="FFFFFF">
              <a:alpha val="0"/>
            </a:srgbClr>
          </a:solidFill>
        </p:spPr>
      </p:sp>
      <p:sp>
        <p:nvSpPr>
          <p:cNvPr id="23" name="Text 21">
            <a:extLst>
              <a:ext uri="{FF2B5EF4-FFF2-40B4-BE49-F238E27FC236}">
                <a16:creationId xmlns:a16="http://schemas.microsoft.com/office/drawing/2014/main" id="{6D7C254E-F67C-4C60-81A3-7DF24A2013D3}"/>
              </a:ext>
            </a:extLst>
          </p:cNvPr>
          <p:cNvSpPr>
            <a:spLocks noGrp="1"/>
          </p:cNvSpPr>
          <p:nvPr/>
        </p:nvSpPr>
        <p:spPr>
          <a:xfrm>
            <a:off x="2079371" y="2140331"/>
            <a:ext cx="4985131" cy="731520"/>
          </a:xfrm>
          <a:prstGeom prst="rect">
            <a:avLst/>
          </a:prstGeom>
          <a:noFill/>
        </p:spPr>
        <p:txBody>
          <a:bodyPr wrap="none" lIns="0" tIns="0" rIns="0" bIns="0" anchor="ctr">
            <a:noAutofit/>
          </a:bodyPr>
          <a:lstStyle/>
          <a:p>
            <a:pPr>
              <a:lnSpc>
                <a:spcPct val="100000"/>
              </a:lnSpc>
              <a:buNone/>
              <a:defRPr sz="3150" b="1">
                <a:solidFill>
                  <a:srgbClr val="1565C0"/>
                </a:solidFill>
                <a:latin typeface="Times New Roman"/>
                <a:ea typeface="Times New Roman"/>
                <a:cs typeface="Times New Roman"/>
              </a:defRPr>
            </a:pPr>
            <a:r>
              <a:rPr sz="3150" b="1">
                <a:solidFill>
                  <a:srgbClr val="1565C0"/>
                </a:solidFill>
                <a:latin typeface="Times New Roman"/>
                <a:ea typeface="Times New Roman"/>
                <a:cs typeface="Times New Roman"/>
              </a:rPr>
              <a:t>Ngoài cụm</a:t>
            </a:r>
            <a:endParaRPr sz="1600">
              <a:latin typeface="Times New Roman"/>
              <a:ea typeface="Times New Roman"/>
              <a:cs typeface="Times New Roman"/>
            </a:endParaRPr>
          </a:p>
        </p:txBody>
      </p:sp>
      <p:sp>
        <p:nvSpPr>
          <p:cNvPr id="24" name="Shape 22">
            <a:extLst>
              <a:ext uri="{FF2B5EF4-FFF2-40B4-BE49-F238E27FC236}">
                <a16:creationId xmlns:a16="http://schemas.microsoft.com/office/drawing/2014/main" id="{BD90CDF4-5E82-4F4E-857B-98858B74222E}"/>
              </a:ext>
            </a:extLst>
          </p:cNvPr>
          <p:cNvSpPr>
            <a:spLocks noGrp="1"/>
          </p:cNvSpPr>
          <p:nvPr/>
        </p:nvSpPr>
        <p:spPr>
          <a:xfrm>
            <a:off x="1270000" y="2963291"/>
            <a:ext cx="5757291" cy="3048000"/>
          </a:xfrm>
          <a:prstGeom prst="rect">
            <a:avLst/>
          </a:prstGeom>
          <a:solidFill>
            <a:srgbClr val="FFFFFF">
              <a:alpha val="0"/>
            </a:srgbClr>
          </a:solidFill>
        </p:spPr>
      </p:sp>
      <p:sp>
        <p:nvSpPr>
          <p:cNvPr id="25" name="Text 23">
            <a:extLst>
              <a:ext uri="{FF2B5EF4-FFF2-40B4-BE49-F238E27FC236}">
                <a16:creationId xmlns:a16="http://schemas.microsoft.com/office/drawing/2014/main" id="{DFD49725-8D10-441A-8762-A79E25D6A1E4}"/>
              </a:ext>
            </a:extLst>
          </p:cNvPr>
          <p:cNvSpPr>
            <a:spLocks noGrp="1"/>
          </p:cNvSpPr>
          <p:nvPr/>
        </p:nvSpPr>
        <p:spPr>
          <a:xfrm>
            <a:off x="1148080" y="2902331"/>
            <a:ext cx="6001131" cy="3169920"/>
          </a:xfrm>
          <a:prstGeom prst="rect">
            <a:avLst/>
          </a:prstGeom>
          <a:noFill/>
        </p:spPr>
        <p:txBody>
          <a:bodyPr wrap="square" lIns="0" tIns="0" rIns="0" bIns="0" anchor="t">
            <a:noAutofit/>
          </a:bodyPr>
          <a:lstStyle/>
          <a:p>
            <a:pPr>
              <a:lnSpc>
                <a:spcPct val="150000"/>
              </a:lnSpc>
              <a:buNone/>
              <a:defRPr sz="3000" b="0">
                <a:solidFill>
                  <a:srgbClr val="151515"/>
                </a:solidFill>
                <a:latin typeface="Times New Roman"/>
                <a:ea typeface="Times New Roman"/>
                <a:cs typeface="Times New Roman"/>
              </a:defRPr>
            </a:pPr>
            <a:r>
              <a:rPr sz="3000" b="0" dirty="0" err="1">
                <a:solidFill>
                  <a:srgbClr val="151515"/>
                </a:solidFill>
                <a:latin typeface="Times New Roman"/>
                <a:ea typeface="Times New Roman"/>
                <a:cs typeface="Times New Roman"/>
              </a:rPr>
              <a:t>Từ</a:t>
            </a:r>
            <a:r>
              <a:rPr sz="3000" b="0" dirty="0">
                <a:solidFill>
                  <a:srgbClr val="151515"/>
                </a:solidFill>
                <a:latin typeface="Times New Roman"/>
                <a:ea typeface="Times New Roman"/>
                <a:cs typeface="Times New Roman"/>
              </a:rPr>
              <a:t> </a:t>
            </a:r>
            <a:r>
              <a:rPr sz="3000" b="0" dirty="0" err="1">
                <a:solidFill>
                  <a:srgbClr val="151515"/>
                </a:solidFill>
                <a:latin typeface="Times New Roman"/>
                <a:ea typeface="Times New Roman"/>
                <a:cs typeface="Times New Roman"/>
              </a:rPr>
              <a:t>không</a:t>
            </a:r>
            <a:r>
              <a:rPr sz="3000" b="0" dirty="0">
                <a:solidFill>
                  <a:srgbClr val="151515"/>
                </a:solidFill>
                <a:latin typeface="Times New Roman"/>
                <a:ea typeface="Times New Roman"/>
                <a:cs typeface="Times New Roman"/>
              </a:rPr>
              <a:t> </a:t>
            </a:r>
            <a:r>
              <a:rPr sz="3000" b="0" dirty="0" err="1">
                <a:solidFill>
                  <a:srgbClr val="151515"/>
                </a:solidFill>
                <a:latin typeface="Times New Roman"/>
                <a:ea typeface="Times New Roman"/>
                <a:cs typeface="Times New Roman"/>
              </a:rPr>
              <a:t>thuộc</a:t>
            </a:r>
            <a:r>
              <a:rPr sz="3000" b="0" dirty="0">
                <a:solidFill>
                  <a:srgbClr val="151515"/>
                </a:solidFill>
                <a:latin typeface="Times New Roman"/>
                <a:ea typeface="Times New Roman"/>
                <a:cs typeface="Times New Roman"/>
              </a:rPr>
              <a:t> </a:t>
            </a:r>
            <a:r>
              <a:rPr sz="3000" b="0" dirty="0" err="1">
                <a:solidFill>
                  <a:srgbClr val="151515"/>
                </a:solidFill>
                <a:latin typeface="Times New Roman"/>
                <a:ea typeface="Times New Roman"/>
                <a:cs typeface="Times New Roman"/>
              </a:rPr>
              <a:t>cụm</a:t>
            </a:r>
            <a:r>
              <a:rPr sz="3000" b="0" dirty="0">
                <a:solidFill>
                  <a:srgbClr val="151515"/>
                </a:solidFill>
                <a:latin typeface="Times New Roman"/>
                <a:ea typeface="Times New Roman"/>
                <a:cs typeface="Times New Roman"/>
              </a:rPr>
              <a:t> </a:t>
            </a:r>
            <a:r>
              <a:rPr sz="3000" b="0" dirty="0" err="1">
                <a:solidFill>
                  <a:srgbClr val="151515"/>
                </a:solidFill>
                <a:latin typeface="Times New Roman"/>
                <a:ea typeface="Times New Roman"/>
                <a:cs typeface="Times New Roman"/>
              </a:rPr>
              <a:t>xúc</a:t>
            </a:r>
            <a:r>
              <a:rPr sz="3000" b="0" dirty="0">
                <a:solidFill>
                  <a:srgbClr val="151515"/>
                </a:solidFill>
                <a:latin typeface="Times New Roman"/>
                <a:ea typeface="Times New Roman"/>
                <a:cs typeface="Times New Roman"/>
              </a:rPr>
              <a:t> </a:t>
            </a:r>
            <a:r>
              <a:rPr sz="3000" b="0" dirty="0" err="1">
                <a:solidFill>
                  <a:srgbClr val="151515"/>
                </a:solidFill>
                <a:latin typeface="Times New Roman"/>
                <a:ea typeface="Times New Roman"/>
                <a:cs typeface="Times New Roman"/>
              </a:rPr>
              <a:t>phạm</a:t>
            </a:r>
            <a:r>
              <a:rPr sz="3000" b="0" dirty="0">
                <a:solidFill>
                  <a:srgbClr val="151515"/>
                </a:solidFill>
                <a:latin typeface="Times New Roman"/>
                <a:ea typeface="Times New Roman"/>
                <a:cs typeface="Times New Roman"/>
              </a:rPr>
              <a:t>.</a:t>
            </a:r>
            <a:endParaRPr sz="1600" dirty="0">
              <a:latin typeface="Times New Roman"/>
              <a:ea typeface="Times New Roman"/>
              <a:cs typeface="Times New Roman"/>
            </a:endParaRPr>
          </a:p>
          <a:p>
            <a:pPr>
              <a:lnSpc>
                <a:spcPct val="150000"/>
              </a:lnSpc>
              <a:buNone/>
            </a:pPr>
            <a:endParaRPr sz="1600" dirty="0">
              <a:latin typeface="Times New Roman"/>
              <a:ea typeface="Times New Roman"/>
              <a:cs typeface="Times New Roman"/>
            </a:endParaRPr>
          </a:p>
          <a:p>
            <a:pPr>
              <a:lnSpc>
                <a:spcPct val="150000"/>
              </a:lnSpc>
              <a:buNone/>
              <a:defRPr sz="3000" b="0">
                <a:solidFill>
                  <a:srgbClr val="151515"/>
                </a:solidFill>
                <a:latin typeface="Times New Roman"/>
                <a:ea typeface="Times New Roman"/>
                <a:cs typeface="Times New Roman"/>
              </a:defRPr>
            </a:pPr>
            <a:r>
              <a:rPr sz="3000" b="0" dirty="0" err="1">
                <a:solidFill>
                  <a:srgbClr val="151515"/>
                </a:solidFill>
                <a:latin typeface="Times New Roman"/>
                <a:ea typeface="Times New Roman"/>
                <a:cs typeface="Times New Roman"/>
              </a:rPr>
              <a:t>Đây</a:t>
            </a:r>
            <a:r>
              <a:rPr sz="3000" b="0" dirty="0">
                <a:solidFill>
                  <a:srgbClr val="151515"/>
                </a:solidFill>
                <a:latin typeface="Times New Roman"/>
                <a:ea typeface="Times New Roman"/>
                <a:cs typeface="Times New Roman"/>
              </a:rPr>
              <a:t> </a:t>
            </a:r>
            <a:r>
              <a:rPr sz="3000" b="0" dirty="0" err="1">
                <a:solidFill>
                  <a:srgbClr val="151515"/>
                </a:solidFill>
                <a:latin typeface="Times New Roman"/>
                <a:ea typeface="Times New Roman"/>
                <a:cs typeface="Times New Roman"/>
              </a:rPr>
              <a:t>là</a:t>
            </a:r>
            <a:r>
              <a:rPr sz="3000" b="0" dirty="0">
                <a:solidFill>
                  <a:srgbClr val="151515"/>
                </a:solidFill>
                <a:latin typeface="Times New Roman"/>
                <a:ea typeface="Times New Roman"/>
                <a:cs typeface="Times New Roman"/>
              </a:rPr>
              <a:t> </a:t>
            </a:r>
            <a:r>
              <a:rPr sz="3000" b="0" dirty="0" err="1">
                <a:solidFill>
                  <a:srgbClr val="151515"/>
                </a:solidFill>
                <a:latin typeface="Times New Roman"/>
                <a:ea typeface="Times New Roman"/>
                <a:cs typeface="Times New Roman"/>
              </a:rPr>
              <a:t>nhãn</a:t>
            </a:r>
            <a:r>
              <a:rPr sz="3000" b="0" dirty="0">
                <a:solidFill>
                  <a:srgbClr val="151515"/>
                </a:solidFill>
                <a:latin typeface="Times New Roman"/>
                <a:ea typeface="Times New Roman"/>
                <a:cs typeface="Times New Roman"/>
              </a:rPr>
              <a:t> </a:t>
            </a:r>
            <a:r>
              <a:rPr sz="3000" b="0" dirty="0" err="1">
                <a:solidFill>
                  <a:srgbClr val="151515"/>
                </a:solidFill>
                <a:latin typeface="Times New Roman"/>
                <a:ea typeface="Times New Roman"/>
                <a:cs typeface="Times New Roman"/>
              </a:rPr>
              <a:t>xuất</a:t>
            </a:r>
            <a:r>
              <a:rPr sz="3000" b="0" dirty="0">
                <a:solidFill>
                  <a:srgbClr val="151515"/>
                </a:solidFill>
                <a:latin typeface="Times New Roman"/>
                <a:ea typeface="Times New Roman"/>
                <a:cs typeface="Times New Roman"/>
              </a:rPr>
              <a:t> </a:t>
            </a:r>
            <a:r>
              <a:rPr sz="3000" b="0" dirty="0" err="1">
                <a:solidFill>
                  <a:srgbClr val="151515"/>
                </a:solidFill>
                <a:latin typeface="Times New Roman"/>
                <a:ea typeface="Times New Roman"/>
                <a:cs typeface="Times New Roman"/>
              </a:rPr>
              <a:t>hiện</a:t>
            </a:r>
            <a:r>
              <a:rPr sz="3000" b="0" dirty="0">
                <a:solidFill>
                  <a:srgbClr val="151515"/>
                </a:solidFill>
                <a:latin typeface="Times New Roman"/>
                <a:ea typeface="Times New Roman"/>
                <a:cs typeface="Times New Roman"/>
              </a:rPr>
              <a:t> </a:t>
            </a:r>
            <a:r>
              <a:rPr sz="3000" b="0" dirty="0" err="1">
                <a:solidFill>
                  <a:srgbClr val="151515"/>
                </a:solidFill>
                <a:latin typeface="Times New Roman"/>
                <a:ea typeface="Times New Roman"/>
                <a:cs typeface="Times New Roman"/>
              </a:rPr>
              <a:t>nhiều</a:t>
            </a:r>
            <a:r>
              <a:rPr sz="3000" b="0" dirty="0">
                <a:solidFill>
                  <a:srgbClr val="151515"/>
                </a:solidFill>
                <a:latin typeface="Times New Roman"/>
                <a:ea typeface="Times New Roman"/>
                <a:cs typeface="Times New Roman"/>
              </a:rPr>
              <a:t> </a:t>
            </a:r>
            <a:r>
              <a:rPr sz="3000" b="0" dirty="0" err="1">
                <a:solidFill>
                  <a:srgbClr val="151515"/>
                </a:solidFill>
                <a:latin typeface="Times New Roman"/>
                <a:ea typeface="Times New Roman"/>
                <a:cs typeface="Times New Roman"/>
              </a:rPr>
              <a:t>nhất</a:t>
            </a:r>
            <a:r>
              <a:rPr sz="3000" b="0" dirty="0">
                <a:solidFill>
                  <a:srgbClr val="151515"/>
                </a:solidFill>
                <a:latin typeface="Times New Roman"/>
                <a:ea typeface="Times New Roman"/>
                <a:cs typeface="Times New Roman"/>
              </a:rPr>
              <a:t> </a:t>
            </a:r>
            <a:r>
              <a:rPr sz="3000" b="0" dirty="0" err="1">
                <a:solidFill>
                  <a:srgbClr val="151515"/>
                </a:solidFill>
                <a:latin typeface="Times New Roman"/>
                <a:ea typeface="Times New Roman"/>
                <a:cs typeface="Times New Roman"/>
              </a:rPr>
              <a:t>trong</a:t>
            </a:r>
            <a:r>
              <a:rPr sz="3000" b="0" dirty="0">
                <a:solidFill>
                  <a:srgbClr val="151515"/>
                </a:solidFill>
                <a:latin typeface="Times New Roman"/>
                <a:ea typeface="Times New Roman"/>
                <a:cs typeface="Times New Roman"/>
              </a:rPr>
              <a:t> </a:t>
            </a:r>
            <a:r>
              <a:rPr sz="3000" b="0" dirty="0" err="1">
                <a:solidFill>
                  <a:srgbClr val="151515"/>
                </a:solidFill>
                <a:latin typeface="Times New Roman"/>
                <a:ea typeface="Times New Roman"/>
                <a:cs typeface="Times New Roman"/>
              </a:rPr>
              <a:t>dữ</a:t>
            </a:r>
            <a:r>
              <a:rPr sz="3000" b="0" dirty="0">
                <a:solidFill>
                  <a:srgbClr val="151515"/>
                </a:solidFill>
                <a:latin typeface="Times New Roman"/>
                <a:ea typeface="Times New Roman"/>
                <a:cs typeface="Times New Roman"/>
              </a:rPr>
              <a:t> </a:t>
            </a:r>
            <a:r>
              <a:rPr sz="3000" b="0" dirty="0" err="1">
                <a:solidFill>
                  <a:srgbClr val="151515"/>
                </a:solidFill>
                <a:latin typeface="Times New Roman"/>
                <a:ea typeface="Times New Roman"/>
                <a:cs typeface="Times New Roman"/>
              </a:rPr>
              <a:t>liệu</a:t>
            </a:r>
            <a:r>
              <a:rPr sz="3000" b="0" dirty="0">
                <a:solidFill>
                  <a:srgbClr val="151515"/>
                </a:solidFill>
                <a:latin typeface="Times New Roman"/>
                <a:ea typeface="Times New Roman"/>
                <a:cs typeface="Times New Roman"/>
              </a:rPr>
              <a:t>.</a:t>
            </a:r>
            <a:endParaRPr sz="1600" dirty="0">
              <a:latin typeface="Times New Roman"/>
              <a:ea typeface="Times New Roman"/>
              <a:cs typeface="Times New Roman"/>
            </a:endParaRPr>
          </a:p>
        </p:txBody>
      </p:sp>
      <p:sp>
        <p:nvSpPr>
          <p:cNvPr id="26" name="Shape 24">
            <a:extLst>
              <a:ext uri="{FF2B5EF4-FFF2-40B4-BE49-F238E27FC236}">
                <a16:creationId xmlns:a16="http://schemas.microsoft.com/office/drawing/2014/main" id="{D9A346E4-FC04-4356-9488-0A209BDA4B37}"/>
              </a:ext>
            </a:extLst>
          </p:cNvPr>
          <p:cNvSpPr>
            <a:spLocks noGrp="1"/>
          </p:cNvSpPr>
          <p:nvPr/>
        </p:nvSpPr>
        <p:spPr>
          <a:xfrm>
            <a:off x="7704709" y="2032000"/>
            <a:ext cx="6265291" cy="4233291"/>
          </a:xfrm>
          <a:prstGeom prst="roundRect">
            <a:avLst>
              <a:gd name="adj" fmla="val 8000"/>
            </a:avLst>
          </a:prstGeom>
          <a:solidFill>
            <a:srgbClr val="E8F5E9"/>
          </a:solidFill>
          <a:ln w="12700">
            <a:solidFill>
              <a:srgbClr val="C8E6C9"/>
            </a:solidFill>
            <a:prstDash val="solid"/>
          </a:ln>
        </p:spPr>
      </p:sp>
      <p:sp>
        <p:nvSpPr>
          <p:cNvPr id="27" name="Shape 25">
            <a:extLst>
              <a:ext uri="{FF2B5EF4-FFF2-40B4-BE49-F238E27FC236}">
                <a16:creationId xmlns:a16="http://schemas.microsoft.com/office/drawing/2014/main" id="{F81A01FC-AD24-4D61-AF2B-0BF80474F03C}"/>
              </a:ext>
            </a:extLst>
          </p:cNvPr>
          <p:cNvSpPr>
            <a:spLocks noGrp="1"/>
          </p:cNvSpPr>
          <p:nvPr/>
        </p:nvSpPr>
        <p:spPr>
          <a:xfrm>
            <a:off x="7958709" y="2201291"/>
            <a:ext cx="846709" cy="609600"/>
          </a:xfrm>
          <a:prstGeom prst="rect">
            <a:avLst/>
          </a:prstGeom>
          <a:solidFill>
            <a:srgbClr val="FFFFFF">
              <a:alpha val="0"/>
            </a:srgbClr>
          </a:solidFill>
        </p:spPr>
      </p:sp>
      <p:sp>
        <p:nvSpPr>
          <p:cNvPr id="28" name="Text 26">
            <a:extLst>
              <a:ext uri="{FF2B5EF4-FFF2-40B4-BE49-F238E27FC236}">
                <a16:creationId xmlns:a16="http://schemas.microsoft.com/office/drawing/2014/main" id="{28AD66FD-64FD-4EDB-9F48-7054C28099FC}"/>
              </a:ext>
            </a:extLst>
          </p:cNvPr>
          <p:cNvSpPr>
            <a:spLocks noGrp="1"/>
          </p:cNvSpPr>
          <p:nvPr/>
        </p:nvSpPr>
        <p:spPr>
          <a:xfrm>
            <a:off x="7836789" y="2140331"/>
            <a:ext cx="1090549" cy="731520"/>
          </a:xfrm>
          <a:prstGeom prst="rect">
            <a:avLst/>
          </a:prstGeom>
          <a:noFill/>
        </p:spPr>
        <p:txBody>
          <a:bodyPr wrap="none" lIns="0" tIns="0" rIns="0" bIns="0" anchor="ctr">
            <a:noAutofit/>
          </a:bodyPr>
          <a:lstStyle/>
          <a:p>
            <a:pPr algn="ctr">
              <a:lnSpc>
                <a:spcPct val="100000"/>
              </a:lnSpc>
              <a:buNone/>
              <a:defRPr sz="3450" b="1">
                <a:solidFill>
                  <a:srgbClr val="2E7D32"/>
                </a:solidFill>
                <a:latin typeface="Times New Roman"/>
                <a:ea typeface="Times New Roman"/>
                <a:cs typeface="Times New Roman"/>
              </a:defRPr>
            </a:pPr>
            <a:r>
              <a:rPr sz="3450" b="1">
                <a:solidFill>
                  <a:srgbClr val="2E7D32"/>
                </a:solidFill>
                <a:latin typeface="Times New Roman"/>
                <a:ea typeface="Times New Roman"/>
                <a:cs typeface="Times New Roman"/>
              </a:rPr>
              <a:t>B</a:t>
            </a:r>
            <a:endParaRPr sz="1600">
              <a:latin typeface="Times New Roman"/>
              <a:ea typeface="Times New Roman"/>
              <a:cs typeface="Times New Roman"/>
            </a:endParaRPr>
          </a:p>
        </p:txBody>
      </p:sp>
      <p:sp>
        <p:nvSpPr>
          <p:cNvPr id="29" name="Shape 27">
            <a:extLst>
              <a:ext uri="{FF2B5EF4-FFF2-40B4-BE49-F238E27FC236}">
                <a16:creationId xmlns:a16="http://schemas.microsoft.com/office/drawing/2014/main" id="{6D8C4B52-4B38-4E35-B166-4EF008586432}"/>
              </a:ext>
            </a:extLst>
          </p:cNvPr>
          <p:cNvSpPr>
            <a:spLocks noGrp="1"/>
          </p:cNvSpPr>
          <p:nvPr/>
        </p:nvSpPr>
        <p:spPr>
          <a:xfrm>
            <a:off x="8890000" y="2201291"/>
            <a:ext cx="4741291" cy="609600"/>
          </a:xfrm>
          <a:prstGeom prst="rect">
            <a:avLst/>
          </a:prstGeom>
          <a:solidFill>
            <a:srgbClr val="FFFFFF">
              <a:alpha val="0"/>
            </a:srgbClr>
          </a:solidFill>
        </p:spPr>
      </p:sp>
      <p:sp>
        <p:nvSpPr>
          <p:cNvPr id="30" name="Text 28">
            <a:extLst>
              <a:ext uri="{FF2B5EF4-FFF2-40B4-BE49-F238E27FC236}">
                <a16:creationId xmlns:a16="http://schemas.microsoft.com/office/drawing/2014/main" id="{452620A3-59AB-40B9-9EA3-7FD19479E764}"/>
              </a:ext>
            </a:extLst>
          </p:cNvPr>
          <p:cNvSpPr>
            <a:spLocks noGrp="1"/>
          </p:cNvSpPr>
          <p:nvPr/>
        </p:nvSpPr>
        <p:spPr>
          <a:xfrm>
            <a:off x="8768080" y="2140331"/>
            <a:ext cx="4985131" cy="731520"/>
          </a:xfrm>
          <a:prstGeom prst="rect">
            <a:avLst/>
          </a:prstGeom>
          <a:noFill/>
        </p:spPr>
        <p:txBody>
          <a:bodyPr wrap="none" lIns="0" tIns="0" rIns="0" bIns="0" anchor="ctr">
            <a:noAutofit/>
          </a:bodyPr>
          <a:lstStyle/>
          <a:p>
            <a:pPr>
              <a:lnSpc>
                <a:spcPct val="100000"/>
              </a:lnSpc>
              <a:buNone/>
              <a:defRPr sz="3150" b="1">
                <a:solidFill>
                  <a:srgbClr val="2E7D32"/>
                </a:solidFill>
                <a:latin typeface="Times New Roman"/>
                <a:ea typeface="Times New Roman"/>
                <a:cs typeface="Times New Roman"/>
              </a:defRPr>
            </a:pPr>
            <a:r>
              <a:rPr sz="3150" b="1">
                <a:solidFill>
                  <a:srgbClr val="2E7D32"/>
                </a:solidFill>
                <a:latin typeface="Times New Roman"/>
                <a:ea typeface="Times New Roman"/>
                <a:cs typeface="Times New Roman"/>
              </a:rPr>
              <a:t>Bắt đầu cụm</a:t>
            </a:r>
            <a:endParaRPr sz="1600">
              <a:latin typeface="Times New Roman"/>
              <a:ea typeface="Times New Roman"/>
              <a:cs typeface="Times New Roman"/>
            </a:endParaRPr>
          </a:p>
        </p:txBody>
      </p:sp>
      <p:sp>
        <p:nvSpPr>
          <p:cNvPr id="31" name="Shape 29">
            <a:extLst>
              <a:ext uri="{FF2B5EF4-FFF2-40B4-BE49-F238E27FC236}">
                <a16:creationId xmlns:a16="http://schemas.microsoft.com/office/drawing/2014/main" id="{7CC2024F-6022-48DB-92DC-AA8F62203A4B}"/>
              </a:ext>
            </a:extLst>
          </p:cNvPr>
          <p:cNvSpPr>
            <a:spLocks noGrp="1"/>
          </p:cNvSpPr>
          <p:nvPr/>
        </p:nvSpPr>
        <p:spPr>
          <a:xfrm>
            <a:off x="7958709" y="2963291"/>
            <a:ext cx="5757291" cy="3048000"/>
          </a:xfrm>
          <a:prstGeom prst="rect">
            <a:avLst/>
          </a:prstGeom>
          <a:solidFill>
            <a:srgbClr val="FFFFFF">
              <a:alpha val="0"/>
            </a:srgbClr>
          </a:solidFill>
        </p:spPr>
      </p:sp>
      <p:sp>
        <p:nvSpPr>
          <p:cNvPr id="32" name="Text 30">
            <a:extLst>
              <a:ext uri="{FF2B5EF4-FFF2-40B4-BE49-F238E27FC236}">
                <a16:creationId xmlns:a16="http://schemas.microsoft.com/office/drawing/2014/main" id="{9A593347-6C92-4B95-A26B-9D9E9E2A3A87}"/>
              </a:ext>
            </a:extLst>
          </p:cNvPr>
          <p:cNvSpPr>
            <a:spLocks noGrp="1"/>
          </p:cNvSpPr>
          <p:nvPr/>
        </p:nvSpPr>
        <p:spPr>
          <a:xfrm>
            <a:off x="7836789" y="2902331"/>
            <a:ext cx="6001131" cy="3169920"/>
          </a:xfrm>
          <a:prstGeom prst="rect">
            <a:avLst/>
          </a:prstGeom>
          <a:noFill/>
        </p:spPr>
        <p:txBody>
          <a:bodyPr wrap="square" lIns="0" tIns="0" rIns="0" bIns="0" anchor="t">
            <a:noAutofit/>
          </a:bodyPr>
          <a:lstStyle/>
          <a:p>
            <a:pPr>
              <a:lnSpc>
                <a:spcPct val="150000"/>
              </a:lnSpc>
              <a:buNone/>
              <a:defRPr sz="3000" b="0">
                <a:solidFill>
                  <a:srgbClr val="151515"/>
                </a:solidFill>
                <a:latin typeface="Times New Roman"/>
                <a:ea typeface="Times New Roman"/>
                <a:cs typeface="Times New Roman"/>
              </a:defRPr>
            </a:pPr>
            <a:r>
              <a:rPr sz="3000" b="0">
                <a:solidFill>
                  <a:srgbClr val="151515"/>
                </a:solidFill>
                <a:latin typeface="Times New Roman"/>
                <a:ea typeface="Times New Roman"/>
                <a:cs typeface="Times New Roman"/>
              </a:rPr>
              <a:t>B-HOS đánh dấu từ đầu tiên của một cụm.</a:t>
            </a:r>
            <a:endParaRPr sz="1600">
              <a:latin typeface="Times New Roman"/>
              <a:ea typeface="Times New Roman"/>
              <a:cs typeface="Times New Roman"/>
            </a:endParaRPr>
          </a:p>
          <a:p>
            <a:pPr>
              <a:lnSpc>
                <a:spcPct val="150000"/>
              </a:lnSpc>
              <a:buNone/>
            </a:pPr>
            <a:endParaRPr sz="1600">
              <a:latin typeface="Times New Roman"/>
              <a:ea typeface="Times New Roman"/>
              <a:cs typeface="Times New Roman"/>
            </a:endParaRPr>
          </a:p>
          <a:p>
            <a:pPr>
              <a:lnSpc>
                <a:spcPct val="150000"/>
              </a:lnSpc>
              <a:buNone/>
              <a:defRPr sz="3000" b="0">
                <a:solidFill>
                  <a:srgbClr val="151515"/>
                </a:solidFill>
                <a:latin typeface="Times New Roman"/>
                <a:ea typeface="Times New Roman"/>
                <a:cs typeface="Times New Roman"/>
              </a:defRPr>
            </a:pPr>
            <a:r>
              <a:rPr sz="3000" b="0">
                <a:solidFill>
                  <a:srgbClr val="151515"/>
                </a:solidFill>
                <a:latin typeface="Times New Roman"/>
                <a:ea typeface="Times New Roman"/>
                <a:cs typeface="Times New Roman"/>
              </a:rPr>
              <a:t>Cụm chỉ có một từ cũng dùng nhãn này.</a:t>
            </a:r>
            <a:endParaRPr sz="1600">
              <a:latin typeface="Times New Roman"/>
              <a:ea typeface="Times New Roman"/>
              <a:cs typeface="Times New Roman"/>
            </a:endParaRPr>
          </a:p>
        </p:txBody>
      </p:sp>
      <p:sp>
        <p:nvSpPr>
          <p:cNvPr id="33" name="Shape 31">
            <a:extLst>
              <a:ext uri="{FF2B5EF4-FFF2-40B4-BE49-F238E27FC236}">
                <a16:creationId xmlns:a16="http://schemas.microsoft.com/office/drawing/2014/main" id="{E4E3B1F1-E5C6-4F2E-B526-ED8A6A42E8E6}"/>
              </a:ext>
            </a:extLst>
          </p:cNvPr>
          <p:cNvSpPr>
            <a:spLocks noGrp="1"/>
          </p:cNvSpPr>
          <p:nvPr/>
        </p:nvSpPr>
        <p:spPr>
          <a:xfrm>
            <a:off x="14393291" y="2032000"/>
            <a:ext cx="6265291" cy="4233291"/>
          </a:xfrm>
          <a:prstGeom prst="roundRect">
            <a:avLst>
              <a:gd name="adj" fmla="val 8000"/>
            </a:avLst>
          </a:prstGeom>
          <a:solidFill>
            <a:srgbClr val="FFF3E0"/>
          </a:solidFill>
          <a:ln w="12700">
            <a:solidFill>
              <a:srgbClr val="FFE0B2"/>
            </a:solidFill>
            <a:prstDash val="solid"/>
          </a:ln>
        </p:spPr>
      </p:sp>
      <p:sp>
        <p:nvSpPr>
          <p:cNvPr id="34" name="Shape 32">
            <a:extLst>
              <a:ext uri="{FF2B5EF4-FFF2-40B4-BE49-F238E27FC236}">
                <a16:creationId xmlns:a16="http://schemas.microsoft.com/office/drawing/2014/main" id="{3EFCA911-04A1-4F50-960F-FF4236E4E9BB}"/>
              </a:ext>
            </a:extLst>
          </p:cNvPr>
          <p:cNvSpPr>
            <a:spLocks noGrp="1"/>
          </p:cNvSpPr>
          <p:nvPr/>
        </p:nvSpPr>
        <p:spPr>
          <a:xfrm>
            <a:off x="14647291" y="2201291"/>
            <a:ext cx="846709" cy="609600"/>
          </a:xfrm>
          <a:prstGeom prst="rect">
            <a:avLst/>
          </a:prstGeom>
          <a:solidFill>
            <a:srgbClr val="FFFFFF">
              <a:alpha val="0"/>
            </a:srgbClr>
          </a:solidFill>
        </p:spPr>
      </p:sp>
      <p:sp>
        <p:nvSpPr>
          <p:cNvPr id="35" name="Text 33">
            <a:extLst>
              <a:ext uri="{FF2B5EF4-FFF2-40B4-BE49-F238E27FC236}">
                <a16:creationId xmlns:a16="http://schemas.microsoft.com/office/drawing/2014/main" id="{0943C132-565B-4D23-82DD-60FF0C026286}"/>
              </a:ext>
            </a:extLst>
          </p:cNvPr>
          <p:cNvSpPr>
            <a:spLocks noGrp="1"/>
          </p:cNvSpPr>
          <p:nvPr/>
        </p:nvSpPr>
        <p:spPr>
          <a:xfrm>
            <a:off x="14525371" y="2140331"/>
            <a:ext cx="1090549" cy="731520"/>
          </a:xfrm>
          <a:prstGeom prst="rect">
            <a:avLst/>
          </a:prstGeom>
          <a:noFill/>
        </p:spPr>
        <p:txBody>
          <a:bodyPr wrap="none" lIns="0" tIns="0" rIns="0" bIns="0" anchor="ctr">
            <a:noAutofit/>
          </a:bodyPr>
          <a:lstStyle/>
          <a:p>
            <a:pPr algn="ctr">
              <a:lnSpc>
                <a:spcPct val="100000"/>
              </a:lnSpc>
              <a:buNone/>
              <a:defRPr sz="3450" b="1">
                <a:solidFill>
                  <a:srgbClr val="EF6C00"/>
                </a:solidFill>
                <a:latin typeface="Times New Roman"/>
                <a:ea typeface="Times New Roman"/>
                <a:cs typeface="Times New Roman"/>
              </a:defRPr>
            </a:pPr>
            <a:r>
              <a:rPr sz="3450" b="1">
                <a:solidFill>
                  <a:srgbClr val="EF6C00"/>
                </a:solidFill>
                <a:latin typeface="Times New Roman"/>
                <a:ea typeface="Times New Roman"/>
                <a:cs typeface="Times New Roman"/>
              </a:rPr>
              <a:t>I</a:t>
            </a:r>
            <a:endParaRPr sz="1600">
              <a:latin typeface="Times New Roman"/>
              <a:ea typeface="Times New Roman"/>
              <a:cs typeface="Times New Roman"/>
            </a:endParaRPr>
          </a:p>
        </p:txBody>
      </p:sp>
      <p:sp>
        <p:nvSpPr>
          <p:cNvPr id="36" name="Shape 34">
            <a:extLst>
              <a:ext uri="{FF2B5EF4-FFF2-40B4-BE49-F238E27FC236}">
                <a16:creationId xmlns:a16="http://schemas.microsoft.com/office/drawing/2014/main" id="{3C9FB320-D7B8-4134-9C14-F25923BB428C}"/>
              </a:ext>
            </a:extLst>
          </p:cNvPr>
          <p:cNvSpPr>
            <a:spLocks noGrp="1"/>
          </p:cNvSpPr>
          <p:nvPr/>
        </p:nvSpPr>
        <p:spPr>
          <a:xfrm>
            <a:off x="15578709" y="2201291"/>
            <a:ext cx="4741291" cy="609600"/>
          </a:xfrm>
          <a:prstGeom prst="rect">
            <a:avLst/>
          </a:prstGeom>
          <a:solidFill>
            <a:srgbClr val="FFFFFF">
              <a:alpha val="0"/>
            </a:srgbClr>
          </a:solidFill>
        </p:spPr>
      </p:sp>
      <p:sp>
        <p:nvSpPr>
          <p:cNvPr id="37" name="Text 35">
            <a:extLst>
              <a:ext uri="{FF2B5EF4-FFF2-40B4-BE49-F238E27FC236}">
                <a16:creationId xmlns:a16="http://schemas.microsoft.com/office/drawing/2014/main" id="{78E38575-1A49-4B99-9BA9-CF9B7DE8B9C1}"/>
              </a:ext>
            </a:extLst>
          </p:cNvPr>
          <p:cNvSpPr>
            <a:spLocks noGrp="1"/>
          </p:cNvSpPr>
          <p:nvPr/>
        </p:nvSpPr>
        <p:spPr>
          <a:xfrm>
            <a:off x="15456789" y="2140331"/>
            <a:ext cx="4985131" cy="731520"/>
          </a:xfrm>
          <a:prstGeom prst="rect">
            <a:avLst/>
          </a:prstGeom>
          <a:noFill/>
        </p:spPr>
        <p:txBody>
          <a:bodyPr wrap="none" lIns="0" tIns="0" rIns="0" bIns="0" anchor="ctr">
            <a:noAutofit/>
          </a:bodyPr>
          <a:lstStyle/>
          <a:p>
            <a:pPr>
              <a:lnSpc>
                <a:spcPct val="100000"/>
              </a:lnSpc>
              <a:buNone/>
              <a:defRPr sz="3150" b="1">
                <a:solidFill>
                  <a:srgbClr val="EF6C00"/>
                </a:solidFill>
                <a:latin typeface="Times New Roman"/>
                <a:ea typeface="Times New Roman"/>
                <a:cs typeface="Times New Roman"/>
              </a:defRPr>
            </a:pPr>
            <a:r>
              <a:rPr sz="3150" b="1">
                <a:solidFill>
                  <a:srgbClr val="EF6C00"/>
                </a:solidFill>
                <a:latin typeface="Times New Roman"/>
                <a:ea typeface="Times New Roman"/>
                <a:cs typeface="Times New Roman"/>
              </a:rPr>
              <a:t>Tiếp tục cụm</a:t>
            </a:r>
            <a:endParaRPr sz="1600">
              <a:latin typeface="Times New Roman"/>
              <a:ea typeface="Times New Roman"/>
              <a:cs typeface="Times New Roman"/>
            </a:endParaRPr>
          </a:p>
        </p:txBody>
      </p:sp>
      <p:sp>
        <p:nvSpPr>
          <p:cNvPr id="38" name="Shape 36">
            <a:extLst>
              <a:ext uri="{FF2B5EF4-FFF2-40B4-BE49-F238E27FC236}">
                <a16:creationId xmlns:a16="http://schemas.microsoft.com/office/drawing/2014/main" id="{381F4AEC-76CE-4309-B2E6-0F607E4E2323}"/>
              </a:ext>
            </a:extLst>
          </p:cNvPr>
          <p:cNvSpPr>
            <a:spLocks noGrp="1"/>
          </p:cNvSpPr>
          <p:nvPr/>
        </p:nvSpPr>
        <p:spPr>
          <a:xfrm>
            <a:off x="14647291" y="2963291"/>
            <a:ext cx="5757291" cy="3048000"/>
          </a:xfrm>
          <a:prstGeom prst="rect">
            <a:avLst/>
          </a:prstGeom>
          <a:solidFill>
            <a:srgbClr val="FFFFFF">
              <a:alpha val="0"/>
            </a:srgbClr>
          </a:solidFill>
        </p:spPr>
      </p:sp>
      <p:sp>
        <p:nvSpPr>
          <p:cNvPr id="39" name="Text 37">
            <a:extLst>
              <a:ext uri="{FF2B5EF4-FFF2-40B4-BE49-F238E27FC236}">
                <a16:creationId xmlns:a16="http://schemas.microsoft.com/office/drawing/2014/main" id="{FF628F40-B969-4E84-A8E9-93CE748FAE58}"/>
              </a:ext>
            </a:extLst>
          </p:cNvPr>
          <p:cNvSpPr>
            <a:spLocks noGrp="1"/>
          </p:cNvSpPr>
          <p:nvPr/>
        </p:nvSpPr>
        <p:spPr>
          <a:xfrm>
            <a:off x="14525371" y="2902331"/>
            <a:ext cx="6001131" cy="3169920"/>
          </a:xfrm>
          <a:prstGeom prst="rect">
            <a:avLst/>
          </a:prstGeom>
          <a:noFill/>
        </p:spPr>
        <p:txBody>
          <a:bodyPr wrap="square" lIns="0" tIns="0" rIns="0" bIns="0" anchor="t">
            <a:noAutofit/>
          </a:bodyPr>
          <a:lstStyle/>
          <a:p>
            <a:pPr>
              <a:lnSpc>
                <a:spcPct val="150000"/>
              </a:lnSpc>
              <a:buNone/>
              <a:defRPr sz="3000" b="0">
                <a:solidFill>
                  <a:srgbClr val="151515"/>
                </a:solidFill>
                <a:latin typeface="Times New Roman"/>
                <a:ea typeface="Times New Roman"/>
                <a:cs typeface="Times New Roman"/>
              </a:defRPr>
            </a:pPr>
            <a:r>
              <a:rPr sz="3000" b="0">
                <a:solidFill>
                  <a:srgbClr val="151515"/>
                </a:solidFill>
                <a:latin typeface="Times New Roman"/>
                <a:ea typeface="Times New Roman"/>
                <a:cs typeface="Times New Roman"/>
              </a:rPr>
              <a:t>I-HOS đánh dấu từ tiếp theo trong cùng cụm.</a:t>
            </a:r>
            <a:endParaRPr sz="1600">
              <a:latin typeface="Times New Roman"/>
              <a:ea typeface="Times New Roman"/>
              <a:cs typeface="Times New Roman"/>
            </a:endParaRPr>
          </a:p>
          <a:p>
            <a:pPr>
              <a:lnSpc>
                <a:spcPct val="150000"/>
              </a:lnSpc>
              <a:buNone/>
            </a:pPr>
            <a:endParaRPr sz="1600">
              <a:latin typeface="Times New Roman"/>
              <a:ea typeface="Times New Roman"/>
              <a:cs typeface="Times New Roman"/>
            </a:endParaRPr>
          </a:p>
          <a:p>
            <a:pPr>
              <a:lnSpc>
                <a:spcPct val="150000"/>
              </a:lnSpc>
              <a:buNone/>
              <a:defRPr sz="3000" b="0">
                <a:solidFill>
                  <a:srgbClr val="151515"/>
                </a:solidFill>
                <a:latin typeface="Times New Roman"/>
                <a:ea typeface="Times New Roman"/>
                <a:cs typeface="Times New Roman"/>
              </a:defRPr>
            </a:pPr>
            <a:r>
              <a:rPr sz="3000" b="0">
                <a:solidFill>
                  <a:srgbClr val="151515"/>
                </a:solidFill>
                <a:latin typeface="Times New Roman"/>
                <a:ea typeface="Times New Roman"/>
                <a:cs typeface="Times New Roman"/>
              </a:rPr>
              <a:t>Cần đọc cùng nhãn đứng trước.</a:t>
            </a:r>
            <a:endParaRPr sz="1600">
              <a:latin typeface="Times New Roman"/>
              <a:ea typeface="Times New Roman"/>
              <a:cs typeface="Times New Roman"/>
            </a:endParaRPr>
          </a:p>
        </p:txBody>
      </p:sp>
      <p:sp>
        <p:nvSpPr>
          <p:cNvPr id="40" name="Shape 38">
            <a:extLst>
              <a:ext uri="{FF2B5EF4-FFF2-40B4-BE49-F238E27FC236}">
                <a16:creationId xmlns:a16="http://schemas.microsoft.com/office/drawing/2014/main" id="{DE3F808B-6978-443A-944E-947347BBA7A4}"/>
              </a:ext>
            </a:extLst>
          </p:cNvPr>
          <p:cNvSpPr>
            <a:spLocks noGrp="1"/>
          </p:cNvSpPr>
          <p:nvPr/>
        </p:nvSpPr>
        <p:spPr>
          <a:xfrm>
            <a:off x="1016000" y="7399781"/>
            <a:ext cx="19642709" cy="1066927"/>
          </a:xfrm>
          <a:prstGeom prst="roundRect">
            <a:avLst>
              <a:gd name="adj" fmla="val 8000"/>
            </a:avLst>
          </a:prstGeom>
          <a:solidFill>
            <a:srgbClr val="F5F5F5"/>
          </a:solidFill>
          <a:ln w="12700">
            <a:solidFill>
              <a:srgbClr val="E0E0E0"/>
            </a:solidFill>
            <a:prstDash val="solid"/>
          </a:ln>
        </p:spPr>
      </p:sp>
      <p:sp>
        <p:nvSpPr>
          <p:cNvPr id="41" name="Shape 39">
            <a:extLst>
              <a:ext uri="{FF2B5EF4-FFF2-40B4-BE49-F238E27FC236}">
                <a16:creationId xmlns:a16="http://schemas.microsoft.com/office/drawing/2014/main" id="{038631E5-DFEF-486F-B8AA-C6F06DF331C6}"/>
              </a:ext>
            </a:extLst>
          </p:cNvPr>
          <p:cNvSpPr>
            <a:spLocks noGrp="1"/>
          </p:cNvSpPr>
          <p:nvPr/>
        </p:nvSpPr>
        <p:spPr>
          <a:xfrm>
            <a:off x="1354709" y="6824091"/>
            <a:ext cx="6773291" cy="440309"/>
          </a:xfrm>
          <a:prstGeom prst="rect">
            <a:avLst/>
          </a:prstGeom>
          <a:solidFill>
            <a:srgbClr val="FFFFFF">
              <a:alpha val="0"/>
            </a:srgbClr>
          </a:solidFill>
        </p:spPr>
      </p:sp>
      <p:sp>
        <p:nvSpPr>
          <p:cNvPr id="42" name="Text 40">
            <a:extLst>
              <a:ext uri="{FF2B5EF4-FFF2-40B4-BE49-F238E27FC236}">
                <a16:creationId xmlns:a16="http://schemas.microsoft.com/office/drawing/2014/main" id="{1CFA235B-F8C8-488F-98B4-173E0F997EFF}"/>
              </a:ext>
            </a:extLst>
          </p:cNvPr>
          <p:cNvSpPr>
            <a:spLocks noGrp="1"/>
          </p:cNvSpPr>
          <p:nvPr/>
        </p:nvSpPr>
        <p:spPr>
          <a:xfrm>
            <a:off x="1279217" y="7603300"/>
            <a:ext cx="7017131" cy="562229"/>
          </a:xfrm>
          <a:prstGeom prst="rect">
            <a:avLst/>
          </a:prstGeom>
          <a:noFill/>
        </p:spPr>
        <p:txBody>
          <a:bodyPr wrap="none" lIns="0" tIns="0" rIns="0" bIns="0" anchor="ctr">
            <a:noAutofit/>
          </a:bodyPr>
          <a:lstStyle/>
          <a:p>
            <a:pPr>
              <a:lnSpc>
                <a:spcPct val="100000"/>
              </a:lnSpc>
              <a:buNone/>
              <a:defRPr sz="2250" b="1">
                <a:solidFill>
                  <a:srgbClr val="1565C0"/>
                </a:solidFill>
                <a:latin typeface="Times New Roman"/>
                <a:ea typeface="Times New Roman"/>
                <a:cs typeface="Times New Roman"/>
              </a:defRPr>
            </a:pPr>
            <a:r>
              <a:rPr sz="2250" b="1">
                <a:solidFill>
                  <a:srgbClr val="1565C0"/>
                </a:solidFill>
                <a:latin typeface="Times New Roman"/>
                <a:ea typeface="Times New Roman"/>
                <a:cs typeface="Times New Roman"/>
              </a:rPr>
              <a:t>Đầu vào: bình luận tiếng Việt</a:t>
            </a:r>
            <a:endParaRPr sz="1600">
              <a:latin typeface="Times New Roman"/>
              <a:ea typeface="Times New Roman"/>
              <a:cs typeface="Times New Roman"/>
            </a:endParaRPr>
          </a:p>
        </p:txBody>
      </p:sp>
      <p:sp>
        <p:nvSpPr>
          <p:cNvPr id="43" name="Shape 41">
            <a:extLst>
              <a:ext uri="{FF2B5EF4-FFF2-40B4-BE49-F238E27FC236}">
                <a16:creationId xmlns:a16="http://schemas.microsoft.com/office/drawing/2014/main" id="{5D016F1E-AAFE-4673-9FBE-424C6AEE9B8D}"/>
              </a:ext>
            </a:extLst>
          </p:cNvPr>
          <p:cNvSpPr>
            <a:spLocks noGrp="1"/>
          </p:cNvSpPr>
          <p:nvPr/>
        </p:nvSpPr>
        <p:spPr>
          <a:xfrm>
            <a:off x="1016000" y="8805291"/>
            <a:ext cx="19642709" cy="2201291"/>
          </a:xfrm>
          <a:prstGeom prst="rect">
            <a:avLst/>
          </a:prstGeom>
          <a:solidFill>
            <a:srgbClr val="FFFFFF">
              <a:alpha val="0"/>
            </a:srgbClr>
          </a:solidFill>
        </p:spPr>
      </p:sp>
      <p:sp>
        <p:nvSpPr>
          <p:cNvPr id="44" name="Text 42">
            <a:extLst>
              <a:ext uri="{FF2B5EF4-FFF2-40B4-BE49-F238E27FC236}">
                <a16:creationId xmlns:a16="http://schemas.microsoft.com/office/drawing/2014/main" id="{754144F0-AC2C-4985-A713-82543B1BACE6}"/>
              </a:ext>
            </a:extLst>
          </p:cNvPr>
          <p:cNvSpPr>
            <a:spLocks noGrp="1"/>
          </p:cNvSpPr>
          <p:nvPr/>
        </p:nvSpPr>
        <p:spPr>
          <a:xfrm>
            <a:off x="894080" y="8744331"/>
            <a:ext cx="19886549" cy="2323211"/>
          </a:xfrm>
          <a:prstGeom prst="rect">
            <a:avLst/>
          </a:prstGeom>
          <a:noFill/>
        </p:spPr>
        <p:txBody>
          <a:bodyPr wrap="square" lIns="0" tIns="0" rIns="0" bIns="0" anchor="t">
            <a:noAutofit/>
          </a:bodyPr>
          <a:lstStyle/>
          <a:p>
            <a:pPr>
              <a:lnSpc>
                <a:spcPct val="160000"/>
              </a:lnSpc>
              <a:buNone/>
              <a:defRPr sz="2850" b="0">
                <a:solidFill>
                  <a:srgbClr val="151515"/>
                </a:solidFill>
                <a:latin typeface="Times New Roman"/>
                <a:ea typeface="Times New Roman"/>
                <a:cs typeface="Times New Roman"/>
              </a:defRPr>
            </a:pPr>
            <a:r>
              <a:rPr sz="2850" b="0">
                <a:solidFill>
                  <a:srgbClr val="151515"/>
                </a:solidFill>
                <a:latin typeface="Times New Roman"/>
                <a:ea typeface="Times New Roman"/>
                <a:cs typeface="Times New Roman"/>
              </a:rPr>
              <a:t>Đầu ra: các cụm xúc phạm được đánh dấu hoặc che bằng ***.</a:t>
            </a:r>
            <a:endParaRPr sz="1600">
              <a:latin typeface="Times New Roman"/>
              <a:ea typeface="Times New Roman"/>
              <a:cs typeface="Times New Roman"/>
            </a:endParaRPr>
          </a:p>
          <a:p>
            <a:pPr>
              <a:lnSpc>
                <a:spcPct val="160000"/>
              </a:lnSpc>
              <a:buNone/>
              <a:defRPr sz="2850" b="0">
                <a:solidFill>
                  <a:srgbClr val="151515"/>
                </a:solidFill>
                <a:latin typeface="Times New Roman"/>
                <a:ea typeface="Times New Roman"/>
                <a:cs typeface="Times New Roman"/>
              </a:defRPr>
            </a:pPr>
            <a:r>
              <a:rPr sz="2850" b="0">
                <a:solidFill>
                  <a:srgbClr val="151515"/>
                </a:solidFill>
                <a:latin typeface="Times New Roman"/>
                <a:ea typeface="Times New Roman"/>
                <a:cs typeface="Times New Roman"/>
              </a:rPr>
              <a:t>Một câu có thể có nhiều cụm riêng biệt. Ví dụ trên chỉ minh họa cách gán nhãn.</a:t>
            </a:r>
            <a:endParaRPr sz="1600">
              <a:latin typeface="Times New Roman"/>
              <a:ea typeface="Times New Roman"/>
              <a:cs typeface="Times New Roman"/>
            </a:endParaRPr>
          </a:p>
        </p:txBody>
      </p:sp>
      <p:sp>
        <p:nvSpPr>
          <p:cNvPr id="45" name="Shape 43">
            <a:extLst>
              <a:ext uri="{FF2B5EF4-FFF2-40B4-BE49-F238E27FC236}">
                <a16:creationId xmlns:a16="http://schemas.microsoft.com/office/drawing/2014/main" id="{E3B8C359-6B00-43CC-A9CD-569117D81F20}"/>
              </a:ext>
            </a:extLst>
          </p:cNvPr>
          <p:cNvSpPr>
            <a:spLocks noGrp="1"/>
          </p:cNvSpPr>
          <p:nvPr/>
        </p:nvSpPr>
        <p:spPr>
          <a:xfrm>
            <a:off x="19981291" y="11684000"/>
            <a:ext cx="1016000" cy="406400"/>
          </a:xfrm>
          <a:prstGeom prst="rect">
            <a:avLst/>
          </a:prstGeom>
          <a:solidFill>
            <a:srgbClr val="FFFFFF">
              <a:alpha val="0"/>
            </a:srgbClr>
          </a:solidFill>
        </p:spPr>
      </p:sp>
      <p:sp>
        <p:nvSpPr>
          <p:cNvPr id="46" name="Text 44">
            <a:extLst>
              <a:ext uri="{FF2B5EF4-FFF2-40B4-BE49-F238E27FC236}">
                <a16:creationId xmlns:a16="http://schemas.microsoft.com/office/drawing/2014/main" id="{E9EEE82C-0BEB-4F00-A7E4-AD4B03F138FB}"/>
              </a:ext>
            </a:extLst>
          </p:cNvPr>
          <p:cNvSpPr>
            <a:spLocks noGrp="1"/>
          </p:cNvSpPr>
          <p:nvPr/>
        </p:nvSpPr>
        <p:spPr>
          <a:xfrm>
            <a:off x="20320000" y="11623040"/>
            <a:ext cx="799211" cy="528320"/>
          </a:xfrm>
          <a:prstGeom prst="rect">
            <a:avLst/>
          </a:prstGeom>
          <a:noFill/>
        </p:spPr>
        <p:txBody>
          <a:bodyPr wrap="none" lIns="0" tIns="0" rIns="0" bIns="0" anchor="ctr">
            <a:noAutofit/>
          </a:bodyPr>
          <a:lstStyle/>
          <a:p>
            <a:pPr algn="r">
              <a:lnSpc>
                <a:spcPct val="100000"/>
              </a:lnSpc>
              <a:buNone/>
              <a:defRPr sz="1950">
                <a:solidFill>
                  <a:srgbClr val="666666"/>
                </a:solidFill>
                <a:latin typeface="Times New Roman"/>
                <a:ea typeface="Times New Roman"/>
                <a:cs typeface="Times New Roman"/>
              </a:defRPr>
            </a:pPr>
            <a:r>
              <a:rPr sz="1950">
                <a:solidFill>
                  <a:srgbClr val="666666"/>
                </a:solidFill>
                <a:latin typeface="Times New Roman"/>
                <a:ea typeface="Times New Roman"/>
                <a:cs typeface="Times New Roman"/>
              </a:rPr>
              <a:t>3/18</a:t>
            </a:r>
            <a:endParaRPr sz="1600">
              <a:latin typeface="Times New Roman"/>
              <a:ea typeface="Times New Roman"/>
              <a:cs typeface="Times New Roman"/>
            </a:endParaRPr>
          </a:p>
        </p:txBody>
      </p:sp>
      <p:sp>
        <p:nvSpPr>
          <p:cNvPr id="47" name="Text 24">
            <a:extLst>
              <a:ext uri="{FF2B5EF4-FFF2-40B4-BE49-F238E27FC236}">
                <a16:creationId xmlns:a16="http://schemas.microsoft.com/office/drawing/2014/main" id="{1545C6EA-889B-97F3-0838-649EA516269E}"/>
              </a:ext>
            </a:extLst>
          </p:cNvPr>
          <p:cNvSpPr>
            <a:spLocks noGrp="1"/>
          </p:cNvSpPr>
          <p:nvPr/>
        </p:nvSpPr>
        <p:spPr>
          <a:xfrm>
            <a:off x="2859790" y="7609332"/>
            <a:ext cx="14224000" cy="698500"/>
          </a:xfrm>
          <a:prstGeom prst="rect">
            <a:avLst/>
          </a:prstGeom>
          <a:noFill/>
        </p:spPr>
        <p:txBody>
          <a:bodyPr wrap="square" lIns="0" tIns="0" rIns="0" bIns="0" anchor="ctr">
            <a:noAutofit/>
          </a:bodyPr>
          <a:lstStyle/>
          <a:p>
            <a:pPr algn="ctr">
              <a:lnSpc>
                <a:spcPct val="100000"/>
              </a:lnSpc>
              <a:buNone/>
              <a:defRPr sz="3150" b="0">
                <a:solidFill>
                  <a:srgbClr val="151515"/>
                </a:solidFill>
                <a:latin typeface="Times New Roman"/>
                <a:ea typeface="Times New Roman"/>
                <a:cs typeface="Times New Roman"/>
              </a:defRPr>
            </a:pPr>
            <a:r>
              <a:rPr sz="3150" b="0">
                <a:solidFill>
                  <a:srgbClr val="151515"/>
                </a:solidFill>
                <a:latin typeface="Times New Roman"/>
                <a:ea typeface="Times New Roman"/>
                <a:cs typeface="Times New Roman"/>
              </a:rPr>
              <a:t>Bạn / nói / thật / ngu     →     O / O / O / B-HOS</a:t>
            </a:r>
            <a:endParaRPr sz="2400">
              <a:latin typeface="Times New Roman"/>
              <a:ea typeface="Times New Roman"/>
              <a:cs typeface="Times New Roman"/>
            </a:endParaRPr>
          </a:p>
        </p:txBody>
      </p:sp>
    </p:spTree>
    <p:extLst>
      <p:ext uri="{BB962C8B-B14F-4D97-AF65-F5344CB8AC3E}">
        <p14:creationId xmlns:p14="http://schemas.microsoft.com/office/powerpoint/2010/main" val="8428043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48B0D12-21EE-40D7-BECE-78CF0B5B3D99}"/>
              </a:ext>
            </a:extLst>
          </p:cNvPr>
          <p:cNvSpPr>
            <a:spLocks noGrp="1"/>
          </p:cNvSpPr>
          <p:nvPr/>
        </p:nvSpPr>
        <p:spPr>
          <a:xfrm>
            <a:off x="0" y="0"/>
            <a:ext cx="21674709" cy="677291"/>
          </a:xfrm>
          <a:prstGeom prst="rect">
            <a:avLst/>
          </a:prstGeom>
          <a:solidFill>
            <a:srgbClr val="1565C0"/>
          </a:solidFill>
        </p:spPr>
      </p:sp>
      <p:sp>
        <p:nvSpPr>
          <p:cNvPr id="3" name="Shape 1">
            <a:extLst>
              <a:ext uri="{FF2B5EF4-FFF2-40B4-BE49-F238E27FC236}">
                <a16:creationId xmlns:a16="http://schemas.microsoft.com/office/drawing/2014/main" id="{A5F45F08-875F-43B7-8F87-DC7C32BF0665}"/>
              </a:ext>
            </a:extLst>
          </p:cNvPr>
          <p:cNvSpPr>
            <a:spLocks noGrp="1"/>
          </p:cNvSpPr>
          <p:nvPr/>
        </p:nvSpPr>
        <p:spPr>
          <a:xfrm>
            <a:off x="169259" y="84709"/>
            <a:ext cx="3386709" cy="508000"/>
          </a:xfrm>
          <a:prstGeom prst="roundRect">
            <a:avLst>
              <a:gd name="adj" fmla="val 8000"/>
            </a:avLst>
          </a:prstGeom>
          <a:solidFill>
            <a:srgbClr val="FFFFFF">
              <a:alpha val="3576"/>
            </a:srgbClr>
          </a:solidFill>
        </p:spPr>
      </p:sp>
      <p:sp>
        <p:nvSpPr>
          <p:cNvPr id="4" name="Shape 2">
            <a:extLst>
              <a:ext uri="{FF2B5EF4-FFF2-40B4-BE49-F238E27FC236}">
                <a16:creationId xmlns:a16="http://schemas.microsoft.com/office/drawing/2014/main" id="{3E81B155-37DA-42CD-872B-E053C95C9275}"/>
              </a:ext>
            </a:extLst>
          </p:cNvPr>
          <p:cNvSpPr>
            <a:spLocks noGrp="1"/>
          </p:cNvSpPr>
          <p:nvPr/>
        </p:nvSpPr>
        <p:spPr>
          <a:xfrm>
            <a:off x="169291" y="0"/>
            <a:ext cx="3386709" cy="677291"/>
          </a:xfrm>
          <a:prstGeom prst="rect">
            <a:avLst/>
          </a:prstGeom>
          <a:solidFill>
            <a:srgbClr val="FFFFFF">
              <a:alpha val="0"/>
            </a:srgbClr>
          </a:solidFill>
        </p:spPr>
      </p:sp>
      <p:sp>
        <p:nvSpPr>
          <p:cNvPr id="5" name="Text 3">
            <a:extLst>
              <a:ext uri="{FF2B5EF4-FFF2-40B4-BE49-F238E27FC236}">
                <a16:creationId xmlns:a16="http://schemas.microsoft.com/office/drawing/2014/main" id="{74701C66-50CA-4114-8BC9-E23CC5363508}"/>
              </a:ext>
            </a:extLst>
          </p:cNvPr>
          <p:cNvSpPr>
            <a:spLocks noGrp="1"/>
          </p:cNvSpPr>
          <p:nvPr/>
        </p:nvSpPr>
        <p:spPr>
          <a:xfrm>
            <a:off x="47339" y="0"/>
            <a:ext cx="3630549" cy="676275"/>
          </a:xfrm>
          <a:prstGeom prst="rect">
            <a:avLst/>
          </a:prstGeom>
          <a:noFill/>
        </p:spPr>
        <p:txBody>
          <a:bodyPr wrap="none" lIns="0" tIns="0" rIns="0" bIns="0" anchor="ctr">
            <a:noAutofit/>
          </a:bodyPr>
          <a:lstStyle/>
          <a:p>
            <a:pPr algn="ctr">
              <a:lnSpc>
                <a:spcPct val="100000"/>
              </a:lnSpc>
              <a:buNone/>
              <a:defRPr sz="1875" b="1">
                <a:solidFill>
                  <a:srgbClr val="FFFFFF"/>
                </a:solidFill>
                <a:latin typeface="Times New Roman"/>
                <a:ea typeface="Times New Roman"/>
                <a:cs typeface="Times New Roman"/>
              </a:defRPr>
            </a:pPr>
            <a:r>
              <a:rPr sz="1875" b="1">
                <a:solidFill>
                  <a:srgbClr val="FFFFFF"/>
                </a:solidFill>
                <a:latin typeface="Times New Roman"/>
                <a:ea typeface="Times New Roman"/>
                <a:cs typeface="Times New Roman"/>
              </a:rPr>
              <a:t>1. Bài toán và dữ liệu</a:t>
            </a:r>
            <a:endParaRPr sz="1600">
              <a:latin typeface="Times New Roman"/>
              <a:ea typeface="Times New Roman"/>
              <a:cs typeface="Times New Roman"/>
            </a:endParaRPr>
          </a:p>
        </p:txBody>
      </p:sp>
      <p:sp>
        <p:nvSpPr>
          <p:cNvPr id="6" name="Shape 4">
            <a:extLst>
              <a:ext uri="{FF2B5EF4-FFF2-40B4-BE49-F238E27FC236}">
                <a16:creationId xmlns:a16="http://schemas.microsoft.com/office/drawing/2014/main" id="{FF7DCEFD-20D9-4D10-AE8E-17B569826CB0}"/>
              </a:ext>
            </a:extLst>
          </p:cNvPr>
          <p:cNvSpPr>
            <a:spLocks noGrp="1"/>
          </p:cNvSpPr>
          <p:nvPr/>
        </p:nvSpPr>
        <p:spPr>
          <a:xfrm>
            <a:off x="3725291" y="0"/>
            <a:ext cx="3386709" cy="677291"/>
          </a:xfrm>
          <a:prstGeom prst="rect">
            <a:avLst/>
          </a:prstGeom>
          <a:solidFill>
            <a:srgbClr val="FFFFFF">
              <a:alpha val="0"/>
            </a:srgbClr>
          </a:solidFill>
        </p:spPr>
      </p:sp>
      <p:sp>
        <p:nvSpPr>
          <p:cNvPr id="7" name="Text 5">
            <a:extLst>
              <a:ext uri="{FF2B5EF4-FFF2-40B4-BE49-F238E27FC236}">
                <a16:creationId xmlns:a16="http://schemas.microsoft.com/office/drawing/2014/main" id="{89E84EEE-0FDC-4EC6-B48F-9F2821576D81}"/>
              </a:ext>
            </a:extLst>
          </p:cNvPr>
          <p:cNvSpPr>
            <a:spLocks noGrp="1"/>
          </p:cNvSpPr>
          <p:nvPr/>
        </p:nvSpPr>
        <p:spPr>
          <a:xfrm>
            <a:off x="3603403"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2. Mô hình và dual head</a:t>
            </a:r>
            <a:endParaRPr sz="1600">
              <a:latin typeface="Times New Roman"/>
              <a:ea typeface="Times New Roman"/>
              <a:cs typeface="Times New Roman"/>
            </a:endParaRPr>
          </a:p>
        </p:txBody>
      </p:sp>
      <p:sp>
        <p:nvSpPr>
          <p:cNvPr id="8" name="Shape 6">
            <a:extLst>
              <a:ext uri="{FF2B5EF4-FFF2-40B4-BE49-F238E27FC236}">
                <a16:creationId xmlns:a16="http://schemas.microsoft.com/office/drawing/2014/main" id="{38D99CB8-0975-47F2-BE00-B32359147D46}"/>
              </a:ext>
            </a:extLst>
          </p:cNvPr>
          <p:cNvSpPr>
            <a:spLocks noGrp="1"/>
          </p:cNvSpPr>
          <p:nvPr/>
        </p:nvSpPr>
        <p:spPr>
          <a:xfrm>
            <a:off x="7281291" y="0"/>
            <a:ext cx="3386709" cy="677291"/>
          </a:xfrm>
          <a:prstGeom prst="rect">
            <a:avLst/>
          </a:prstGeom>
          <a:solidFill>
            <a:srgbClr val="FFFFFF">
              <a:alpha val="0"/>
            </a:srgbClr>
          </a:solidFill>
        </p:spPr>
      </p:sp>
      <p:sp>
        <p:nvSpPr>
          <p:cNvPr id="9" name="Text 7">
            <a:extLst>
              <a:ext uri="{FF2B5EF4-FFF2-40B4-BE49-F238E27FC236}">
                <a16:creationId xmlns:a16="http://schemas.microsoft.com/office/drawing/2014/main" id="{053D217E-0DF1-442C-9245-1CFB4B4A7652}"/>
              </a:ext>
            </a:extLst>
          </p:cNvPr>
          <p:cNvSpPr>
            <a:spLocks noGrp="1"/>
          </p:cNvSpPr>
          <p:nvPr/>
        </p:nvSpPr>
        <p:spPr>
          <a:xfrm>
            <a:off x="7159371"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3. Kết quả</a:t>
            </a:r>
            <a:endParaRPr sz="1600">
              <a:latin typeface="Times New Roman"/>
              <a:ea typeface="Times New Roman"/>
              <a:cs typeface="Times New Roman"/>
            </a:endParaRPr>
          </a:p>
        </p:txBody>
      </p:sp>
      <p:sp>
        <p:nvSpPr>
          <p:cNvPr id="10" name="Shape 8">
            <a:extLst>
              <a:ext uri="{FF2B5EF4-FFF2-40B4-BE49-F238E27FC236}">
                <a16:creationId xmlns:a16="http://schemas.microsoft.com/office/drawing/2014/main" id="{E1A656DE-9003-4C55-8B36-AC74315398EB}"/>
              </a:ext>
            </a:extLst>
          </p:cNvPr>
          <p:cNvSpPr>
            <a:spLocks noGrp="1"/>
          </p:cNvSpPr>
          <p:nvPr/>
        </p:nvSpPr>
        <p:spPr>
          <a:xfrm>
            <a:off x="10837291" y="0"/>
            <a:ext cx="3386709" cy="677291"/>
          </a:xfrm>
          <a:prstGeom prst="rect">
            <a:avLst/>
          </a:prstGeom>
          <a:solidFill>
            <a:srgbClr val="FFFFFF">
              <a:alpha val="0"/>
            </a:srgbClr>
          </a:solidFill>
        </p:spPr>
      </p:sp>
      <p:sp>
        <p:nvSpPr>
          <p:cNvPr id="11" name="Text 9">
            <a:extLst>
              <a:ext uri="{FF2B5EF4-FFF2-40B4-BE49-F238E27FC236}">
                <a16:creationId xmlns:a16="http://schemas.microsoft.com/office/drawing/2014/main" id="{DA3F55C0-FF74-4801-A68D-8CE95C962034}"/>
              </a:ext>
            </a:extLst>
          </p:cNvPr>
          <p:cNvSpPr>
            <a:spLocks noGrp="1"/>
          </p:cNvSpPr>
          <p:nvPr/>
        </p:nvSpPr>
        <p:spPr>
          <a:xfrm>
            <a:off x="10715339"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4. Phân tích lỗi</a:t>
            </a:r>
            <a:endParaRPr sz="1600">
              <a:latin typeface="Times New Roman"/>
              <a:ea typeface="Times New Roman"/>
              <a:cs typeface="Times New Roman"/>
            </a:endParaRPr>
          </a:p>
        </p:txBody>
      </p:sp>
      <p:sp>
        <p:nvSpPr>
          <p:cNvPr id="12" name="Shape 10">
            <a:extLst>
              <a:ext uri="{FF2B5EF4-FFF2-40B4-BE49-F238E27FC236}">
                <a16:creationId xmlns:a16="http://schemas.microsoft.com/office/drawing/2014/main" id="{F0AD31E7-443A-423A-BE0C-02042CE8B362}"/>
              </a:ext>
            </a:extLst>
          </p:cNvPr>
          <p:cNvSpPr>
            <a:spLocks noGrp="1"/>
          </p:cNvSpPr>
          <p:nvPr/>
        </p:nvSpPr>
        <p:spPr>
          <a:xfrm>
            <a:off x="14393291" y="0"/>
            <a:ext cx="3386709" cy="677291"/>
          </a:xfrm>
          <a:prstGeom prst="rect">
            <a:avLst/>
          </a:prstGeom>
          <a:solidFill>
            <a:srgbClr val="FFFFFF">
              <a:alpha val="0"/>
            </a:srgbClr>
          </a:solidFill>
        </p:spPr>
      </p:sp>
      <p:sp>
        <p:nvSpPr>
          <p:cNvPr id="13" name="Text 11">
            <a:extLst>
              <a:ext uri="{FF2B5EF4-FFF2-40B4-BE49-F238E27FC236}">
                <a16:creationId xmlns:a16="http://schemas.microsoft.com/office/drawing/2014/main" id="{90BF3388-344A-4889-B16F-8074EDAF0A90}"/>
              </a:ext>
            </a:extLst>
          </p:cNvPr>
          <p:cNvSpPr>
            <a:spLocks noGrp="1"/>
          </p:cNvSpPr>
          <p:nvPr/>
        </p:nvSpPr>
        <p:spPr>
          <a:xfrm>
            <a:off x="14271403"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5. Ứng dụng</a:t>
            </a:r>
            <a:endParaRPr sz="1600">
              <a:latin typeface="Times New Roman"/>
              <a:ea typeface="Times New Roman"/>
              <a:cs typeface="Times New Roman"/>
            </a:endParaRPr>
          </a:p>
        </p:txBody>
      </p:sp>
      <p:sp>
        <p:nvSpPr>
          <p:cNvPr id="14" name="Shape 12">
            <a:extLst>
              <a:ext uri="{FF2B5EF4-FFF2-40B4-BE49-F238E27FC236}">
                <a16:creationId xmlns:a16="http://schemas.microsoft.com/office/drawing/2014/main" id="{6552146C-F7FD-4F69-AC2F-E0A941AE000A}"/>
              </a:ext>
            </a:extLst>
          </p:cNvPr>
          <p:cNvSpPr>
            <a:spLocks noGrp="1"/>
          </p:cNvSpPr>
          <p:nvPr/>
        </p:nvSpPr>
        <p:spPr>
          <a:xfrm>
            <a:off x="17949291" y="0"/>
            <a:ext cx="3386709" cy="677291"/>
          </a:xfrm>
          <a:prstGeom prst="rect">
            <a:avLst/>
          </a:prstGeom>
          <a:solidFill>
            <a:srgbClr val="FFFFFF">
              <a:alpha val="0"/>
            </a:srgbClr>
          </a:solidFill>
        </p:spPr>
      </p:sp>
      <p:sp>
        <p:nvSpPr>
          <p:cNvPr id="15" name="Text 13">
            <a:extLst>
              <a:ext uri="{FF2B5EF4-FFF2-40B4-BE49-F238E27FC236}">
                <a16:creationId xmlns:a16="http://schemas.microsoft.com/office/drawing/2014/main" id="{E5882D7C-E663-49A9-83B2-981778761469}"/>
              </a:ext>
            </a:extLst>
          </p:cNvPr>
          <p:cNvSpPr>
            <a:spLocks noGrp="1"/>
          </p:cNvSpPr>
          <p:nvPr/>
        </p:nvSpPr>
        <p:spPr>
          <a:xfrm>
            <a:off x="17827371"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6. Cải thiện</a:t>
            </a:r>
            <a:endParaRPr sz="1600">
              <a:latin typeface="Times New Roman"/>
              <a:ea typeface="Times New Roman"/>
              <a:cs typeface="Times New Roman"/>
            </a:endParaRPr>
          </a:p>
        </p:txBody>
      </p:sp>
      <p:sp>
        <p:nvSpPr>
          <p:cNvPr id="16" name="Shape 14">
            <a:extLst>
              <a:ext uri="{FF2B5EF4-FFF2-40B4-BE49-F238E27FC236}">
                <a16:creationId xmlns:a16="http://schemas.microsoft.com/office/drawing/2014/main" id="{0CAB0726-75A9-4259-8D34-8DB00E3AE30B}"/>
              </a:ext>
            </a:extLst>
          </p:cNvPr>
          <p:cNvSpPr>
            <a:spLocks noGrp="1"/>
          </p:cNvSpPr>
          <p:nvPr/>
        </p:nvSpPr>
        <p:spPr>
          <a:xfrm>
            <a:off x="1016000" y="931291"/>
            <a:ext cx="16933291" cy="643509"/>
          </a:xfrm>
          <a:prstGeom prst="rect">
            <a:avLst/>
          </a:prstGeom>
          <a:solidFill>
            <a:srgbClr val="FFFFFF">
              <a:alpha val="0"/>
            </a:srgbClr>
          </a:solidFill>
        </p:spPr>
      </p:sp>
      <p:sp>
        <p:nvSpPr>
          <p:cNvPr id="17" name="Text 15">
            <a:extLst>
              <a:ext uri="{FF2B5EF4-FFF2-40B4-BE49-F238E27FC236}">
                <a16:creationId xmlns:a16="http://schemas.microsoft.com/office/drawing/2014/main" id="{0BE14AEE-863C-44B2-96E9-5C42D639F27C}"/>
              </a:ext>
            </a:extLst>
          </p:cNvPr>
          <p:cNvSpPr>
            <a:spLocks noGrp="1"/>
          </p:cNvSpPr>
          <p:nvPr/>
        </p:nvSpPr>
        <p:spPr>
          <a:xfrm>
            <a:off x="894080" y="870331"/>
            <a:ext cx="17177131" cy="765429"/>
          </a:xfrm>
          <a:prstGeom prst="rect">
            <a:avLst/>
          </a:prstGeom>
          <a:noFill/>
        </p:spPr>
        <p:txBody>
          <a:bodyPr wrap="none" lIns="0" tIns="0" rIns="0" bIns="0" anchor="ctr">
            <a:noAutofit/>
          </a:bodyPr>
          <a:lstStyle/>
          <a:p>
            <a:pPr>
              <a:lnSpc>
                <a:spcPct val="100000"/>
              </a:lnSpc>
              <a:buNone/>
              <a:defRPr sz="3900" b="1">
                <a:solidFill>
                  <a:srgbClr val="1565C0"/>
                </a:solidFill>
                <a:latin typeface="Times New Roman"/>
                <a:ea typeface="Times New Roman"/>
                <a:cs typeface="Times New Roman"/>
              </a:defRPr>
            </a:pPr>
            <a:r>
              <a:rPr sz="3900" b="1">
                <a:solidFill>
                  <a:srgbClr val="1565C0"/>
                </a:solidFill>
                <a:latin typeface="Times New Roman"/>
                <a:ea typeface="Times New Roman"/>
                <a:cs typeface="Times New Roman"/>
              </a:rPr>
              <a:t>Bộ dữ liệu ViHOS</a:t>
            </a:r>
            <a:endParaRPr sz="1600">
              <a:latin typeface="Times New Roman"/>
              <a:ea typeface="Times New Roman"/>
              <a:cs typeface="Times New Roman"/>
            </a:endParaRPr>
          </a:p>
        </p:txBody>
      </p:sp>
      <p:sp>
        <p:nvSpPr>
          <p:cNvPr id="18" name="Shape 16">
            <a:extLst>
              <a:ext uri="{FF2B5EF4-FFF2-40B4-BE49-F238E27FC236}">
                <a16:creationId xmlns:a16="http://schemas.microsoft.com/office/drawing/2014/main" id="{4D2DDC9C-3504-46D8-8B89-BBAF4D96F474}"/>
              </a:ext>
            </a:extLst>
          </p:cNvPr>
          <p:cNvSpPr>
            <a:spLocks noGrp="1"/>
          </p:cNvSpPr>
          <p:nvPr/>
        </p:nvSpPr>
        <p:spPr>
          <a:xfrm>
            <a:off x="1016000" y="1625600"/>
            <a:ext cx="19642709" cy="50800"/>
          </a:xfrm>
          <a:prstGeom prst="rect">
            <a:avLst/>
          </a:prstGeom>
          <a:solidFill>
            <a:srgbClr val="1565C0"/>
          </a:solidFill>
        </p:spPr>
      </p:sp>
      <p:sp>
        <p:nvSpPr>
          <p:cNvPr id="19" name="Shape 17">
            <a:extLst>
              <a:ext uri="{FF2B5EF4-FFF2-40B4-BE49-F238E27FC236}">
                <a16:creationId xmlns:a16="http://schemas.microsoft.com/office/drawing/2014/main" id="{D8AB73D9-15F5-4B5D-BCCF-6721944A6D45}"/>
              </a:ext>
            </a:extLst>
          </p:cNvPr>
          <p:cNvSpPr>
            <a:spLocks noGrp="1"/>
          </p:cNvSpPr>
          <p:nvPr/>
        </p:nvSpPr>
        <p:spPr>
          <a:xfrm>
            <a:off x="1016000" y="1947291"/>
            <a:ext cx="19642709" cy="2032000"/>
          </a:xfrm>
          <a:prstGeom prst="roundRect">
            <a:avLst>
              <a:gd name="adj" fmla="val 8000"/>
            </a:avLst>
          </a:prstGeom>
          <a:solidFill>
            <a:srgbClr val="E3F2FD"/>
          </a:solidFill>
          <a:ln w="12700">
            <a:solidFill>
              <a:srgbClr val="BBDEFB"/>
            </a:solidFill>
            <a:prstDash val="solid"/>
          </a:ln>
        </p:spPr>
      </p:sp>
      <p:sp>
        <p:nvSpPr>
          <p:cNvPr id="20" name="Shape 18">
            <a:extLst>
              <a:ext uri="{FF2B5EF4-FFF2-40B4-BE49-F238E27FC236}">
                <a16:creationId xmlns:a16="http://schemas.microsoft.com/office/drawing/2014/main" id="{D888CE87-FB56-4008-AFB6-311309F2423D}"/>
              </a:ext>
            </a:extLst>
          </p:cNvPr>
          <p:cNvSpPr>
            <a:spLocks noGrp="1"/>
          </p:cNvSpPr>
          <p:nvPr/>
        </p:nvSpPr>
        <p:spPr>
          <a:xfrm>
            <a:off x="1354709" y="2065909"/>
            <a:ext cx="6773291" cy="440309"/>
          </a:xfrm>
          <a:prstGeom prst="rect">
            <a:avLst/>
          </a:prstGeom>
          <a:solidFill>
            <a:srgbClr val="FFFFFF">
              <a:alpha val="0"/>
            </a:srgbClr>
          </a:solidFill>
        </p:spPr>
      </p:sp>
      <p:sp>
        <p:nvSpPr>
          <p:cNvPr id="21" name="Text 19">
            <a:extLst>
              <a:ext uri="{FF2B5EF4-FFF2-40B4-BE49-F238E27FC236}">
                <a16:creationId xmlns:a16="http://schemas.microsoft.com/office/drawing/2014/main" id="{42349BC9-16E9-42D5-B577-44F0B2D8469D}"/>
              </a:ext>
            </a:extLst>
          </p:cNvPr>
          <p:cNvSpPr>
            <a:spLocks noGrp="1"/>
          </p:cNvSpPr>
          <p:nvPr/>
        </p:nvSpPr>
        <p:spPr>
          <a:xfrm>
            <a:off x="1232789" y="2004949"/>
            <a:ext cx="7017131" cy="562229"/>
          </a:xfrm>
          <a:prstGeom prst="rect">
            <a:avLst/>
          </a:prstGeom>
          <a:noFill/>
        </p:spPr>
        <p:txBody>
          <a:bodyPr wrap="none" lIns="0" tIns="0" rIns="0" bIns="0" anchor="ctr">
            <a:noAutofit/>
          </a:bodyPr>
          <a:lstStyle/>
          <a:p>
            <a:pPr>
              <a:lnSpc>
                <a:spcPct val="100000"/>
              </a:lnSpc>
              <a:buNone/>
              <a:defRPr sz="3000" b="1">
                <a:solidFill>
                  <a:srgbClr val="1565C0"/>
                </a:solidFill>
                <a:latin typeface="Times New Roman"/>
                <a:ea typeface="Times New Roman"/>
                <a:cs typeface="Times New Roman"/>
              </a:defRPr>
            </a:pPr>
            <a:r>
              <a:rPr sz="3000" b="1">
                <a:solidFill>
                  <a:srgbClr val="1565C0"/>
                </a:solidFill>
                <a:latin typeface="Times New Roman"/>
                <a:ea typeface="Times New Roman"/>
                <a:cs typeface="Times New Roman"/>
              </a:rPr>
              <a:t>11.056 bình luận tiếng Việt</a:t>
            </a:r>
            <a:endParaRPr sz="1600">
              <a:latin typeface="Times New Roman"/>
              <a:ea typeface="Times New Roman"/>
              <a:cs typeface="Times New Roman"/>
            </a:endParaRPr>
          </a:p>
        </p:txBody>
      </p:sp>
      <p:sp>
        <p:nvSpPr>
          <p:cNvPr id="22" name="Shape 20">
            <a:extLst>
              <a:ext uri="{FF2B5EF4-FFF2-40B4-BE49-F238E27FC236}">
                <a16:creationId xmlns:a16="http://schemas.microsoft.com/office/drawing/2014/main" id="{5C083878-2FE7-4317-BB65-6C9691DD373E}"/>
              </a:ext>
            </a:extLst>
          </p:cNvPr>
          <p:cNvSpPr>
            <a:spLocks noGrp="1"/>
          </p:cNvSpPr>
          <p:nvPr/>
        </p:nvSpPr>
        <p:spPr>
          <a:xfrm>
            <a:off x="1354709" y="2573909"/>
            <a:ext cx="18965291" cy="1219200"/>
          </a:xfrm>
          <a:prstGeom prst="rect">
            <a:avLst/>
          </a:prstGeom>
          <a:solidFill>
            <a:srgbClr val="FFFFFF">
              <a:alpha val="0"/>
            </a:srgbClr>
          </a:solidFill>
        </p:spPr>
      </p:sp>
      <p:sp>
        <p:nvSpPr>
          <p:cNvPr id="23" name="Text 21">
            <a:extLst>
              <a:ext uri="{FF2B5EF4-FFF2-40B4-BE49-F238E27FC236}">
                <a16:creationId xmlns:a16="http://schemas.microsoft.com/office/drawing/2014/main" id="{0B6E9A2F-1236-448B-942F-6A9F67D3B1A4}"/>
              </a:ext>
            </a:extLst>
          </p:cNvPr>
          <p:cNvSpPr>
            <a:spLocks noGrp="1"/>
          </p:cNvSpPr>
          <p:nvPr/>
        </p:nvSpPr>
        <p:spPr>
          <a:xfrm>
            <a:off x="1232789" y="2512949"/>
            <a:ext cx="19209131" cy="1341120"/>
          </a:xfrm>
          <a:prstGeom prst="rect">
            <a:avLst/>
          </a:prstGeom>
          <a:noFill/>
        </p:spPr>
        <p:txBody>
          <a:bodyPr wrap="square" lIns="0" tIns="0" rIns="0" bIns="0" anchor="t">
            <a:noAutofit/>
          </a:bodyPr>
          <a:lstStyle/>
          <a:p>
            <a:pPr algn="ctr">
              <a:lnSpc>
                <a:spcPct val="140000"/>
              </a:lnSpc>
              <a:buNone/>
              <a:defRPr sz="2850" b="0">
                <a:solidFill>
                  <a:srgbClr val="151515"/>
                </a:solidFill>
                <a:latin typeface="Times New Roman"/>
                <a:ea typeface="Times New Roman"/>
                <a:cs typeface="Times New Roman"/>
              </a:defRPr>
            </a:pPr>
            <a:r>
              <a:rPr sz="2850" b="0">
                <a:solidFill>
                  <a:srgbClr val="151515"/>
                </a:solidFill>
                <a:latin typeface="Times New Roman"/>
                <a:ea typeface="Times New Roman"/>
                <a:cs typeface="Times New Roman"/>
              </a:rPr>
              <a:t>Mỗi mẫu lưu danh sách từ và chuỗi nhãn BIO tương ứng.</a:t>
            </a:r>
            <a:endParaRPr sz="1600">
              <a:latin typeface="Times New Roman"/>
              <a:ea typeface="Times New Roman"/>
              <a:cs typeface="Times New Roman"/>
            </a:endParaRPr>
          </a:p>
          <a:p>
            <a:pPr algn="ctr">
              <a:lnSpc>
                <a:spcPct val="140000"/>
              </a:lnSpc>
              <a:buNone/>
              <a:defRPr sz="2850" b="0">
                <a:solidFill>
                  <a:srgbClr val="151515"/>
                </a:solidFill>
                <a:latin typeface="Times New Roman"/>
                <a:ea typeface="Times New Roman"/>
                <a:cs typeface="Times New Roman"/>
              </a:defRPr>
            </a:pPr>
            <a:r>
              <a:rPr sz="2850" b="0">
                <a:solidFill>
                  <a:srgbClr val="151515"/>
                </a:solidFill>
                <a:latin typeface="Times New Roman"/>
                <a:ea typeface="Times New Roman"/>
                <a:cs typeface="Times New Roman"/>
              </a:rPr>
              <a:t>Train dùng để học, dev chọn checkpoint, test đánh giá cuối cùng.</a:t>
            </a:r>
            <a:endParaRPr sz="1600">
              <a:latin typeface="Times New Roman"/>
              <a:ea typeface="Times New Roman"/>
              <a:cs typeface="Times New Roman"/>
            </a:endParaRPr>
          </a:p>
        </p:txBody>
      </p:sp>
      <p:sp>
        <p:nvSpPr>
          <p:cNvPr id="25" name="Shape 22">
            <a:extLst>
              <a:ext uri="{FF2B5EF4-FFF2-40B4-BE49-F238E27FC236}">
                <a16:creationId xmlns:a16="http://schemas.microsoft.com/office/drawing/2014/main" id="{BD6B0EA3-370F-429D-BA4E-D0EAE2832A0B}"/>
              </a:ext>
            </a:extLst>
          </p:cNvPr>
          <p:cNvSpPr>
            <a:spLocks noGrp="1"/>
          </p:cNvSpPr>
          <p:nvPr/>
        </p:nvSpPr>
        <p:spPr>
          <a:xfrm>
            <a:off x="1016000" y="9398000"/>
            <a:ext cx="19642709" cy="1693291"/>
          </a:xfrm>
          <a:prstGeom prst="roundRect">
            <a:avLst>
              <a:gd name="adj" fmla="val 8000"/>
            </a:avLst>
          </a:prstGeom>
          <a:solidFill>
            <a:srgbClr val="FFF3E0"/>
          </a:solidFill>
          <a:ln w="12700">
            <a:solidFill>
              <a:srgbClr val="FFE0B2"/>
            </a:solidFill>
            <a:prstDash val="solid"/>
          </a:ln>
        </p:spPr>
      </p:sp>
      <p:sp>
        <p:nvSpPr>
          <p:cNvPr id="26" name="Shape 23">
            <a:extLst>
              <a:ext uri="{FF2B5EF4-FFF2-40B4-BE49-F238E27FC236}">
                <a16:creationId xmlns:a16="http://schemas.microsoft.com/office/drawing/2014/main" id="{B8F863B0-8698-4114-A0C2-B5F093FA8B02}"/>
              </a:ext>
            </a:extLst>
          </p:cNvPr>
          <p:cNvSpPr>
            <a:spLocks noGrp="1"/>
          </p:cNvSpPr>
          <p:nvPr/>
        </p:nvSpPr>
        <p:spPr>
          <a:xfrm>
            <a:off x="1354709" y="9567291"/>
            <a:ext cx="18965291" cy="1354709"/>
          </a:xfrm>
          <a:prstGeom prst="rect">
            <a:avLst/>
          </a:prstGeom>
          <a:solidFill>
            <a:srgbClr val="FFFFFF">
              <a:alpha val="0"/>
            </a:srgbClr>
          </a:solidFill>
        </p:spPr>
      </p:sp>
      <p:sp>
        <p:nvSpPr>
          <p:cNvPr id="27" name="Text 24">
            <a:extLst>
              <a:ext uri="{FF2B5EF4-FFF2-40B4-BE49-F238E27FC236}">
                <a16:creationId xmlns:a16="http://schemas.microsoft.com/office/drawing/2014/main" id="{1C8F46B5-BF6A-4492-8749-E50D4C100A44}"/>
              </a:ext>
            </a:extLst>
          </p:cNvPr>
          <p:cNvSpPr>
            <a:spLocks noGrp="1"/>
          </p:cNvSpPr>
          <p:nvPr/>
        </p:nvSpPr>
        <p:spPr>
          <a:xfrm>
            <a:off x="1232789" y="9506331"/>
            <a:ext cx="19209131" cy="1476629"/>
          </a:xfrm>
          <a:prstGeom prst="rect">
            <a:avLst/>
          </a:prstGeom>
          <a:noFill/>
        </p:spPr>
        <p:txBody>
          <a:bodyPr wrap="square" lIns="0" tIns="0" rIns="0" bIns="0" anchor="t">
            <a:noAutofit/>
          </a:bodyPr>
          <a:lstStyle/>
          <a:p>
            <a:pPr>
              <a:lnSpc>
                <a:spcPct val="150000"/>
              </a:lnSpc>
              <a:buNone/>
              <a:defRPr sz="2625" b="0">
                <a:solidFill>
                  <a:srgbClr val="151515"/>
                </a:solidFill>
                <a:latin typeface="Times New Roman"/>
                <a:ea typeface="Times New Roman"/>
                <a:cs typeface="Times New Roman"/>
              </a:defRPr>
            </a:pPr>
            <a:r>
              <a:rPr sz="2625" b="0">
                <a:solidFill>
                  <a:srgbClr val="151515"/>
                </a:solidFill>
                <a:latin typeface="Times New Roman"/>
                <a:ea typeface="Times New Roman"/>
                <a:cs typeface="Times New Roman"/>
              </a:rPr>
              <a:t>Nhãn O chiếm 82,37% số từ trong các tệp JSON hiện có. Vì vậy, đánh giá chỉ bằng độ đúng ở cấp từ có thể che khuất lỗi bỏ sót cụm xúc phạm.</a:t>
            </a:r>
            <a:endParaRPr sz="1600">
              <a:latin typeface="Times New Roman"/>
              <a:ea typeface="Times New Roman"/>
              <a:cs typeface="Times New Roman"/>
            </a:endParaRPr>
          </a:p>
        </p:txBody>
      </p:sp>
      <p:sp>
        <p:nvSpPr>
          <p:cNvPr id="28" name="Shape 25">
            <a:extLst>
              <a:ext uri="{FF2B5EF4-FFF2-40B4-BE49-F238E27FC236}">
                <a16:creationId xmlns:a16="http://schemas.microsoft.com/office/drawing/2014/main" id="{AA8164F0-69AD-47EC-A0F2-EDF4512AD7B1}"/>
              </a:ext>
            </a:extLst>
          </p:cNvPr>
          <p:cNvSpPr>
            <a:spLocks noGrp="1"/>
          </p:cNvSpPr>
          <p:nvPr/>
        </p:nvSpPr>
        <p:spPr>
          <a:xfrm>
            <a:off x="19981291" y="11684000"/>
            <a:ext cx="1016000" cy="406400"/>
          </a:xfrm>
          <a:prstGeom prst="rect">
            <a:avLst/>
          </a:prstGeom>
          <a:solidFill>
            <a:srgbClr val="FFFFFF">
              <a:alpha val="0"/>
            </a:srgbClr>
          </a:solidFill>
        </p:spPr>
      </p:sp>
      <p:sp>
        <p:nvSpPr>
          <p:cNvPr id="29" name="Text 26">
            <a:extLst>
              <a:ext uri="{FF2B5EF4-FFF2-40B4-BE49-F238E27FC236}">
                <a16:creationId xmlns:a16="http://schemas.microsoft.com/office/drawing/2014/main" id="{1E25085D-333C-4119-A162-E7825695140C}"/>
              </a:ext>
            </a:extLst>
          </p:cNvPr>
          <p:cNvSpPr>
            <a:spLocks noGrp="1"/>
          </p:cNvSpPr>
          <p:nvPr/>
        </p:nvSpPr>
        <p:spPr>
          <a:xfrm>
            <a:off x="19859371" y="11623040"/>
            <a:ext cx="1259840" cy="528320"/>
          </a:xfrm>
          <a:prstGeom prst="rect">
            <a:avLst/>
          </a:prstGeom>
          <a:noFill/>
        </p:spPr>
        <p:txBody>
          <a:bodyPr wrap="none" lIns="0" tIns="0" rIns="0" bIns="0" anchor="ctr">
            <a:noAutofit/>
          </a:bodyPr>
          <a:lstStyle/>
          <a:p>
            <a:pPr algn="r">
              <a:lnSpc>
                <a:spcPct val="100000"/>
              </a:lnSpc>
              <a:buNone/>
              <a:defRPr sz="1950">
                <a:solidFill>
                  <a:srgbClr val="666666"/>
                </a:solidFill>
                <a:latin typeface="Times New Roman"/>
                <a:ea typeface="Times New Roman"/>
                <a:cs typeface="Times New Roman"/>
              </a:defRPr>
            </a:pPr>
            <a:r>
              <a:rPr sz="1950">
                <a:solidFill>
                  <a:srgbClr val="666666"/>
                </a:solidFill>
                <a:latin typeface="Times New Roman"/>
                <a:ea typeface="Times New Roman"/>
                <a:cs typeface="Times New Roman"/>
              </a:rPr>
              <a:t>4/18</a:t>
            </a:r>
            <a:endParaRPr sz="1600">
              <a:latin typeface="Times New Roman"/>
              <a:ea typeface="Times New Roman"/>
              <a:cs typeface="Times New Roman"/>
            </a:endParaRPr>
          </a:p>
        </p:txBody>
      </p:sp>
      <p:graphicFrame>
        <p:nvGraphicFramePr>
          <p:cNvPr id="58" name="Table 57"/>
          <p:cNvGraphicFramePr/>
          <p:nvPr/>
        </p:nvGraphicFramePr>
        <p:xfrm>
          <a:off x="1016032" y="4317968"/>
          <a:ext cx="19642741" cy="4741260"/>
        </p:xfrm>
        <a:graphic>
          <a:graphicData uri="http://schemas.openxmlformats.org/drawingml/2006/table">
            <a:tbl>
              <a:tblPr/>
              <a:tblGrid>
                <a:gridCol w="4191000">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gridCol w="5238750">
                  <a:extLst>
                    <a:ext uri="{9D8B030D-6E8A-4147-A177-3AD203B41FA5}">
                      <a16:colId xmlns:a16="http://schemas.microsoft.com/office/drawing/2014/main" val="20002"/>
                    </a:ext>
                  </a:extLst>
                </a:gridCol>
                <a:gridCol w="6402991">
                  <a:extLst>
                    <a:ext uri="{9D8B030D-6E8A-4147-A177-3AD203B41FA5}">
                      <a16:colId xmlns:a16="http://schemas.microsoft.com/office/drawing/2014/main" val="20003"/>
                    </a:ext>
                  </a:extLst>
                </a:gridCol>
              </a:tblGrid>
              <a:tr h="1185315">
                <a:tc>
                  <a:txBody>
                    <a:bodyPr/>
                    <a:lstStyle/>
                    <a:p>
                      <a:r>
                        <a:rPr sz="2850" b="1">
                          <a:solidFill>
                            <a:srgbClr val="FFFFFF"/>
                          </a:solidFill>
                          <a:latin typeface="Times New Roman"/>
                          <a:ea typeface="Times New Roman"/>
                          <a:cs typeface="Times New Roman"/>
                        </a:rPr>
                        <a:t>Tập dữ liệu</a:t>
                      </a:r>
                    </a:p>
                  </a:txBody>
                  <a:tcPr anchor="ctr">
                    <a:solidFill>
                      <a:srgbClr val="1565C0"/>
                    </a:solidFill>
                  </a:tcPr>
                </a:tc>
                <a:tc>
                  <a:txBody>
                    <a:bodyPr/>
                    <a:lstStyle/>
                    <a:p>
                      <a:r>
                        <a:rPr sz="2850" b="1">
                          <a:solidFill>
                            <a:srgbClr val="FFFFFF"/>
                          </a:solidFill>
                          <a:latin typeface="Times New Roman"/>
                          <a:ea typeface="Times New Roman"/>
                          <a:cs typeface="Times New Roman"/>
                        </a:rPr>
                        <a:t>Số câu</a:t>
                      </a:r>
                    </a:p>
                  </a:txBody>
                  <a:tcPr anchor="ctr">
                    <a:solidFill>
                      <a:srgbClr val="1565C0"/>
                    </a:solidFill>
                  </a:tcPr>
                </a:tc>
                <a:tc>
                  <a:txBody>
                    <a:bodyPr/>
                    <a:lstStyle/>
                    <a:p>
                      <a:r>
                        <a:rPr sz="2850" b="1">
                          <a:solidFill>
                            <a:srgbClr val="FFFFFF"/>
                          </a:solidFill>
                          <a:latin typeface="Times New Roman"/>
                          <a:ea typeface="Times New Roman"/>
                          <a:cs typeface="Times New Roman"/>
                        </a:rPr>
                        <a:t>Số từ gán nhãn</a:t>
                      </a:r>
                    </a:p>
                  </a:txBody>
                  <a:tcPr anchor="ctr">
                    <a:solidFill>
                      <a:srgbClr val="1565C0"/>
                    </a:solidFill>
                  </a:tcPr>
                </a:tc>
                <a:tc>
                  <a:txBody>
                    <a:bodyPr/>
                    <a:lstStyle/>
                    <a:p>
                      <a:r>
                        <a:rPr sz="2850" b="1">
                          <a:solidFill>
                            <a:srgbClr val="FFFFFF"/>
                          </a:solidFill>
                          <a:latin typeface="Times New Roman"/>
                          <a:ea typeface="Times New Roman"/>
                          <a:cs typeface="Times New Roman"/>
                        </a:rPr>
                        <a:t>Vai trò</a:t>
                      </a:r>
                    </a:p>
                  </a:txBody>
                  <a:tcPr anchor="ctr">
                    <a:solidFill>
                      <a:srgbClr val="1565C0"/>
                    </a:solidFill>
                  </a:tcPr>
                </a:tc>
                <a:extLst>
                  <a:ext uri="{0D108BD9-81ED-4DB2-BD59-A6C34878D82A}">
                    <a16:rowId xmlns:a16="http://schemas.microsoft.com/office/drawing/2014/main" val="10000"/>
                  </a:ext>
                </a:extLst>
              </a:tr>
              <a:tr h="1185315">
                <a:tc>
                  <a:txBody>
                    <a:bodyPr/>
                    <a:lstStyle/>
                    <a:p>
                      <a:r>
                        <a:rPr sz="2850" b="0">
                          <a:solidFill>
                            <a:srgbClr val="151515"/>
                          </a:solidFill>
                          <a:latin typeface="Times New Roman"/>
                          <a:ea typeface="Times New Roman"/>
                          <a:cs typeface="Times New Roman"/>
                        </a:rPr>
                        <a:t>Train</a:t>
                      </a:r>
                    </a:p>
                  </a:txBody>
                  <a:tcPr anchor="ctr">
                    <a:solidFill>
                      <a:srgbClr val="FFFFFF"/>
                    </a:solidFill>
                  </a:tcPr>
                </a:tc>
                <a:tc>
                  <a:txBody>
                    <a:bodyPr/>
                    <a:lstStyle/>
                    <a:p>
                      <a:r>
                        <a:rPr sz="2850" b="0">
                          <a:solidFill>
                            <a:srgbClr val="151515"/>
                          </a:solidFill>
                          <a:latin typeface="Times New Roman"/>
                          <a:ea typeface="Times New Roman"/>
                          <a:cs typeface="Times New Roman"/>
                        </a:rPr>
                        <a:t>8.844</a:t>
                      </a:r>
                    </a:p>
                  </a:txBody>
                  <a:tcPr anchor="ctr">
                    <a:solidFill>
                      <a:srgbClr val="FFFFFF"/>
                    </a:solidFill>
                  </a:tcPr>
                </a:tc>
                <a:tc>
                  <a:txBody>
                    <a:bodyPr/>
                    <a:lstStyle/>
                    <a:p>
                      <a:r>
                        <a:rPr sz="2850" b="0">
                          <a:solidFill>
                            <a:srgbClr val="151515"/>
                          </a:solidFill>
                          <a:latin typeface="Times New Roman"/>
                          <a:ea typeface="Times New Roman"/>
                          <a:cs typeface="Times New Roman"/>
                        </a:rPr>
                        <a:t>108.430</a:t>
                      </a:r>
                    </a:p>
                  </a:txBody>
                  <a:tcPr anchor="ctr">
                    <a:solidFill>
                      <a:srgbClr val="FFFFFF"/>
                    </a:solidFill>
                  </a:tcPr>
                </a:tc>
                <a:tc>
                  <a:txBody>
                    <a:bodyPr/>
                    <a:lstStyle/>
                    <a:p>
                      <a:r>
                        <a:rPr sz="2850" b="0">
                          <a:solidFill>
                            <a:srgbClr val="151515"/>
                          </a:solidFill>
                          <a:latin typeface="Times New Roman"/>
                          <a:ea typeface="Times New Roman"/>
                          <a:cs typeface="Times New Roman"/>
                        </a:rPr>
                        <a:t>Huấn luyện</a:t>
                      </a:r>
                    </a:p>
                  </a:txBody>
                  <a:tcPr anchor="ctr">
                    <a:solidFill>
                      <a:srgbClr val="FFFFFF"/>
                    </a:solidFill>
                  </a:tcPr>
                </a:tc>
                <a:extLst>
                  <a:ext uri="{0D108BD9-81ED-4DB2-BD59-A6C34878D82A}">
                    <a16:rowId xmlns:a16="http://schemas.microsoft.com/office/drawing/2014/main" val="10001"/>
                  </a:ext>
                </a:extLst>
              </a:tr>
              <a:tr h="1185315">
                <a:tc>
                  <a:txBody>
                    <a:bodyPr/>
                    <a:lstStyle/>
                    <a:p>
                      <a:r>
                        <a:rPr sz="2850" b="0">
                          <a:solidFill>
                            <a:srgbClr val="151515"/>
                          </a:solidFill>
                          <a:latin typeface="Times New Roman"/>
                          <a:ea typeface="Times New Roman"/>
                          <a:cs typeface="Times New Roman"/>
                        </a:rPr>
                        <a:t>Dev</a:t>
                      </a:r>
                    </a:p>
                  </a:txBody>
                  <a:tcPr anchor="ctr">
                    <a:solidFill>
                      <a:srgbClr val="E3F2FD"/>
                    </a:solidFill>
                  </a:tcPr>
                </a:tc>
                <a:tc>
                  <a:txBody>
                    <a:bodyPr/>
                    <a:lstStyle/>
                    <a:p>
                      <a:r>
                        <a:rPr sz="2850" b="0">
                          <a:solidFill>
                            <a:srgbClr val="151515"/>
                          </a:solidFill>
                          <a:latin typeface="Times New Roman"/>
                          <a:ea typeface="Times New Roman"/>
                          <a:cs typeface="Times New Roman"/>
                        </a:rPr>
                        <a:t>1.106</a:t>
                      </a:r>
                    </a:p>
                  </a:txBody>
                  <a:tcPr anchor="ctr">
                    <a:solidFill>
                      <a:srgbClr val="E3F2FD"/>
                    </a:solidFill>
                  </a:tcPr>
                </a:tc>
                <a:tc>
                  <a:txBody>
                    <a:bodyPr/>
                    <a:lstStyle/>
                    <a:p>
                      <a:r>
                        <a:rPr sz="2850" b="0">
                          <a:solidFill>
                            <a:srgbClr val="151515"/>
                          </a:solidFill>
                          <a:latin typeface="Times New Roman"/>
                          <a:ea typeface="Times New Roman"/>
                          <a:cs typeface="Times New Roman"/>
                        </a:rPr>
                        <a:t>13.948</a:t>
                      </a:r>
                    </a:p>
                  </a:txBody>
                  <a:tcPr anchor="ctr">
                    <a:solidFill>
                      <a:srgbClr val="E3F2FD"/>
                    </a:solidFill>
                  </a:tcPr>
                </a:tc>
                <a:tc>
                  <a:txBody>
                    <a:bodyPr/>
                    <a:lstStyle/>
                    <a:p>
                      <a:r>
                        <a:rPr sz="2850" b="0">
                          <a:solidFill>
                            <a:srgbClr val="151515"/>
                          </a:solidFill>
                          <a:latin typeface="Times New Roman"/>
                          <a:ea typeface="Times New Roman"/>
                          <a:cs typeface="Times New Roman"/>
                        </a:rPr>
                        <a:t>Chọn mô hình</a:t>
                      </a:r>
                    </a:p>
                  </a:txBody>
                  <a:tcPr anchor="ctr">
                    <a:solidFill>
                      <a:srgbClr val="E3F2FD"/>
                    </a:solidFill>
                  </a:tcPr>
                </a:tc>
                <a:extLst>
                  <a:ext uri="{0D108BD9-81ED-4DB2-BD59-A6C34878D82A}">
                    <a16:rowId xmlns:a16="http://schemas.microsoft.com/office/drawing/2014/main" val="10002"/>
                  </a:ext>
                </a:extLst>
              </a:tr>
              <a:tr h="1185315">
                <a:tc>
                  <a:txBody>
                    <a:bodyPr/>
                    <a:lstStyle/>
                    <a:p>
                      <a:r>
                        <a:rPr sz="2850" b="0">
                          <a:solidFill>
                            <a:srgbClr val="151515"/>
                          </a:solidFill>
                          <a:latin typeface="Times New Roman"/>
                          <a:ea typeface="Times New Roman"/>
                          <a:cs typeface="Times New Roman"/>
                        </a:rPr>
                        <a:t>Test</a:t>
                      </a:r>
                    </a:p>
                  </a:txBody>
                  <a:tcPr anchor="ctr">
                    <a:solidFill>
                      <a:srgbClr val="FFFFFF"/>
                    </a:solidFill>
                  </a:tcPr>
                </a:tc>
                <a:tc>
                  <a:txBody>
                    <a:bodyPr/>
                    <a:lstStyle/>
                    <a:p>
                      <a:r>
                        <a:rPr sz="2850" b="0">
                          <a:solidFill>
                            <a:srgbClr val="151515"/>
                          </a:solidFill>
                          <a:latin typeface="Times New Roman"/>
                          <a:ea typeface="Times New Roman"/>
                          <a:cs typeface="Times New Roman"/>
                        </a:rPr>
                        <a:t>1.106</a:t>
                      </a:r>
                    </a:p>
                  </a:txBody>
                  <a:tcPr anchor="ctr">
                    <a:solidFill>
                      <a:srgbClr val="FFFFFF"/>
                    </a:solidFill>
                  </a:tcPr>
                </a:tc>
                <a:tc>
                  <a:txBody>
                    <a:bodyPr/>
                    <a:lstStyle/>
                    <a:p>
                      <a:r>
                        <a:rPr sz="2850" b="0">
                          <a:solidFill>
                            <a:srgbClr val="151515"/>
                          </a:solidFill>
                          <a:latin typeface="Times New Roman"/>
                          <a:ea typeface="Times New Roman"/>
                          <a:cs typeface="Times New Roman"/>
                        </a:rPr>
                        <a:t>13.424</a:t>
                      </a:r>
                    </a:p>
                  </a:txBody>
                  <a:tcPr anchor="ctr">
                    <a:solidFill>
                      <a:srgbClr val="FFFFFF"/>
                    </a:solidFill>
                  </a:tcPr>
                </a:tc>
                <a:tc>
                  <a:txBody>
                    <a:bodyPr/>
                    <a:lstStyle/>
                    <a:p>
                      <a:r>
                        <a:rPr sz="2850" b="0">
                          <a:solidFill>
                            <a:srgbClr val="151515"/>
                          </a:solidFill>
                          <a:latin typeface="Times New Roman"/>
                          <a:ea typeface="Times New Roman"/>
                          <a:cs typeface="Times New Roman"/>
                        </a:rPr>
                        <a:t>Đánh giá cuối</a:t>
                      </a:r>
                    </a:p>
                  </a:txBody>
                  <a:tcPr anchor="ctr">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0908816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DB88666C-A7F3-4540-9D2A-85BD04FED25F}"/>
              </a:ext>
            </a:extLst>
          </p:cNvPr>
          <p:cNvSpPr>
            <a:spLocks noGrp="1"/>
          </p:cNvSpPr>
          <p:nvPr/>
        </p:nvSpPr>
        <p:spPr>
          <a:xfrm>
            <a:off x="0" y="0"/>
            <a:ext cx="21674709" cy="677291"/>
          </a:xfrm>
          <a:prstGeom prst="rect">
            <a:avLst/>
          </a:prstGeom>
          <a:solidFill>
            <a:srgbClr val="1565C0"/>
          </a:solidFill>
        </p:spPr>
      </p:sp>
      <p:sp>
        <p:nvSpPr>
          <p:cNvPr id="3" name="Shape 1">
            <a:extLst>
              <a:ext uri="{FF2B5EF4-FFF2-40B4-BE49-F238E27FC236}">
                <a16:creationId xmlns:a16="http://schemas.microsoft.com/office/drawing/2014/main" id="{ECE2A6BC-9C4C-48B9-9954-BAEDD2BE8AE9}"/>
              </a:ext>
            </a:extLst>
          </p:cNvPr>
          <p:cNvSpPr>
            <a:spLocks noGrp="1"/>
          </p:cNvSpPr>
          <p:nvPr/>
        </p:nvSpPr>
        <p:spPr>
          <a:xfrm>
            <a:off x="3725227" y="84709"/>
            <a:ext cx="3386709" cy="508000"/>
          </a:xfrm>
          <a:prstGeom prst="roundRect">
            <a:avLst>
              <a:gd name="adj" fmla="val 8000"/>
            </a:avLst>
          </a:prstGeom>
          <a:solidFill>
            <a:srgbClr val="FFFFFF">
              <a:alpha val="3576"/>
            </a:srgbClr>
          </a:solidFill>
        </p:spPr>
      </p:sp>
      <p:sp>
        <p:nvSpPr>
          <p:cNvPr id="4" name="Shape 2">
            <a:extLst>
              <a:ext uri="{FF2B5EF4-FFF2-40B4-BE49-F238E27FC236}">
                <a16:creationId xmlns:a16="http://schemas.microsoft.com/office/drawing/2014/main" id="{BC95ABFA-E6DE-4EB4-9D63-997B1C70FDA9}"/>
              </a:ext>
            </a:extLst>
          </p:cNvPr>
          <p:cNvSpPr>
            <a:spLocks noGrp="1"/>
          </p:cNvSpPr>
          <p:nvPr/>
        </p:nvSpPr>
        <p:spPr>
          <a:xfrm>
            <a:off x="169291" y="0"/>
            <a:ext cx="3386709" cy="677291"/>
          </a:xfrm>
          <a:prstGeom prst="rect">
            <a:avLst/>
          </a:prstGeom>
          <a:solidFill>
            <a:srgbClr val="FFFFFF">
              <a:alpha val="0"/>
            </a:srgbClr>
          </a:solidFill>
        </p:spPr>
      </p:sp>
      <p:sp>
        <p:nvSpPr>
          <p:cNvPr id="5" name="Text 3">
            <a:extLst>
              <a:ext uri="{FF2B5EF4-FFF2-40B4-BE49-F238E27FC236}">
                <a16:creationId xmlns:a16="http://schemas.microsoft.com/office/drawing/2014/main" id="{34C8ED6D-95BB-4F0F-9C5D-2ACDCAEAF1C5}"/>
              </a:ext>
            </a:extLst>
          </p:cNvPr>
          <p:cNvSpPr>
            <a:spLocks noGrp="1"/>
          </p:cNvSpPr>
          <p:nvPr/>
        </p:nvSpPr>
        <p:spPr>
          <a:xfrm>
            <a:off x="47339"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1. Bài toán và dữ liệu</a:t>
            </a:r>
            <a:endParaRPr sz="1600">
              <a:latin typeface="Times New Roman"/>
              <a:ea typeface="Times New Roman"/>
              <a:cs typeface="Times New Roman"/>
            </a:endParaRPr>
          </a:p>
        </p:txBody>
      </p:sp>
      <p:sp>
        <p:nvSpPr>
          <p:cNvPr id="6" name="Shape 4">
            <a:extLst>
              <a:ext uri="{FF2B5EF4-FFF2-40B4-BE49-F238E27FC236}">
                <a16:creationId xmlns:a16="http://schemas.microsoft.com/office/drawing/2014/main" id="{5EF4A0A8-C063-4E3B-AB00-845D6A83E5A7}"/>
              </a:ext>
            </a:extLst>
          </p:cNvPr>
          <p:cNvSpPr>
            <a:spLocks noGrp="1"/>
          </p:cNvSpPr>
          <p:nvPr/>
        </p:nvSpPr>
        <p:spPr>
          <a:xfrm>
            <a:off x="3725291" y="0"/>
            <a:ext cx="3386709" cy="677291"/>
          </a:xfrm>
          <a:prstGeom prst="rect">
            <a:avLst/>
          </a:prstGeom>
          <a:solidFill>
            <a:srgbClr val="FFFFFF">
              <a:alpha val="0"/>
            </a:srgbClr>
          </a:solidFill>
        </p:spPr>
      </p:sp>
      <p:sp>
        <p:nvSpPr>
          <p:cNvPr id="7" name="Text 5">
            <a:extLst>
              <a:ext uri="{FF2B5EF4-FFF2-40B4-BE49-F238E27FC236}">
                <a16:creationId xmlns:a16="http://schemas.microsoft.com/office/drawing/2014/main" id="{9F9E9458-3F74-48AE-846E-8B4C995C80CC}"/>
              </a:ext>
            </a:extLst>
          </p:cNvPr>
          <p:cNvSpPr>
            <a:spLocks noGrp="1"/>
          </p:cNvSpPr>
          <p:nvPr/>
        </p:nvSpPr>
        <p:spPr>
          <a:xfrm>
            <a:off x="3603403" y="0"/>
            <a:ext cx="3630549" cy="676275"/>
          </a:xfrm>
          <a:prstGeom prst="rect">
            <a:avLst/>
          </a:prstGeom>
          <a:noFill/>
        </p:spPr>
        <p:txBody>
          <a:bodyPr wrap="none" lIns="0" tIns="0" rIns="0" bIns="0" anchor="ctr">
            <a:noAutofit/>
          </a:bodyPr>
          <a:lstStyle/>
          <a:p>
            <a:pPr algn="ctr">
              <a:lnSpc>
                <a:spcPct val="100000"/>
              </a:lnSpc>
              <a:buNone/>
              <a:defRPr sz="1875" b="1">
                <a:solidFill>
                  <a:srgbClr val="FFFFFF"/>
                </a:solidFill>
                <a:latin typeface="Times New Roman"/>
                <a:ea typeface="Times New Roman"/>
                <a:cs typeface="Times New Roman"/>
              </a:defRPr>
            </a:pPr>
            <a:r>
              <a:rPr sz="1875" b="1">
                <a:solidFill>
                  <a:srgbClr val="FFFFFF"/>
                </a:solidFill>
                <a:latin typeface="Times New Roman"/>
                <a:ea typeface="Times New Roman"/>
                <a:cs typeface="Times New Roman"/>
              </a:rPr>
              <a:t>2. Mô hình và dual head</a:t>
            </a:r>
            <a:endParaRPr sz="1600">
              <a:latin typeface="Times New Roman"/>
              <a:ea typeface="Times New Roman"/>
              <a:cs typeface="Times New Roman"/>
            </a:endParaRPr>
          </a:p>
        </p:txBody>
      </p:sp>
      <p:sp>
        <p:nvSpPr>
          <p:cNvPr id="8" name="Shape 6">
            <a:extLst>
              <a:ext uri="{FF2B5EF4-FFF2-40B4-BE49-F238E27FC236}">
                <a16:creationId xmlns:a16="http://schemas.microsoft.com/office/drawing/2014/main" id="{C2F3470D-A50B-4892-B294-E6A73A413C34}"/>
              </a:ext>
            </a:extLst>
          </p:cNvPr>
          <p:cNvSpPr>
            <a:spLocks noGrp="1"/>
          </p:cNvSpPr>
          <p:nvPr/>
        </p:nvSpPr>
        <p:spPr>
          <a:xfrm>
            <a:off x="7281291" y="0"/>
            <a:ext cx="3386709" cy="677291"/>
          </a:xfrm>
          <a:prstGeom prst="rect">
            <a:avLst/>
          </a:prstGeom>
          <a:solidFill>
            <a:srgbClr val="FFFFFF">
              <a:alpha val="0"/>
            </a:srgbClr>
          </a:solidFill>
        </p:spPr>
      </p:sp>
      <p:sp>
        <p:nvSpPr>
          <p:cNvPr id="9" name="Text 7">
            <a:extLst>
              <a:ext uri="{FF2B5EF4-FFF2-40B4-BE49-F238E27FC236}">
                <a16:creationId xmlns:a16="http://schemas.microsoft.com/office/drawing/2014/main" id="{F3622138-CE87-4A4E-AC4F-49B2A472DF43}"/>
              </a:ext>
            </a:extLst>
          </p:cNvPr>
          <p:cNvSpPr>
            <a:spLocks noGrp="1"/>
          </p:cNvSpPr>
          <p:nvPr/>
        </p:nvSpPr>
        <p:spPr>
          <a:xfrm>
            <a:off x="7159371"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3. Kết quả</a:t>
            </a:r>
            <a:endParaRPr sz="1600">
              <a:latin typeface="Times New Roman"/>
              <a:ea typeface="Times New Roman"/>
              <a:cs typeface="Times New Roman"/>
            </a:endParaRPr>
          </a:p>
        </p:txBody>
      </p:sp>
      <p:sp>
        <p:nvSpPr>
          <p:cNvPr id="10" name="Shape 8">
            <a:extLst>
              <a:ext uri="{FF2B5EF4-FFF2-40B4-BE49-F238E27FC236}">
                <a16:creationId xmlns:a16="http://schemas.microsoft.com/office/drawing/2014/main" id="{B191EB4B-651B-45B2-8146-15D3F493CBD9}"/>
              </a:ext>
            </a:extLst>
          </p:cNvPr>
          <p:cNvSpPr>
            <a:spLocks noGrp="1"/>
          </p:cNvSpPr>
          <p:nvPr/>
        </p:nvSpPr>
        <p:spPr>
          <a:xfrm>
            <a:off x="10837291" y="0"/>
            <a:ext cx="3386709" cy="677291"/>
          </a:xfrm>
          <a:prstGeom prst="rect">
            <a:avLst/>
          </a:prstGeom>
          <a:solidFill>
            <a:srgbClr val="FFFFFF">
              <a:alpha val="0"/>
            </a:srgbClr>
          </a:solidFill>
        </p:spPr>
      </p:sp>
      <p:sp>
        <p:nvSpPr>
          <p:cNvPr id="11" name="Text 9">
            <a:extLst>
              <a:ext uri="{FF2B5EF4-FFF2-40B4-BE49-F238E27FC236}">
                <a16:creationId xmlns:a16="http://schemas.microsoft.com/office/drawing/2014/main" id="{0DC85924-726E-4CBF-B128-BC1EE59582F6}"/>
              </a:ext>
            </a:extLst>
          </p:cNvPr>
          <p:cNvSpPr>
            <a:spLocks noGrp="1"/>
          </p:cNvSpPr>
          <p:nvPr/>
        </p:nvSpPr>
        <p:spPr>
          <a:xfrm>
            <a:off x="10715339"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4. Phân tích lỗi</a:t>
            </a:r>
            <a:endParaRPr sz="1600">
              <a:latin typeface="Times New Roman"/>
              <a:ea typeface="Times New Roman"/>
              <a:cs typeface="Times New Roman"/>
            </a:endParaRPr>
          </a:p>
        </p:txBody>
      </p:sp>
      <p:sp>
        <p:nvSpPr>
          <p:cNvPr id="12" name="Shape 10">
            <a:extLst>
              <a:ext uri="{FF2B5EF4-FFF2-40B4-BE49-F238E27FC236}">
                <a16:creationId xmlns:a16="http://schemas.microsoft.com/office/drawing/2014/main" id="{CC46FEB6-9113-434F-A0D8-DE67E8DA76B2}"/>
              </a:ext>
            </a:extLst>
          </p:cNvPr>
          <p:cNvSpPr>
            <a:spLocks noGrp="1"/>
          </p:cNvSpPr>
          <p:nvPr/>
        </p:nvSpPr>
        <p:spPr>
          <a:xfrm>
            <a:off x="14393291" y="0"/>
            <a:ext cx="3386709" cy="677291"/>
          </a:xfrm>
          <a:prstGeom prst="rect">
            <a:avLst/>
          </a:prstGeom>
          <a:solidFill>
            <a:srgbClr val="FFFFFF">
              <a:alpha val="0"/>
            </a:srgbClr>
          </a:solidFill>
        </p:spPr>
      </p:sp>
      <p:sp>
        <p:nvSpPr>
          <p:cNvPr id="13" name="Text 11">
            <a:extLst>
              <a:ext uri="{FF2B5EF4-FFF2-40B4-BE49-F238E27FC236}">
                <a16:creationId xmlns:a16="http://schemas.microsoft.com/office/drawing/2014/main" id="{FE0EF8DC-62D5-49BC-A54E-990B378114DA}"/>
              </a:ext>
            </a:extLst>
          </p:cNvPr>
          <p:cNvSpPr>
            <a:spLocks noGrp="1"/>
          </p:cNvSpPr>
          <p:nvPr/>
        </p:nvSpPr>
        <p:spPr>
          <a:xfrm>
            <a:off x="14271403"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5. Ứng dụng</a:t>
            </a:r>
            <a:endParaRPr sz="1600">
              <a:latin typeface="Times New Roman"/>
              <a:ea typeface="Times New Roman"/>
              <a:cs typeface="Times New Roman"/>
            </a:endParaRPr>
          </a:p>
        </p:txBody>
      </p:sp>
      <p:sp>
        <p:nvSpPr>
          <p:cNvPr id="14" name="Shape 12">
            <a:extLst>
              <a:ext uri="{FF2B5EF4-FFF2-40B4-BE49-F238E27FC236}">
                <a16:creationId xmlns:a16="http://schemas.microsoft.com/office/drawing/2014/main" id="{56860E57-F671-44BB-8F63-C76365AB2729}"/>
              </a:ext>
            </a:extLst>
          </p:cNvPr>
          <p:cNvSpPr>
            <a:spLocks noGrp="1"/>
          </p:cNvSpPr>
          <p:nvPr/>
        </p:nvSpPr>
        <p:spPr>
          <a:xfrm>
            <a:off x="17949291" y="0"/>
            <a:ext cx="3386709" cy="677291"/>
          </a:xfrm>
          <a:prstGeom prst="rect">
            <a:avLst/>
          </a:prstGeom>
          <a:solidFill>
            <a:srgbClr val="FFFFFF">
              <a:alpha val="0"/>
            </a:srgbClr>
          </a:solidFill>
        </p:spPr>
      </p:sp>
      <p:sp>
        <p:nvSpPr>
          <p:cNvPr id="15" name="Text 13">
            <a:extLst>
              <a:ext uri="{FF2B5EF4-FFF2-40B4-BE49-F238E27FC236}">
                <a16:creationId xmlns:a16="http://schemas.microsoft.com/office/drawing/2014/main" id="{9634440D-71D5-453F-AABA-5C8F5052711C}"/>
              </a:ext>
            </a:extLst>
          </p:cNvPr>
          <p:cNvSpPr>
            <a:spLocks noGrp="1"/>
          </p:cNvSpPr>
          <p:nvPr/>
        </p:nvSpPr>
        <p:spPr>
          <a:xfrm>
            <a:off x="17827371"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6. Cải thiện</a:t>
            </a:r>
            <a:endParaRPr sz="1600">
              <a:latin typeface="Times New Roman"/>
              <a:ea typeface="Times New Roman"/>
              <a:cs typeface="Times New Roman"/>
            </a:endParaRPr>
          </a:p>
        </p:txBody>
      </p:sp>
      <p:sp>
        <p:nvSpPr>
          <p:cNvPr id="16" name="Shape 14">
            <a:extLst>
              <a:ext uri="{FF2B5EF4-FFF2-40B4-BE49-F238E27FC236}">
                <a16:creationId xmlns:a16="http://schemas.microsoft.com/office/drawing/2014/main" id="{B1C403E4-FF08-4792-B055-788E7C38C7CD}"/>
              </a:ext>
            </a:extLst>
          </p:cNvPr>
          <p:cNvSpPr>
            <a:spLocks noGrp="1"/>
          </p:cNvSpPr>
          <p:nvPr/>
        </p:nvSpPr>
        <p:spPr>
          <a:xfrm>
            <a:off x="1016000" y="931291"/>
            <a:ext cx="16933291" cy="643509"/>
          </a:xfrm>
          <a:prstGeom prst="rect">
            <a:avLst/>
          </a:prstGeom>
          <a:solidFill>
            <a:srgbClr val="FFFFFF">
              <a:alpha val="0"/>
            </a:srgbClr>
          </a:solidFill>
        </p:spPr>
      </p:sp>
      <p:sp>
        <p:nvSpPr>
          <p:cNvPr id="17" name="Text 15">
            <a:extLst>
              <a:ext uri="{FF2B5EF4-FFF2-40B4-BE49-F238E27FC236}">
                <a16:creationId xmlns:a16="http://schemas.microsoft.com/office/drawing/2014/main" id="{F611A7CD-187C-4551-AA06-52DAE77711C0}"/>
              </a:ext>
            </a:extLst>
          </p:cNvPr>
          <p:cNvSpPr>
            <a:spLocks noGrp="1"/>
          </p:cNvSpPr>
          <p:nvPr/>
        </p:nvSpPr>
        <p:spPr>
          <a:xfrm>
            <a:off x="894080" y="870331"/>
            <a:ext cx="17177131" cy="765429"/>
          </a:xfrm>
          <a:prstGeom prst="rect">
            <a:avLst/>
          </a:prstGeom>
          <a:noFill/>
        </p:spPr>
        <p:txBody>
          <a:bodyPr wrap="none" lIns="0" tIns="0" rIns="0" bIns="0" anchor="ctr">
            <a:noAutofit/>
          </a:bodyPr>
          <a:lstStyle/>
          <a:p>
            <a:pPr>
              <a:lnSpc>
                <a:spcPct val="100000"/>
              </a:lnSpc>
              <a:buNone/>
              <a:defRPr sz="3900" b="1">
                <a:solidFill>
                  <a:srgbClr val="1565C0"/>
                </a:solidFill>
                <a:latin typeface="Times New Roman"/>
                <a:ea typeface="Times New Roman"/>
                <a:cs typeface="Times New Roman"/>
              </a:defRPr>
            </a:pPr>
            <a:r>
              <a:rPr sz="3900" b="1">
                <a:solidFill>
                  <a:srgbClr val="1565C0"/>
                </a:solidFill>
                <a:latin typeface="Times New Roman"/>
                <a:ea typeface="Times New Roman"/>
                <a:cs typeface="Times New Roman"/>
              </a:rPr>
              <a:t>Ba mô hình trong bộ kết quả mới</a:t>
            </a:r>
            <a:endParaRPr sz="1600">
              <a:latin typeface="Times New Roman"/>
              <a:ea typeface="Times New Roman"/>
              <a:cs typeface="Times New Roman"/>
            </a:endParaRPr>
          </a:p>
        </p:txBody>
      </p:sp>
      <p:sp>
        <p:nvSpPr>
          <p:cNvPr id="18" name="Shape 16">
            <a:extLst>
              <a:ext uri="{FF2B5EF4-FFF2-40B4-BE49-F238E27FC236}">
                <a16:creationId xmlns:a16="http://schemas.microsoft.com/office/drawing/2014/main" id="{D83BBB91-EFC2-49F8-9DC6-EB4F4B4FB144}"/>
              </a:ext>
            </a:extLst>
          </p:cNvPr>
          <p:cNvSpPr>
            <a:spLocks noGrp="1"/>
          </p:cNvSpPr>
          <p:nvPr/>
        </p:nvSpPr>
        <p:spPr>
          <a:xfrm>
            <a:off x="1016000" y="1625600"/>
            <a:ext cx="19642709" cy="50800"/>
          </a:xfrm>
          <a:prstGeom prst="rect">
            <a:avLst/>
          </a:prstGeom>
          <a:solidFill>
            <a:srgbClr val="1565C0"/>
          </a:solidFill>
        </p:spPr>
      </p:sp>
      <p:sp>
        <p:nvSpPr>
          <p:cNvPr id="19" name="Shape 17">
            <a:extLst>
              <a:ext uri="{FF2B5EF4-FFF2-40B4-BE49-F238E27FC236}">
                <a16:creationId xmlns:a16="http://schemas.microsoft.com/office/drawing/2014/main" id="{1C3A2234-368D-4C63-8AA4-C77A2EAFB84A}"/>
              </a:ext>
            </a:extLst>
          </p:cNvPr>
          <p:cNvSpPr>
            <a:spLocks noGrp="1"/>
          </p:cNvSpPr>
          <p:nvPr/>
        </p:nvSpPr>
        <p:spPr>
          <a:xfrm>
            <a:off x="1016000" y="1947291"/>
            <a:ext cx="6265291" cy="4741291"/>
          </a:xfrm>
          <a:prstGeom prst="roundRect">
            <a:avLst>
              <a:gd name="adj" fmla="val 8000"/>
            </a:avLst>
          </a:prstGeom>
          <a:solidFill>
            <a:srgbClr val="E3F2FD"/>
          </a:solidFill>
          <a:ln w="25400">
            <a:solidFill>
              <a:srgbClr val="1565C0"/>
            </a:solidFill>
            <a:prstDash val="solid"/>
          </a:ln>
        </p:spPr>
      </p:sp>
      <p:sp>
        <p:nvSpPr>
          <p:cNvPr id="20" name="Shape 18">
            <a:extLst>
              <a:ext uri="{FF2B5EF4-FFF2-40B4-BE49-F238E27FC236}">
                <a16:creationId xmlns:a16="http://schemas.microsoft.com/office/drawing/2014/main" id="{7CF711EC-0C9F-43AC-82A0-B90B04FF0B4E}"/>
              </a:ext>
            </a:extLst>
          </p:cNvPr>
          <p:cNvSpPr>
            <a:spLocks noGrp="1"/>
          </p:cNvSpPr>
          <p:nvPr/>
        </p:nvSpPr>
        <p:spPr>
          <a:xfrm>
            <a:off x="1270000" y="2116709"/>
            <a:ext cx="5757291" cy="508000"/>
          </a:xfrm>
          <a:prstGeom prst="rect">
            <a:avLst/>
          </a:prstGeom>
          <a:solidFill>
            <a:srgbClr val="FFFFFF">
              <a:alpha val="0"/>
            </a:srgbClr>
          </a:solidFill>
        </p:spPr>
      </p:sp>
      <p:sp>
        <p:nvSpPr>
          <p:cNvPr id="21" name="Text 19">
            <a:extLst>
              <a:ext uri="{FF2B5EF4-FFF2-40B4-BE49-F238E27FC236}">
                <a16:creationId xmlns:a16="http://schemas.microsoft.com/office/drawing/2014/main" id="{74F4D98E-D1D2-4D73-AA07-CCF1C7DCA8B8}"/>
              </a:ext>
            </a:extLst>
          </p:cNvPr>
          <p:cNvSpPr>
            <a:spLocks noGrp="1"/>
          </p:cNvSpPr>
          <p:nvPr/>
        </p:nvSpPr>
        <p:spPr>
          <a:xfrm>
            <a:off x="1148080" y="2055749"/>
            <a:ext cx="6001131" cy="629920"/>
          </a:xfrm>
          <a:prstGeom prst="rect">
            <a:avLst/>
          </a:prstGeom>
          <a:noFill/>
        </p:spPr>
        <p:txBody>
          <a:bodyPr wrap="none" lIns="0" tIns="0" rIns="0" bIns="0" anchor="ctr">
            <a:noAutofit/>
          </a:bodyPr>
          <a:lstStyle/>
          <a:p>
            <a:pPr algn="ctr">
              <a:lnSpc>
                <a:spcPct val="100000"/>
              </a:lnSpc>
              <a:buNone/>
              <a:defRPr sz="3000" b="1">
                <a:solidFill>
                  <a:srgbClr val="1565C0"/>
                </a:solidFill>
                <a:latin typeface="Times New Roman"/>
                <a:ea typeface="Times New Roman"/>
                <a:cs typeface="Times New Roman"/>
              </a:defRPr>
            </a:pPr>
            <a:r>
              <a:rPr sz="3000" b="1">
                <a:solidFill>
                  <a:srgbClr val="1565C0"/>
                </a:solidFill>
                <a:latin typeface="Times New Roman"/>
                <a:ea typeface="Times New Roman"/>
                <a:cs typeface="Times New Roman"/>
              </a:rPr>
              <a:t>PhoBERT–Linear</a:t>
            </a:r>
            <a:endParaRPr sz="1600">
              <a:latin typeface="Times New Roman"/>
              <a:ea typeface="Times New Roman"/>
              <a:cs typeface="Times New Roman"/>
            </a:endParaRPr>
          </a:p>
        </p:txBody>
      </p:sp>
      <p:sp>
        <p:nvSpPr>
          <p:cNvPr id="22" name="Shape 20">
            <a:extLst>
              <a:ext uri="{FF2B5EF4-FFF2-40B4-BE49-F238E27FC236}">
                <a16:creationId xmlns:a16="http://schemas.microsoft.com/office/drawing/2014/main" id="{A015D5A3-BC09-4473-BD56-4DFAF30F64DA}"/>
              </a:ext>
            </a:extLst>
          </p:cNvPr>
          <p:cNvSpPr>
            <a:spLocks noGrp="1"/>
          </p:cNvSpPr>
          <p:nvPr/>
        </p:nvSpPr>
        <p:spPr>
          <a:xfrm>
            <a:off x="1270000" y="2624709"/>
            <a:ext cx="5757291" cy="372491"/>
          </a:xfrm>
          <a:prstGeom prst="rect">
            <a:avLst/>
          </a:prstGeom>
          <a:solidFill>
            <a:srgbClr val="FFFFFF">
              <a:alpha val="0"/>
            </a:srgbClr>
          </a:solidFill>
        </p:spPr>
      </p:sp>
      <p:sp>
        <p:nvSpPr>
          <p:cNvPr id="23" name="Text 21">
            <a:extLst>
              <a:ext uri="{FF2B5EF4-FFF2-40B4-BE49-F238E27FC236}">
                <a16:creationId xmlns:a16="http://schemas.microsoft.com/office/drawing/2014/main" id="{BBD1017F-DED5-4F8C-909B-5C77ECAF5D45}"/>
              </a:ext>
            </a:extLst>
          </p:cNvPr>
          <p:cNvSpPr>
            <a:spLocks noGrp="1"/>
          </p:cNvSpPr>
          <p:nvPr/>
        </p:nvSpPr>
        <p:spPr>
          <a:xfrm>
            <a:off x="1148080" y="2563749"/>
            <a:ext cx="6001131" cy="494411"/>
          </a:xfrm>
          <a:prstGeom prst="rect">
            <a:avLst/>
          </a:prstGeom>
          <a:noFill/>
        </p:spPr>
        <p:txBody>
          <a:bodyPr wrap="none" lIns="0" tIns="0" rIns="0" bIns="0" anchor="ctr">
            <a:noAutofit/>
          </a:bodyPr>
          <a:lstStyle/>
          <a:p>
            <a:pPr algn="ctr">
              <a:lnSpc>
                <a:spcPct val="100000"/>
              </a:lnSpc>
              <a:buNone/>
              <a:defRPr sz="2100" b="0">
                <a:solidFill>
                  <a:srgbClr val="666666"/>
                </a:solidFill>
                <a:latin typeface="Times New Roman"/>
                <a:ea typeface="Times New Roman"/>
                <a:cs typeface="Times New Roman"/>
              </a:defRPr>
            </a:pPr>
            <a:r>
              <a:rPr sz="2100" b="0">
                <a:solidFill>
                  <a:srgbClr val="666666"/>
                </a:solidFill>
                <a:latin typeface="Times New Roman"/>
                <a:ea typeface="Times New Roman"/>
                <a:cs typeface="Times New Roman"/>
              </a:rPr>
              <a:t>Mô hình cơ sở</a:t>
            </a:r>
            <a:endParaRPr sz="1600">
              <a:latin typeface="Times New Roman"/>
              <a:ea typeface="Times New Roman"/>
              <a:cs typeface="Times New Roman"/>
            </a:endParaRPr>
          </a:p>
        </p:txBody>
      </p:sp>
      <p:sp>
        <p:nvSpPr>
          <p:cNvPr id="24" name="Shape 22">
            <a:extLst>
              <a:ext uri="{FF2B5EF4-FFF2-40B4-BE49-F238E27FC236}">
                <a16:creationId xmlns:a16="http://schemas.microsoft.com/office/drawing/2014/main" id="{9173E87B-FAC0-4FBB-8C0B-AB324E9828DE}"/>
              </a:ext>
            </a:extLst>
          </p:cNvPr>
          <p:cNvSpPr>
            <a:spLocks noGrp="1"/>
          </p:cNvSpPr>
          <p:nvPr/>
        </p:nvSpPr>
        <p:spPr>
          <a:xfrm>
            <a:off x="1270000" y="3081909"/>
            <a:ext cx="5757291" cy="3386709"/>
          </a:xfrm>
          <a:prstGeom prst="rect">
            <a:avLst/>
          </a:prstGeom>
          <a:solidFill>
            <a:srgbClr val="FFFFFF">
              <a:alpha val="0"/>
            </a:srgbClr>
          </a:solidFill>
        </p:spPr>
      </p:sp>
      <p:sp>
        <p:nvSpPr>
          <p:cNvPr id="25" name="Text 23">
            <a:extLst>
              <a:ext uri="{FF2B5EF4-FFF2-40B4-BE49-F238E27FC236}">
                <a16:creationId xmlns:a16="http://schemas.microsoft.com/office/drawing/2014/main" id="{B453DBCD-96F6-4C7C-AF74-E66AD7FC4D7C}"/>
              </a:ext>
            </a:extLst>
          </p:cNvPr>
          <p:cNvSpPr>
            <a:spLocks noGrp="1"/>
          </p:cNvSpPr>
          <p:nvPr/>
        </p:nvSpPr>
        <p:spPr>
          <a:xfrm>
            <a:off x="1148080" y="3020949"/>
            <a:ext cx="6001131" cy="3508629"/>
          </a:xfrm>
          <a:prstGeom prst="rect">
            <a:avLst/>
          </a:prstGeom>
          <a:noFill/>
        </p:spPr>
        <p:txBody>
          <a:bodyPr wrap="square" lIns="0" tIns="0" rIns="0" bIns="0" anchor="t">
            <a:noAutofit/>
          </a:bodyPr>
          <a:lstStyle/>
          <a:p>
            <a:pPr>
              <a:lnSpc>
                <a:spcPct val="150000"/>
              </a:lnSpc>
              <a:buNone/>
              <a:defRPr sz="2550" b="0">
                <a:solidFill>
                  <a:srgbClr val="151515"/>
                </a:solidFill>
                <a:latin typeface="Times New Roman"/>
                <a:ea typeface="Times New Roman"/>
                <a:cs typeface="Times New Roman"/>
              </a:defRPr>
            </a:pPr>
            <a:r>
              <a:rPr sz="2550" b="0">
                <a:solidFill>
                  <a:srgbClr val="151515"/>
                </a:solidFill>
                <a:latin typeface="Times New Roman"/>
                <a:ea typeface="Times New Roman"/>
                <a:cs typeface="Times New Roman"/>
              </a:rPr>
              <a:t>PhoBERT tạo biểu diễn có ngữ cảnh.</a:t>
            </a:r>
            <a:endParaRPr sz="1600">
              <a:latin typeface="Times New Roman"/>
              <a:ea typeface="Times New Roman"/>
              <a:cs typeface="Times New Roman"/>
            </a:endParaRPr>
          </a:p>
          <a:p>
            <a:pPr>
              <a:lnSpc>
                <a:spcPct val="150000"/>
              </a:lnSpc>
              <a:buNone/>
              <a:defRPr sz="2550" b="0">
                <a:solidFill>
                  <a:srgbClr val="151515"/>
                </a:solidFill>
                <a:latin typeface="Times New Roman"/>
                <a:ea typeface="Times New Roman"/>
                <a:cs typeface="Times New Roman"/>
              </a:defRPr>
            </a:pPr>
            <a:r>
              <a:rPr sz="2550" b="0">
                <a:solidFill>
                  <a:srgbClr val="151515"/>
                </a:solidFill>
                <a:latin typeface="Times New Roman"/>
                <a:ea typeface="Times New Roman"/>
                <a:cs typeface="Times New Roman"/>
              </a:rPr>
              <a:t>Linear dự đoán từng nhãn riêng.</a:t>
            </a:r>
            <a:endParaRPr sz="1600">
              <a:latin typeface="Times New Roman"/>
              <a:ea typeface="Times New Roman"/>
              <a:cs typeface="Times New Roman"/>
            </a:endParaRPr>
          </a:p>
          <a:p>
            <a:pPr>
              <a:lnSpc>
                <a:spcPct val="150000"/>
              </a:lnSpc>
              <a:buNone/>
              <a:defRPr sz="2550" b="0">
                <a:solidFill>
                  <a:srgbClr val="151515"/>
                </a:solidFill>
                <a:latin typeface="Times New Roman"/>
                <a:ea typeface="Times New Roman"/>
                <a:cs typeface="Times New Roman"/>
              </a:defRPr>
            </a:pPr>
            <a:r>
              <a:rPr sz="2550" b="0">
                <a:solidFill>
                  <a:srgbClr val="151515"/>
                </a:solidFill>
                <a:latin typeface="Times New Roman"/>
                <a:ea typeface="Times New Roman"/>
                <a:cs typeface="Times New Roman"/>
              </a:rPr>
              <a:t>Ưu điểm: cấu trúc đơn giản.</a:t>
            </a:r>
            <a:endParaRPr sz="1600">
              <a:latin typeface="Times New Roman"/>
              <a:ea typeface="Times New Roman"/>
              <a:cs typeface="Times New Roman"/>
            </a:endParaRPr>
          </a:p>
          <a:p>
            <a:pPr>
              <a:lnSpc>
                <a:spcPct val="150000"/>
              </a:lnSpc>
              <a:buNone/>
              <a:defRPr sz="2550" b="0">
                <a:solidFill>
                  <a:srgbClr val="151515"/>
                </a:solidFill>
                <a:latin typeface="Times New Roman"/>
                <a:ea typeface="Times New Roman"/>
                <a:cs typeface="Times New Roman"/>
              </a:defRPr>
            </a:pPr>
            <a:r>
              <a:rPr sz="2550" b="0">
                <a:solidFill>
                  <a:srgbClr val="151515"/>
                </a:solidFill>
                <a:latin typeface="Times New Roman"/>
                <a:ea typeface="Times New Roman"/>
                <a:cs typeface="Times New Roman"/>
              </a:rPr>
              <a:t>Hạn chế: chưa mô hình hóa chuyển nhãn ở đầu ra.</a:t>
            </a:r>
            <a:endParaRPr sz="1600">
              <a:latin typeface="Times New Roman"/>
              <a:ea typeface="Times New Roman"/>
              <a:cs typeface="Times New Roman"/>
            </a:endParaRPr>
          </a:p>
        </p:txBody>
      </p:sp>
      <p:sp>
        <p:nvSpPr>
          <p:cNvPr id="26" name="Shape 24">
            <a:extLst>
              <a:ext uri="{FF2B5EF4-FFF2-40B4-BE49-F238E27FC236}">
                <a16:creationId xmlns:a16="http://schemas.microsoft.com/office/drawing/2014/main" id="{0033A720-7336-4294-A452-ED4E80F71E80}"/>
              </a:ext>
            </a:extLst>
          </p:cNvPr>
          <p:cNvSpPr>
            <a:spLocks noGrp="1"/>
          </p:cNvSpPr>
          <p:nvPr/>
        </p:nvSpPr>
        <p:spPr>
          <a:xfrm>
            <a:off x="7704709" y="1947291"/>
            <a:ext cx="6265291" cy="4741291"/>
          </a:xfrm>
          <a:prstGeom prst="roundRect">
            <a:avLst>
              <a:gd name="adj" fmla="val 8000"/>
            </a:avLst>
          </a:prstGeom>
          <a:solidFill>
            <a:srgbClr val="E8F5E9"/>
          </a:solidFill>
          <a:ln w="25400">
            <a:solidFill>
              <a:srgbClr val="2E7D32"/>
            </a:solidFill>
            <a:prstDash val="solid"/>
          </a:ln>
        </p:spPr>
      </p:sp>
      <p:sp>
        <p:nvSpPr>
          <p:cNvPr id="27" name="Shape 25">
            <a:extLst>
              <a:ext uri="{FF2B5EF4-FFF2-40B4-BE49-F238E27FC236}">
                <a16:creationId xmlns:a16="http://schemas.microsoft.com/office/drawing/2014/main" id="{C7D74EC3-2B8D-45B5-B389-8CE8B1EE450D}"/>
              </a:ext>
            </a:extLst>
          </p:cNvPr>
          <p:cNvSpPr>
            <a:spLocks noGrp="1"/>
          </p:cNvSpPr>
          <p:nvPr/>
        </p:nvSpPr>
        <p:spPr>
          <a:xfrm>
            <a:off x="7958709" y="2116709"/>
            <a:ext cx="5757291" cy="508000"/>
          </a:xfrm>
          <a:prstGeom prst="rect">
            <a:avLst/>
          </a:prstGeom>
          <a:solidFill>
            <a:srgbClr val="FFFFFF">
              <a:alpha val="0"/>
            </a:srgbClr>
          </a:solidFill>
        </p:spPr>
      </p:sp>
      <p:sp>
        <p:nvSpPr>
          <p:cNvPr id="28" name="Text 26">
            <a:extLst>
              <a:ext uri="{FF2B5EF4-FFF2-40B4-BE49-F238E27FC236}">
                <a16:creationId xmlns:a16="http://schemas.microsoft.com/office/drawing/2014/main" id="{21F83FCC-5086-4D05-AF7D-58021C8F3722}"/>
              </a:ext>
            </a:extLst>
          </p:cNvPr>
          <p:cNvSpPr>
            <a:spLocks noGrp="1"/>
          </p:cNvSpPr>
          <p:nvPr/>
        </p:nvSpPr>
        <p:spPr>
          <a:xfrm>
            <a:off x="7836789" y="2055749"/>
            <a:ext cx="6001131" cy="629920"/>
          </a:xfrm>
          <a:prstGeom prst="rect">
            <a:avLst/>
          </a:prstGeom>
          <a:noFill/>
        </p:spPr>
        <p:txBody>
          <a:bodyPr wrap="none" lIns="0" tIns="0" rIns="0" bIns="0" anchor="ctr">
            <a:noAutofit/>
          </a:bodyPr>
          <a:lstStyle/>
          <a:p>
            <a:pPr algn="ctr">
              <a:lnSpc>
                <a:spcPct val="100000"/>
              </a:lnSpc>
              <a:buNone/>
              <a:defRPr sz="3000" b="1">
                <a:solidFill>
                  <a:srgbClr val="2E7D32"/>
                </a:solidFill>
                <a:latin typeface="Times New Roman"/>
                <a:ea typeface="Times New Roman"/>
                <a:cs typeface="Times New Roman"/>
              </a:defRPr>
            </a:pPr>
            <a:r>
              <a:rPr sz="3000" b="1">
                <a:solidFill>
                  <a:srgbClr val="2E7D32"/>
                </a:solidFill>
                <a:latin typeface="Times New Roman"/>
                <a:ea typeface="Times New Roman"/>
                <a:cs typeface="Times New Roman"/>
              </a:rPr>
              <a:t>PhoBERT–CRF</a:t>
            </a:r>
            <a:endParaRPr sz="1600">
              <a:latin typeface="Times New Roman"/>
              <a:ea typeface="Times New Roman"/>
              <a:cs typeface="Times New Roman"/>
            </a:endParaRPr>
          </a:p>
        </p:txBody>
      </p:sp>
      <p:sp>
        <p:nvSpPr>
          <p:cNvPr id="29" name="Shape 27">
            <a:extLst>
              <a:ext uri="{FF2B5EF4-FFF2-40B4-BE49-F238E27FC236}">
                <a16:creationId xmlns:a16="http://schemas.microsoft.com/office/drawing/2014/main" id="{E0BD29B6-874D-473E-B29F-E90BF54ACD92}"/>
              </a:ext>
            </a:extLst>
          </p:cNvPr>
          <p:cNvSpPr>
            <a:spLocks noGrp="1"/>
          </p:cNvSpPr>
          <p:nvPr/>
        </p:nvSpPr>
        <p:spPr>
          <a:xfrm>
            <a:off x="7958709" y="2624709"/>
            <a:ext cx="5757291" cy="372491"/>
          </a:xfrm>
          <a:prstGeom prst="rect">
            <a:avLst/>
          </a:prstGeom>
          <a:solidFill>
            <a:srgbClr val="FFFFFF">
              <a:alpha val="0"/>
            </a:srgbClr>
          </a:solidFill>
        </p:spPr>
      </p:sp>
      <p:sp>
        <p:nvSpPr>
          <p:cNvPr id="30" name="Text 28">
            <a:extLst>
              <a:ext uri="{FF2B5EF4-FFF2-40B4-BE49-F238E27FC236}">
                <a16:creationId xmlns:a16="http://schemas.microsoft.com/office/drawing/2014/main" id="{A1909FDC-38A3-42A0-BDD2-7127A8703126}"/>
              </a:ext>
            </a:extLst>
          </p:cNvPr>
          <p:cNvSpPr>
            <a:spLocks noGrp="1"/>
          </p:cNvSpPr>
          <p:nvPr/>
        </p:nvSpPr>
        <p:spPr>
          <a:xfrm>
            <a:off x="7836789" y="2563749"/>
            <a:ext cx="6001131" cy="494411"/>
          </a:xfrm>
          <a:prstGeom prst="rect">
            <a:avLst/>
          </a:prstGeom>
          <a:noFill/>
        </p:spPr>
        <p:txBody>
          <a:bodyPr wrap="none" lIns="0" tIns="0" rIns="0" bIns="0" anchor="ctr">
            <a:noAutofit/>
          </a:bodyPr>
          <a:lstStyle/>
          <a:p>
            <a:pPr algn="ctr">
              <a:lnSpc>
                <a:spcPct val="100000"/>
              </a:lnSpc>
              <a:buNone/>
              <a:defRPr sz="2100" b="0">
                <a:solidFill>
                  <a:srgbClr val="666666"/>
                </a:solidFill>
                <a:latin typeface="Times New Roman"/>
                <a:ea typeface="Times New Roman"/>
                <a:cs typeface="Times New Roman"/>
              </a:defRPr>
            </a:pPr>
            <a:r>
              <a:rPr sz="2100" b="0">
                <a:solidFill>
                  <a:srgbClr val="666666"/>
                </a:solidFill>
                <a:latin typeface="Times New Roman"/>
                <a:ea typeface="Times New Roman"/>
                <a:cs typeface="Times New Roman"/>
              </a:rPr>
              <a:t>Bổ sung giải mã chuỗi</a:t>
            </a:r>
            <a:endParaRPr sz="1600">
              <a:latin typeface="Times New Roman"/>
              <a:ea typeface="Times New Roman"/>
              <a:cs typeface="Times New Roman"/>
            </a:endParaRPr>
          </a:p>
        </p:txBody>
      </p:sp>
      <p:sp>
        <p:nvSpPr>
          <p:cNvPr id="31" name="Shape 29">
            <a:extLst>
              <a:ext uri="{FF2B5EF4-FFF2-40B4-BE49-F238E27FC236}">
                <a16:creationId xmlns:a16="http://schemas.microsoft.com/office/drawing/2014/main" id="{CE03E109-DA15-42AB-ACEA-69EFE06166E1}"/>
              </a:ext>
            </a:extLst>
          </p:cNvPr>
          <p:cNvSpPr>
            <a:spLocks noGrp="1"/>
          </p:cNvSpPr>
          <p:nvPr/>
        </p:nvSpPr>
        <p:spPr>
          <a:xfrm>
            <a:off x="7958709" y="3081909"/>
            <a:ext cx="5757291" cy="3386709"/>
          </a:xfrm>
          <a:prstGeom prst="rect">
            <a:avLst/>
          </a:prstGeom>
          <a:solidFill>
            <a:srgbClr val="FFFFFF">
              <a:alpha val="0"/>
            </a:srgbClr>
          </a:solidFill>
        </p:spPr>
      </p:sp>
      <p:sp>
        <p:nvSpPr>
          <p:cNvPr id="32" name="Text 30">
            <a:extLst>
              <a:ext uri="{FF2B5EF4-FFF2-40B4-BE49-F238E27FC236}">
                <a16:creationId xmlns:a16="http://schemas.microsoft.com/office/drawing/2014/main" id="{94068FBE-A740-49AA-93D9-DCEE880C793D}"/>
              </a:ext>
            </a:extLst>
          </p:cNvPr>
          <p:cNvSpPr>
            <a:spLocks noGrp="1"/>
          </p:cNvSpPr>
          <p:nvPr/>
        </p:nvSpPr>
        <p:spPr>
          <a:xfrm>
            <a:off x="7836789" y="3020949"/>
            <a:ext cx="6001131" cy="3508629"/>
          </a:xfrm>
          <a:prstGeom prst="rect">
            <a:avLst/>
          </a:prstGeom>
          <a:noFill/>
        </p:spPr>
        <p:txBody>
          <a:bodyPr wrap="square" lIns="0" tIns="0" rIns="0" bIns="0" anchor="t">
            <a:noAutofit/>
          </a:bodyPr>
          <a:lstStyle/>
          <a:p>
            <a:pPr>
              <a:lnSpc>
                <a:spcPct val="150000"/>
              </a:lnSpc>
              <a:buNone/>
              <a:defRPr sz="2550" b="0">
                <a:solidFill>
                  <a:srgbClr val="151515"/>
                </a:solidFill>
                <a:latin typeface="Times New Roman"/>
                <a:ea typeface="Times New Roman"/>
                <a:cs typeface="Times New Roman"/>
              </a:defRPr>
            </a:pPr>
            <a:r>
              <a:rPr sz="2550" b="0">
                <a:solidFill>
                  <a:srgbClr val="151515"/>
                </a:solidFill>
                <a:latin typeface="Times New Roman"/>
                <a:ea typeface="Times New Roman"/>
                <a:cs typeface="Times New Roman"/>
              </a:rPr>
              <a:t>Linear tạo điểm cho mỗi nhãn.</a:t>
            </a:r>
            <a:endParaRPr sz="1600">
              <a:latin typeface="Times New Roman"/>
              <a:ea typeface="Times New Roman"/>
              <a:cs typeface="Times New Roman"/>
            </a:endParaRPr>
          </a:p>
          <a:p>
            <a:pPr>
              <a:lnSpc>
                <a:spcPct val="150000"/>
              </a:lnSpc>
              <a:buNone/>
              <a:defRPr sz="2550" b="0">
                <a:solidFill>
                  <a:srgbClr val="151515"/>
                </a:solidFill>
                <a:latin typeface="Times New Roman"/>
                <a:ea typeface="Times New Roman"/>
                <a:cs typeface="Times New Roman"/>
              </a:defRPr>
            </a:pPr>
            <a:r>
              <a:rPr sz="2550" b="0">
                <a:solidFill>
                  <a:srgbClr val="151515"/>
                </a:solidFill>
                <a:latin typeface="Times New Roman"/>
                <a:ea typeface="Times New Roman"/>
                <a:cs typeface="Times New Roman"/>
              </a:rPr>
              <a:t>CRF học điểm chuyển nhãn và giải mã Viterbi.</a:t>
            </a:r>
            <a:endParaRPr sz="1600">
              <a:latin typeface="Times New Roman"/>
              <a:ea typeface="Times New Roman"/>
              <a:cs typeface="Times New Roman"/>
            </a:endParaRPr>
          </a:p>
          <a:p>
            <a:pPr>
              <a:lnSpc>
                <a:spcPct val="150000"/>
              </a:lnSpc>
              <a:buNone/>
              <a:defRPr sz="2550" b="0">
                <a:solidFill>
                  <a:srgbClr val="151515"/>
                </a:solidFill>
                <a:latin typeface="Times New Roman"/>
                <a:ea typeface="Times New Roman"/>
                <a:cs typeface="Times New Roman"/>
              </a:defRPr>
            </a:pPr>
            <a:r>
              <a:rPr sz="2550" b="0">
                <a:solidFill>
                  <a:srgbClr val="151515"/>
                </a:solidFill>
                <a:latin typeface="Times New Roman"/>
                <a:ea typeface="Times New Roman"/>
                <a:cs typeface="Times New Roman"/>
              </a:rPr>
              <a:t>Ưu điểm: xét quan hệ giữa các nhãn.</a:t>
            </a:r>
            <a:endParaRPr sz="1600">
              <a:latin typeface="Times New Roman"/>
              <a:ea typeface="Times New Roman"/>
              <a:cs typeface="Times New Roman"/>
            </a:endParaRPr>
          </a:p>
          <a:p>
            <a:pPr>
              <a:lnSpc>
                <a:spcPct val="150000"/>
              </a:lnSpc>
              <a:buNone/>
              <a:defRPr sz="2550" b="0">
                <a:solidFill>
                  <a:srgbClr val="151515"/>
                </a:solidFill>
                <a:latin typeface="Times New Roman"/>
                <a:ea typeface="Times New Roman"/>
                <a:cs typeface="Times New Roman"/>
              </a:defRPr>
            </a:pPr>
            <a:r>
              <a:rPr sz="2550" b="0">
                <a:solidFill>
                  <a:srgbClr val="151515"/>
                </a:solidFill>
                <a:latin typeface="Times New Roman"/>
                <a:ea typeface="Times New Roman"/>
                <a:cs typeface="Times New Roman"/>
              </a:rPr>
              <a:t>Hạn chế: chưa có tầng BiLSTM.</a:t>
            </a:r>
            <a:endParaRPr sz="1600">
              <a:latin typeface="Times New Roman"/>
              <a:ea typeface="Times New Roman"/>
              <a:cs typeface="Times New Roman"/>
            </a:endParaRPr>
          </a:p>
        </p:txBody>
      </p:sp>
      <p:sp>
        <p:nvSpPr>
          <p:cNvPr id="33" name="Shape 31">
            <a:extLst>
              <a:ext uri="{FF2B5EF4-FFF2-40B4-BE49-F238E27FC236}">
                <a16:creationId xmlns:a16="http://schemas.microsoft.com/office/drawing/2014/main" id="{25D87192-A91E-4752-B4D6-2A09D3415760}"/>
              </a:ext>
            </a:extLst>
          </p:cNvPr>
          <p:cNvSpPr>
            <a:spLocks noGrp="1"/>
          </p:cNvSpPr>
          <p:nvPr/>
        </p:nvSpPr>
        <p:spPr>
          <a:xfrm>
            <a:off x="14393291" y="1947291"/>
            <a:ext cx="6265291" cy="4741291"/>
          </a:xfrm>
          <a:prstGeom prst="roundRect">
            <a:avLst>
              <a:gd name="adj" fmla="val 8000"/>
            </a:avLst>
          </a:prstGeom>
          <a:solidFill>
            <a:srgbClr val="FFF3E0"/>
          </a:solidFill>
          <a:ln w="25400">
            <a:solidFill>
              <a:srgbClr val="FF6F00"/>
            </a:solidFill>
            <a:prstDash val="solid"/>
          </a:ln>
        </p:spPr>
      </p:sp>
      <p:sp>
        <p:nvSpPr>
          <p:cNvPr id="34" name="Shape 32">
            <a:extLst>
              <a:ext uri="{FF2B5EF4-FFF2-40B4-BE49-F238E27FC236}">
                <a16:creationId xmlns:a16="http://schemas.microsoft.com/office/drawing/2014/main" id="{C830ABC9-26C7-42CC-A776-F0ABB9FA6C99}"/>
              </a:ext>
            </a:extLst>
          </p:cNvPr>
          <p:cNvSpPr>
            <a:spLocks noGrp="1"/>
          </p:cNvSpPr>
          <p:nvPr/>
        </p:nvSpPr>
        <p:spPr>
          <a:xfrm>
            <a:off x="14647291" y="2116709"/>
            <a:ext cx="5757291" cy="508000"/>
          </a:xfrm>
          <a:prstGeom prst="rect">
            <a:avLst/>
          </a:prstGeom>
          <a:solidFill>
            <a:srgbClr val="FFFFFF">
              <a:alpha val="0"/>
            </a:srgbClr>
          </a:solidFill>
        </p:spPr>
      </p:sp>
      <p:sp>
        <p:nvSpPr>
          <p:cNvPr id="35" name="Text 33">
            <a:extLst>
              <a:ext uri="{FF2B5EF4-FFF2-40B4-BE49-F238E27FC236}">
                <a16:creationId xmlns:a16="http://schemas.microsoft.com/office/drawing/2014/main" id="{E28A5154-3207-42B3-A227-A8C2DB1AA5B9}"/>
              </a:ext>
            </a:extLst>
          </p:cNvPr>
          <p:cNvSpPr>
            <a:spLocks noGrp="1"/>
          </p:cNvSpPr>
          <p:nvPr/>
        </p:nvSpPr>
        <p:spPr>
          <a:xfrm>
            <a:off x="14525371" y="2055749"/>
            <a:ext cx="6001131" cy="629920"/>
          </a:xfrm>
          <a:prstGeom prst="rect">
            <a:avLst/>
          </a:prstGeom>
          <a:noFill/>
        </p:spPr>
        <p:txBody>
          <a:bodyPr wrap="none" lIns="0" tIns="0" rIns="0" bIns="0" anchor="ctr">
            <a:noAutofit/>
          </a:bodyPr>
          <a:lstStyle/>
          <a:p>
            <a:pPr algn="ctr">
              <a:lnSpc>
                <a:spcPct val="100000"/>
              </a:lnSpc>
              <a:buNone/>
              <a:defRPr sz="2850" b="1">
                <a:solidFill>
                  <a:srgbClr val="EF6C00"/>
                </a:solidFill>
                <a:latin typeface="Times New Roman"/>
                <a:ea typeface="Times New Roman"/>
                <a:cs typeface="Times New Roman"/>
              </a:defRPr>
            </a:pPr>
            <a:r>
              <a:rPr sz="2850" b="1">
                <a:solidFill>
                  <a:srgbClr val="EF6C00"/>
                </a:solidFill>
                <a:latin typeface="Times New Roman"/>
                <a:ea typeface="Times New Roman"/>
                <a:cs typeface="Times New Roman"/>
              </a:rPr>
              <a:t>BiLSTM–CRF + DualHead</a:t>
            </a:r>
            <a:endParaRPr sz="1600">
              <a:latin typeface="Times New Roman"/>
              <a:ea typeface="Times New Roman"/>
              <a:cs typeface="Times New Roman"/>
            </a:endParaRPr>
          </a:p>
        </p:txBody>
      </p:sp>
      <p:sp>
        <p:nvSpPr>
          <p:cNvPr id="36" name="Shape 34">
            <a:extLst>
              <a:ext uri="{FF2B5EF4-FFF2-40B4-BE49-F238E27FC236}">
                <a16:creationId xmlns:a16="http://schemas.microsoft.com/office/drawing/2014/main" id="{006FBF83-9768-4A65-92EE-BF93EF48D398}"/>
              </a:ext>
            </a:extLst>
          </p:cNvPr>
          <p:cNvSpPr>
            <a:spLocks noGrp="1"/>
          </p:cNvSpPr>
          <p:nvPr/>
        </p:nvSpPr>
        <p:spPr>
          <a:xfrm>
            <a:off x="14647291" y="2624709"/>
            <a:ext cx="5757291" cy="372491"/>
          </a:xfrm>
          <a:prstGeom prst="rect">
            <a:avLst/>
          </a:prstGeom>
          <a:solidFill>
            <a:srgbClr val="FFFFFF">
              <a:alpha val="0"/>
            </a:srgbClr>
          </a:solidFill>
        </p:spPr>
      </p:sp>
      <p:sp>
        <p:nvSpPr>
          <p:cNvPr id="37" name="Text 35">
            <a:extLst>
              <a:ext uri="{FF2B5EF4-FFF2-40B4-BE49-F238E27FC236}">
                <a16:creationId xmlns:a16="http://schemas.microsoft.com/office/drawing/2014/main" id="{71DE6419-D0DF-4CCA-AF2A-5E1DF15CDB18}"/>
              </a:ext>
            </a:extLst>
          </p:cNvPr>
          <p:cNvSpPr>
            <a:spLocks noGrp="1"/>
          </p:cNvSpPr>
          <p:nvPr/>
        </p:nvSpPr>
        <p:spPr>
          <a:xfrm>
            <a:off x="14525371" y="2563749"/>
            <a:ext cx="6001131" cy="494411"/>
          </a:xfrm>
          <a:prstGeom prst="rect">
            <a:avLst/>
          </a:prstGeom>
          <a:noFill/>
        </p:spPr>
        <p:txBody>
          <a:bodyPr wrap="none" lIns="0" tIns="0" rIns="0" bIns="0" anchor="ctr">
            <a:noAutofit/>
          </a:bodyPr>
          <a:lstStyle/>
          <a:p>
            <a:pPr algn="ctr">
              <a:lnSpc>
                <a:spcPct val="100000"/>
              </a:lnSpc>
              <a:buNone/>
              <a:defRPr sz="2025" b="0">
                <a:solidFill>
                  <a:srgbClr val="666666"/>
                </a:solidFill>
                <a:latin typeface="Times New Roman"/>
                <a:ea typeface="Times New Roman"/>
                <a:cs typeface="Times New Roman"/>
              </a:defRPr>
            </a:pPr>
            <a:r>
              <a:rPr sz="2025" b="0">
                <a:solidFill>
                  <a:srgbClr val="666666"/>
                </a:solidFill>
                <a:latin typeface="Times New Roman"/>
                <a:ea typeface="Times New Roman"/>
                <a:cs typeface="Times New Roman"/>
              </a:rPr>
              <a:t>Hai đầu dùng chung PhoBERT</a:t>
            </a:r>
            <a:endParaRPr sz="1600">
              <a:latin typeface="Times New Roman"/>
              <a:ea typeface="Times New Roman"/>
              <a:cs typeface="Times New Roman"/>
            </a:endParaRPr>
          </a:p>
        </p:txBody>
      </p:sp>
      <p:sp>
        <p:nvSpPr>
          <p:cNvPr id="38" name="Shape 36">
            <a:extLst>
              <a:ext uri="{FF2B5EF4-FFF2-40B4-BE49-F238E27FC236}">
                <a16:creationId xmlns:a16="http://schemas.microsoft.com/office/drawing/2014/main" id="{54F14567-BF0C-44E1-A968-6C79D01B306D}"/>
              </a:ext>
            </a:extLst>
          </p:cNvPr>
          <p:cNvSpPr>
            <a:spLocks noGrp="1"/>
          </p:cNvSpPr>
          <p:nvPr/>
        </p:nvSpPr>
        <p:spPr>
          <a:xfrm>
            <a:off x="14647291" y="3081909"/>
            <a:ext cx="5757291" cy="3386709"/>
          </a:xfrm>
          <a:prstGeom prst="rect">
            <a:avLst/>
          </a:prstGeom>
          <a:solidFill>
            <a:srgbClr val="FFFFFF">
              <a:alpha val="0"/>
            </a:srgbClr>
          </a:solidFill>
        </p:spPr>
      </p:sp>
      <p:sp>
        <p:nvSpPr>
          <p:cNvPr id="39" name="Text 37">
            <a:extLst>
              <a:ext uri="{FF2B5EF4-FFF2-40B4-BE49-F238E27FC236}">
                <a16:creationId xmlns:a16="http://schemas.microsoft.com/office/drawing/2014/main" id="{1DF17E00-5E1B-4070-BE5A-1C005633A9E9}"/>
              </a:ext>
            </a:extLst>
          </p:cNvPr>
          <p:cNvSpPr>
            <a:spLocks noGrp="1"/>
          </p:cNvSpPr>
          <p:nvPr/>
        </p:nvSpPr>
        <p:spPr>
          <a:xfrm>
            <a:off x="14525371" y="3020949"/>
            <a:ext cx="6001131" cy="3508629"/>
          </a:xfrm>
          <a:prstGeom prst="rect">
            <a:avLst/>
          </a:prstGeom>
          <a:noFill/>
        </p:spPr>
        <p:txBody>
          <a:bodyPr wrap="square" lIns="0" tIns="0" rIns="0" bIns="0" anchor="t">
            <a:noAutofit/>
          </a:bodyPr>
          <a:lstStyle/>
          <a:p>
            <a:pPr>
              <a:lnSpc>
                <a:spcPct val="150000"/>
              </a:lnSpc>
              <a:buNone/>
              <a:defRPr sz="2550" b="0">
                <a:solidFill>
                  <a:srgbClr val="151515"/>
                </a:solidFill>
                <a:latin typeface="Times New Roman"/>
                <a:ea typeface="Times New Roman"/>
                <a:cs typeface="Times New Roman"/>
              </a:defRPr>
            </a:pPr>
            <a:r>
              <a:rPr sz="2550" b="0">
                <a:solidFill>
                  <a:srgbClr val="151515"/>
                </a:solidFill>
                <a:latin typeface="Times New Roman"/>
                <a:ea typeface="Times New Roman"/>
                <a:cs typeface="Times New Roman"/>
              </a:rPr>
              <a:t>Đầu 1 dùng BiLSTM và CRF để tìm cụm.</a:t>
            </a:r>
            <a:endParaRPr sz="1600">
              <a:latin typeface="Times New Roman"/>
              <a:ea typeface="Times New Roman"/>
              <a:cs typeface="Times New Roman"/>
            </a:endParaRPr>
          </a:p>
          <a:p>
            <a:pPr>
              <a:lnSpc>
                <a:spcPct val="150000"/>
              </a:lnSpc>
              <a:buNone/>
              <a:defRPr sz="2550" b="0">
                <a:solidFill>
                  <a:srgbClr val="151515"/>
                </a:solidFill>
                <a:latin typeface="Times New Roman"/>
                <a:ea typeface="Times New Roman"/>
                <a:cs typeface="Times New Roman"/>
              </a:defRPr>
            </a:pPr>
            <a:r>
              <a:rPr sz="2550" b="0">
                <a:solidFill>
                  <a:srgbClr val="151515"/>
                </a:solidFill>
                <a:latin typeface="Times New Roman"/>
                <a:ea typeface="Times New Roman"/>
                <a:cs typeface="Times New Roman"/>
              </a:rPr>
              <a:t>Đầu 2 kiểm tra cả câu.</a:t>
            </a:r>
            <a:endParaRPr sz="1600">
              <a:latin typeface="Times New Roman"/>
              <a:ea typeface="Times New Roman"/>
              <a:cs typeface="Times New Roman"/>
            </a:endParaRPr>
          </a:p>
          <a:p>
            <a:pPr>
              <a:lnSpc>
                <a:spcPct val="150000"/>
              </a:lnSpc>
              <a:buNone/>
              <a:defRPr sz="2550" b="0">
                <a:solidFill>
                  <a:srgbClr val="151515"/>
                </a:solidFill>
                <a:latin typeface="Times New Roman"/>
                <a:ea typeface="Times New Roman"/>
                <a:cs typeface="Times New Roman"/>
              </a:defRPr>
            </a:pPr>
            <a:r>
              <a:rPr sz="2550" b="0">
                <a:solidFill>
                  <a:srgbClr val="151515"/>
                </a:solidFill>
                <a:latin typeface="Times New Roman"/>
                <a:ea typeface="Times New Roman"/>
                <a:cs typeface="Times New Roman"/>
              </a:rPr>
              <a:t>Cổng lọc giúp giảm đánh dấu nhầm.</a:t>
            </a:r>
            <a:endParaRPr sz="1600">
              <a:latin typeface="Times New Roman"/>
              <a:ea typeface="Times New Roman"/>
              <a:cs typeface="Times New Roman"/>
            </a:endParaRPr>
          </a:p>
          <a:p>
            <a:pPr>
              <a:lnSpc>
                <a:spcPct val="150000"/>
              </a:lnSpc>
              <a:buNone/>
              <a:defRPr sz="2550" b="0">
                <a:solidFill>
                  <a:srgbClr val="151515"/>
                </a:solidFill>
                <a:latin typeface="Times New Roman"/>
                <a:ea typeface="Times New Roman"/>
                <a:cs typeface="Times New Roman"/>
              </a:defRPr>
            </a:pPr>
            <a:r>
              <a:rPr sz="2550" b="0">
                <a:solidFill>
                  <a:srgbClr val="151515"/>
                </a:solidFill>
                <a:latin typeface="Times New Roman"/>
                <a:ea typeface="Times New Roman"/>
                <a:cs typeface="Times New Roman"/>
              </a:rPr>
              <a:t>Có thể bỏ sót nếu đầu 2 đoán sai.</a:t>
            </a:r>
            <a:endParaRPr sz="1600">
              <a:latin typeface="Times New Roman"/>
              <a:ea typeface="Times New Roman"/>
              <a:cs typeface="Times New Roman"/>
            </a:endParaRPr>
          </a:p>
        </p:txBody>
      </p:sp>
      <p:sp>
        <p:nvSpPr>
          <p:cNvPr id="40" name="Shape 38">
            <a:extLst>
              <a:ext uri="{FF2B5EF4-FFF2-40B4-BE49-F238E27FC236}">
                <a16:creationId xmlns:a16="http://schemas.microsoft.com/office/drawing/2014/main" id="{9845BBF2-5F9F-43B5-827E-51762B0DDA26}"/>
              </a:ext>
            </a:extLst>
          </p:cNvPr>
          <p:cNvSpPr>
            <a:spLocks noGrp="1"/>
          </p:cNvSpPr>
          <p:nvPr/>
        </p:nvSpPr>
        <p:spPr>
          <a:xfrm>
            <a:off x="1016000" y="7027291"/>
            <a:ext cx="19642709" cy="1524000"/>
          </a:xfrm>
          <a:prstGeom prst="roundRect">
            <a:avLst>
              <a:gd name="adj" fmla="val 8000"/>
            </a:avLst>
          </a:prstGeom>
          <a:solidFill>
            <a:srgbClr val="F5F5F5"/>
          </a:solidFill>
          <a:ln w="12700">
            <a:solidFill>
              <a:srgbClr val="E0E0E0"/>
            </a:solidFill>
            <a:prstDash val="solid"/>
          </a:ln>
        </p:spPr>
      </p:sp>
      <p:sp>
        <p:nvSpPr>
          <p:cNvPr id="41" name="Shape 39">
            <a:extLst>
              <a:ext uri="{FF2B5EF4-FFF2-40B4-BE49-F238E27FC236}">
                <a16:creationId xmlns:a16="http://schemas.microsoft.com/office/drawing/2014/main" id="{78614327-20CF-4725-941F-5A73C177E55C}"/>
              </a:ext>
            </a:extLst>
          </p:cNvPr>
          <p:cNvSpPr>
            <a:spLocks noGrp="1"/>
          </p:cNvSpPr>
          <p:nvPr/>
        </p:nvSpPr>
        <p:spPr>
          <a:xfrm>
            <a:off x="1354709" y="7145909"/>
            <a:ext cx="8466709" cy="406400"/>
          </a:xfrm>
          <a:prstGeom prst="rect">
            <a:avLst/>
          </a:prstGeom>
          <a:solidFill>
            <a:srgbClr val="FFFFFF">
              <a:alpha val="0"/>
            </a:srgbClr>
          </a:solidFill>
        </p:spPr>
      </p:sp>
      <p:sp>
        <p:nvSpPr>
          <p:cNvPr id="42" name="Text 40">
            <a:extLst>
              <a:ext uri="{FF2B5EF4-FFF2-40B4-BE49-F238E27FC236}">
                <a16:creationId xmlns:a16="http://schemas.microsoft.com/office/drawing/2014/main" id="{15FE53D0-8F98-4156-A6A0-3822A19EF97E}"/>
              </a:ext>
            </a:extLst>
          </p:cNvPr>
          <p:cNvSpPr>
            <a:spLocks noGrp="1"/>
          </p:cNvSpPr>
          <p:nvPr/>
        </p:nvSpPr>
        <p:spPr>
          <a:xfrm>
            <a:off x="1232788" y="7481189"/>
            <a:ext cx="8710549" cy="528320"/>
          </a:xfrm>
          <a:prstGeom prst="rect">
            <a:avLst/>
          </a:prstGeom>
          <a:noFill/>
        </p:spPr>
        <p:txBody>
          <a:bodyPr wrap="none" lIns="0" tIns="0" rIns="0" bIns="0" anchor="ctr">
            <a:noAutofit/>
          </a:bodyPr>
          <a:lstStyle/>
          <a:p>
            <a:pPr>
              <a:lnSpc>
                <a:spcPct val="100000"/>
              </a:lnSpc>
              <a:buNone/>
              <a:defRPr sz="2325" b="1">
                <a:solidFill>
                  <a:srgbClr val="1565C0"/>
                </a:solidFill>
                <a:latin typeface="Times New Roman"/>
                <a:ea typeface="Times New Roman"/>
                <a:cs typeface="Times New Roman"/>
              </a:defRPr>
            </a:pPr>
            <a:r>
              <a:rPr sz="2325" b="1" dirty="0" err="1">
                <a:solidFill>
                  <a:srgbClr val="1565C0"/>
                </a:solidFill>
                <a:latin typeface="Times New Roman"/>
                <a:ea typeface="Times New Roman"/>
                <a:cs typeface="Times New Roman"/>
              </a:rPr>
              <a:t>Cùng</a:t>
            </a:r>
            <a:r>
              <a:rPr sz="2325" b="1" dirty="0">
                <a:solidFill>
                  <a:srgbClr val="1565C0"/>
                </a:solidFill>
                <a:latin typeface="Times New Roman"/>
                <a:ea typeface="Times New Roman"/>
                <a:cs typeface="Times New Roman"/>
              </a:rPr>
              <a:t> </a:t>
            </a:r>
            <a:r>
              <a:rPr sz="2325" b="1" dirty="0" err="1">
                <a:solidFill>
                  <a:srgbClr val="1565C0"/>
                </a:solidFill>
                <a:latin typeface="Times New Roman"/>
                <a:ea typeface="Times New Roman"/>
                <a:cs typeface="Times New Roman"/>
              </a:rPr>
              <a:t>dùng</a:t>
            </a:r>
            <a:r>
              <a:rPr sz="2325" b="1" dirty="0">
                <a:solidFill>
                  <a:srgbClr val="1565C0"/>
                </a:solidFill>
                <a:latin typeface="Times New Roman"/>
                <a:ea typeface="Times New Roman"/>
                <a:cs typeface="Times New Roman"/>
              </a:rPr>
              <a:t> </a:t>
            </a:r>
            <a:r>
              <a:rPr sz="2325" b="1" dirty="0" err="1">
                <a:solidFill>
                  <a:srgbClr val="1565C0"/>
                </a:solidFill>
                <a:latin typeface="Times New Roman"/>
                <a:ea typeface="Times New Roman"/>
                <a:cs typeface="Times New Roman"/>
              </a:rPr>
              <a:t>PhoBERT</a:t>
            </a:r>
            <a:r>
              <a:rPr sz="2325" b="1" dirty="0">
                <a:solidFill>
                  <a:srgbClr val="1565C0"/>
                </a:solidFill>
                <a:latin typeface="Times New Roman"/>
                <a:ea typeface="Times New Roman"/>
                <a:cs typeface="Times New Roman"/>
              </a:rPr>
              <a:t>, </a:t>
            </a:r>
            <a:r>
              <a:rPr sz="2325" b="1" dirty="0" err="1">
                <a:solidFill>
                  <a:srgbClr val="1565C0"/>
                </a:solidFill>
                <a:latin typeface="Times New Roman"/>
                <a:ea typeface="Times New Roman"/>
                <a:cs typeface="Times New Roman"/>
              </a:rPr>
              <a:t>khác</a:t>
            </a:r>
            <a:r>
              <a:rPr sz="2325" b="1" dirty="0">
                <a:solidFill>
                  <a:srgbClr val="1565C0"/>
                </a:solidFill>
                <a:latin typeface="Times New Roman"/>
                <a:ea typeface="Times New Roman"/>
                <a:cs typeface="Times New Roman"/>
              </a:rPr>
              <a:t> </a:t>
            </a:r>
            <a:r>
              <a:rPr sz="2325" b="1" dirty="0" err="1">
                <a:solidFill>
                  <a:srgbClr val="1565C0"/>
                </a:solidFill>
                <a:latin typeface="Times New Roman"/>
                <a:ea typeface="Times New Roman"/>
                <a:cs typeface="Times New Roman"/>
              </a:rPr>
              <a:t>cách</a:t>
            </a:r>
            <a:r>
              <a:rPr sz="2325" b="1" dirty="0">
                <a:solidFill>
                  <a:srgbClr val="1565C0"/>
                </a:solidFill>
                <a:latin typeface="Times New Roman"/>
                <a:ea typeface="Times New Roman"/>
                <a:cs typeface="Times New Roman"/>
              </a:rPr>
              <a:t> </a:t>
            </a:r>
            <a:r>
              <a:rPr sz="2325" b="1" dirty="0" err="1">
                <a:solidFill>
                  <a:srgbClr val="1565C0"/>
                </a:solidFill>
                <a:latin typeface="Times New Roman"/>
                <a:ea typeface="Times New Roman"/>
                <a:cs typeface="Times New Roman"/>
              </a:rPr>
              <a:t>dự</a:t>
            </a:r>
            <a:r>
              <a:rPr sz="2325" b="1" dirty="0">
                <a:solidFill>
                  <a:srgbClr val="1565C0"/>
                </a:solidFill>
                <a:latin typeface="Times New Roman"/>
                <a:ea typeface="Times New Roman"/>
                <a:cs typeface="Times New Roman"/>
              </a:rPr>
              <a:t> </a:t>
            </a:r>
            <a:r>
              <a:rPr sz="2325" b="1" dirty="0" err="1">
                <a:solidFill>
                  <a:srgbClr val="1565C0"/>
                </a:solidFill>
                <a:latin typeface="Times New Roman"/>
                <a:ea typeface="Times New Roman"/>
                <a:cs typeface="Times New Roman"/>
              </a:rPr>
              <a:t>đoán</a:t>
            </a:r>
            <a:r>
              <a:rPr sz="2325" b="1" dirty="0">
                <a:solidFill>
                  <a:srgbClr val="1565C0"/>
                </a:solidFill>
                <a:latin typeface="Times New Roman"/>
                <a:ea typeface="Times New Roman"/>
                <a:cs typeface="Times New Roman"/>
              </a:rPr>
              <a:t> </a:t>
            </a:r>
            <a:r>
              <a:rPr sz="2325" b="1" dirty="0" err="1">
                <a:solidFill>
                  <a:srgbClr val="1565C0"/>
                </a:solidFill>
                <a:latin typeface="Times New Roman"/>
                <a:ea typeface="Times New Roman"/>
                <a:cs typeface="Times New Roman"/>
              </a:rPr>
              <a:t>nhãn</a:t>
            </a:r>
            <a:endParaRPr sz="1600" dirty="0">
              <a:latin typeface="Times New Roman"/>
              <a:ea typeface="Times New Roman"/>
              <a:cs typeface="Times New Roman"/>
            </a:endParaRPr>
          </a:p>
        </p:txBody>
      </p:sp>
      <p:sp>
        <p:nvSpPr>
          <p:cNvPr id="43" name="Shape 41">
            <a:extLst>
              <a:ext uri="{FF2B5EF4-FFF2-40B4-BE49-F238E27FC236}">
                <a16:creationId xmlns:a16="http://schemas.microsoft.com/office/drawing/2014/main" id="{5F1D5F0A-A178-4EBF-98DB-1BCBB39077D5}"/>
              </a:ext>
            </a:extLst>
          </p:cNvPr>
          <p:cNvSpPr>
            <a:spLocks noGrp="1"/>
          </p:cNvSpPr>
          <p:nvPr/>
        </p:nvSpPr>
        <p:spPr>
          <a:xfrm>
            <a:off x="1016000" y="8890000"/>
            <a:ext cx="19642709" cy="2201291"/>
          </a:xfrm>
          <a:prstGeom prst="rect">
            <a:avLst/>
          </a:prstGeom>
          <a:solidFill>
            <a:srgbClr val="FFFFFF">
              <a:alpha val="0"/>
            </a:srgbClr>
          </a:solidFill>
        </p:spPr>
      </p:sp>
      <p:sp>
        <p:nvSpPr>
          <p:cNvPr id="44" name="Text 42">
            <a:extLst>
              <a:ext uri="{FF2B5EF4-FFF2-40B4-BE49-F238E27FC236}">
                <a16:creationId xmlns:a16="http://schemas.microsoft.com/office/drawing/2014/main" id="{A90FA239-2D9E-413B-95F5-0559C4EDBE9A}"/>
              </a:ext>
            </a:extLst>
          </p:cNvPr>
          <p:cNvSpPr>
            <a:spLocks noGrp="1"/>
          </p:cNvSpPr>
          <p:nvPr/>
        </p:nvSpPr>
        <p:spPr>
          <a:xfrm>
            <a:off x="894080" y="8829040"/>
            <a:ext cx="19886549" cy="2323211"/>
          </a:xfrm>
          <a:prstGeom prst="rect">
            <a:avLst/>
          </a:prstGeom>
          <a:noFill/>
        </p:spPr>
        <p:txBody>
          <a:bodyPr wrap="square" lIns="0" tIns="0" rIns="0" bIns="0" anchor="t">
            <a:noAutofit/>
          </a:bodyPr>
          <a:lstStyle/>
          <a:p>
            <a:pPr>
              <a:lnSpc>
                <a:spcPct val="160000"/>
              </a:lnSpc>
              <a:buNone/>
              <a:defRPr sz="2700" b="0">
                <a:solidFill>
                  <a:srgbClr val="151515"/>
                </a:solidFill>
                <a:latin typeface="Times New Roman"/>
                <a:ea typeface="Times New Roman"/>
                <a:cs typeface="Times New Roman"/>
              </a:defRPr>
            </a:pPr>
            <a:r>
              <a:rPr sz="2700" b="0">
                <a:solidFill>
                  <a:srgbClr val="151515"/>
                </a:solidFill>
                <a:latin typeface="Times New Roman"/>
                <a:ea typeface="Times New Roman"/>
                <a:cs typeface="Times New Roman"/>
              </a:rPr>
              <a:t>Bộ hình mới so sánh ba cấu hình trên. Muốn biết riêng BiLSTM và Intent Head cải thiện bao nhiêu, cần thêm thử nghiệm bật/tắt từng phần.</a:t>
            </a:r>
            <a:endParaRPr sz="1600">
              <a:latin typeface="Times New Roman"/>
              <a:ea typeface="Times New Roman"/>
              <a:cs typeface="Times New Roman"/>
            </a:endParaRPr>
          </a:p>
        </p:txBody>
      </p:sp>
      <p:sp>
        <p:nvSpPr>
          <p:cNvPr id="45" name="Shape 43">
            <a:extLst>
              <a:ext uri="{FF2B5EF4-FFF2-40B4-BE49-F238E27FC236}">
                <a16:creationId xmlns:a16="http://schemas.microsoft.com/office/drawing/2014/main" id="{CF4E41E8-DE0C-49CE-881E-41BE6E2C0266}"/>
              </a:ext>
            </a:extLst>
          </p:cNvPr>
          <p:cNvSpPr>
            <a:spLocks noGrp="1"/>
          </p:cNvSpPr>
          <p:nvPr/>
        </p:nvSpPr>
        <p:spPr>
          <a:xfrm>
            <a:off x="19981291" y="11684000"/>
            <a:ext cx="1016000" cy="406400"/>
          </a:xfrm>
          <a:prstGeom prst="rect">
            <a:avLst/>
          </a:prstGeom>
          <a:solidFill>
            <a:srgbClr val="FFFFFF">
              <a:alpha val="0"/>
            </a:srgbClr>
          </a:solidFill>
        </p:spPr>
      </p:sp>
      <p:sp>
        <p:nvSpPr>
          <p:cNvPr id="46" name="Text 44">
            <a:extLst>
              <a:ext uri="{FF2B5EF4-FFF2-40B4-BE49-F238E27FC236}">
                <a16:creationId xmlns:a16="http://schemas.microsoft.com/office/drawing/2014/main" id="{8686BEE7-334A-4115-9F88-12DED17E19FA}"/>
              </a:ext>
            </a:extLst>
          </p:cNvPr>
          <p:cNvSpPr>
            <a:spLocks noGrp="1"/>
          </p:cNvSpPr>
          <p:nvPr/>
        </p:nvSpPr>
        <p:spPr>
          <a:xfrm>
            <a:off x="19859371" y="11623040"/>
            <a:ext cx="1259840" cy="528320"/>
          </a:xfrm>
          <a:prstGeom prst="rect">
            <a:avLst/>
          </a:prstGeom>
          <a:noFill/>
        </p:spPr>
        <p:txBody>
          <a:bodyPr wrap="none" lIns="0" tIns="0" rIns="0" bIns="0" anchor="ctr">
            <a:noAutofit/>
          </a:bodyPr>
          <a:lstStyle/>
          <a:p>
            <a:pPr algn="r">
              <a:lnSpc>
                <a:spcPct val="100000"/>
              </a:lnSpc>
              <a:buNone/>
              <a:defRPr sz="1950">
                <a:solidFill>
                  <a:srgbClr val="666666"/>
                </a:solidFill>
                <a:latin typeface="Times New Roman"/>
                <a:ea typeface="Times New Roman"/>
                <a:cs typeface="Times New Roman"/>
              </a:defRPr>
            </a:pPr>
            <a:r>
              <a:rPr sz="1950">
                <a:solidFill>
                  <a:srgbClr val="666666"/>
                </a:solidFill>
                <a:latin typeface="Times New Roman"/>
                <a:ea typeface="Times New Roman"/>
                <a:cs typeface="Times New Roman"/>
              </a:rPr>
              <a:t>5/18</a:t>
            </a:r>
            <a:endParaRPr sz="1600">
              <a:latin typeface="Times New Roman"/>
              <a:ea typeface="Times New Roman"/>
              <a:cs typeface="Times New Roman"/>
            </a:endParaRPr>
          </a:p>
        </p:txBody>
      </p:sp>
      <p:sp>
        <p:nvSpPr>
          <p:cNvPr id="47" name="Text 24">
            <a:extLst>
              <a:ext uri="{FF2B5EF4-FFF2-40B4-BE49-F238E27FC236}">
                <a16:creationId xmlns:a16="http://schemas.microsoft.com/office/drawing/2014/main" id="{891AEC0D-79F0-739D-93D9-DC4C60E5771D}"/>
              </a:ext>
            </a:extLst>
          </p:cNvPr>
          <p:cNvSpPr>
            <a:spLocks noGrp="1"/>
          </p:cNvSpPr>
          <p:nvPr/>
        </p:nvSpPr>
        <p:spPr>
          <a:xfrm>
            <a:off x="3048127" y="7572893"/>
            <a:ext cx="14224000" cy="609600"/>
          </a:xfrm>
          <a:prstGeom prst="rect">
            <a:avLst/>
          </a:prstGeom>
          <a:noFill/>
        </p:spPr>
        <p:txBody>
          <a:bodyPr wrap="square" lIns="0" tIns="0" rIns="0" bIns="0" anchor="ctr">
            <a:noAutofit/>
          </a:bodyPr>
          <a:lstStyle/>
          <a:p>
            <a:pPr algn="ctr">
              <a:lnSpc>
                <a:spcPct val="100000"/>
              </a:lnSpc>
              <a:buNone/>
            </a:pPr>
            <a:endParaRPr sz="2400">
              <a:latin typeface="Times New Roman"/>
              <a:ea typeface="Times New Roman"/>
              <a:cs typeface="Times New Roman"/>
            </a:endParaRPr>
          </a:p>
        </p:txBody>
      </p:sp>
    </p:spTree>
    <p:extLst>
      <p:ext uri="{BB962C8B-B14F-4D97-AF65-F5344CB8AC3E}">
        <p14:creationId xmlns:p14="http://schemas.microsoft.com/office/powerpoint/2010/main" val="4717927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04E71FB3-17DA-4A9C-BEBC-43679F8393A7}"/>
              </a:ext>
            </a:extLst>
          </p:cNvPr>
          <p:cNvSpPr>
            <a:spLocks noGrp="1"/>
          </p:cNvSpPr>
          <p:nvPr/>
        </p:nvSpPr>
        <p:spPr>
          <a:xfrm>
            <a:off x="0" y="0"/>
            <a:ext cx="21674709" cy="677291"/>
          </a:xfrm>
          <a:prstGeom prst="rect">
            <a:avLst/>
          </a:prstGeom>
          <a:solidFill>
            <a:srgbClr val="1565C0"/>
          </a:solidFill>
        </p:spPr>
      </p:sp>
      <p:sp>
        <p:nvSpPr>
          <p:cNvPr id="3" name="Shape 1">
            <a:extLst>
              <a:ext uri="{FF2B5EF4-FFF2-40B4-BE49-F238E27FC236}">
                <a16:creationId xmlns:a16="http://schemas.microsoft.com/office/drawing/2014/main" id="{BED08B5A-4194-4D52-B5FC-090357E6E567}"/>
              </a:ext>
            </a:extLst>
          </p:cNvPr>
          <p:cNvSpPr>
            <a:spLocks noGrp="1"/>
          </p:cNvSpPr>
          <p:nvPr/>
        </p:nvSpPr>
        <p:spPr>
          <a:xfrm>
            <a:off x="3725227" y="84709"/>
            <a:ext cx="3386709" cy="508000"/>
          </a:xfrm>
          <a:prstGeom prst="roundRect">
            <a:avLst>
              <a:gd name="adj" fmla="val 8000"/>
            </a:avLst>
          </a:prstGeom>
          <a:solidFill>
            <a:srgbClr val="FFFFFF">
              <a:alpha val="3576"/>
            </a:srgbClr>
          </a:solidFill>
        </p:spPr>
      </p:sp>
      <p:sp>
        <p:nvSpPr>
          <p:cNvPr id="4" name="Shape 2">
            <a:extLst>
              <a:ext uri="{FF2B5EF4-FFF2-40B4-BE49-F238E27FC236}">
                <a16:creationId xmlns:a16="http://schemas.microsoft.com/office/drawing/2014/main" id="{A90299A0-EBDA-41F3-81BE-5B3E1A39E242}"/>
              </a:ext>
            </a:extLst>
          </p:cNvPr>
          <p:cNvSpPr>
            <a:spLocks noGrp="1"/>
          </p:cNvSpPr>
          <p:nvPr/>
        </p:nvSpPr>
        <p:spPr>
          <a:xfrm>
            <a:off x="169291" y="0"/>
            <a:ext cx="3386709" cy="677291"/>
          </a:xfrm>
          <a:prstGeom prst="rect">
            <a:avLst/>
          </a:prstGeom>
          <a:solidFill>
            <a:srgbClr val="FFFFFF">
              <a:alpha val="0"/>
            </a:srgbClr>
          </a:solidFill>
        </p:spPr>
      </p:sp>
      <p:sp>
        <p:nvSpPr>
          <p:cNvPr id="5" name="Text 3">
            <a:extLst>
              <a:ext uri="{FF2B5EF4-FFF2-40B4-BE49-F238E27FC236}">
                <a16:creationId xmlns:a16="http://schemas.microsoft.com/office/drawing/2014/main" id="{7509F3E8-5F70-48F5-96CE-E715D0EBB42A}"/>
              </a:ext>
            </a:extLst>
          </p:cNvPr>
          <p:cNvSpPr>
            <a:spLocks noGrp="1"/>
          </p:cNvSpPr>
          <p:nvPr/>
        </p:nvSpPr>
        <p:spPr>
          <a:xfrm>
            <a:off x="47339"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1. Bài toán và dữ liệu</a:t>
            </a:r>
            <a:endParaRPr sz="1600"/>
          </a:p>
        </p:txBody>
      </p:sp>
      <p:sp>
        <p:nvSpPr>
          <p:cNvPr id="6" name="Shape 4">
            <a:extLst>
              <a:ext uri="{FF2B5EF4-FFF2-40B4-BE49-F238E27FC236}">
                <a16:creationId xmlns:a16="http://schemas.microsoft.com/office/drawing/2014/main" id="{03FD3052-8CD7-4C44-B411-16C2F785C402}"/>
              </a:ext>
            </a:extLst>
          </p:cNvPr>
          <p:cNvSpPr>
            <a:spLocks noGrp="1"/>
          </p:cNvSpPr>
          <p:nvPr/>
        </p:nvSpPr>
        <p:spPr>
          <a:xfrm>
            <a:off x="3725291" y="0"/>
            <a:ext cx="3386709" cy="677291"/>
          </a:xfrm>
          <a:prstGeom prst="rect">
            <a:avLst/>
          </a:prstGeom>
          <a:solidFill>
            <a:srgbClr val="FFFFFF">
              <a:alpha val="0"/>
            </a:srgbClr>
          </a:solidFill>
        </p:spPr>
      </p:sp>
      <p:sp>
        <p:nvSpPr>
          <p:cNvPr id="7" name="Text 5">
            <a:extLst>
              <a:ext uri="{FF2B5EF4-FFF2-40B4-BE49-F238E27FC236}">
                <a16:creationId xmlns:a16="http://schemas.microsoft.com/office/drawing/2014/main" id="{0BF072F8-7AE3-437B-BE6A-D14297BF2BE8}"/>
              </a:ext>
            </a:extLst>
          </p:cNvPr>
          <p:cNvSpPr>
            <a:spLocks noGrp="1"/>
          </p:cNvSpPr>
          <p:nvPr/>
        </p:nvSpPr>
        <p:spPr>
          <a:xfrm>
            <a:off x="3603403" y="0"/>
            <a:ext cx="3630549" cy="676275"/>
          </a:xfrm>
          <a:prstGeom prst="rect">
            <a:avLst/>
          </a:prstGeom>
          <a:noFill/>
        </p:spPr>
        <p:txBody>
          <a:bodyPr wrap="none" lIns="0" tIns="0" rIns="0" bIns="0" anchor="ctr">
            <a:noAutofit/>
          </a:bodyPr>
          <a:lstStyle/>
          <a:p>
            <a:pPr algn="ctr">
              <a:lnSpc>
                <a:spcPct val="100000"/>
              </a:lnSpc>
              <a:buNone/>
              <a:defRPr sz="1875" b="1">
                <a:solidFill>
                  <a:srgbClr val="FFFFFF"/>
                </a:solidFill>
                <a:latin typeface="Times New Roman"/>
                <a:ea typeface="Times New Roman"/>
                <a:cs typeface="Times New Roman"/>
              </a:defRPr>
            </a:pPr>
            <a:r>
              <a:rPr sz="1875" b="1">
                <a:solidFill>
                  <a:srgbClr val="FFFFFF"/>
                </a:solidFill>
                <a:latin typeface="Times New Roman"/>
                <a:ea typeface="Times New Roman"/>
                <a:cs typeface="Times New Roman"/>
              </a:rPr>
              <a:t>2. Mô hình và dual head</a:t>
            </a:r>
            <a:endParaRPr sz="1600"/>
          </a:p>
        </p:txBody>
      </p:sp>
      <p:sp>
        <p:nvSpPr>
          <p:cNvPr id="8" name="Shape 6">
            <a:extLst>
              <a:ext uri="{FF2B5EF4-FFF2-40B4-BE49-F238E27FC236}">
                <a16:creationId xmlns:a16="http://schemas.microsoft.com/office/drawing/2014/main" id="{25372917-9CF5-416F-8E8E-58FBB54D51C9}"/>
              </a:ext>
            </a:extLst>
          </p:cNvPr>
          <p:cNvSpPr>
            <a:spLocks noGrp="1"/>
          </p:cNvSpPr>
          <p:nvPr/>
        </p:nvSpPr>
        <p:spPr>
          <a:xfrm>
            <a:off x="7281291" y="0"/>
            <a:ext cx="3386709" cy="677291"/>
          </a:xfrm>
          <a:prstGeom prst="rect">
            <a:avLst/>
          </a:prstGeom>
          <a:solidFill>
            <a:srgbClr val="FFFFFF">
              <a:alpha val="0"/>
            </a:srgbClr>
          </a:solidFill>
        </p:spPr>
      </p:sp>
      <p:sp>
        <p:nvSpPr>
          <p:cNvPr id="9" name="Text 7">
            <a:extLst>
              <a:ext uri="{FF2B5EF4-FFF2-40B4-BE49-F238E27FC236}">
                <a16:creationId xmlns:a16="http://schemas.microsoft.com/office/drawing/2014/main" id="{E2A4B60B-0688-4C6D-9FB5-6F60C7AE8C8B}"/>
              </a:ext>
            </a:extLst>
          </p:cNvPr>
          <p:cNvSpPr>
            <a:spLocks noGrp="1"/>
          </p:cNvSpPr>
          <p:nvPr/>
        </p:nvSpPr>
        <p:spPr>
          <a:xfrm>
            <a:off x="7159371"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3. Kết quả</a:t>
            </a:r>
            <a:endParaRPr sz="1600"/>
          </a:p>
        </p:txBody>
      </p:sp>
      <p:sp>
        <p:nvSpPr>
          <p:cNvPr id="10" name="Shape 8">
            <a:extLst>
              <a:ext uri="{FF2B5EF4-FFF2-40B4-BE49-F238E27FC236}">
                <a16:creationId xmlns:a16="http://schemas.microsoft.com/office/drawing/2014/main" id="{83D044DE-D531-4E1F-BDEE-31EE3A9B972D}"/>
              </a:ext>
            </a:extLst>
          </p:cNvPr>
          <p:cNvSpPr>
            <a:spLocks noGrp="1"/>
          </p:cNvSpPr>
          <p:nvPr/>
        </p:nvSpPr>
        <p:spPr>
          <a:xfrm>
            <a:off x="10837291" y="0"/>
            <a:ext cx="3386709" cy="677291"/>
          </a:xfrm>
          <a:prstGeom prst="rect">
            <a:avLst/>
          </a:prstGeom>
          <a:solidFill>
            <a:srgbClr val="FFFFFF">
              <a:alpha val="0"/>
            </a:srgbClr>
          </a:solidFill>
        </p:spPr>
      </p:sp>
      <p:sp>
        <p:nvSpPr>
          <p:cNvPr id="11" name="Text 9">
            <a:extLst>
              <a:ext uri="{FF2B5EF4-FFF2-40B4-BE49-F238E27FC236}">
                <a16:creationId xmlns:a16="http://schemas.microsoft.com/office/drawing/2014/main" id="{5CE824F5-850D-43B7-A2F3-276E09C11EF9}"/>
              </a:ext>
            </a:extLst>
          </p:cNvPr>
          <p:cNvSpPr>
            <a:spLocks noGrp="1"/>
          </p:cNvSpPr>
          <p:nvPr/>
        </p:nvSpPr>
        <p:spPr>
          <a:xfrm>
            <a:off x="10715339"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4. Phân tích lỗi</a:t>
            </a:r>
            <a:endParaRPr sz="1600"/>
          </a:p>
        </p:txBody>
      </p:sp>
      <p:sp>
        <p:nvSpPr>
          <p:cNvPr id="12" name="Shape 10">
            <a:extLst>
              <a:ext uri="{FF2B5EF4-FFF2-40B4-BE49-F238E27FC236}">
                <a16:creationId xmlns:a16="http://schemas.microsoft.com/office/drawing/2014/main" id="{E4EA07EE-6F56-4A92-8323-3BC01396D2E1}"/>
              </a:ext>
            </a:extLst>
          </p:cNvPr>
          <p:cNvSpPr>
            <a:spLocks noGrp="1"/>
          </p:cNvSpPr>
          <p:nvPr/>
        </p:nvSpPr>
        <p:spPr>
          <a:xfrm>
            <a:off x="14393291" y="0"/>
            <a:ext cx="3386709" cy="677291"/>
          </a:xfrm>
          <a:prstGeom prst="rect">
            <a:avLst/>
          </a:prstGeom>
          <a:solidFill>
            <a:srgbClr val="FFFFFF">
              <a:alpha val="0"/>
            </a:srgbClr>
          </a:solidFill>
        </p:spPr>
      </p:sp>
      <p:sp>
        <p:nvSpPr>
          <p:cNvPr id="13" name="Text 11">
            <a:extLst>
              <a:ext uri="{FF2B5EF4-FFF2-40B4-BE49-F238E27FC236}">
                <a16:creationId xmlns:a16="http://schemas.microsoft.com/office/drawing/2014/main" id="{13B9EEA2-0206-4167-94D3-458AEBE78ADE}"/>
              </a:ext>
            </a:extLst>
          </p:cNvPr>
          <p:cNvSpPr>
            <a:spLocks noGrp="1"/>
          </p:cNvSpPr>
          <p:nvPr/>
        </p:nvSpPr>
        <p:spPr>
          <a:xfrm>
            <a:off x="14271403"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5. Ứng dụng</a:t>
            </a:r>
            <a:endParaRPr sz="1600"/>
          </a:p>
        </p:txBody>
      </p:sp>
      <p:sp>
        <p:nvSpPr>
          <p:cNvPr id="14" name="Shape 12">
            <a:extLst>
              <a:ext uri="{FF2B5EF4-FFF2-40B4-BE49-F238E27FC236}">
                <a16:creationId xmlns:a16="http://schemas.microsoft.com/office/drawing/2014/main" id="{46E60B04-F656-4D07-9856-034FEB68CE5F}"/>
              </a:ext>
            </a:extLst>
          </p:cNvPr>
          <p:cNvSpPr>
            <a:spLocks noGrp="1"/>
          </p:cNvSpPr>
          <p:nvPr/>
        </p:nvSpPr>
        <p:spPr>
          <a:xfrm>
            <a:off x="17949291" y="0"/>
            <a:ext cx="3386709" cy="677291"/>
          </a:xfrm>
          <a:prstGeom prst="rect">
            <a:avLst/>
          </a:prstGeom>
          <a:solidFill>
            <a:srgbClr val="FFFFFF">
              <a:alpha val="0"/>
            </a:srgbClr>
          </a:solidFill>
        </p:spPr>
      </p:sp>
      <p:sp>
        <p:nvSpPr>
          <p:cNvPr id="15" name="Text 13">
            <a:extLst>
              <a:ext uri="{FF2B5EF4-FFF2-40B4-BE49-F238E27FC236}">
                <a16:creationId xmlns:a16="http://schemas.microsoft.com/office/drawing/2014/main" id="{2CCF25F0-573A-491E-AB2C-A9249E82786D}"/>
              </a:ext>
            </a:extLst>
          </p:cNvPr>
          <p:cNvSpPr>
            <a:spLocks noGrp="1"/>
          </p:cNvSpPr>
          <p:nvPr/>
        </p:nvSpPr>
        <p:spPr>
          <a:xfrm>
            <a:off x="17827371"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6. Cải thiện</a:t>
            </a:r>
            <a:endParaRPr sz="1600"/>
          </a:p>
        </p:txBody>
      </p:sp>
      <p:sp>
        <p:nvSpPr>
          <p:cNvPr id="16" name="Shape 14">
            <a:extLst>
              <a:ext uri="{FF2B5EF4-FFF2-40B4-BE49-F238E27FC236}">
                <a16:creationId xmlns:a16="http://schemas.microsoft.com/office/drawing/2014/main" id="{1F9E7EE3-005C-4948-B1A3-DA12EBCF4813}"/>
              </a:ext>
            </a:extLst>
          </p:cNvPr>
          <p:cNvSpPr>
            <a:spLocks noGrp="1"/>
          </p:cNvSpPr>
          <p:nvPr/>
        </p:nvSpPr>
        <p:spPr>
          <a:xfrm>
            <a:off x="1016000" y="931291"/>
            <a:ext cx="16933291" cy="643509"/>
          </a:xfrm>
          <a:prstGeom prst="rect">
            <a:avLst/>
          </a:prstGeom>
          <a:solidFill>
            <a:srgbClr val="FFFFFF">
              <a:alpha val="0"/>
            </a:srgbClr>
          </a:solidFill>
        </p:spPr>
      </p:sp>
      <p:sp>
        <p:nvSpPr>
          <p:cNvPr id="17" name="Text 15">
            <a:extLst>
              <a:ext uri="{FF2B5EF4-FFF2-40B4-BE49-F238E27FC236}">
                <a16:creationId xmlns:a16="http://schemas.microsoft.com/office/drawing/2014/main" id="{1A6BBB8B-3686-4E13-9BF0-30E7F78AB732}"/>
              </a:ext>
            </a:extLst>
          </p:cNvPr>
          <p:cNvSpPr>
            <a:spLocks noGrp="1"/>
          </p:cNvSpPr>
          <p:nvPr/>
        </p:nvSpPr>
        <p:spPr>
          <a:xfrm>
            <a:off x="894080" y="870331"/>
            <a:ext cx="17177131" cy="765429"/>
          </a:xfrm>
          <a:prstGeom prst="rect">
            <a:avLst/>
          </a:prstGeom>
          <a:noFill/>
        </p:spPr>
        <p:txBody>
          <a:bodyPr wrap="none" lIns="0" tIns="0" rIns="0" bIns="0" anchor="ctr">
            <a:noAutofit/>
          </a:bodyPr>
          <a:lstStyle/>
          <a:p>
            <a:pPr>
              <a:lnSpc>
                <a:spcPct val="100000"/>
              </a:lnSpc>
              <a:buNone/>
              <a:defRPr sz="3900" b="1">
                <a:solidFill>
                  <a:srgbClr val="1565C0"/>
                </a:solidFill>
                <a:latin typeface="Times New Roman"/>
                <a:ea typeface="Times New Roman"/>
                <a:cs typeface="Times New Roman"/>
              </a:defRPr>
            </a:pPr>
            <a:r>
              <a:rPr sz="3900" b="1">
                <a:solidFill>
                  <a:srgbClr val="1565C0"/>
                </a:solidFill>
                <a:latin typeface="Times New Roman"/>
                <a:ea typeface="Times New Roman"/>
                <a:cs typeface="Times New Roman"/>
              </a:rPr>
              <a:t>Chức năng từng tầng trong phương pháp</a:t>
            </a:r>
            <a:endParaRPr sz="1600"/>
          </a:p>
        </p:txBody>
      </p:sp>
      <p:sp>
        <p:nvSpPr>
          <p:cNvPr id="18" name="Shape 16">
            <a:extLst>
              <a:ext uri="{FF2B5EF4-FFF2-40B4-BE49-F238E27FC236}">
                <a16:creationId xmlns:a16="http://schemas.microsoft.com/office/drawing/2014/main" id="{492531CA-9093-4EF1-AD39-6B15EB98A011}"/>
              </a:ext>
            </a:extLst>
          </p:cNvPr>
          <p:cNvSpPr>
            <a:spLocks noGrp="1"/>
          </p:cNvSpPr>
          <p:nvPr/>
        </p:nvSpPr>
        <p:spPr>
          <a:xfrm>
            <a:off x="1016000" y="1625600"/>
            <a:ext cx="19642709" cy="50800"/>
          </a:xfrm>
          <a:prstGeom prst="rect">
            <a:avLst/>
          </a:prstGeom>
          <a:solidFill>
            <a:srgbClr val="1565C0"/>
          </a:solidFill>
        </p:spPr>
      </p:sp>
      <p:sp>
        <p:nvSpPr>
          <p:cNvPr id="21" name="Shape 18">
            <a:extLst>
              <a:ext uri="{FF2B5EF4-FFF2-40B4-BE49-F238E27FC236}">
                <a16:creationId xmlns:a16="http://schemas.microsoft.com/office/drawing/2014/main" id="{A2702F63-27C2-4B19-A725-AC42393A5BA3}"/>
              </a:ext>
            </a:extLst>
          </p:cNvPr>
          <p:cNvSpPr>
            <a:spLocks noGrp="1"/>
          </p:cNvSpPr>
          <p:nvPr/>
        </p:nvSpPr>
        <p:spPr>
          <a:xfrm>
            <a:off x="1354709" y="9567291"/>
            <a:ext cx="18965291" cy="1354709"/>
          </a:xfrm>
          <a:prstGeom prst="rect">
            <a:avLst/>
          </a:prstGeom>
          <a:solidFill>
            <a:srgbClr val="FFFFFF">
              <a:alpha val="0"/>
            </a:srgbClr>
          </a:solidFill>
        </p:spPr>
      </p:sp>
      <p:sp>
        <p:nvSpPr>
          <p:cNvPr id="22" name="Text 19">
            <a:extLst>
              <a:ext uri="{FF2B5EF4-FFF2-40B4-BE49-F238E27FC236}">
                <a16:creationId xmlns:a16="http://schemas.microsoft.com/office/drawing/2014/main" id="{44E92E37-C666-46FE-8E3A-3F0391ED13BA}"/>
              </a:ext>
            </a:extLst>
          </p:cNvPr>
          <p:cNvSpPr>
            <a:spLocks noGrp="1"/>
          </p:cNvSpPr>
          <p:nvPr/>
        </p:nvSpPr>
        <p:spPr>
          <a:xfrm>
            <a:off x="1095375" y="10477500"/>
            <a:ext cx="19431000" cy="809625"/>
          </a:xfrm>
          <a:prstGeom prst="rect">
            <a:avLst/>
          </a:prstGeom>
          <a:noFill/>
        </p:spPr>
        <p:txBody>
          <a:bodyPr wrap="square" lIns="0" tIns="0" rIns="0" bIns="0" anchor="t">
            <a:noAutofit/>
          </a:bodyPr>
          <a:lstStyle/>
          <a:p>
            <a:pPr>
              <a:lnSpc>
                <a:spcPct val="150000"/>
              </a:lnSpc>
              <a:buNone/>
              <a:defRPr sz="2550" b="0">
                <a:solidFill>
                  <a:srgbClr val="151515"/>
                </a:solidFill>
                <a:latin typeface="Times New Roman"/>
                <a:ea typeface="Times New Roman"/>
                <a:cs typeface="Times New Roman"/>
              </a:defRPr>
            </a:pPr>
            <a:r>
              <a:rPr sz="2550" b="0">
                <a:solidFill>
                  <a:srgbClr val="151515"/>
                </a:solidFill>
                <a:latin typeface="Times New Roman"/>
                <a:ea typeface="Times New Roman"/>
                <a:cs typeface="Times New Roman"/>
              </a:rPr>
              <a:t>Hai đầu dùng chung PhoBERT. Đầu 1 tìm vị trí; đầu 2 kiểm tra câu; cổng quyết định giữ hay bỏ nhãn.</a:t>
            </a:r>
            <a:endParaRPr sz="1600"/>
          </a:p>
        </p:txBody>
      </p:sp>
      <p:sp>
        <p:nvSpPr>
          <p:cNvPr id="23" name="Shape 20">
            <a:extLst>
              <a:ext uri="{FF2B5EF4-FFF2-40B4-BE49-F238E27FC236}">
                <a16:creationId xmlns:a16="http://schemas.microsoft.com/office/drawing/2014/main" id="{0E7C839F-4B00-4F27-AE1A-75F5D8C5F7DD}"/>
              </a:ext>
            </a:extLst>
          </p:cNvPr>
          <p:cNvSpPr>
            <a:spLocks noGrp="1"/>
          </p:cNvSpPr>
          <p:nvPr/>
        </p:nvSpPr>
        <p:spPr>
          <a:xfrm>
            <a:off x="19981291" y="11684000"/>
            <a:ext cx="1016000" cy="406400"/>
          </a:xfrm>
          <a:prstGeom prst="rect">
            <a:avLst/>
          </a:prstGeom>
          <a:solidFill>
            <a:srgbClr val="FFFFFF">
              <a:alpha val="0"/>
            </a:srgbClr>
          </a:solidFill>
        </p:spPr>
      </p:sp>
      <p:sp>
        <p:nvSpPr>
          <p:cNvPr id="24" name="Text 21">
            <a:extLst>
              <a:ext uri="{FF2B5EF4-FFF2-40B4-BE49-F238E27FC236}">
                <a16:creationId xmlns:a16="http://schemas.microsoft.com/office/drawing/2014/main" id="{5A8A0AFB-47AD-477F-8CFA-181718E281BF}"/>
              </a:ext>
            </a:extLst>
          </p:cNvPr>
          <p:cNvSpPr>
            <a:spLocks noGrp="1"/>
          </p:cNvSpPr>
          <p:nvPr/>
        </p:nvSpPr>
        <p:spPr>
          <a:xfrm>
            <a:off x="19859371" y="11623040"/>
            <a:ext cx="1259840" cy="528320"/>
          </a:xfrm>
          <a:prstGeom prst="rect">
            <a:avLst/>
          </a:prstGeom>
          <a:noFill/>
        </p:spPr>
        <p:txBody>
          <a:bodyPr wrap="none" lIns="0" tIns="0" rIns="0" bIns="0" anchor="ctr">
            <a:noAutofit/>
          </a:bodyPr>
          <a:lstStyle/>
          <a:p>
            <a:pPr algn="r">
              <a:lnSpc>
                <a:spcPct val="100000"/>
              </a:lnSpc>
              <a:buNone/>
              <a:defRPr sz="1950">
                <a:solidFill>
                  <a:srgbClr val="666666"/>
                </a:solidFill>
                <a:latin typeface="Times New Roman"/>
                <a:ea typeface="Times New Roman"/>
                <a:cs typeface="Times New Roman"/>
              </a:defRPr>
            </a:pPr>
            <a:r>
              <a:rPr sz="1950">
                <a:solidFill>
                  <a:srgbClr val="666666"/>
                </a:solidFill>
                <a:latin typeface="Times New Roman"/>
                <a:ea typeface="Times New Roman"/>
                <a:cs typeface="Times New Roman"/>
              </a:rPr>
              <a:t>6/18</a:t>
            </a:r>
            <a:endParaRPr sz="1600"/>
          </a:p>
        </p:txBody>
      </p:sp>
      <p:graphicFrame>
        <p:nvGraphicFramePr>
          <p:cNvPr id="47" name="Table 46"/>
          <p:cNvGraphicFramePr/>
          <p:nvPr/>
        </p:nvGraphicFramePr>
        <p:xfrm>
          <a:off x="1016032" y="1947291"/>
          <a:ext cx="19642741" cy="8001000"/>
        </p:xfrm>
        <a:graphic>
          <a:graphicData uri="http://schemas.openxmlformats.org/drawingml/2006/table">
            <a:tbl>
              <a:tblPr/>
              <a:tblGrid>
                <a:gridCol w="200025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gridCol w="6762750">
                  <a:extLst>
                    <a:ext uri="{9D8B030D-6E8A-4147-A177-3AD203B41FA5}">
                      <a16:colId xmlns:a16="http://schemas.microsoft.com/office/drawing/2014/main" val="20002"/>
                    </a:ext>
                  </a:extLst>
                </a:gridCol>
                <a:gridCol w="7260241">
                  <a:extLst>
                    <a:ext uri="{9D8B030D-6E8A-4147-A177-3AD203B41FA5}">
                      <a16:colId xmlns:a16="http://schemas.microsoft.com/office/drawing/2014/main" val="20003"/>
                    </a:ext>
                  </a:extLst>
                </a:gridCol>
              </a:tblGrid>
              <a:tr h="1333500">
                <a:tc>
                  <a:txBody>
                    <a:bodyPr/>
                    <a:lstStyle/>
                    <a:p>
                      <a:r>
                        <a:rPr sz="2550" b="1">
                          <a:solidFill>
                            <a:srgbClr val="FFFFFF"/>
                          </a:solidFill>
                          <a:latin typeface="Times New Roman"/>
                          <a:ea typeface="Times New Roman"/>
                          <a:cs typeface="Times New Roman"/>
                        </a:rPr>
                        <a:t>Phân tầng</a:t>
                      </a:r>
                    </a:p>
                  </a:txBody>
                  <a:tcPr anchor="ctr">
                    <a:solidFill>
                      <a:srgbClr val="1565C0"/>
                    </a:solidFill>
                  </a:tcPr>
                </a:tc>
                <a:tc>
                  <a:txBody>
                    <a:bodyPr/>
                    <a:lstStyle/>
                    <a:p>
                      <a:r>
                        <a:rPr sz="2550" b="1">
                          <a:solidFill>
                            <a:srgbClr val="FFFFFF"/>
                          </a:solidFill>
                          <a:latin typeface="Times New Roman"/>
                          <a:ea typeface="Times New Roman"/>
                          <a:cs typeface="Times New Roman"/>
                        </a:rPr>
                        <a:t>Thành phần</a:t>
                      </a:r>
                    </a:p>
                  </a:txBody>
                  <a:tcPr anchor="ctr">
                    <a:solidFill>
                      <a:srgbClr val="1565C0"/>
                    </a:solidFill>
                  </a:tcPr>
                </a:tc>
                <a:tc>
                  <a:txBody>
                    <a:bodyPr/>
                    <a:lstStyle/>
                    <a:p>
                      <a:r>
                        <a:rPr sz="2550" b="1">
                          <a:solidFill>
                            <a:srgbClr val="FFFFFF"/>
                          </a:solidFill>
                          <a:latin typeface="Times New Roman"/>
                          <a:ea typeface="Times New Roman"/>
                          <a:cs typeface="Times New Roman"/>
                        </a:rPr>
                        <a:t>Làm gì?</a:t>
                      </a:r>
                    </a:p>
                  </a:txBody>
                  <a:tcPr anchor="ctr">
                    <a:solidFill>
                      <a:srgbClr val="1565C0"/>
                    </a:solidFill>
                  </a:tcPr>
                </a:tc>
                <a:tc>
                  <a:txBody>
                    <a:bodyPr/>
                    <a:lstStyle/>
                    <a:p>
                      <a:r>
                        <a:rPr sz="2550" b="1">
                          <a:solidFill>
                            <a:srgbClr val="FFFFFF"/>
                          </a:solidFill>
                          <a:latin typeface="Times New Roman"/>
                          <a:ea typeface="Times New Roman"/>
                          <a:cs typeface="Times New Roman"/>
                        </a:rPr>
                        <a:t>Giúp giải quyết gì?</a:t>
                      </a:r>
                    </a:p>
                  </a:txBody>
                  <a:tcPr anchor="ctr">
                    <a:solidFill>
                      <a:srgbClr val="1565C0"/>
                    </a:solidFill>
                  </a:tcPr>
                </a:tc>
                <a:extLst>
                  <a:ext uri="{0D108BD9-81ED-4DB2-BD59-A6C34878D82A}">
                    <a16:rowId xmlns:a16="http://schemas.microsoft.com/office/drawing/2014/main" val="10000"/>
                  </a:ext>
                </a:extLst>
              </a:tr>
              <a:tr h="1333500">
                <a:tc>
                  <a:txBody>
                    <a:bodyPr/>
                    <a:lstStyle/>
                    <a:p>
                      <a:r>
                        <a:rPr sz="2550" b="0">
                          <a:solidFill>
                            <a:srgbClr val="151515"/>
                          </a:solidFill>
                          <a:latin typeface="Times New Roman"/>
                          <a:ea typeface="Times New Roman"/>
                          <a:cs typeface="Times New Roman"/>
                        </a:rPr>
                        <a:t>Tầng 1</a:t>
                      </a:r>
                    </a:p>
                  </a:txBody>
                  <a:tcPr anchor="ctr">
                    <a:solidFill>
                      <a:srgbClr val="FFFFFF"/>
                    </a:solidFill>
                  </a:tcPr>
                </a:tc>
                <a:tc>
                  <a:txBody>
                    <a:bodyPr/>
                    <a:lstStyle/>
                    <a:p>
                      <a:r>
                        <a:rPr sz="2550" b="0">
                          <a:solidFill>
                            <a:srgbClr val="151515"/>
                          </a:solidFill>
                          <a:latin typeface="Times New Roman"/>
                          <a:ea typeface="Times New Roman"/>
                          <a:cs typeface="Times New Roman"/>
                        </a:rPr>
                        <a:t>PhoBERT</a:t>
                      </a:r>
                    </a:p>
                  </a:txBody>
                  <a:tcPr anchor="ctr">
                    <a:solidFill>
                      <a:srgbClr val="FFFFFF"/>
                    </a:solidFill>
                  </a:tcPr>
                </a:tc>
                <a:tc>
                  <a:txBody>
                    <a:bodyPr/>
                    <a:lstStyle/>
                    <a:p>
                      <a:r>
                        <a:rPr sz="2550" b="0">
                          <a:solidFill>
                            <a:srgbClr val="151515"/>
                          </a:solidFill>
                          <a:latin typeface="Times New Roman"/>
                          <a:ea typeface="Times New Roman"/>
                          <a:cs typeface="Times New Roman"/>
                        </a:rPr>
                        <a:t>Đọc từ trong ngữ cảnh.</a:t>
                      </a:r>
                    </a:p>
                    <a:p>
                      <a:r>
                        <a:rPr sz="2550" b="0">
                          <a:solidFill>
                            <a:srgbClr val="151515"/>
                          </a:solidFill>
                          <a:latin typeface="Times New Roman"/>
                          <a:ea typeface="Times New Roman"/>
                          <a:cs typeface="Times New Roman"/>
                        </a:rPr>
                        <a:t>Đổi thành vector 768 chiều.</a:t>
                      </a:r>
                    </a:p>
                  </a:txBody>
                  <a:tcPr anchor="ctr">
                    <a:solidFill>
                      <a:srgbClr val="FFFFFF"/>
                    </a:solidFill>
                  </a:tcPr>
                </a:tc>
                <a:tc>
                  <a:txBody>
                    <a:bodyPr/>
                    <a:lstStyle/>
                    <a:p>
                      <a:r>
                        <a:rPr sz="2550" b="0">
                          <a:solidFill>
                            <a:srgbClr val="151515"/>
                          </a:solidFill>
                          <a:latin typeface="Times New Roman"/>
                          <a:ea typeface="Times New Roman"/>
                          <a:cs typeface="Times New Roman"/>
                        </a:rPr>
                        <a:t>Phân biệt nghĩa của cùng một từ</a:t>
                      </a:r>
                    </a:p>
                    <a:p>
                      <a:r>
                        <a:rPr sz="2550" b="0">
                          <a:solidFill>
                            <a:srgbClr val="151515"/>
                          </a:solidFill>
                          <a:latin typeface="Times New Roman"/>
                          <a:ea typeface="Times New Roman"/>
                          <a:cs typeface="Times New Roman"/>
                        </a:rPr>
                        <a:t>tùy câu.</a:t>
                      </a:r>
                    </a:p>
                  </a:txBody>
                  <a:tcPr anchor="ctr">
                    <a:solidFill>
                      <a:srgbClr val="FFFFFF"/>
                    </a:solidFill>
                  </a:tcPr>
                </a:tc>
                <a:extLst>
                  <a:ext uri="{0D108BD9-81ED-4DB2-BD59-A6C34878D82A}">
                    <a16:rowId xmlns:a16="http://schemas.microsoft.com/office/drawing/2014/main" val="10001"/>
                  </a:ext>
                </a:extLst>
              </a:tr>
              <a:tr h="1333500">
                <a:tc>
                  <a:txBody>
                    <a:bodyPr/>
                    <a:lstStyle/>
                    <a:p>
                      <a:r>
                        <a:rPr sz="2550" b="0">
                          <a:solidFill>
                            <a:srgbClr val="151515"/>
                          </a:solidFill>
                          <a:latin typeface="Times New Roman"/>
                          <a:ea typeface="Times New Roman"/>
                          <a:cs typeface="Times New Roman"/>
                        </a:rPr>
                        <a:t>Tầng 2</a:t>
                      </a:r>
                    </a:p>
                    <a:p>
                      <a:r>
                        <a:rPr sz="2550" b="0">
                          <a:solidFill>
                            <a:srgbClr val="151515"/>
                          </a:solidFill>
                          <a:latin typeface="Times New Roman"/>
                          <a:ea typeface="Times New Roman"/>
                          <a:cs typeface="Times New Roman"/>
                        </a:rPr>
                        <a:t>Đầu 1</a:t>
                      </a:r>
                    </a:p>
                  </a:txBody>
                  <a:tcPr anchor="ctr">
                    <a:solidFill>
                      <a:srgbClr val="E3F2FD"/>
                    </a:solidFill>
                  </a:tcPr>
                </a:tc>
                <a:tc>
                  <a:txBody>
                    <a:bodyPr/>
                    <a:lstStyle/>
                    <a:p>
                      <a:r>
                        <a:rPr sz="2550" b="0">
                          <a:solidFill>
                            <a:srgbClr val="151515"/>
                          </a:solidFill>
                          <a:latin typeface="Times New Roman"/>
                          <a:ea typeface="Times New Roman"/>
                          <a:cs typeface="Times New Roman"/>
                        </a:rPr>
                        <a:t>BiLSTM</a:t>
                      </a:r>
                    </a:p>
                  </a:txBody>
                  <a:tcPr anchor="ctr">
                    <a:solidFill>
                      <a:srgbClr val="E3F2FD"/>
                    </a:solidFill>
                  </a:tcPr>
                </a:tc>
                <a:tc>
                  <a:txBody>
                    <a:bodyPr/>
                    <a:lstStyle/>
                    <a:p>
                      <a:r>
                        <a:rPr sz="2550" b="0">
                          <a:solidFill>
                            <a:srgbClr val="151515"/>
                          </a:solidFill>
                          <a:latin typeface="Times New Roman"/>
                          <a:ea typeface="Times New Roman"/>
                          <a:cs typeface="Times New Roman"/>
                        </a:rPr>
                        <a:t>Đọc chuỗi theo hai hướng.</a:t>
                      </a:r>
                    </a:p>
                    <a:p>
                      <a:r>
                        <a:rPr sz="2550" b="0">
                          <a:solidFill>
                            <a:srgbClr val="151515"/>
                          </a:solidFill>
                          <a:latin typeface="Times New Roman"/>
                          <a:ea typeface="Times New Roman"/>
                          <a:cs typeface="Times New Roman"/>
                        </a:rPr>
                        <a:t>Nối thông tin trước và sau.</a:t>
                      </a:r>
                    </a:p>
                  </a:txBody>
                  <a:tcPr anchor="ctr">
                    <a:solidFill>
                      <a:srgbClr val="E3F2FD"/>
                    </a:solidFill>
                  </a:tcPr>
                </a:tc>
                <a:tc>
                  <a:txBody>
                    <a:bodyPr/>
                    <a:lstStyle/>
                    <a:p>
                      <a:r>
                        <a:rPr sz="2550" b="0">
                          <a:solidFill>
                            <a:srgbClr val="151515"/>
                          </a:solidFill>
                          <a:latin typeface="Times New Roman"/>
                          <a:ea typeface="Times New Roman"/>
                          <a:cs typeface="Times New Roman"/>
                        </a:rPr>
                        <a:t>Hỗ trợ tìm các cụm</a:t>
                      </a:r>
                    </a:p>
                    <a:p>
                      <a:r>
                        <a:rPr sz="2550" b="0">
                          <a:solidFill>
                            <a:srgbClr val="151515"/>
                          </a:solidFill>
                          <a:latin typeface="Times New Roman"/>
                          <a:ea typeface="Times New Roman"/>
                          <a:cs typeface="Times New Roman"/>
                        </a:rPr>
                        <a:t>cách xa nhau.</a:t>
                      </a:r>
                    </a:p>
                  </a:txBody>
                  <a:tcPr anchor="ctr">
                    <a:solidFill>
                      <a:srgbClr val="E3F2FD"/>
                    </a:solidFill>
                  </a:tcPr>
                </a:tc>
                <a:extLst>
                  <a:ext uri="{0D108BD9-81ED-4DB2-BD59-A6C34878D82A}">
                    <a16:rowId xmlns:a16="http://schemas.microsoft.com/office/drawing/2014/main" val="10002"/>
                  </a:ext>
                </a:extLst>
              </a:tr>
              <a:tr h="1333500">
                <a:tc>
                  <a:txBody>
                    <a:bodyPr/>
                    <a:lstStyle/>
                    <a:p>
                      <a:r>
                        <a:rPr sz="2550" b="0">
                          <a:solidFill>
                            <a:srgbClr val="151515"/>
                          </a:solidFill>
                          <a:latin typeface="Times New Roman"/>
                          <a:ea typeface="Times New Roman"/>
                          <a:cs typeface="Times New Roman"/>
                        </a:rPr>
                        <a:t>Tầng 3</a:t>
                      </a:r>
                    </a:p>
                    <a:p>
                      <a:r>
                        <a:rPr sz="2550" b="0">
                          <a:solidFill>
                            <a:srgbClr val="151515"/>
                          </a:solidFill>
                          <a:latin typeface="Times New Roman"/>
                          <a:ea typeface="Times New Roman"/>
                          <a:cs typeface="Times New Roman"/>
                        </a:rPr>
                        <a:t>Đầu 1</a:t>
                      </a:r>
                    </a:p>
                  </a:txBody>
                  <a:tcPr anchor="ctr">
                    <a:solidFill>
                      <a:srgbClr val="FFFFFF"/>
                    </a:solidFill>
                  </a:tcPr>
                </a:tc>
                <a:tc>
                  <a:txBody>
                    <a:bodyPr/>
                    <a:lstStyle/>
                    <a:p>
                      <a:r>
                        <a:rPr sz="2550" b="0">
                          <a:solidFill>
                            <a:srgbClr val="151515"/>
                          </a:solidFill>
                          <a:latin typeface="Times New Roman"/>
                          <a:ea typeface="Times New Roman"/>
                          <a:cs typeface="Times New Roman"/>
                        </a:rPr>
                        <a:t>CRF</a:t>
                      </a:r>
                    </a:p>
                    <a:p>
                      <a:r>
                        <a:rPr sz="2550" b="0">
                          <a:solidFill>
                            <a:srgbClr val="151515"/>
                          </a:solidFill>
                          <a:latin typeface="Times New Roman"/>
                          <a:ea typeface="Times New Roman"/>
                          <a:cs typeface="Times New Roman"/>
                        </a:rPr>
                        <a:t>(sau Linear)</a:t>
                      </a:r>
                    </a:p>
                  </a:txBody>
                  <a:tcPr anchor="ctr">
                    <a:solidFill>
                      <a:srgbClr val="FFFFFF"/>
                    </a:solidFill>
                  </a:tcPr>
                </a:tc>
                <a:tc>
                  <a:txBody>
                    <a:bodyPr/>
                    <a:lstStyle/>
                    <a:p>
                      <a:r>
                        <a:rPr sz="2550" b="0">
                          <a:solidFill>
                            <a:srgbClr val="151515"/>
                          </a:solidFill>
                          <a:latin typeface="Times New Roman"/>
                          <a:ea typeface="Times New Roman"/>
                          <a:cs typeface="Times New Roman"/>
                        </a:rPr>
                        <a:t>Xét quan hệ giữa các nhãn.</a:t>
                      </a:r>
                    </a:p>
                    <a:p>
                      <a:r>
                        <a:rPr sz="2550" b="0">
                          <a:solidFill>
                            <a:srgbClr val="151515"/>
                          </a:solidFill>
                          <a:latin typeface="Times New Roman"/>
                          <a:ea typeface="Times New Roman"/>
                          <a:cs typeface="Times New Roman"/>
                        </a:rPr>
                        <a:t>Chọn chuỗi có điểm cao nhất.</a:t>
                      </a:r>
                    </a:p>
                  </a:txBody>
                  <a:tcPr anchor="ctr">
                    <a:solidFill>
                      <a:srgbClr val="FFFFFF"/>
                    </a:solidFill>
                  </a:tcPr>
                </a:tc>
                <a:tc>
                  <a:txBody>
                    <a:bodyPr/>
                    <a:lstStyle/>
                    <a:p>
                      <a:r>
                        <a:rPr sz="2550" b="0">
                          <a:solidFill>
                            <a:srgbClr val="151515"/>
                          </a:solidFill>
                          <a:latin typeface="Times New Roman"/>
                          <a:ea typeface="Times New Roman"/>
                          <a:cs typeface="Times New Roman"/>
                        </a:rPr>
                        <a:t>Giảm chuỗi nhãn thiếu hợp lý.</a:t>
                      </a:r>
                    </a:p>
                    <a:p>
                      <a:r>
                        <a:rPr sz="2550" b="0">
                          <a:solidFill>
                            <a:srgbClr val="151515"/>
                          </a:solidFill>
                          <a:latin typeface="Times New Roman"/>
                          <a:ea typeface="Times New Roman"/>
                          <a:cs typeface="Times New Roman"/>
                        </a:rPr>
                        <a:t>Không bảo đảm hết lỗi BIO.</a:t>
                      </a:r>
                    </a:p>
                  </a:txBody>
                  <a:tcPr anchor="ctr">
                    <a:solidFill>
                      <a:srgbClr val="FFFFFF"/>
                    </a:solidFill>
                  </a:tcPr>
                </a:tc>
                <a:extLst>
                  <a:ext uri="{0D108BD9-81ED-4DB2-BD59-A6C34878D82A}">
                    <a16:rowId xmlns:a16="http://schemas.microsoft.com/office/drawing/2014/main" val="10003"/>
                  </a:ext>
                </a:extLst>
              </a:tr>
              <a:tr h="1333500">
                <a:tc>
                  <a:txBody>
                    <a:bodyPr/>
                    <a:lstStyle/>
                    <a:p>
                      <a:r>
                        <a:rPr sz="2550" b="0">
                          <a:solidFill>
                            <a:srgbClr val="151515"/>
                          </a:solidFill>
                          <a:latin typeface="Times New Roman"/>
                          <a:ea typeface="Times New Roman"/>
                          <a:cs typeface="Times New Roman"/>
                        </a:rPr>
                        <a:t>Đầu 2</a:t>
                      </a:r>
                    </a:p>
                  </a:txBody>
                  <a:tcPr anchor="ctr">
                    <a:solidFill>
                      <a:srgbClr val="E3F2FD"/>
                    </a:solidFill>
                  </a:tcPr>
                </a:tc>
                <a:tc>
                  <a:txBody>
                    <a:bodyPr/>
                    <a:lstStyle/>
                    <a:p>
                      <a:r>
                        <a:rPr sz="2550" b="0">
                          <a:solidFill>
                            <a:srgbClr val="151515"/>
                          </a:solidFill>
                          <a:latin typeface="Times New Roman"/>
                          <a:ea typeface="Times New Roman"/>
                          <a:cs typeface="Times New Roman"/>
                        </a:rPr>
                        <a:t>Intent Head</a:t>
                      </a:r>
                    </a:p>
                  </a:txBody>
                  <a:tcPr anchor="ctr">
                    <a:solidFill>
                      <a:srgbClr val="E3F2FD"/>
                    </a:solidFill>
                  </a:tcPr>
                </a:tc>
                <a:tc>
                  <a:txBody>
                    <a:bodyPr/>
                    <a:lstStyle/>
                    <a:p>
                      <a:r>
                        <a:rPr sz="2550" b="0">
                          <a:solidFill>
                            <a:srgbClr val="151515"/>
                          </a:solidFill>
                          <a:latin typeface="Times New Roman"/>
                          <a:ea typeface="Times New Roman"/>
                          <a:cs typeface="Times New Roman"/>
                        </a:rPr>
                        <a:t>Kiểm tra cả câu có chứa</a:t>
                      </a:r>
                    </a:p>
                    <a:p>
                      <a:r>
                        <a:rPr sz="2550" b="0">
                          <a:solidFill>
                            <a:srgbClr val="151515"/>
                          </a:solidFill>
                          <a:latin typeface="Times New Roman"/>
                          <a:ea typeface="Times New Roman"/>
                          <a:cs typeface="Times New Roman"/>
                        </a:rPr>
                        <a:t>cụm xúc phạm hay không.</a:t>
                      </a:r>
                    </a:p>
                  </a:txBody>
                  <a:tcPr anchor="ctr">
                    <a:solidFill>
                      <a:srgbClr val="E3F2FD"/>
                    </a:solidFill>
                  </a:tcPr>
                </a:tc>
                <a:tc>
                  <a:txBody>
                    <a:bodyPr/>
                    <a:lstStyle/>
                    <a:p>
                      <a:r>
                        <a:rPr sz="2550" b="0">
                          <a:solidFill>
                            <a:srgbClr val="151515"/>
                          </a:solidFill>
                          <a:latin typeface="Times New Roman"/>
                          <a:ea typeface="Times New Roman"/>
                          <a:cs typeface="Times New Roman"/>
                        </a:rPr>
                        <a:t>Hỗ trợ tránh đánh dấu nhầm</a:t>
                      </a:r>
                    </a:p>
                    <a:p>
                      <a:r>
                        <a:rPr sz="2550" b="0">
                          <a:solidFill>
                            <a:srgbClr val="151515"/>
                          </a:solidFill>
                          <a:latin typeface="Times New Roman"/>
                          <a:ea typeface="Times New Roman"/>
                          <a:cs typeface="Times New Roman"/>
                        </a:rPr>
                        <a:t>chỉ vì gặp từ nhạy cảm.</a:t>
                      </a:r>
                    </a:p>
                  </a:txBody>
                  <a:tcPr anchor="ctr">
                    <a:solidFill>
                      <a:srgbClr val="E3F2FD"/>
                    </a:solidFill>
                  </a:tcPr>
                </a:tc>
                <a:extLst>
                  <a:ext uri="{0D108BD9-81ED-4DB2-BD59-A6C34878D82A}">
                    <a16:rowId xmlns:a16="http://schemas.microsoft.com/office/drawing/2014/main" val="10004"/>
                  </a:ext>
                </a:extLst>
              </a:tr>
              <a:tr h="1333500">
                <a:tc>
                  <a:txBody>
                    <a:bodyPr/>
                    <a:lstStyle/>
                    <a:p>
                      <a:r>
                        <a:rPr sz="2550" b="0">
                          <a:solidFill>
                            <a:srgbClr val="151515"/>
                          </a:solidFill>
                          <a:latin typeface="Times New Roman"/>
                          <a:ea typeface="Times New Roman"/>
                          <a:cs typeface="Times New Roman"/>
                        </a:rPr>
                        <a:t>Cổng</a:t>
                      </a:r>
                    </a:p>
                    <a:p>
                      <a:r>
                        <a:rPr sz="2550" b="0">
                          <a:solidFill>
                            <a:srgbClr val="151515"/>
                          </a:solidFill>
                          <a:latin typeface="Times New Roman"/>
                          <a:ea typeface="Times New Roman"/>
                          <a:cs typeface="Times New Roman"/>
                        </a:rPr>
                        <a:t>kết hợp</a:t>
                      </a:r>
                    </a:p>
                  </a:txBody>
                  <a:tcPr anchor="ctr">
                    <a:solidFill>
                      <a:srgbClr val="FFFFFF"/>
                    </a:solidFill>
                  </a:tcPr>
                </a:tc>
                <a:tc>
                  <a:txBody>
                    <a:bodyPr/>
                    <a:lstStyle/>
                    <a:p>
                      <a:r>
                        <a:rPr sz="2550" b="0">
                          <a:solidFill>
                            <a:srgbClr val="151515"/>
                          </a:solidFill>
                          <a:latin typeface="Times New Roman"/>
                          <a:ea typeface="Times New Roman"/>
                          <a:cs typeface="Times New Roman"/>
                        </a:rPr>
                        <a:t>Gated Intent</a:t>
                      </a:r>
                    </a:p>
                    <a:p>
                      <a:r>
                        <a:rPr sz="2550" b="0">
                          <a:solidFill>
                            <a:srgbClr val="151515"/>
                          </a:solidFill>
                          <a:latin typeface="Times New Roman"/>
                          <a:ea typeface="Times New Roman"/>
                          <a:cs typeface="Times New Roman"/>
                        </a:rPr>
                        <a:t>Fusion</a:t>
                      </a:r>
                    </a:p>
                  </a:txBody>
                  <a:tcPr anchor="ctr">
                    <a:solidFill>
                      <a:srgbClr val="FFFFFF"/>
                    </a:solidFill>
                  </a:tcPr>
                </a:tc>
                <a:tc>
                  <a:txBody>
                    <a:bodyPr/>
                    <a:lstStyle/>
                    <a:p>
                      <a:r>
                        <a:rPr sz="2550" b="0">
                          <a:solidFill>
                            <a:srgbClr val="151515"/>
                          </a:solidFill>
                          <a:latin typeface="Times New Roman"/>
                          <a:ea typeface="Times New Roman"/>
                          <a:cs typeface="Times New Roman"/>
                        </a:rPr>
                        <a:t>P &lt; 0,5: đổi nhãn về O.</a:t>
                      </a:r>
                    </a:p>
                    <a:p>
                      <a:r>
                        <a:rPr sz="2550" b="0">
                          <a:solidFill>
                            <a:srgbClr val="151515"/>
                          </a:solidFill>
                          <a:latin typeface="Times New Roman"/>
                          <a:ea typeface="Times New Roman"/>
                          <a:cs typeface="Times New Roman"/>
                        </a:rPr>
                        <a:t>P ≥ 0,5: giữ nhãn tìm được.</a:t>
                      </a:r>
                    </a:p>
                  </a:txBody>
                  <a:tcPr anchor="ctr">
                    <a:solidFill>
                      <a:srgbClr val="FFFFFF"/>
                    </a:solidFill>
                  </a:tcPr>
                </a:tc>
                <a:tc>
                  <a:txBody>
                    <a:bodyPr/>
                    <a:lstStyle/>
                    <a:p>
                      <a:r>
                        <a:rPr sz="2550" b="0">
                          <a:solidFill>
                            <a:srgbClr val="151515"/>
                          </a:solidFill>
                          <a:latin typeface="Times New Roman"/>
                          <a:ea typeface="Times New Roman"/>
                          <a:cs typeface="Times New Roman"/>
                        </a:rPr>
                        <a:t>Lọc cụm nghi bị đánh dấu nhầm.</a:t>
                      </a:r>
                    </a:p>
                    <a:p>
                      <a:r>
                        <a:rPr sz="2550" b="0">
                          <a:solidFill>
                            <a:srgbClr val="151515"/>
                          </a:solidFill>
                          <a:latin typeface="Times New Roman"/>
                          <a:ea typeface="Times New Roman"/>
                          <a:cs typeface="Times New Roman"/>
                        </a:rPr>
                        <a:t>Có thể bỏ sót nếu đầu 2 đoán sai.</a:t>
                      </a:r>
                    </a:p>
                  </a:txBody>
                  <a:tcPr anchor="ct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3702307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C7555CB3-3E49-4EE0-8B0A-575E2FD52BEE}"/>
              </a:ext>
            </a:extLst>
          </p:cNvPr>
          <p:cNvSpPr>
            <a:spLocks noGrp="1"/>
          </p:cNvSpPr>
          <p:nvPr/>
        </p:nvSpPr>
        <p:spPr>
          <a:xfrm>
            <a:off x="0" y="0"/>
            <a:ext cx="21674709" cy="677291"/>
          </a:xfrm>
          <a:prstGeom prst="rect">
            <a:avLst/>
          </a:prstGeom>
          <a:solidFill>
            <a:srgbClr val="1565C0"/>
          </a:solidFill>
        </p:spPr>
      </p:sp>
      <p:sp>
        <p:nvSpPr>
          <p:cNvPr id="3" name="Shape 1">
            <a:extLst>
              <a:ext uri="{FF2B5EF4-FFF2-40B4-BE49-F238E27FC236}">
                <a16:creationId xmlns:a16="http://schemas.microsoft.com/office/drawing/2014/main" id="{9F645BE8-41E6-479D-BA44-5832D7E67A74}"/>
              </a:ext>
            </a:extLst>
          </p:cNvPr>
          <p:cNvSpPr>
            <a:spLocks noGrp="1"/>
          </p:cNvSpPr>
          <p:nvPr/>
        </p:nvSpPr>
        <p:spPr>
          <a:xfrm>
            <a:off x="3725227" y="84709"/>
            <a:ext cx="3386709" cy="508000"/>
          </a:xfrm>
          <a:prstGeom prst="roundRect">
            <a:avLst>
              <a:gd name="adj" fmla="val 8000"/>
            </a:avLst>
          </a:prstGeom>
          <a:solidFill>
            <a:srgbClr val="FFFFFF">
              <a:alpha val="3576"/>
            </a:srgbClr>
          </a:solidFill>
        </p:spPr>
      </p:sp>
      <p:sp>
        <p:nvSpPr>
          <p:cNvPr id="4" name="Shape 2">
            <a:extLst>
              <a:ext uri="{FF2B5EF4-FFF2-40B4-BE49-F238E27FC236}">
                <a16:creationId xmlns:a16="http://schemas.microsoft.com/office/drawing/2014/main" id="{2E3618FA-6D56-41B9-A8E0-7856F1724C26}"/>
              </a:ext>
            </a:extLst>
          </p:cNvPr>
          <p:cNvSpPr>
            <a:spLocks noGrp="1"/>
          </p:cNvSpPr>
          <p:nvPr/>
        </p:nvSpPr>
        <p:spPr>
          <a:xfrm>
            <a:off x="169291" y="0"/>
            <a:ext cx="3386709" cy="677291"/>
          </a:xfrm>
          <a:prstGeom prst="rect">
            <a:avLst/>
          </a:prstGeom>
          <a:solidFill>
            <a:srgbClr val="FFFFFF">
              <a:alpha val="0"/>
            </a:srgbClr>
          </a:solidFill>
        </p:spPr>
      </p:sp>
      <p:sp>
        <p:nvSpPr>
          <p:cNvPr id="5" name="Text 3">
            <a:extLst>
              <a:ext uri="{FF2B5EF4-FFF2-40B4-BE49-F238E27FC236}">
                <a16:creationId xmlns:a16="http://schemas.microsoft.com/office/drawing/2014/main" id="{4AD7AC22-316E-48CA-AA55-367E08BE2B3E}"/>
              </a:ext>
            </a:extLst>
          </p:cNvPr>
          <p:cNvSpPr>
            <a:spLocks noGrp="1"/>
          </p:cNvSpPr>
          <p:nvPr/>
        </p:nvSpPr>
        <p:spPr>
          <a:xfrm>
            <a:off x="47339"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1. Bài toán và dữ liệu</a:t>
            </a:r>
            <a:endParaRPr sz="1600">
              <a:latin typeface="Times New Roman"/>
              <a:ea typeface="Times New Roman"/>
              <a:cs typeface="Times New Roman"/>
            </a:endParaRPr>
          </a:p>
        </p:txBody>
      </p:sp>
      <p:sp>
        <p:nvSpPr>
          <p:cNvPr id="6" name="Shape 4">
            <a:extLst>
              <a:ext uri="{FF2B5EF4-FFF2-40B4-BE49-F238E27FC236}">
                <a16:creationId xmlns:a16="http://schemas.microsoft.com/office/drawing/2014/main" id="{14BA2610-1115-4CA6-BD1B-FF51A4B263BD}"/>
              </a:ext>
            </a:extLst>
          </p:cNvPr>
          <p:cNvSpPr>
            <a:spLocks noGrp="1"/>
          </p:cNvSpPr>
          <p:nvPr/>
        </p:nvSpPr>
        <p:spPr>
          <a:xfrm>
            <a:off x="3725291" y="0"/>
            <a:ext cx="3386709" cy="677291"/>
          </a:xfrm>
          <a:prstGeom prst="rect">
            <a:avLst/>
          </a:prstGeom>
          <a:solidFill>
            <a:srgbClr val="FFFFFF">
              <a:alpha val="0"/>
            </a:srgbClr>
          </a:solidFill>
        </p:spPr>
      </p:sp>
      <p:sp>
        <p:nvSpPr>
          <p:cNvPr id="7" name="Text 5">
            <a:extLst>
              <a:ext uri="{FF2B5EF4-FFF2-40B4-BE49-F238E27FC236}">
                <a16:creationId xmlns:a16="http://schemas.microsoft.com/office/drawing/2014/main" id="{923286B5-DEBE-444F-B17B-4C548851D401}"/>
              </a:ext>
            </a:extLst>
          </p:cNvPr>
          <p:cNvSpPr>
            <a:spLocks noGrp="1"/>
          </p:cNvSpPr>
          <p:nvPr/>
        </p:nvSpPr>
        <p:spPr>
          <a:xfrm>
            <a:off x="3603403" y="0"/>
            <a:ext cx="3630549" cy="676275"/>
          </a:xfrm>
          <a:prstGeom prst="rect">
            <a:avLst/>
          </a:prstGeom>
          <a:noFill/>
        </p:spPr>
        <p:txBody>
          <a:bodyPr wrap="none" lIns="0" tIns="0" rIns="0" bIns="0" anchor="ctr">
            <a:noAutofit/>
          </a:bodyPr>
          <a:lstStyle/>
          <a:p>
            <a:pPr algn="ctr">
              <a:lnSpc>
                <a:spcPct val="100000"/>
              </a:lnSpc>
              <a:buNone/>
              <a:defRPr sz="1875" b="1">
                <a:solidFill>
                  <a:srgbClr val="FFFFFF"/>
                </a:solidFill>
                <a:latin typeface="Times New Roman"/>
                <a:ea typeface="Times New Roman"/>
                <a:cs typeface="Times New Roman"/>
              </a:defRPr>
            </a:pPr>
            <a:r>
              <a:rPr sz="1875" b="1">
                <a:solidFill>
                  <a:srgbClr val="FFFFFF"/>
                </a:solidFill>
                <a:latin typeface="Times New Roman"/>
                <a:ea typeface="Times New Roman"/>
                <a:cs typeface="Times New Roman"/>
              </a:rPr>
              <a:t>2. Mô hình và dual head</a:t>
            </a:r>
            <a:endParaRPr sz="1600">
              <a:latin typeface="Times New Roman"/>
              <a:ea typeface="Times New Roman"/>
              <a:cs typeface="Times New Roman"/>
            </a:endParaRPr>
          </a:p>
        </p:txBody>
      </p:sp>
      <p:sp>
        <p:nvSpPr>
          <p:cNvPr id="8" name="Shape 6">
            <a:extLst>
              <a:ext uri="{FF2B5EF4-FFF2-40B4-BE49-F238E27FC236}">
                <a16:creationId xmlns:a16="http://schemas.microsoft.com/office/drawing/2014/main" id="{F94C6CC1-9F2D-4486-92BD-054AEC702F00}"/>
              </a:ext>
            </a:extLst>
          </p:cNvPr>
          <p:cNvSpPr>
            <a:spLocks noGrp="1"/>
          </p:cNvSpPr>
          <p:nvPr/>
        </p:nvSpPr>
        <p:spPr>
          <a:xfrm>
            <a:off x="7281291" y="0"/>
            <a:ext cx="3386709" cy="677291"/>
          </a:xfrm>
          <a:prstGeom prst="rect">
            <a:avLst/>
          </a:prstGeom>
          <a:solidFill>
            <a:srgbClr val="FFFFFF">
              <a:alpha val="0"/>
            </a:srgbClr>
          </a:solidFill>
        </p:spPr>
      </p:sp>
      <p:sp>
        <p:nvSpPr>
          <p:cNvPr id="9" name="Text 7">
            <a:extLst>
              <a:ext uri="{FF2B5EF4-FFF2-40B4-BE49-F238E27FC236}">
                <a16:creationId xmlns:a16="http://schemas.microsoft.com/office/drawing/2014/main" id="{847E876E-2426-4632-9533-FCC92C295F17}"/>
              </a:ext>
            </a:extLst>
          </p:cNvPr>
          <p:cNvSpPr>
            <a:spLocks noGrp="1"/>
          </p:cNvSpPr>
          <p:nvPr/>
        </p:nvSpPr>
        <p:spPr>
          <a:xfrm>
            <a:off x="7159371"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3. Kết quả</a:t>
            </a:r>
            <a:endParaRPr sz="1600">
              <a:latin typeface="Times New Roman"/>
              <a:ea typeface="Times New Roman"/>
              <a:cs typeface="Times New Roman"/>
            </a:endParaRPr>
          </a:p>
        </p:txBody>
      </p:sp>
      <p:sp>
        <p:nvSpPr>
          <p:cNvPr id="10" name="Shape 8">
            <a:extLst>
              <a:ext uri="{FF2B5EF4-FFF2-40B4-BE49-F238E27FC236}">
                <a16:creationId xmlns:a16="http://schemas.microsoft.com/office/drawing/2014/main" id="{13E04589-C647-43DE-8FF2-A88D0F6A49AD}"/>
              </a:ext>
            </a:extLst>
          </p:cNvPr>
          <p:cNvSpPr>
            <a:spLocks noGrp="1"/>
          </p:cNvSpPr>
          <p:nvPr/>
        </p:nvSpPr>
        <p:spPr>
          <a:xfrm>
            <a:off x="10837291" y="0"/>
            <a:ext cx="3386709" cy="677291"/>
          </a:xfrm>
          <a:prstGeom prst="rect">
            <a:avLst/>
          </a:prstGeom>
          <a:solidFill>
            <a:srgbClr val="FFFFFF">
              <a:alpha val="0"/>
            </a:srgbClr>
          </a:solidFill>
        </p:spPr>
      </p:sp>
      <p:sp>
        <p:nvSpPr>
          <p:cNvPr id="11" name="Text 9">
            <a:extLst>
              <a:ext uri="{FF2B5EF4-FFF2-40B4-BE49-F238E27FC236}">
                <a16:creationId xmlns:a16="http://schemas.microsoft.com/office/drawing/2014/main" id="{FF0D4B7A-58B4-49B2-B494-0B1091E62AC5}"/>
              </a:ext>
            </a:extLst>
          </p:cNvPr>
          <p:cNvSpPr>
            <a:spLocks noGrp="1"/>
          </p:cNvSpPr>
          <p:nvPr/>
        </p:nvSpPr>
        <p:spPr>
          <a:xfrm>
            <a:off x="10715339"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4. Phân tích lỗi</a:t>
            </a:r>
            <a:endParaRPr sz="1600">
              <a:latin typeface="Times New Roman"/>
              <a:ea typeface="Times New Roman"/>
              <a:cs typeface="Times New Roman"/>
            </a:endParaRPr>
          </a:p>
        </p:txBody>
      </p:sp>
      <p:sp>
        <p:nvSpPr>
          <p:cNvPr id="12" name="Shape 10">
            <a:extLst>
              <a:ext uri="{FF2B5EF4-FFF2-40B4-BE49-F238E27FC236}">
                <a16:creationId xmlns:a16="http://schemas.microsoft.com/office/drawing/2014/main" id="{5FF6001E-A006-4E1C-81C8-FA91EDE6E4D1}"/>
              </a:ext>
            </a:extLst>
          </p:cNvPr>
          <p:cNvSpPr>
            <a:spLocks noGrp="1"/>
          </p:cNvSpPr>
          <p:nvPr/>
        </p:nvSpPr>
        <p:spPr>
          <a:xfrm>
            <a:off x="14393291" y="0"/>
            <a:ext cx="3386709" cy="677291"/>
          </a:xfrm>
          <a:prstGeom prst="rect">
            <a:avLst/>
          </a:prstGeom>
          <a:solidFill>
            <a:srgbClr val="FFFFFF">
              <a:alpha val="0"/>
            </a:srgbClr>
          </a:solidFill>
        </p:spPr>
      </p:sp>
      <p:sp>
        <p:nvSpPr>
          <p:cNvPr id="13" name="Text 11">
            <a:extLst>
              <a:ext uri="{FF2B5EF4-FFF2-40B4-BE49-F238E27FC236}">
                <a16:creationId xmlns:a16="http://schemas.microsoft.com/office/drawing/2014/main" id="{DAA9B598-B39D-4C0E-BAD1-1B0EF639D0AF}"/>
              </a:ext>
            </a:extLst>
          </p:cNvPr>
          <p:cNvSpPr>
            <a:spLocks noGrp="1"/>
          </p:cNvSpPr>
          <p:nvPr/>
        </p:nvSpPr>
        <p:spPr>
          <a:xfrm>
            <a:off x="14271403"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5. Ứng dụng</a:t>
            </a:r>
            <a:endParaRPr sz="1600">
              <a:latin typeface="Times New Roman"/>
              <a:ea typeface="Times New Roman"/>
              <a:cs typeface="Times New Roman"/>
            </a:endParaRPr>
          </a:p>
        </p:txBody>
      </p:sp>
      <p:sp>
        <p:nvSpPr>
          <p:cNvPr id="14" name="Shape 12">
            <a:extLst>
              <a:ext uri="{FF2B5EF4-FFF2-40B4-BE49-F238E27FC236}">
                <a16:creationId xmlns:a16="http://schemas.microsoft.com/office/drawing/2014/main" id="{84EF626A-F04D-4DBE-8315-0481A62E4A27}"/>
              </a:ext>
            </a:extLst>
          </p:cNvPr>
          <p:cNvSpPr>
            <a:spLocks noGrp="1"/>
          </p:cNvSpPr>
          <p:nvPr/>
        </p:nvSpPr>
        <p:spPr>
          <a:xfrm>
            <a:off x="17949291" y="0"/>
            <a:ext cx="3386709" cy="677291"/>
          </a:xfrm>
          <a:prstGeom prst="rect">
            <a:avLst/>
          </a:prstGeom>
          <a:solidFill>
            <a:srgbClr val="FFFFFF">
              <a:alpha val="0"/>
            </a:srgbClr>
          </a:solidFill>
        </p:spPr>
      </p:sp>
      <p:sp>
        <p:nvSpPr>
          <p:cNvPr id="15" name="Text 13">
            <a:extLst>
              <a:ext uri="{FF2B5EF4-FFF2-40B4-BE49-F238E27FC236}">
                <a16:creationId xmlns:a16="http://schemas.microsoft.com/office/drawing/2014/main" id="{EABFF60E-09E0-4F5A-A0C1-C7A6C0FBB7FA}"/>
              </a:ext>
            </a:extLst>
          </p:cNvPr>
          <p:cNvSpPr>
            <a:spLocks noGrp="1"/>
          </p:cNvSpPr>
          <p:nvPr/>
        </p:nvSpPr>
        <p:spPr>
          <a:xfrm>
            <a:off x="17827371"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6. Cải thiện</a:t>
            </a:r>
            <a:endParaRPr sz="1600">
              <a:latin typeface="Times New Roman"/>
              <a:ea typeface="Times New Roman"/>
              <a:cs typeface="Times New Roman"/>
            </a:endParaRPr>
          </a:p>
        </p:txBody>
      </p:sp>
      <p:sp>
        <p:nvSpPr>
          <p:cNvPr id="16" name="Shape 14">
            <a:extLst>
              <a:ext uri="{FF2B5EF4-FFF2-40B4-BE49-F238E27FC236}">
                <a16:creationId xmlns:a16="http://schemas.microsoft.com/office/drawing/2014/main" id="{CC4913BA-3DDD-481C-9E01-35A47574D0BE}"/>
              </a:ext>
            </a:extLst>
          </p:cNvPr>
          <p:cNvSpPr>
            <a:spLocks noGrp="1"/>
          </p:cNvSpPr>
          <p:nvPr/>
        </p:nvSpPr>
        <p:spPr>
          <a:xfrm>
            <a:off x="1016000" y="931291"/>
            <a:ext cx="16933291" cy="643509"/>
          </a:xfrm>
          <a:prstGeom prst="rect">
            <a:avLst/>
          </a:prstGeom>
          <a:solidFill>
            <a:srgbClr val="FFFFFF">
              <a:alpha val="0"/>
            </a:srgbClr>
          </a:solidFill>
        </p:spPr>
      </p:sp>
      <p:sp>
        <p:nvSpPr>
          <p:cNvPr id="17" name="Text 15">
            <a:extLst>
              <a:ext uri="{FF2B5EF4-FFF2-40B4-BE49-F238E27FC236}">
                <a16:creationId xmlns:a16="http://schemas.microsoft.com/office/drawing/2014/main" id="{C9DD04B0-49FD-4B53-ACF1-44CA3C16174B}"/>
              </a:ext>
            </a:extLst>
          </p:cNvPr>
          <p:cNvSpPr>
            <a:spLocks noGrp="1"/>
          </p:cNvSpPr>
          <p:nvPr/>
        </p:nvSpPr>
        <p:spPr>
          <a:xfrm>
            <a:off x="894080" y="870331"/>
            <a:ext cx="17177131" cy="765429"/>
          </a:xfrm>
          <a:prstGeom prst="rect">
            <a:avLst/>
          </a:prstGeom>
          <a:noFill/>
        </p:spPr>
        <p:txBody>
          <a:bodyPr wrap="none" lIns="0" tIns="0" rIns="0" bIns="0" anchor="ctr">
            <a:noAutofit/>
          </a:bodyPr>
          <a:lstStyle/>
          <a:p>
            <a:pPr>
              <a:lnSpc>
                <a:spcPct val="100000"/>
              </a:lnSpc>
              <a:buNone/>
              <a:defRPr sz="3900" b="1">
                <a:solidFill>
                  <a:srgbClr val="1565C0"/>
                </a:solidFill>
                <a:latin typeface="Times New Roman"/>
                <a:ea typeface="Times New Roman"/>
                <a:cs typeface="Times New Roman"/>
              </a:defRPr>
            </a:pPr>
            <a:r>
              <a:rPr sz="3900" b="1">
                <a:solidFill>
                  <a:srgbClr val="1565C0"/>
                </a:solidFill>
                <a:latin typeface="Times New Roman"/>
                <a:ea typeface="Times New Roman"/>
                <a:cs typeface="Times New Roman"/>
              </a:rPr>
              <a:t>Dual head: tìm cụm và kiểm tra cả câu</a:t>
            </a:r>
            <a:endParaRPr sz="1600">
              <a:latin typeface="Times New Roman"/>
              <a:ea typeface="Times New Roman"/>
              <a:cs typeface="Times New Roman"/>
            </a:endParaRPr>
          </a:p>
        </p:txBody>
      </p:sp>
      <p:sp>
        <p:nvSpPr>
          <p:cNvPr id="18" name="Shape 16">
            <a:extLst>
              <a:ext uri="{FF2B5EF4-FFF2-40B4-BE49-F238E27FC236}">
                <a16:creationId xmlns:a16="http://schemas.microsoft.com/office/drawing/2014/main" id="{B76ECA16-B719-4728-A333-5119E70FC585}"/>
              </a:ext>
            </a:extLst>
          </p:cNvPr>
          <p:cNvSpPr>
            <a:spLocks noGrp="1"/>
          </p:cNvSpPr>
          <p:nvPr/>
        </p:nvSpPr>
        <p:spPr>
          <a:xfrm>
            <a:off x="1016000" y="1625600"/>
            <a:ext cx="19642709" cy="50800"/>
          </a:xfrm>
          <a:prstGeom prst="rect">
            <a:avLst/>
          </a:prstGeom>
          <a:solidFill>
            <a:srgbClr val="1565C0"/>
          </a:solidFill>
        </p:spPr>
      </p:sp>
      <p:sp>
        <p:nvSpPr>
          <p:cNvPr id="19" name="Shape 17">
            <a:extLst>
              <a:ext uri="{FF2B5EF4-FFF2-40B4-BE49-F238E27FC236}">
                <a16:creationId xmlns:a16="http://schemas.microsoft.com/office/drawing/2014/main" id="{31288B66-0BC2-4C81-8087-8AE4C8BCE6B9}"/>
              </a:ext>
            </a:extLst>
          </p:cNvPr>
          <p:cNvSpPr>
            <a:spLocks noGrp="1"/>
          </p:cNvSpPr>
          <p:nvPr/>
        </p:nvSpPr>
        <p:spPr>
          <a:xfrm>
            <a:off x="1016000" y="1947291"/>
            <a:ext cx="9482709" cy="508000"/>
          </a:xfrm>
          <a:prstGeom prst="rect">
            <a:avLst/>
          </a:prstGeom>
          <a:solidFill>
            <a:srgbClr val="FFFFFF">
              <a:alpha val="0"/>
            </a:srgbClr>
          </a:solidFill>
        </p:spPr>
      </p:sp>
      <p:sp>
        <p:nvSpPr>
          <p:cNvPr id="20" name="Text 18">
            <a:extLst>
              <a:ext uri="{FF2B5EF4-FFF2-40B4-BE49-F238E27FC236}">
                <a16:creationId xmlns:a16="http://schemas.microsoft.com/office/drawing/2014/main" id="{26D670CE-E378-4855-BB38-BCE220AB2A40}"/>
              </a:ext>
            </a:extLst>
          </p:cNvPr>
          <p:cNvSpPr>
            <a:spLocks noGrp="1"/>
          </p:cNvSpPr>
          <p:nvPr/>
        </p:nvSpPr>
        <p:spPr>
          <a:xfrm>
            <a:off x="894080" y="1886331"/>
            <a:ext cx="9726549" cy="629920"/>
          </a:xfrm>
          <a:prstGeom prst="rect">
            <a:avLst/>
          </a:prstGeom>
          <a:noFill/>
        </p:spPr>
        <p:txBody>
          <a:bodyPr wrap="none" lIns="0" tIns="0" rIns="0" bIns="0" anchor="ctr">
            <a:noAutofit/>
          </a:bodyPr>
          <a:lstStyle/>
          <a:p>
            <a:pPr>
              <a:lnSpc>
                <a:spcPct val="100000"/>
              </a:lnSpc>
              <a:buNone/>
              <a:defRPr sz="3150" b="1">
                <a:solidFill>
                  <a:srgbClr val="1565C0"/>
                </a:solidFill>
                <a:latin typeface="Times New Roman"/>
                <a:ea typeface="Times New Roman"/>
                <a:cs typeface="Times New Roman"/>
              </a:defRPr>
            </a:pPr>
            <a:r>
              <a:rPr sz="3150" b="1">
                <a:solidFill>
                  <a:srgbClr val="1565C0"/>
                </a:solidFill>
                <a:latin typeface="Times New Roman"/>
                <a:ea typeface="Times New Roman"/>
                <a:cs typeface="Times New Roman"/>
              </a:rPr>
              <a:t>Đầu 1: Tìm cụm xúc phạm</a:t>
            </a:r>
            <a:endParaRPr sz="1600">
              <a:latin typeface="Times New Roman"/>
              <a:ea typeface="Times New Roman"/>
              <a:cs typeface="Times New Roman"/>
            </a:endParaRPr>
          </a:p>
        </p:txBody>
      </p:sp>
      <p:sp>
        <p:nvSpPr>
          <p:cNvPr id="21" name="Shape 19">
            <a:extLst>
              <a:ext uri="{FF2B5EF4-FFF2-40B4-BE49-F238E27FC236}">
                <a16:creationId xmlns:a16="http://schemas.microsoft.com/office/drawing/2014/main" id="{8C624ECF-007C-499F-9F46-FDEEBAA96BBD}"/>
              </a:ext>
            </a:extLst>
          </p:cNvPr>
          <p:cNvSpPr>
            <a:spLocks noGrp="1"/>
          </p:cNvSpPr>
          <p:nvPr/>
        </p:nvSpPr>
        <p:spPr>
          <a:xfrm>
            <a:off x="11176000" y="1947291"/>
            <a:ext cx="9482709" cy="508000"/>
          </a:xfrm>
          <a:prstGeom prst="rect">
            <a:avLst/>
          </a:prstGeom>
          <a:solidFill>
            <a:srgbClr val="FFFFFF">
              <a:alpha val="0"/>
            </a:srgbClr>
          </a:solidFill>
        </p:spPr>
      </p:sp>
      <p:sp>
        <p:nvSpPr>
          <p:cNvPr id="22" name="Text 20">
            <a:extLst>
              <a:ext uri="{FF2B5EF4-FFF2-40B4-BE49-F238E27FC236}">
                <a16:creationId xmlns:a16="http://schemas.microsoft.com/office/drawing/2014/main" id="{DA1D75E7-5F73-48DF-8D73-E668483BCD60}"/>
              </a:ext>
            </a:extLst>
          </p:cNvPr>
          <p:cNvSpPr>
            <a:spLocks noGrp="1"/>
          </p:cNvSpPr>
          <p:nvPr/>
        </p:nvSpPr>
        <p:spPr>
          <a:xfrm>
            <a:off x="11054080" y="1886331"/>
            <a:ext cx="9726549" cy="629920"/>
          </a:xfrm>
          <a:prstGeom prst="rect">
            <a:avLst/>
          </a:prstGeom>
          <a:noFill/>
        </p:spPr>
        <p:txBody>
          <a:bodyPr wrap="none" lIns="0" tIns="0" rIns="0" bIns="0" anchor="ctr">
            <a:noAutofit/>
          </a:bodyPr>
          <a:lstStyle/>
          <a:p>
            <a:pPr>
              <a:lnSpc>
                <a:spcPct val="100000"/>
              </a:lnSpc>
              <a:buNone/>
              <a:defRPr sz="3150" b="1">
                <a:solidFill>
                  <a:srgbClr val="2E7D32"/>
                </a:solidFill>
                <a:latin typeface="Times New Roman"/>
                <a:ea typeface="Times New Roman"/>
                <a:cs typeface="Times New Roman"/>
              </a:defRPr>
            </a:pPr>
            <a:r>
              <a:rPr sz="3150" b="1">
                <a:solidFill>
                  <a:srgbClr val="2E7D32"/>
                </a:solidFill>
                <a:latin typeface="Times New Roman"/>
                <a:ea typeface="Times New Roman"/>
                <a:cs typeface="Times New Roman"/>
              </a:rPr>
              <a:t>Đầu 2: Kiểm tra cả câu</a:t>
            </a:r>
            <a:endParaRPr sz="1600">
              <a:latin typeface="Times New Roman"/>
              <a:ea typeface="Times New Roman"/>
              <a:cs typeface="Times New Roman"/>
            </a:endParaRPr>
          </a:p>
        </p:txBody>
      </p:sp>
      <p:sp>
        <p:nvSpPr>
          <p:cNvPr id="23" name="Shape 21">
            <a:extLst>
              <a:ext uri="{FF2B5EF4-FFF2-40B4-BE49-F238E27FC236}">
                <a16:creationId xmlns:a16="http://schemas.microsoft.com/office/drawing/2014/main" id="{B0365600-D17B-482F-B1BD-7F7CE0F8B3C1}"/>
              </a:ext>
            </a:extLst>
          </p:cNvPr>
          <p:cNvSpPr>
            <a:spLocks noGrp="1"/>
          </p:cNvSpPr>
          <p:nvPr/>
        </p:nvSpPr>
        <p:spPr>
          <a:xfrm>
            <a:off x="1016000" y="6773291"/>
            <a:ext cx="19642709" cy="1693291"/>
          </a:xfrm>
          <a:prstGeom prst="roundRect">
            <a:avLst>
              <a:gd name="adj" fmla="val 8000"/>
            </a:avLst>
          </a:prstGeom>
          <a:solidFill>
            <a:srgbClr val="E3F2FD"/>
          </a:solidFill>
          <a:ln w="12700">
            <a:solidFill>
              <a:srgbClr val="BBDEFB"/>
            </a:solidFill>
            <a:prstDash val="solid"/>
          </a:ln>
        </p:spPr>
      </p:sp>
      <p:sp>
        <p:nvSpPr>
          <p:cNvPr id="24" name="Shape 22">
            <a:extLst>
              <a:ext uri="{FF2B5EF4-FFF2-40B4-BE49-F238E27FC236}">
                <a16:creationId xmlns:a16="http://schemas.microsoft.com/office/drawing/2014/main" id="{3CDC7DD6-0F0C-42C0-B120-267F8D41476E}"/>
              </a:ext>
            </a:extLst>
          </p:cNvPr>
          <p:cNvSpPr>
            <a:spLocks noGrp="1"/>
          </p:cNvSpPr>
          <p:nvPr/>
        </p:nvSpPr>
        <p:spPr>
          <a:xfrm>
            <a:off x="1354709" y="6908800"/>
            <a:ext cx="5080000" cy="406400"/>
          </a:xfrm>
          <a:prstGeom prst="rect">
            <a:avLst/>
          </a:prstGeom>
          <a:solidFill>
            <a:srgbClr val="FFFFFF">
              <a:alpha val="0"/>
            </a:srgbClr>
          </a:solidFill>
        </p:spPr>
      </p:sp>
      <p:sp>
        <p:nvSpPr>
          <p:cNvPr id="25" name="Text 23">
            <a:extLst>
              <a:ext uri="{FF2B5EF4-FFF2-40B4-BE49-F238E27FC236}">
                <a16:creationId xmlns:a16="http://schemas.microsoft.com/office/drawing/2014/main" id="{D27971DA-0475-430C-B0BD-A84890507D91}"/>
              </a:ext>
            </a:extLst>
          </p:cNvPr>
          <p:cNvSpPr>
            <a:spLocks noGrp="1"/>
          </p:cNvSpPr>
          <p:nvPr/>
        </p:nvSpPr>
        <p:spPr>
          <a:xfrm>
            <a:off x="1232789" y="6847840"/>
            <a:ext cx="5323840" cy="528320"/>
          </a:xfrm>
          <a:prstGeom prst="rect">
            <a:avLst/>
          </a:prstGeom>
          <a:noFill/>
        </p:spPr>
        <p:txBody>
          <a:bodyPr wrap="none" lIns="0" tIns="0" rIns="0" bIns="0" anchor="ctr">
            <a:noAutofit/>
          </a:bodyPr>
          <a:lstStyle/>
          <a:p>
            <a:pPr>
              <a:lnSpc>
                <a:spcPct val="100000"/>
              </a:lnSpc>
              <a:buNone/>
              <a:defRPr sz="2400" b="1">
                <a:solidFill>
                  <a:srgbClr val="1565C0"/>
                </a:solidFill>
                <a:latin typeface="Times New Roman"/>
                <a:ea typeface="Times New Roman"/>
                <a:cs typeface="Times New Roman"/>
              </a:defRPr>
            </a:pPr>
            <a:r>
              <a:rPr sz="2400" b="1">
                <a:solidFill>
                  <a:srgbClr val="1565C0"/>
                </a:solidFill>
                <a:latin typeface="Times New Roman"/>
                <a:ea typeface="Times New Roman"/>
                <a:cs typeface="Times New Roman"/>
              </a:rPr>
              <a:t>Cổng lọc khi dự đoán</a:t>
            </a:r>
            <a:endParaRPr sz="1600">
              <a:latin typeface="Times New Roman"/>
              <a:ea typeface="Times New Roman"/>
              <a:cs typeface="Times New Roman"/>
            </a:endParaRPr>
          </a:p>
        </p:txBody>
      </p:sp>
      <p:sp>
        <p:nvSpPr>
          <p:cNvPr id="26" name="Shape 24">
            <a:extLst>
              <a:ext uri="{FF2B5EF4-FFF2-40B4-BE49-F238E27FC236}">
                <a16:creationId xmlns:a16="http://schemas.microsoft.com/office/drawing/2014/main" id="{284AE89F-2AAA-4DCB-84BE-740CC8DD8F3E}"/>
              </a:ext>
            </a:extLst>
          </p:cNvPr>
          <p:cNvSpPr>
            <a:spLocks noGrp="1"/>
          </p:cNvSpPr>
          <p:nvPr/>
        </p:nvSpPr>
        <p:spPr>
          <a:xfrm>
            <a:off x="1016000" y="8805291"/>
            <a:ext cx="19642709" cy="2032000"/>
          </a:xfrm>
          <a:prstGeom prst="roundRect">
            <a:avLst>
              <a:gd name="adj" fmla="val 8000"/>
            </a:avLst>
          </a:prstGeom>
          <a:solidFill>
            <a:srgbClr val="FFF3E0"/>
          </a:solidFill>
          <a:ln w="12700">
            <a:solidFill>
              <a:srgbClr val="FFE0B2"/>
            </a:solidFill>
            <a:prstDash val="solid"/>
          </a:ln>
        </p:spPr>
      </p:sp>
      <p:sp>
        <p:nvSpPr>
          <p:cNvPr id="27" name="Shape 25">
            <a:extLst>
              <a:ext uri="{FF2B5EF4-FFF2-40B4-BE49-F238E27FC236}">
                <a16:creationId xmlns:a16="http://schemas.microsoft.com/office/drawing/2014/main" id="{AB08A138-3606-4A56-8D70-88AC98E77C00}"/>
              </a:ext>
            </a:extLst>
          </p:cNvPr>
          <p:cNvSpPr>
            <a:spLocks noGrp="1"/>
          </p:cNvSpPr>
          <p:nvPr/>
        </p:nvSpPr>
        <p:spPr>
          <a:xfrm>
            <a:off x="1354709" y="8974709"/>
            <a:ext cx="18965291" cy="1693291"/>
          </a:xfrm>
          <a:prstGeom prst="rect">
            <a:avLst/>
          </a:prstGeom>
          <a:solidFill>
            <a:srgbClr val="FFFFFF">
              <a:alpha val="0"/>
            </a:srgbClr>
          </a:solidFill>
        </p:spPr>
      </p:sp>
      <p:sp>
        <p:nvSpPr>
          <p:cNvPr id="28" name="Text 26">
            <a:extLst>
              <a:ext uri="{FF2B5EF4-FFF2-40B4-BE49-F238E27FC236}">
                <a16:creationId xmlns:a16="http://schemas.microsoft.com/office/drawing/2014/main" id="{CB6F828C-C131-45E9-B9DF-317046BFC39B}"/>
              </a:ext>
            </a:extLst>
          </p:cNvPr>
          <p:cNvSpPr>
            <a:spLocks noGrp="1"/>
          </p:cNvSpPr>
          <p:nvPr/>
        </p:nvSpPr>
        <p:spPr>
          <a:xfrm>
            <a:off x="1232789" y="8913749"/>
            <a:ext cx="19209131" cy="1815211"/>
          </a:xfrm>
          <a:prstGeom prst="rect">
            <a:avLst/>
          </a:prstGeom>
          <a:noFill/>
        </p:spPr>
        <p:txBody>
          <a:bodyPr wrap="square" lIns="0" tIns="0" rIns="0" bIns="0" anchor="t">
            <a:noAutofit/>
          </a:bodyPr>
          <a:lstStyle/>
          <a:p>
            <a:pPr>
              <a:lnSpc>
                <a:spcPct val="150000"/>
              </a:lnSpc>
              <a:buNone/>
              <a:defRPr sz="2850" b="0">
                <a:solidFill>
                  <a:srgbClr val="151515"/>
                </a:solidFill>
                <a:latin typeface="Times New Roman"/>
                <a:ea typeface="Times New Roman"/>
                <a:cs typeface="Times New Roman"/>
              </a:defRPr>
            </a:pPr>
            <a:r>
              <a:rPr sz="2850" b="0" dirty="0" err="1">
                <a:solidFill>
                  <a:srgbClr val="151515"/>
                </a:solidFill>
                <a:latin typeface="Times New Roman"/>
                <a:ea typeface="Times New Roman"/>
                <a:cs typeface="Times New Roman"/>
              </a:rPr>
              <a:t>Mục</a:t>
            </a:r>
            <a:r>
              <a:rPr sz="2850" b="0" dirty="0">
                <a:solidFill>
                  <a:srgbClr val="151515"/>
                </a:solidFill>
                <a:latin typeface="Times New Roman"/>
                <a:ea typeface="Times New Roman"/>
                <a:cs typeface="Times New Roman"/>
              </a:rPr>
              <a:t> </a:t>
            </a:r>
            <a:r>
              <a:rPr sz="2850" b="0" dirty="0" err="1">
                <a:solidFill>
                  <a:srgbClr val="151515"/>
                </a:solidFill>
                <a:latin typeface="Times New Roman"/>
                <a:ea typeface="Times New Roman"/>
                <a:cs typeface="Times New Roman"/>
              </a:rPr>
              <a:t>tiêu</a:t>
            </a:r>
            <a:r>
              <a:rPr sz="2850" b="0" dirty="0">
                <a:solidFill>
                  <a:srgbClr val="151515"/>
                </a:solidFill>
                <a:latin typeface="Times New Roman"/>
                <a:ea typeface="Times New Roman"/>
                <a:cs typeface="Times New Roman"/>
              </a:rPr>
              <a:t>: </a:t>
            </a:r>
            <a:r>
              <a:rPr sz="2850" b="0" dirty="0" err="1">
                <a:solidFill>
                  <a:srgbClr val="151515"/>
                </a:solidFill>
                <a:latin typeface="Times New Roman"/>
                <a:ea typeface="Times New Roman"/>
                <a:cs typeface="Times New Roman"/>
              </a:rPr>
              <a:t>giảm</a:t>
            </a:r>
            <a:r>
              <a:rPr sz="2850" b="0" dirty="0">
                <a:solidFill>
                  <a:srgbClr val="151515"/>
                </a:solidFill>
                <a:latin typeface="Times New Roman"/>
                <a:ea typeface="Times New Roman"/>
                <a:cs typeface="Times New Roman"/>
              </a:rPr>
              <a:t> </a:t>
            </a:r>
            <a:r>
              <a:rPr sz="2850" b="0" dirty="0" err="1">
                <a:solidFill>
                  <a:srgbClr val="151515"/>
                </a:solidFill>
                <a:latin typeface="Times New Roman"/>
                <a:ea typeface="Times New Roman"/>
                <a:cs typeface="Times New Roman"/>
              </a:rPr>
              <a:t>đánh</a:t>
            </a:r>
            <a:r>
              <a:rPr sz="2850" b="0" dirty="0">
                <a:solidFill>
                  <a:srgbClr val="151515"/>
                </a:solidFill>
                <a:latin typeface="Times New Roman"/>
                <a:ea typeface="Times New Roman"/>
                <a:cs typeface="Times New Roman"/>
              </a:rPr>
              <a:t> </a:t>
            </a:r>
            <a:r>
              <a:rPr sz="2850" b="0" dirty="0" err="1">
                <a:solidFill>
                  <a:srgbClr val="151515"/>
                </a:solidFill>
                <a:latin typeface="Times New Roman"/>
                <a:ea typeface="Times New Roman"/>
                <a:cs typeface="Times New Roman"/>
              </a:rPr>
              <a:t>dấu</a:t>
            </a:r>
            <a:r>
              <a:rPr sz="2850" b="0" dirty="0">
                <a:solidFill>
                  <a:srgbClr val="151515"/>
                </a:solidFill>
                <a:latin typeface="Times New Roman"/>
                <a:ea typeface="Times New Roman"/>
                <a:cs typeface="Times New Roman"/>
              </a:rPr>
              <a:t> </a:t>
            </a:r>
            <a:r>
              <a:rPr sz="2850" b="0" dirty="0" err="1">
                <a:solidFill>
                  <a:srgbClr val="151515"/>
                </a:solidFill>
                <a:latin typeface="Times New Roman"/>
                <a:ea typeface="Times New Roman"/>
                <a:cs typeface="Times New Roman"/>
              </a:rPr>
              <a:t>nhầm</a:t>
            </a:r>
            <a:r>
              <a:rPr sz="2850" b="0" dirty="0">
                <a:solidFill>
                  <a:srgbClr val="151515"/>
                </a:solidFill>
                <a:latin typeface="Times New Roman"/>
                <a:ea typeface="Times New Roman"/>
                <a:cs typeface="Times New Roman"/>
              </a:rPr>
              <a:t>. </a:t>
            </a:r>
            <a:r>
              <a:rPr sz="2850" b="0" dirty="0" err="1">
                <a:solidFill>
                  <a:srgbClr val="151515"/>
                </a:solidFill>
                <a:latin typeface="Times New Roman"/>
                <a:ea typeface="Times New Roman"/>
                <a:cs typeface="Times New Roman"/>
              </a:rPr>
              <a:t>Nếu</a:t>
            </a:r>
            <a:r>
              <a:rPr sz="2850" b="0" dirty="0">
                <a:solidFill>
                  <a:srgbClr val="151515"/>
                </a:solidFill>
                <a:latin typeface="Times New Roman"/>
                <a:ea typeface="Times New Roman"/>
                <a:cs typeface="Times New Roman"/>
              </a:rPr>
              <a:t> </a:t>
            </a:r>
            <a:r>
              <a:rPr sz="2850" b="0" dirty="0" err="1">
                <a:solidFill>
                  <a:srgbClr val="151515"/>
                </a:solidFill>
                <a:latin typeface="Times New Roman"/>
                <a:ea typeface="Times New Roman"/>
                <a:cs typeface="Times New Roman"/>
              </a:rPr>
              <a:t>đầu</a:t>
            </a:r>
            <a:r>
              <a:rPr sz="2850" b="0" dirty="0">
                <a:solidFill>
                  <a:srgbClr val="151515"/>
                </a:solidFill>
                <a:latin typeface="Times New Roman"/>
                <a:ea typeface="Times New Roman"/>
                <a:cs typeface="Times New Roman"/>
              </a:rPr>
              <a:t> 2 </a:t>
            </a:r>
            <a:r>
              <a:rPr sz="2850" b="0" dirty="0" err="1">
                <a:solidFill>
                  <a:srgbClr val="151515"/>
                </a:solidFill>
                <a:latin typeface="Times New Roman"/>
                <a:ea typeface="Times New Roman"/>
                <a:cs typeface="Times New Roman"/>
              </a:rPr>
              <a:t>đánh</a:t>
            </a:r>
            <a:r>
              <a:rPr sz="2850" b="0" dirty="0">
                <a:solidFill>
                  <a:srgbClr val="151515"/>
                </a:solidFill>
                <a:latin typeface="Times New Roman"/>
                <a:ea typeface="Times New Roman"/>
                <a:cs typeface="Times New Roman"/>
              </a:rPr>
              <a:t> </a:t>
            </a:r>
            <a:r>
              <a:rPr sz="2850" b="0" dirty="0" err="1">
                <a:solidFill>
                  <a:srgbClr val="151515"/>
                </a:solidFill>
                <a:latin typeface="Times New Roman"/>
                <a:ea typeface="Times New Roman"/>
                <a:cs typeface="Times New Roman"/>
              </a:rPr>
              <a:t>giá</a:t>
            </a:r>
            <a:r>
              <a:rPr sz="2850" b="0" dirty="0">
                <a:solidFill>
                  <a:srgbClr val="151515"/>
                </a:solidFill>
                <a:latin typeface="Times New Roman"/>
                <a:ea typeface="Times New Roman"/>
                <a:cs typeface="Times New Roman"/>
              </a:rPr>
              <a:t> </a:t>
            </a:r>
            <a:r>
              <a:rPr sz="2850" b="0" dirty="0" err="1">
                <a:solidFill>
                  <a:srgbClr val="151515"/>
                </a:solidFill>
                <a:latin typeface="Times New Roman"/>
                <a:ea typeface="Times New Roman"/>
                <a:cs typeface="Times New Roman"/>
              </a:rPr>
              <a:t>sai</a:t>
            </a:r>
            <a:r>
              <a:rPr sz="2850" b="0" dirty="0">
                <a:solidFill>
                  <a:srgbClr val="151515"/>
                </a:solidFill>
                <a:latin typeface="Times New Roman"/>
                <a:ea typeface="Times New Roman"/>
                <a:cs typeface="Times New Roman"/>
              </a:rPr>
              <a:t>, </a:t>
            </a:r>
            <a:r>
              <a:rPr sz="2850" b="0" dirty="0" err="1">
                <a:solidFill>
                  <a:srgbClr val="151515"/>
                </a:solidFill>
                <a:latin typeface="Times New Roman"/>
                <a:ea typeface="Times New Roman"/>
                <a:cs typeface="Times New Roman"/>
              </a:rPr>
              <a:t>cổng</a:t>
            </a:r>
            <a:r>
              <a:rPr sz="2850" b="0" dirty="0">
                <a:solidFill>
                  <a:srgbClr val="151515"/>
                </a:solidFill>
                <a:latin typeface="Times New Roman"/>
                <a:ea typeface="Times New Roman"/>
                <a:cs typeface="Times New Roman"/>
              </a:rPr>
              <a:t> </a:t>
            </a:r>
            <a:r>
              <a:rPr sz="2850" b="0" dirty="0" err="1">
                <a:solidFill>
                  <a:srgbClr val="151515"/>
                </a:solidFill>
                <a:latin typeface="Times New Roman"/>
                <a:ea typeface="Times New Roman"/>
                <a:cs typeface="Times New Roman"/>
              </a:rPr>
              <a:t>có</a:t>
            </a:r>
            <a:r>
              <a:rPr sz="2850" b="0" dirty="0">
                <a:solidFill>
                  <a:srgbClr val="151515"/>
                </a:solidFill>
                <a:latin typeface="Times New Roman"/>
                <a:ea typeface="Times New Roman"/>
                <a:cs typeface="Times New Roman"/>
              </a:rPr>
              <a:t> </a:t>
            </a:r>
            <a:r>
              <a:rPr sz="2850" b="0" dirty="0" err="1">
                <a:solidFill>
                  <a:srgbClr val="151515"/>
                </a:solidFill>
                <a:latin typeface="Times New Roman"/>
                <a:ea typeface="Times New Roman"/>
                <a:cs typeface="Times New Roman"/>
              </a:rPr>
              <a:t>thể</a:t>
            </a:r>
            <a:r>
              <a:rPr sz="2850" b="0" dirty="0">
                <a:solidFill>
                  <a:srgbClr val="151515"/>
                </a:solidFill>
                <a:latin typeface="Times New Roman"/>
                <a:ea typeface="Times New Roman"/>
                <a:cs typeface="Times New Roman"/>
              </a:rPr>
              <a:t> </a:t>
            </a:r>
            <a:r>
              <a:rPr sz="2850" b="0" dirty="0" err="1">
                <a:solidFill>
                  <a:srgbClr val="151515"/>
                </a:solidFill>
                <a:latin typeface="Times New Roman"/>
                <a:ea typeface="Times New Roman"/>
                <a:cs typeface="Times New Roman"/>
              </a:rPr>
              <a:t>xóa</a:t>
            </a:r>
            <a:r>
              <a:rPr sz="2850" b="0" dirty="0">
                <a:solidFill>
                  <a:srgbClr val="151515"/>
                </a:solidFill>
                <a:latin typeface="Times New Roman"/>
                <a:ea typeface="Times New Roman"/>
                <a:cs typeface="Times New Roman"/>
              </a:rPr>
              <a:t> </a:t>
            </a:r>
            <a:r>
              <a:rPr sz="2850" b="0" dirty="0" err="1">
                <a:solidFill>
                  <a:srgbClr val="151515"/>
                </a:solidFill>
                <a:latin typeface="Times New Roman"/>
                <a:ea typeface="Times New Roman"/>
                <a:cs typeface="Times New Roman"/>
              </a:rPr>
              <a:t>cả</a:t>
            </a:r>
            <a:r>
              <a:rPr sz="2850" b="0" dirty="0">
                <a:solidFill>
                  <a:srgbClr val="151515"/>
                </a:solidFill>
                <a:latin typeface="Times New Roman"/>
                <a:ea typeface="Times New Roman"/>
                <a:cs typeface="Times New Roman"/>
              </a:rPr>
              <a:t> </a:t>
            </a:r>
            <a:r>
              <a:rPr sz="2850" b="0" dirty="0" err="1">
                <a:solidFill>
                  <a:srgbClr val="151515"/>
                </a:solidFill>
                <a:latin typeface="Times New Roman"/>
                <a:ea typeface="Times New Roman"/>
                <a:cs typeface="Times New Roman"/>
              </a:rPr>
              <a:t>cụm</a:t>
            </a:r>
            <a:r>
              <a:rPr sz="2850" b="0" dirty="0">
                <a:solidFill>
                  <a:srgbClr val="151515"/>
                </a:solidFill>
                <a:latin typeface="Times New Roman"/>
                <a:ea typeface="Times New Roman"/>
                <a:cs typeface="Times New Roman"/>
              </a:rPr>
              <a:t> </a:t>
            </a:r>
            <a:r>
              <a:rPr sz="2850" b="0" dirty="0" err="1">
                <a:solidFill>
                  <a:srgbClr val="151515"/>
                </a:solidFill>
                <a:latin typeface="Times New Roman"/>
                <a:ea typeface="Times New Roman"/>
                <a:cs typeface="Times New Roman"/>
              </a:rPr>
              <a:t>xúc</a:t>
            </a:r>
            <a:r>
              <a:rPr sz="2850" b="0" dirty="0">
                <a:solidFill>
                  <a:srgbClr val="151515"/>
                </a:solidFill>
                <a:latin typeface="Times New Roman"/>
                <a:ea typeface="Times New Roman"/>
                <a:cs typeface="Times New Roman"/>
              </a:rPr>
              <a:t> </a:t>
            </a:r>
            <a:r>
              <a:rPr sz="2850" b="0" dirty="0" err="1">
                <a:solidFill>
                  <a:srgbClr val="151515"/>
                </a:solidFill>
                <a:latin typeface="Times New Roman"/>
                <a:ea typeface="Times New Roman"/>
                <a:cs typeface="Times New Roman"/>
              </a:rPr>
              <a:t>phạm</a:t>
            </a:r>
            <a:r>
              <a:rPr sz="2850" b="0" dirty="0">
                <a:solidFill>
                  <a:srgbClr val="151515"/>
                </a:solidFill>
                <a:latin typeface="Times New Roman"/>
                <a:ea typeface="Times New Roman"/>
                <a:cs typeface="Times New Roman"/>
              </a:rPr>
              <a:t> </a:t>
            </a:r>
            <a:r>
              <a:rPr sz="2850" b="0" dirty="0" err="1">
                <a:solidFill>
                  <a:srgbClr val="151515"/>
                </a:solidFill>
                <a:latin typeface="Times New Roman"/>
                <a:ea typeface="Times New Roman"/>
                <a:cs typeface="Times New Roman"/>
              </a:rPr>
              <a:t>thật</a:t>
            </a:r>
            <a:r>
              <a:rPr sz="2850" b="0" dirty="0">
                <a:solidFill>
                  <a:srgbClr val="151515"/>
                </a:solidFill>
                <a:latin typeface="Times New Roman"/>
                <a:ea typeface="Times New Roman"/>
                <a:cs typeface="Times New Roman"/>
              </a:rPr>
              <a:t>.</a:t>
            </a:r>
            <a:endParaRPr sz="1600" dirty="0">
              <a:latin typeface="Times New Roman"/>
              <a:ea typeface="Times New Roman"/>
              <a:cs typeface="Times New Roman"/>
            </a:endParaRPr>
          </a:p>
        </p:txBody>
      </p:sp>
      <p:sp>
        <p:nvSpPr>
          <p:cNvPr id="29" name="Shape 27">
            <a:extLst>
              <a:ext uri="{FF2B5EF4-FFF2-40B4-BE49-F238E27FC236}">
                <a16:creationId xmlns:a16="http://schemas.microsoft.com/office/drawing/2014/main" id="{D6D7A96F-11CC-4BEB-A5BF-68E5BFBFAC8A}"/>
              </a:ext>
            </a:extLst>
          </p:cNvPr>
          <p:cNvSpPr>
            <a:spLocks noGrp="1"/>
          </p:cNvSpPr>
          <p:nvPr/>
        </p:nvSpPr>
        <p:spPr>
          <a:xfrm>
            <a:off x="19981291" y="11684000"/>
            <a:ext cx="1016000" cy="406400"/>
          </a:xfrm>
          <a:prstGeom prst="rect">
            <a:avLst/>
          </a:prstGeom>
          <a:solidFill>
            <a:srgbClr val="FFFFFF">
              <a:alpha val="0"/>
            </a:srgbClr>
          </a:solidFill>
        </p:spPr>
      </p:sp>
      <p:sp>
        <p:nvSpPr>
          <p:cNvPr id="30" name="Text 28">
            <a:extLst>
              <a:ext uri="{FF2B5EF4-FFF2-40B4-BE49-F238E27FC236}">
                <a16:creationId xmlns:a16="http://schemas.microsoft.com/office/drawing/2014/main" id="{2638C63A-B3A2-4F02-B3C5-020810682E85}"/>
              </a:ext>
            </a:extLst>
          </p:cNvPr>
          <p:cNvSpPr>
            <a:spLocks noGrp="1"/>
          </p:cNvSpPr>
          <p:nvPr/>
        </p:nvSpPr>
        <p:spPr>
          <a:xfrm>
            <a:off x="19859371" y="11623040"/>
            <a:ext cx="1259840" cy="528320"/>
          </a:xfrm>
          <a:prstGeom prst="rect">
            <a:avLst/>
          </a:prstGeom>
          <a:noFill/>
        </p:spPr>
        <p:txBody>
          <a:bodyPr wrap="none" lIns="0" tIns="0" rIns="0" bIns="0" anchor="ctr">
            <a:noAutofit/>
          </a:bodyPr>
          <a:lstStyle/>
          <a:p>
            <a:pPr algn="r">
              <a:lnSpc>
                <a:spcPct val="100000"/>
              </a:lnSpc>
              <a:buNone/>
              <a:defRPr sz="1950">
                <a:solidFill>
                  <a:srgbClr val="666666"/>
                </a:solidFill>
                <a:latin typeface="Times New Roman"/>
                <a:ea typeface="Times New Roman"/>
                <a:cs typeface="Times New Roman"/>
              </a:defRPr>
            </a:pPr>
            <a:r>
              <a:rPr sz="1950">
                <a:solidFill>
                  <a:srgbClr val="666666"/>
                </a:solidFill>
                <a:latin typeface="Times New Roman"/>
                <a:ea typeface="Times New Roman"/>
                <a:cs typeface="Times New Roman"/>
              </a:rPr>
              <a:t>7/18</a:t>
            </a:r>
            <a:endParaRPr sz="1600">
              <a:latin typeface="Times New Roman"/>
              <a:ea typeface="Times New Roman"/>
              <a:cs typeface="Times New Roman"/>
            </a:endParaRPr>
          </a:p>
        </p:txBody>
      </p:sp>
      <p:sp>
        <p:nvSpPr>
          <p:cNvPr id="35" name="Text 11">
            <a:extLst>
              <a:ext uri="{FF2B5EF4-FFF2-40B4-BE49-F238E27FC236}">
                <a16:creationId xmlns:a16="http://schemas.microsoft.com/office/drawing/2014/main" id="{39B27A42-EA18-1226-1C3D-6738747F5724}"/>
              </a:ext>
            </a:extLst>
          </p:cNvPr>
          <p:cNvSpPr>
            <a:spLocks noGrp="1"/>
          </p:cNvSpPr>
          <p:nvPr/>
        </p:nvSpPr>
        <p:spPr>
          <a:xfrm>
            <a:off x="1354709" y="2739771"/>
            <a:ext cx="7803546" cy="3686556"/>
          </a:xfrm>
          <a:prstGeom prst="rect">
            <a:avLst/>
          </a:prstGeom>
          <a:noFill/>
        </p:spPr>
        <p:txBody>
          <a:bodyPr wrap="square" lIns="0" tIns="0" rIns="0" bIns="0" anchor="t">
            <a:noAutofit/>
          </a:bodyPr>
          <a:lstStyle/>
          <a:p>
            <a:pPr>
              <a:lnSpc>
                <a:spcPct val="160000"/>
              </a:lnSpc>
              <a:buNone/>
              <a:defRPr sz="2925" b="0">
                <a:solidFill>
                  <a:srgbClr val="151515"/>
                </a:solidFill>
                <a:latin typeface="Times New Roman"/>
                <a:ea typeface="Times New Roman"/>
                <a:cs typeface="Times New Roman"/>
              </a:defRPr>
            </a:pPr>
            <a:r>
              <a:rPr sz="2925" b="0" dirty="0" err="1">
                <a:solidFill>
                  <a:srgbClr val="151515"/>
                </a:solidFill>
                <a:latin typeface="Times New Roman"/>
                <a:ea typeface="Times New Roman"/>
                <a:cs typeface="Times New Roman"/>
              </a:rPr>
              <a:t>BiLSTM</a:t>
            </a:r>
            <a:r>
              <a:rPr sz="2925" b="0" dirty="0">
                <a:solidFill>
                  <a:srgbClr val="151515"/>
                </a:solidFill>
                <a:latin typeface="Times New Roman"/>
                <a:ea typeface="Times New Roman"/>
                <a:cs typeface="Times New Roman"/>
              </a:rPr>
              <a:t> + Linear + CRF</a:t>
            </a:r>
            <a:endParaRPr sz="2400" dirty="0">
              <a:latin typeface="Times New Roman"/>
              <a:ea typeface="Times New Roman"/>
              <a:cs typeface="Times New Roman"/>
            </a:endParaRPr>
          </a:p>
          <a:p>
            <a:pPr>
              <a:lnSpc>
                <a:spcPct val="160000"/>
              </a:lnSpc>
              <a:buNone/>
              <a:defRPr sz="2925" b="0">
                <a:solidFill>
                  <a:srgbClr val="151515"/>
                </a:solidFill>
                <a:latin typeface="Times New Roman"/>
                <a:ea typeface="Times New Roman"/>
                <a:cs typeface="Times New Roman"/>
              </a:defRPr>
            </a:pPr>
            <a:r>
              <a:rPr sz="2925" b="0" dirty="0" err="1">
                <a:solidFill>
                  <a:srgbClr val="151515"/>
                </a:solidFill>
                <a:latin typeface="Times New Roman"/>
                <a:ea typeface="Times New Roman"/>
                <a:cs typeface="Times New Roman"/>
              </a:rPr>
              <a:t>Tìm</a:t>
            </a:r>
            <a:r>
              <a:rPr sz="2925" b="0" dirty="0">
                <a:solidFill>
                  <a:srgbClr val="151515"/>
                </a:solidFill>
                <a:latin typeface="Times New Roman"/>
                <a:ea typeface="Times New Roman"/>
                <a:cs typeface="Times New Roman"/>
              </a:rPr>
              <a:t> </a:t>
            </a:r>
            <a:r>
              <a:rPr sz="2925" b="0" dirty="0" err="1">
                <a:solidFill>
                  <a:srgbClr val="151515"/>
                </a:solidFill>
                <a:latin typeface="Times New Roman"/>
                <a:ea typeface="Times New Roman"/>
                <a:cs typeface="Times New Roman"/>
              </a:rPr>
              <a:t>vị</a:t>
            </a:r>
            <a:r>
              <a:rPr sz="2925" b="0" dirty="0">
                <a:solidFill>
                  <a:srgbClr val="151515"/>
                </a:solidFill>
                <a:latin typeface="Times New Roman"/>
                <a:ea typeface="Times New Roman"/>
                <a:cs typeface="Times New Roman"/>
              </a:rPr>
              <a:t> </a:t>
            </a:r>
            <a:r>
              <a:rPr sz="2925" b="0" dirty="0" err="1">
                <a:solidFill>
                  <a:srgbClr val="151515"/>
                </a:solidFill>
                <a:latin typeface="Times New Roman"/>
                <a:ea typeface="Times New Roman"/>
                <a:cs typeface="Times New Roman"/>
              </a:rPr>
              <a:t>trí</a:t>
            </a:r>
            <a:r>
              <a:rPr sz="2925" b="0" dirty="0">
                <a:solidFill>
                  <a:srgbClr val="151515"/>
                </a:solidFill>
                <a:latin typeface="Times New Roman"/>
                <a:ea typeface="Times New Roman"/>
                <a:cs typeface="Times New Roman"/>
              </a:rPr>
              <a:t> </a:t>
            </a:r>
            <a:r>
              <a:rPr sz="2925" b="0" dirty="0" err="1">
                <a:solidFill>
                  <a:srgbClr val="151515"/>
                </a:solidFill>
                <a:latin typeface="Times New Roman"/>
                <a:ea typeface="Times New Roman"/>
                <a:cs typeface="Times New Roman"/>
              </a:rPr>
              <a:t>từ</a:t>
            </a:r>
            <a:r>
              <a:rPr sz="2925" b="0" dirty="0">
                <a:solidFill>
                  <a:srgbClr val="151515"/>
                </a:solidFill>
                <a:latin typeface="Times New Roman"/>
                <a:ea typeface="Times New Roman"/>
                <a:cs typeface="Times New Roman"/>
              </a:rPr>
              <a:t> </a:t>
            </a:r>
            <a:r>
              <a:rPr sz="2925" b="0" dirty="0" err="1">
                <a:solidFill>
                  <a:srgbClr val="151515"/>
                </a:solidFill>
                <a:latin typeface="Times New Roman"/>
                <a:ea typeface="Times New Roman"/>
                <a:cs typeface="Times New Roman"/>
              </a:rPr>
              <a:t>hoặc</a:t>
            </a:r>
            <a:r>
              <a:rPr sz="2925" b="0" dirty="0">
                <a:solidFill>
                  <a:srgbClr val="151515"/>
                </a:solidFill>
                <a:latin typeface="Times New Roman"/>
                <a:ea typeface="Times New Roman"/>
                <a:cs typeface="Times New Roman"/>
              </a:rPr>
              <a:t> </a:t>
            </a:r>
            <a:r>
              <a:rPr sz="2925" b="0" dirty="0" err="1">
                <a:solidFill>
                  <a:srgbClr val="151515"/>
                </a:solidFill>
                <a:latin typeface="Times New Roman"/>
                <a:ea typeface="Times New Roman"/>
                <a:cs typeface="Times New Roman"/>
              </a:rPr>
              <a:t>cụm</a:t>
            </a:r>
            <a:r>
              <a:rPr sz="2925" b="0" dirty="0">
                <a:solidFill>
                  <a:srgbClr val="151515"/>
                </a:solidFill>
                <a:latin typeface="Times New Roman"/>
                <a:ea typeface="Times New Roman"/>
                <a:cs typeface="Times New Roman"/>
              </a:rPr>
              <a:t> </a:t>
            </a:r>
            <a:r>
              <a:rPr sz="2925" b="0" dirty="0" err="1">
                <a:solidFill>
                  <a:srgbClr val="151515"/>
                </a:solidFill>
                <a:latin typeface="Times New Roman"/>
                <a:ea typeface="Times New Roman"/>
                <a:cs typeface="Times New Roman"/>
              </a:rPr>
              <a:t>có</a:t>
            </a:r>
            <a:r>
              <a:rPr sz="2925" b="0" dirty="0">
                <a:solidFill>
                  <a:srgbClr val="151515"/>
                </a:solidFill>
                <a:latin typeface="Times New Roman"/>
                <a:ea typeface="Times New Roman"/>
                <a:cs typeface="Times New Roman"/>
              </a:rPr>
              <a:t> </a:t>
            </a:r>
            <a:r>
              <a:rPr sz="2925" b="0" dirty="0" err="1">
                <a:solidFill>
                  <a:srgbClr val="151515"/>
                </a:solidFill>
                <a:latin typeface="Times New Roman"/>
                <a:ea typeface="Times New Roman"/>
                <a:cs typeface="Times New Roman"/>
              </a:rPr>
              <a:t>thể</a:t>
            </a:r>
            <a:r>
              <a:rPr sz="2925" b="0" dirty="0">
                <a:solidFill>
                  <a:srgbClr val="151515"/>
                </a:solidFill>
                <a:latin typeface="Times New Roman"/>
                <a:ea typeface="Times New Roman"/>
                <a:cs typeface="Times New Roman"/>
              </a:rPr>
              <a:t> </a:t>
            </a:r>
            <a:r>
              <a:rPr sz="2925" b="0" dirty="0" err="1">
                <a:solidFill>
                  <a:srgbClr val="151515"/>
                </a:solidFill>
                <a:latin typeface="Times New Roman"/>
                <a:ea typeface="Times New Roman"/>
                <a:cs typeface="Times New Roman"/>
              </a:rPr>
              <a:t>xúc</a:t>
            </a:r>
            <a:r>
              <a:rPr sz="2925" b="0" dirty="0">
                <a:solidFill>
                  <a:srgbClr val="151515"/>
                </a:solidFill>
                <a:latin typeface="Times New Roman"/>
                <a:ea typeface="Times New Roman"/>
                <a:cs typeface="Times New Roman"/>
              </a:rPr>
              <a:t> </a:t>
            </a:r>
            <a:r>
              <a:rPr sz="2925" b="0" dirty="0" err="1">
                <a:solidFill>
                  <a:srgbClr val="151515"/>
                </a:solidFill>
                <a:latin typeface="Times New Roman"/>
                <a:ea typeface="Times New Roman"/>
                <a:cs typeface="Times New Roman"/>
              </a:rPr>
              <a:t>phạm</a:t>
            </a:r>
            <a:r>
              <a:rPr sz="2925" b="0" dirty="0">
                <a:solidFill>
                  <a:srgbClr val="151515"/>
                </a:solidFill>
                <a:latin typeface="Times New Roman"/>
                <a:ea typeface="Times New Roman"/>
                <a:cs typeface="Times New Roman"/>
              </a:rPr>
              <a:t>.</a:t>
            </a:r>
            <a:endParaRPr sz="2400" dirty="0">
              <a:latin typeface="Times New Roman"/>
              <a:ea typeface="Times New Roman"/>
              <a:cs typeface="Times New Roman"/>
            </a:endParaRPr>
          </a:p>
          <a:p>
            <a:pPr>
              <a:lnSpc>
                <a:spcPct val="160000"/>
              </a:lnSpc>
              <a:buNone/>
              <a:defRPr sz="2925" b="0">
                <a:solidFill>
                  <a:srgbClr val="151515"/>
                </a:solidFill>
                <a:latin typeface="Times New Roman"/>
                <a:ea typeface="Times New Roman"/>
                <a:cs typeface="Times New Roman"/>
              </a:defRPr>
            </a:pPr>
            <a:endParaRPr sz="2400" dirty="0">
              <a:latin typeface="Times New Roman"/>
              <a:ea typeface="Times New Roman"/>
              <a:cs typeface="Times New Roman"/>
            </a:endParaRPr>
          </a:p>
          <a:p>
            <a:pPr>
              <a:lnSpc>
                <a:spcPct val="160000"/>
              </a:lnSpc>
              <a:buNone/>
              <a:defRPr sz="2925" b="0">
                <a:solidFill>
                  <a:srgbClr val="151515"/>
                </a:solidFill>
                <a:latin typeface="Times New Roman"/>
                <a:ea typeface="Times New Roman"/>
                <a:cs typeface="Times New Roman"/>
              </a:defRPr>
            </a:pPr>
            <a:r>
              <a:rPr sz="2925" b="0" dirty="0" err="1">
                <a:solidFill>
                  <a:srgbClr val="151515"/>
                </a:solidFill>
                <a:latin typeface="Times New Roman"/>
                <a:ea typeface="Times New Roman"/>
                <a:cs typeface="Times New Roman"/>
              </a:rPr>
              <a:t>Đầu</a:t>
            </a:r>
            <a:r>
              <a:rPr sz="2925" b="0" dirty="0">
                <a:solidFill>
                  <a:srgbClr val="151515"/>
                </a:solidFill>
                <a:latin typeface="Times New Roman"/>
                <a:ea typeface="Times New Roman"/>
                <a:cs typeface="Times New Roman"/>
              </a:rPr>
              <a:t> </a:t>
            </a:r>
            <a:r>
              <a:rPr sz="2925" b="0" dirty="0" err="1">
                <a:solidFill>
                  <a:srgbClr val="151515"/>
                </a:solidFill>
                <a:latin typeface="Times New Roman"/>
                <a:ea typeface="Times New Roman"/>
                <a:cs typeface="Times New Roman"/>
              </a:rPr>
              <a:t>ra</a:t>
            </a:r>
            <a:r>
              <a:rPr sz="2925" b="0" dirty="0">
                <a:solidFill>
                  <a:srgbClr val="151515"/>
                </a:solidFill>
                <a:latin typeface="Times New Roman"/>
                <a:ea typeface="Times New Roman"/>
                <a:cs typeface="Times New Roman"/>
              </a:rPr>
              <a:t>: </a:t>
            </a:r>
            <a:r>
              <a:rPr sz="2925" b="0" dirty="0" err="1">
                <a:solidFill>
                  <a:srgbClr val="151515"/>
                </a:solidFill>
                <a:latin typeface="Times New Roman"/>
                <a:ea typeface="Times New Roman"/>
                <a:cs typeface="Times New Roman"/>
              </a:rPr>
              <a:t>chuỗi</a:t>
            </a:r>
            <a:r>
              <a:rPr sz="2925" b="0" dirty="0">
                <a:solidFill>
                  <a:srgbClr val="151515"/>
                </a:solidFill>
                <a:latin typeface="Times New Roman"/>
                <a:ea typeface="Times New Roman"/>
                <a:cs typeface="Times New Roman"/>
              </a:rPr>
              <a:t> </a:t>
            </a:r>
            <a:r>
              <a:rPr sz="2925" b="0" dirty="0" err="1">
                <a:solidFill>
                  <a:srgbClr val="151515"/>
                </a:solidFill>
                <a:latin typeface="Times New Roman"/>
                <a:ea typeface="Times New Roman"/>
                <a:cs typeface="Times New Roman"/>
              </a:rPr>
              <a:t>nhãn</a:t>
            </a:r>
            <a:r>
              <a:rPr sz="2925" b="0" dirty="0">
                <a:solidFill>
                  <a:srgbClr val="151515"/>
                </a:solidFill>
                <a:latin typeface="Times New Roman"/>
                <a:ea typeface="Times New Roman"/>
                <a:cs typeface="Times New Roman"/>
              </a:rPr>
              <a:t> B, I, O.</a:t>
            </a:r>
            <a:endParaRPr sz="2400" dirty="0">
              <a:latin typeface="Times New Roman"/>
              <a:ea typeface="Times New Roman"/>
              <a:cs typeface="Times New Roman"/>
            </a:endParaRPr>
          </a:p>
        </p:txBody>
      </p:sp>
      <p:sp>
        <p:nvSpPr>
          <p:cNvPr id="36" name="Text 13">
            <a:extLst>
              <a:ext uri="{FF2B5EF4-FFF2-40B4-BE49-F238E27FC236}">
                <a16:creationId xmlns:a16="http://schemas.microsoft.com/office/drawing/2014/main" id="{7087CF75-6766-10B8-85A7-F3CE2E81A5FD}"/>
              </a:ext>
            </a:extLst>
          </p:cNvPr>
          <p:cNvSpPr>
            <a:spLocks noGrp="1"/>
          </p:cNvSpPr>
          <p:nvPr/>
        </p:nvSpPr>
        <p:spPr>
          <a:xfrm>
            <a:off x="11054079" y="2687319"/>
            <a:ext cx="7803547" cy="3408681"/>
          </a:xfrm>
          <a:prstGeom prst="rect">
            <a:avLst/>
          </a:prstGeom>
          <a:noFill/>
        </p:spPr>
        <p:txBody>
          <a:bodyPr wrap="square" lIns="0" tIns="0" rIns="0" bIns="0" anchor="t">
            <a:noAutofit/>
          </a:bodyPr>
          <a:lstStyle/>
          <a:p>
            <a:pPr>
              <a:lnSpc>
                <a:spcPct val="160000"/>
              </a:lnSpc>
              <a:buNone/>
              <a:defRPr sz="2925" b="0">
                <a:solidFill>
                  <a:srgbClr val="151515"/>
                </a:solidFill>
                <a:latin typeface="Times New Roman"/>
                <a:ea typeface="Times New Roman"/>
                <a:cs typeface="Times New Roman"/>
              </a:defRPr>
            </a:pPr>
            <a:r>
              <a:rPr sz="2925" b="0" dirty="0" err="1">
                <a:solidFill>
                  <a:srgbClr val="151515"/>
                </a:solidFill>
                <a:latin typeface="Times New Roman"/>
                <a:ea typeface="Times New Roman"/>
                <a:cs typeface="Times New Roman"/>
              </a:rPr>
              <a:t>Dùng</a:t>
            </a:r>
            <a:r>
              <a:rPr sz="2925" b="0" dirty="0">
                <a:solidFill>
                  <a:srgbClr val="151515"/>
                </a:solidFill>
                <a:latin typeface="Times New Roman"/>
                <a:ea typeface="Times New Roman"/>
                <a:cs typeface="Times New Roman"/>
              </a:rPr>
              <a:t> </a:t>
            </a:r>
            <a:r>
              <a:rPr sz="2925" b="0" dirty="0" err="1">
                <a:solidFill>
                  <a:srgbClr val="151515"/>
                </a:solidFill>
                <a:latin typeface="Times New Roman"/>
                <a:ea typeface="Times New Roman"/>
                <a:cs typeface="Times New Roman"/>
              </a:rPr>
              <a:t>thông</a:t>
            </a:r>
            <a:r>
              <a:rPr sz="2925" b="0" dirty="0">
                <a:solidFill>
                  <a:srgbClr val="151515"/>
                </a:solidFill>
                <a:latin typeface="Times New Roman"/>
                <a:ea typeface="Times New Roman"/>
                <a:cs typeface="Times New Roman"/>
              </a:rPr>
              <a:t> tin </a:t>
            </a:r>
            <a:r>
              <a:rPr sz="2925" b="0" dirty="0" err="1">
                <a:solidFill>
                  <a:srgbClr val="151515"/>
                </a:solidFill>
                <a:latin typeface="Times New Roman"/>
                <a:ea typeface="Times New Roman"/>
                <a:cs typeface="Times New Roman"/>
              </a:rPr>
              <a:t>đại</a:t>
            </a:r>
            <a:r>
              <a:rPr sz="2925" b="0" dirty="0">
                <a:solidFill>
                  <a:srgbClr val="151515"/>
                </a:solidFill>
                <a:latin typeface="Times New Roman"/>
                <a:ea typeface="Times New Roman"/>
                <a:cs typeface="Times New Roman"/>
              </a:rPr>
              <a:t> </a:t>
            </a:r>
            <a:r>
              <a:rPr sz="2925" b="0" dirty="0" err="1">
                <a:solidFill>
                  <a:srgbClr val="151515"/>
                </a:solidFill>
                <a:latin typeface="Times New Roman"/>
                <a:ea typeface="Times New Roman"/>
                <a:cs typeface="Times New Roman"/>
              </a:rPr>
              <a:t>diện</a:t>
            </a:r>
            <a:r>
              <a:rPr sz="2925" b="0" dirty="0">
                <a:solidFill>
                  <a:srgbClr val="151515"/>
                </a:solidFill>
                <a:latin typeface="Times New Roman"/>
                <a:ea typeface="Times New Roman"/>
                <a:cs typeface="Times New Roman"/>
              </a:rPr>
              <a:t> </a:t>
            </a:r>
            <a:r>
              <a:rPr sz="2925" b="0" dirty="0" err="1">
                <a:solidFill>
                  <a:srgbClr val="151515"/>
                </a:solidFill>
                <a:latin typeface="Times New Roman"/>
                <a:ea typeface="Times New Roman"/>
                <a:cs typeface="Times New Roman"/>
              </a:rPr>
              <a:t>của</a:t>
            </a:r>
            <a:r>
              <a:rPr sz="2925" b="0" dirty="0">
                <a:solidFill>
                  <a:srgbClr val="151515"/>
                </a:solidFill>
                <a:latin typeface="Times New Roman"/>
                <a:ea typeface="Times New Roman"/>
                <a:cs typeface="Times New Roman"/>
              </a:rPr>
              <a:t> </a:t>
            </a:r>
            <a:r>
              <a:rPr sz="2925" b="0" dirty="0" err="1">
                <a:solidFill>
                  <a:srgbClr val="151515"/>
                </a:solidFill>
                <a:latin typeface="Times New Roman"/>
                <a:ea typeface="Times New Roman"/>
                <a:cs typeface="Times New Roman"/>
              </a:rPr>
              <a:t>cả</a:t>
            </a:r>
            <a:r>
              <a:rPr sz="2925" b="0" dirty="0">
                <a:solidFill>
                  <a:srgbClr val="151515"/>
                </a:solidFill>
                <a:latin typeface="Times New Roman"/>
                <a:ea typeface="Times New Roman"/>
                <a:cs typeface="Times New Roman"/>
              </a:rPr>
              <a:t> </a:t>
            </a:r>
            <a:r>
              <a:rPr sz="2925" b="0" dirty="0" err="1">
                <a:solidFill>
                  <a:srgbClr val="151515"/>
                </a:solidFill>
                <a:latin typeface="Times New Roman"/>
                <a:ea typeface="Times New Roman"/>
                <a:cs typeface="Times New Roman"/>
              </a:rPr>
              <a:t>câu</a:t>
            </a:r>
            <a:r>
              <a:rPr sz="2925" b="0" dirty="0">
                <a:solidFill>
                  <a:srgbClr val="151515"/>
                </a:solidFill>
                <a:latin typeface="Times New Roman"/>
                <a:ea typeface="Times New Roman"/>
                <a:cs typeface="Times New Roman"/>
              </a:rPr>
              <a:t>.</a:t>
            </a:r>
            <a:endParaRPr sz="2400" dirty="0">
              <a:latin typeface="Times New Roman"/>
              <a:ea typeface="Times New Roman"/>
              <a:cs typeface="Times New Roman"/>
            </a:endParaRPr>
          </a:p>
          <a:p>
            <a:pPr>
              <a:lnSpc>
                <a:spcPct val="160000"/>
              </a:lnSpc>
              <a:buNone/>
              <a:defRPr sz="2925" b="0">
                <a:solidFill>
                  <a:srgbClr val="151515"/>
                </a:solidFill>
                <a:latin typeface="Times New Roman"/>
                <a:ea typeface="Times New Roman"/>
                <a:cs typeface="Times New Roman"/>
              </a:defRPr>
            </a:pPr>
            <a:r>
              <a:rPr sz="2925" b="0" dirty="0" err="1">
                <a:solidFill>
                  <a:srgbClr val="151515"/>
                </a:solidFill>
                <a:latin typeface="Times New Roman"/>
                <a:ea typeface="Times New Roman"/>
                <a:cs typeface="Times New Roman"/>
              </a:rPr>
              <a:t>Ước</a:t>
            </a:r>
            <a:r>
              <a:rPr sz="2925" b="0" dirty="0">
                <a:solidFill>
                  <a:srgbClr val="151515"/>
                </a:solidFill>
                <a:latin typeface="Times New Roman"/>
                <a:ea typeface="Times New Roman"/>
                <a:cs typeface="Times New Roman"/>
              </a:rPr>
              <a:t> </a:t>
            </a:r>
            <a:r>
              <a:rPr sz="2925" b="0" dirty="0" err="1">
                <a:solidFill>
                  <a:srgbClr val="151515"/>
                </a:solidFill>
                <a:latin typeface="Times New Roman"/>
                <a:ea typeface="Times New Roman"/>
                <a:cs typeface="Times New Roman"/>
              </a:rPr>
              <a:t>lượng</a:t>
            </a:r>
            <a:r>
              <a:rPr sz="2925" b="0" dirty="0">
                <a:solidFill>
                  <a:srgbClr val="151515"/>
                </a:solidFill>
                <a:latin typeface="Times New Roman"/>
                <a:ea typeface="Times New Roman"/>
                <a:cs typeface="Times New Roman"/>
              </a:rPr>
              <a:t> </a:t>
            </a:r>
            <a:r>
              <a:rPr sz="2925" b="0" dirty="0" err="1">
                <a:solidFill>
                  <a:srgbClr val="151515"/>
                </a:solidFill>
                <a:latin typeface="Times New Roman"/>
                <a:ea typeface="Times New Roman"/>
                <a:cs typeface="Times New Roman"/>
              </a:rPr>
              <a:t>điểm</a:t>
            </a:r>
            <a:r>
              <a:rPr sz="2925" b="0" dirty="0">
                <a:solidFill>
                  <a:srgbClr val="151515"/>
                </a:solidFill>
                <a:latin typeface="Times New Roman"/>
                <a:ea typeface="Times New Roman"/>
                <a:cs typeface="Times New Roman"/>
              </a:rPr>
              <a:t> </a:t>
            </a:r>
            <a:r>
              <a:rPr sz="2925" b="0" dirty="0" err="1">
                <a:solidFill>
                  <a:srgbClr val="151515"/>
                </a:solidFill>
                <a:latin typeface="Times New Roman"/>
                <a:ea typeface="Times New Roman"/>
                <a:cs typeface="Times New Roman"/>
              </a:rPr>
              <a:t>xúc</a:t>
            </a:r>
            <a:r>
              <a:rPr sz="2925" b="0" dirty="0">
                <a:solidFill>
                  <a:srgbClr val="151515"/>
                </a:solidFill>
                <a:latin typeface="Times New Roman"/>
                <a:ea typeface="Times New Roman"/>
                <a:cs typeface="Times New Roman"/>
              </a:rPr>
              <a:t> </a:t>
            </a:r>
            <a:r>
              <a:rPr sz="2925" b="0" dirty="0" err="1">
                <a:solidFill>
                  <a:srgbClr val="151515"/>
                </a:solidFill>
                <a:latin typeface="Times New Roman"/>
                <a:ea typeface="Times New Roman"/>
                <a:cs typeface="Times New Roman"/>
              </a:rPr>
              <a:t>phạm</a:t>
            </a:r>
            <a:r>
              <a:rPr sz="2925" b="0" dirty="0">
                <a:solidFill>
                  <a:srgbClr val="151515"/>
                </a:solidFill>
                <a:latin typeface="Times New Roman"/>
                <a:ea typeface="Times New Roman"/>
                <a:cs typeface="Times New Roman"/>
              </a:rPr>
              <a:t> P </a:t>
            </a:r>
            <a:r>
              <a:rPr sz="2925" b="0" dirty="0" err="1">
                <a:solidFill>
                  <a:srgbClr val="151515"/>
                </a:solidFill>
                <a:latin typeface="Times New Roman"/>
                <a:ea typeface="Times New Roman"/>
                <a:cs typeface="Times New Roman"/>
              </a:rPr>
              <a:t>từ</a:t>
            </a:r>
            <a:r>
              <a:rPr sz="2925" b="0" dirty="0">
                <a:solidFill>
                  <a:srgbClr val="151515"/>
                </a:solidFill>
                <a:latin typeface="Times New Roman"/>
                <a:ea typeface="Times New Roman"/>
                <a:cs typeface="Times New Roman"/>
              </a:rPr>
              <a:t> 0 </a:t>
            </a:r>
            <a:r>
              <a:rPr sz="2925" b="0" dirty="0" err="1">
                <a:solidFill>
                  <a:srgbClr val="151515"/>
                </a:solidFill>
                <a:latin typeface="Times New Roman"/>
                <a:ea typeface="Times New Roman"/>
                <a:cs typeface="Times New Roman"/>
              </a:rPr>
              <a:t>đến</a:t>
            </a:r>
            <a:r>
              <a:rPr sz="2925" b="0" dirty="0">
                <a:solidFill>
                  <a:srgbClr val="151515"/>
                </a:solidFill>
                <a:latin typeface="Times New Roman"/>
                <a:ea typeface="Times New Roman"/>
                <a:cs typeface="Times New Roman"/>
              </a:rPr>
              <a:t> 1.</a:t>
            </a:r>
            <a:endParaRPr sz="2400" dirty="0">
              <a:latin typeface="Times New Roman"/>
              <a:ea typeface="Times New Roman"/>
              <a:cs typeface="Times New Roman"/>
            </a:endParaRPr>
          </a:p>
          <a:p>
            <a:pPr>
              <a:lnSpc>
                <a:spcPct val="160000"/>
              </a:lnSpc>
              <a:buNone/>
              <a:defRPr sz="2925" b="0">
                <a:solidFill>
                  <a:srgbClr val="151515"/>
                </a:solidFill>
                <a:latin typeface="Times New Roman"/>
                <a:ea typeface="Times New Roman"/>
                <a:cs typeface="Times New Roman"/>
              </a:defRPr>
            </a:pPr>
            <a:endParaRPr sz="2400" dirty="0">
              <a:latin typeface="Times New Roman"/>
              <a:ea typeface="Times New Roman"/>
              <a:cs typeface="Times New Roman"/>
            </a:endParaRPr>
          </a:p>
          <a:p>
            <a:pPr>
              <a:lnSpc>
                <a:spcPct val="160000"/>
              </a:lnSpc>
              <a:buNone/>
              <a:defRPr sz="2925" b="0">
                <a:solidFill>
                  <a:srgbClr val="151515"/>
                </a:solidFill>
                <a:latin typeface="Times New Roman"/>
                <a:ea typeface="Times New Roman"/>
                <a:cs typeface="Times New Roman"/>
              </a:defRPr>
            </a:pPr>
            <a:r>
              <a:rPr sz="2925" b="0" dirty="0">
                <a:solidFill>
                  <a:srgbClr val="151515"/>
                </a:solidFill>
                <a:latin typeface="Times New Roman"/>
                <a:ea typeface="Times New Roman"/>
                <a:cs typeface="Times New Roman"/>
              </a:rPr>
              <a:t>Hai </a:t>
            </a:r>
            <a:r>
              <a:rPr sz="2925" b="0" dirty="0" err="1">
                <a:solidFill>
                  <a:srgbClr val="151515"/>
                </a:solidFill>
                <a:latin typeface="Times New Roman"/>
                <a:ea typeface="Times New Roman"/>
                <a:cs typeface="Times New Roman"/>
              </a:rPr>
              <a:t>đầu</a:t>
            </a:r>
            <a:r>
              <a:rPr sz="2925" b="0" dirty="0">
                <a:solidFill>
                  <a:srgbClr val="151515"/>
                </a:solidFill>
                <a:latin typeface="Times New Roman"/>
                <a:ea typeface="Times New Roman"/>
                <a:cs typeface="Times New Roman"/>
              </a:rPr>
              <a:t> </a:t>
            </a:r>
            <a:r>
              <a:rPr sz="2925" b="0" dirty="0" err="1">
                <a:solidFill>
                  <a:srgbClr val="151515"/>
                </a:solidFill>
                <a:latin typeface="Times New Roman"/>
                <a:ea typeface="Times New Roman"/>
                <a:cs typeface="Times New Roman"/>
              </a:rPr>
              <a:t>cùng</a:t>
            </a:r>
            <a:r>
              <a:rPr sz="2925" b="0" dirty="0">
                <a:solidFill>
                  <a:srgbClr val="151515"/>
                </a:solidFill>
                <a:latin typeface="Times New Roman"/>
                <a:ea typeface="Times New Roman"/>
                <a:cs typeface="Times New Roman"/>
              </a:rPr>
              <a:t> </a:t>
            </a:r>
            <a:r>
              <a:rPr sz="2925" b="0" dirty="0" err="1">
                <a:solidFill>
                  <a:srgbClr val="151515"/>
                </a:solidFill>
                <a:latin typeface="Times New Roman"/>
                <a:ea typeface="Times New Roman"/>
                <a:cs typeface="Times New Roman"/>
              </a:rPr>
              <a:t>dùng</a:t>
            </a:r>
            <a:r>
              <a:rPr sz="2925" b="0" dirty="0">
                <a:solidFill>
                  <a:srgbClr val="151515"/>
                </a:solidFill>
                <a:latin typeface="Times New Roman"/>
                <a:ea typeface="Times New Roman"/>
                <a:cs typeface="Times New Roman"/>
              </a:rPr>
              <a:t> </a:t>
            </a:r>
            <a:r>
              <a:rPr sz="2925" b="0" dirty="0" err="1">
                <a:solidFill>
                  <a:srgbClr val="151515"/>
                </a:solidFill>
                <a:latin typeface="Times New Roman"/>
                <a:ea typeface="Times New Roman"/>
                <a:cs typeface="Times New Roman"/>
              </a:rPr>
              <a:t>chung</a:t>
            </a:r>
            <a:r>
              <a:rPr sz="2925" b="0" dirty="0">
                <a:solidFill>
                  <a:srgbClr val="151515"/>
                </a:solidFill>
                <a:latin typeface="Times New Roman"/>
                <a:ea typeface="Times New Roman"/>
                <a:cs typeface="Times New Roman"/>
              </a:rPr>
              <a:t> </a:t>
            </a:r>
            <a:r>
              <a:rPr sz="2925" b="0" dirty="0" err="1">
                <a:solidFill>
                  <a:srgbClr val="151515"/>
                </a:solidFill>
                <a:latin typeface="Times New Roman"/>
                <a:ea typeface="Times New Roman"/>
                <a:cs typeface="Times New Roman"/>
              </a:rPr>
              <a:t>PhoBERT</a:t>
            </a:r>
            <a:r>
              <a:rPr sz="2925" b="0" dirty="0">
                <a:solidFill>
                  <a:srgbClr val="151515"/>
                </a:solidFill>
                <a:latin typeface="Times New Roman"/>
                <a:ea typeface="Times New Roman"/>
                <a:cs typeface="Times New Roman"/>
              </a:rPr>
              <a:t>.</a:t>
            </a:r>
            <a:endParaRPr sz="2400" dirty="0">
              <a:latin typeface="Times New Roman"/>
              <a:ea typeface="Times New Roman"/>
              <a:cs typeface="Times New Roman"/>
            </a:endParaRPr>
          </a:p>
        </p:txBody>
      </p:sp>
      <p:sp>
        <p:nvSpPr>
          <p:cNvPr id="38" name="Text 16">
            <a:extLst>
              <a:ext uri="{FF2B5EF4-FFF2-40B4-BE49-F238E27FC236}">
                <a16:creationId xmlns:a16="http://schemas.microsoft.com/office/drawing/2014/main" id="{316A32BF-41A2-8FE0-871F-125A08FEEEED}"/>
              </a:ext>
            </a:extLst>
          </p:cNvPr>
          <p:cNvSpPr>
            <a:spLocks noGrp="1"/>
          </p:cNvSpPr>
          <p:nvPr/>
        </p:nvSpPr>
        <p:spPr>
          <a:xfrm>
            <a:off x="2949731" y="7484618"/>
            <a:ext cx="14224000" cy="635000"/>
          </a:xfrm>
          <a:prstGeom prst="rect">
            <a:avLst/>
          </a:prstGeom>
          <a:noFill/>
        </p:spPr>
        <p:txBody>
          <a:bodyPr wrap="square" lIns="0" tIns="0" rIns="0" bIns="0" anchor="ctr">
            <a:noAutofit/>
          </a:bodyPr>
          <a:lstStyle/>
          <a:p>
            <a:pPr algn="ctr">
              <a:lnSpc>
                <a:spcPct val="100000"/>
              </a:lnSpc>
              <a:buNone/>
              <a:defRPr sz="3000" b="0">
                <a:solidFill>
                  <a:srgbClr val="151515"/>
                </a:solidFill>
                <a:latin typeface="Times New Roman"/>
                <a:ea typeface="Times New Roman"/>
                <a:cs typeface="Times New Roman"/>
              </a:defRPr>
            </a:pPr>
            <a:r>
              <a:rPr sz="3000" b="0">
                <a:solidFill>
                  <a:srgbClr val="151515"/>
                </a:solidFill>
                <a:latin typeface="Times New Roman"/>
                <a:ea typeface="Times New Roman"/>
                <a:cs typeface="Times New Roman"/>
              </a:rPr>
              <a:t>P &lt; 0,5: đổi nhãn về O.     P ≥ 0,5: giữ nhãn của đầu 1.</a:t>
            </a:r>
            <a:endParaRPr sz="2800">
              <a:latin typeface="Times New Roman"/>
              <a:ea typeface="Times New Roman"/>
              <a:cs typeface="Times New Roman"/>
            </a:endParaRPr>
          </a:p>
        </p:txBody>
      </p:sp>
    </p:spTree>
    <p:extLst>
      <p:ext uri="{BB962C8B-B14F-4D97-AF65-F5344CB8AC3E}">
        <p14:creationId xmlns:p14="http://schemas.microsoft.com/office/powerpoint/2010/main" val="6123651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759A78F6-CA85-4D00-B269-FD62517A2E4A}"/>
              </a:ext>
            </a:extLst>
          </p:cNvPr>
          <p:cNvSpPr>
            <a:spLocks noGrp="1"/>
          </p:cNvSpPr>
          <p:nvPr/>
        </p:nvSpPr>
        <p:spPr>
          <a:xfrm>
            <a:off x="0" y="0"/>
            <a:ext cx="21674709" cy="677291"/>
          </a:xfrm>
          <a:prstGeom prst="rect">
            <a:avLst/>
          </a:prstGeom>
          <a:solidFill>
            <a:srgbClr val="1565C0"/>
          </a:solidFill>
        </p:spPr>
      </p:sp>
      <p:sp>
        <p:nvSpPr>
          <p:cNvPr id="3" name="Shape 1">
            <a:extLst>
              <a:ext uri="{FF2B5EF4-FFF2-40B4-BE49-F238E27FC236}">
                <a16:creationId xmlns:a16="http://schemas.microsoft.com/office/drawing/2014/main" id="{6680B868-52EE-463A-9E1D-1C9D325E99D3}"/>
              </a:ext>
            </a:extLst>
          </p:cNvPr>
          <p:cNvSpPr>
            <a:spLocks noGrp="1"/>
          </p:cNvSpPr>
          <p:nvPr/>
        </p:nvSpPr>
        <p:spPr>
          <a:xfrm>
            <a:off x="3725227" y="84709"/>
            <a:ext cx="3386709" cy="508000"/>
          </a:xfrm>
          <a:prstGeom prst="roundRect">
            <a:avLst>
              <a:gd name="adj" fmla="val 8000"/>
            </a:avLst>
          </a:prstGeom>
          <a:solidFill>
            <a:srgbClr val="FFFFFF">
              <a:alpha val="3576"/>
            </a:srgbClr>
          </a:solidFill>
        </p:spPr>
      </p:sp>
      <p:sp>
        <p:nvSpPr>
          <p:cNvPr id="4" name="Shape 2">
            <a:extLst>
              <a:ext uri="{FF2B5EF4-FFF2-40B4-BE49-F238E27FC236}">
                <a16:creationId xmlns:a16="http://schemas.microsoft.com/office/drawing/2014/main" id="{3D269225-725F-4E42-9A5A-5A23BA587C0E}"/>
              </a:ext>
            </a:extLst>
          </p:cNvPr>
          <p:cNvSpPr>
            <a:spLocks noGrp="1"/>
          </p:cNvSpPr>
          <p:nvPr/>
        </p:nvSpPr>
        <p:spPr>
          <a:xfrm>
            <a:off x="169291" y="0"/>
            <a:ext cx="3386709" cy="677291"/>
          </a:xfrm>
          <a:prstGeom prst="rect">
            <a:avLst/>
          </a:prstGeom>
          <a:solidFill>
            <a:srgbClr val="FFFFFF">
              <a:alpha val="0"/>
            </a:srgbClr>
          </a:solidFill>
        </p:spPr>
      </p:sp>
      <p:sp>
        <p:nvSpPr>
          <p:cNvPr id="5" name="Text 3">
            <a:extLst>
              <a:ext uri="{FF2B5EF4-FFF2-40B4-BE49-F238E27FC236}">
                <a16:creationId xmlns:a16="http://schemas.microsoft.com/office/drawing/2014/main" id="{8487EB80-44A7-439D-826B-526890C6D212}"/>
              </a:ext>
            </a:extLst>
          </p:cNvPr>
          <p:cNvSpPr>
            <a:spLocks noGrp="1"/>
          </p:cNvSpPr>
          <p:nvPr/>
        </p:nvSpPr>
        <p:spPr>
          <a:xfrm>
            <a:off x="47339"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1. Bài toán và dữ liệu</a:t>
            </a:r>
            <a:endParaRPr sz="1600"/>
          </a:p>
        </p:txBody>
      </p:sp>
      <p:sp>
        <p:nvSpPr>
          <p:cNvPr id="6" name="Shape 4">
            <a:extLst>
              <a:ext uri="{FF2B5EF4-FFF2-40B4-BE49-F238E27FC236}">
                <a16:creationId xmlns:a16="http://schemas.microsoft.com/office/drawing/2014/main" id="{6E0582A5-963E-4F00-AE0B-B02CED718996}"/>
              </a:ext>
            </a:extLst>
          </p:cNvPr>
          <p:cNvSpPr>
            <a:spLocks noGrp="1"/>
          </p:cNvSpPr>
          <p:nvPr/>
        </p:nvSpPr>
        <p:spPr>
          <a:xfrm>
            <a:off x="3725291" y="0"/>
            <a:ext cx="3386709" cy="677291"/>
          </a:xfrm>
          <a:prstGeom prst="rect">
            <a:avLst/>
          </a:prstGeom>
          <a:solidFill>
            <a:srgbClr val="FFFFFF">
              <a:alpha val="0"/>
            </a:srgbClr>
          </a:solidFill>
        </p:spPr>
      </p:sp>
      <p:sp>
        <p:nvSpPr>
          <p:cNvPr id="7" name="Text 5">
            <a:extLst>
              <a:ext uri="{FF2B5EF4-FFF2-40B4-BE49-F238E27FC236}">
                <a16:creationId xmlns:a16="http://schemas.microsoft.com/office/drawing/2014/main" id="{87C82307-4A49-4D40-A601-ADDFD1843CE6}"/>
              </a:ext>
            </a:extLst>
          </p:cNvPr>
          <p:cNvSpPr>
            <a:spLocks noGrp="1"/>
          </p:cNvSpPr>
          <p:nvPr/>
        </p:nvSpPr>
        <p:spPr>
          <a:xfrm>
            <a:off x="3603403" y="0"/>
            <a:ext cx="3630549" cy="676275"/>
          </a:xfrm>
          <a:prstGeom prst="rect">
            <a:avLst/>
          </a:prstGeom>
          <a:noFill/>
        </p:spPr>
        <p:txBody>
          <a:bodyPr wrap="none" lIns="0" tIns="0" rIns="0" bIns="0" anchor="ctr">
            <a:noAutofit/>
          </a:bodyPr>
          <a:lstStyle/>
          <a:p>
            <a:pPr algn="ctr">
              <a:lnSpc>
                <a:spcPct val="100000"/>
              </a:lnSpc>
              <a:buNone/>
              <a:defRPr sz="1875" b="1">
                <a:solidFill>
                  <a:srgbClr val="FFFFFF"/>
                </a:solidFill>
                <a:latin typeface="Times New Roman"/>
                <a:ea typeface="Times New Roman"/>
                <a:cs typeface="Times New Roman"/>
              </a:defRPr>
            </a:pPr>
            <a:r>
              <a:rPr sz="1875" b="1">
                <a:solidFill>
                  <a:srgbClr val="FFFFFF"/>
                </a:solidFill>
                <a:latin typeface="Times New Roman"/>
                <a:ea typeface="Times New Roman"/>
                <a:cs typeface="Times New Roman"/>
              </a:rPr>
              <a:t>2. Mô hình và dual head</a:t>
            </a:r>
            <a:endParaRPr sz="1600"/>
          </a:p>
        </p:txBody>
      </p:sp>
      <p:sp>
        <p:nvSpPr>
          <p:cNvPr id="8" name="Shape 6">
            <a:extLst>
              <a:ext uri="{FF2B5EF4-FFF2-40B4-BE49-F238E27FC236}">
                <a16:creationId xmlns:a16="http://schemas.microsoft.com/office/drawing/2014/main" id="{423A1F33-EF39-4A12-A359-C4E17FEE15CA}"/>
              </a:ext>
            </a:extLst>
          </p:cNvPr>
          <p:cNvSpPr>
            <a:spLocks noGrp="1"/>
          </p:cNvSpPr>
          <p:nvPr/>
        </p:nvSpPr>
        <p:spPr>
          <a:xfrm>
            <a:off x="7281291" y="0"/>
            <a:ext cx="3386709" cy="677291"/>
          </a:xfrm>
          <a:prstGeom prst="rect">
            <a:avLst/>
          </a:prstGeom>
          <a:solidFill>
            <a:srgbClr val="FFFFFF">
              <a:alpha val="0"/>
            </a:srgbClr>
          </a:solidFill>
        </p:spPr>
      </p:sp>
      <p:sp>
        <p:nvSpPr>
          <p:cNvPr id="9" name="Text 7">
            <a:extLst>
              <a:ext uri="{FF2B5EF4-FFF2-40B4-BE49-F238E27FC236}">
                <a16:creationId xmlns:a16="http://schemas.microsoft.com/office/drawing/2014/main" id="{855FFD9C-5668-464C-B604-52E936728263}"/>
              </a:ext>
            </a:extLst>
          </p:cNvPr>
          <p:cNvSpPr>
            <a:spLocks noGrp="1"/>
          </p:cNvSpPr>
          <p:nvPr/>
        </p:nvSpPr>
        <p:spPr>
          <a:xfrm>
            <a:off x="7159371"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3. Kết quả</a:t>
            </a:r>
            <a:endParaRPr sz="1600"/>
          </a:p>
        </p:txBody>
      </p:sp>
      <p:sp>
        <p:nvSpPr>
          <p:cNvPr id="10" name="Shape 8">
            <a:extLst>
              <a:ext uri="{FF2B5EF4-FFF2-40B4-BE49-F238E27FC236}">
                <a16:creationId xmlns:a16="http://schemas.microsoft.com/office/drawing/2014/main" id="{39B60F24-7C3E-4018-A36A-579664416722}"/>
              </a:ext>
            </a:extLst>
          </p:cNvPr>
          <p:cNvSpPr>
            <a:spLocks noGrp="1"/>
          </p:cNvSpPr>
          <p:nvPr/>
        </p:nvSpPr>
        <p:spPr>
          <a:xfrm>
            <a:off x="10837291" y="0"/>
            <a:ext cx="3386709" cy="677291"/>
          </a:xfrm>
          <a:prstGeom prst="rect">
            <a:avLst/>
          </a:prstGeom>
          <a:solidFill>
            <a:srgbClr val="FFFFFF">
              <a:alpha val="0"/>
            </a:srgbClr>
          </a:solidFill>
        </p:spPr>
      </p:sp>
      <p:sp>
        <p:nvSpPr>
          <p:cNvPr id="11" name="Text 9">
            <a:extLst>
              <a:ext uri="{FF2B5EF4-FFF2-40B4-BE49-F238E27FC236}">
                <a16:creationId xmlns:a16="http://schemas.microsoft.com/office/drawing/2014/main" id="{6701011B-42CF-402F-9608-6DA7445ED492}"/>
              </a:ext>
            </a:extLst>
          </p:cNvPr>
          <p:cNvSpPr>
            <a:spLocks noGrp="1"/>
          </p:cNvSpPr>
          <p:nvPr/>
        </p:nvSpPr>
        <p:spPr>
          <a:xfrm>
            <a:off x="10715339"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4. Phân tích lỗi</a:t>
            </a:r>
            <a:endParaRPr sz="1600"/>
          </a:p>
        </p:txBody>
      </p:sp>
      <p:sp>
        <p:nvSpPr>
          <p:cNvPr id="12" name="Shape 10">
            <a:extLst>
              <a:ext uri="{FF2B5EF4-FFF2-40B4-BE49-F238E27FC236}">
                <a16:creationId xmlns:a16="http://schemas.microsoft.com/office/drawing/2014/main" id="{31269858-CBF9-4D7E-A5D0-584EF553AD9E}"/>
              </a:ext>
            </a:extLst>
          </p:cNvPr>
          <p:cNvSpPr>
            <a:spLocks noGrp="1"/>
          </p:cNvSpPr>
          <p:nvPr/>
        </p:nvSpPr>
        <p:spPr>
          <a:xfrm>
            <a:off x="14393291" y="0"/>
            <a:ext cx="3386709" cy="677291"/>
          </a:xfrm>
          <a:prstGeom prst="rect">
            <a:avLst/>
          </a:prstGeom>
          <a:solidFill>
            <a:srgbClr val="FFFFFF">
              <a:alpha val="0"/>
            </a:srgbClr>
          </a:solidFill>
        </p:spPr>
      </p:sp>
      <p:sp>
        <p:nvSpPr>
          <p:cNvPr id="13" name="Text 11">
            <a:extLst>
              <a:ext uri="{FF2B5EF4-FFF2-40B4-BE49-F238E27FC236}">
                <a16:creationId xmlns:a16="http://schemas.microsoft.com/office/drawing/2014/main" id="{38F86A0C-54D2-4AE6-9620-A773AED64E5B}"/>
              </a:ext>
            </a:extLst>
          </p:cNvPr>
          <p:cNvSpPr>
            <a:spLocks noGrp="1"/>
          </p:cNvSpPr>
          <p:nvPr/>
        </p:nvSpPr>
        <p:spPr>
          <a:xfrm>
            <a:off x="14271403"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5. Ứng dụng</a:t>
            </a:r>
            <a:endParaRPr sz="1600"/>
          </a:p>
        </p:txBody>
      </p:sp>
      <p:sp>
        <p:nvSpPr>
          <p:cNvPr id="14" name="Shape 12">
            <a:extLst>
              <a:ext uri="{FF2B5EF4-FFF2-40B4-BE49-F238E27FC236}">
                <a16:creationId xmlns:a16="http://schemas.microsoft.com/office/drawing/2014/main" id="{FA55D761-F5D2-43C5-9586-2C4549345AA9}"/>
              </a:ext>
            </a:extLst>
          </p:cNvPr>
          <p:cNvSpPr>
            <a:spLocks noGrp="1"/>
          </p:cNvSpPr>
          <p:nvPr/>
        </p:nvSpPr>
        <p:spPr>
          <a:xfrm>
            <a:off x="17949291" y="0"/>
            <a:ext cx="3386709" cy="677291"/>
          </a:xfrm>
          <a:prstGeom prst="rect">
            <a:avLst/>
          </a:prstGeom>
          <a:solidFill>
            <a:srgbClr val="FFFFFF">
              <a:alpha val="0"/>
            </a:srgbClr>
          </a:solidFill>
        </p:spPr>
      </p:sp>
      <p:sp>
        <p:nvSpPr>
          <p:cNvPr id="15" name="Text 13">
            <a:extLst>
              <a:ext uri="{FF2B5EF4-FFF2-40B4-BE49-F238E27FC236}">
                <a16:creationId xmlns:a16="http://schemas.microsoft.com/office/drawing/2014/main" id="{97899EEC-EF49-41F6-B5C5-51F331A3C076}"/>
              </a:ext>
            </a:extLst>
          </p:cNvPr>
          <p:cNvSpPr>
            <a:spLocks noGrp="1"/>
          </p:cNvSpPr>
          <p:nvPr/>
        </p:nvSpPr>
        <p:spPr>
          <a:xfrm>
            <a:off x="17827371"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6. Cải thiện</a:t>
            </a:r>
            <a:endParaRPr sz="1600"/>
          </a:p>
        </p:txBody>
      </p:sp>
      <p:sp>
        <p:nvSpPr>
          <p:cNvPr id="16" name="Shape 14">
            <a:extLst>
              <a:ext uri="{FF2B5EF4-FFF2-40B4-BE49-F238E27FC236}">
                <a16:creationId xmlns:a16="http://schemas.microsoft.com/office/drawing/2014/main" id="{5219EAC3-C1A2-4530-85DC-F74BD98C5B1D}"/>
              </a:ext>
            </a:extLst>
          </p:cNvPr>
          <p:cNvSpPr>
            <a:spLocks noGrp="1"/>
          </p:cNvSpPr>
          <p:nvPr/>
        </p:nvSpPr>
        <p:spPr>
          <a:xfrm>
            <a:off x="1016000" y="931291"/>
            <a:ext cx="16933291" cy="643509"/>
          </a:xfrm>
          <a:prstGeom prst="rect">
            <a:avLst/>
          </a:prstGeom>
          <a:solidFill>
            <a:srgbClr val="FFFFFF">
              <a:alpha val="0"/>
            </a:srgbClr>
          </a:solidFill>
        </p:spPr>
      </p:sp>
      <p:sp>
        <p:nvSpPr>
          <p:cNvPr id="17" name="Text 15">
            <a:extLst>
              <a:ext uri="{FF2B5EF4-FFF2-40B4-BE49-F238E27FC236}">
                <a16:creationId xmlns:a16="http://schemas.microsoft.com/office/drawing/2014/main" id="{CDB95956-56CE-4F23-BCFC-4FDC2EA77C4C}"/>
              </a:ext>
            </a:extLst>
          </p:cNvPr>
          <p:cNvSpPr>
            <a:spLocks noGrp="1"/>
          </p:cNvSpPr>
          <p:nvPr/>
        </p:nvSpPr>
        <p:spPr>
          <a:xfrm>
            <a:off x="894080" y="870331"/>
            <a:ext cx="17177131" cy="765429"/>
          </a:xfrm>
          <a:prstGeom prst="rect">
            <a:avLst/>
          </a:prstGeom>
          <a:noFill/>
        </p:spPr>
        <p:txBody>
          <a:bodyPr wrap="none" lIns="0" tIns="0" rIns="0" bIns="0" anchor="ctr">
            <a:noAutofit/>
          </a:bodyPr>
          <a:lstStyle/>
          <a:p>
            <a:pPr>
              <a:lnSpc>
                <a:spcPct val="100000"/>
              </a:lnSpc>
              <a:buNone/>
              <a:defRPr sz="3900" b="1">
                <a:solidFill>
                  <a:srgbClr val="1565C0"/>
                </a:solidFill>
                <a:latin typeface="Times New Roman"/>
                <a:ea typeface="Times New Roman"/>
                <a:cs typeface="Times New Roman"/>
              </a:defRPr>
            </a:pPr>
            <a:r>
              <a:rPr sz="3900" b="1">
                <a:solidFill>
                  <a:srgbClr val="1565C0"/>
                </a:solidFill>
                <a:latin typeface="Times New Roman"/>
                <a:ea typeface="Times New Roman"/>
                <a:cs typeface="Times New Roman"/>
              </a:rPr>
              <a:t>Ví dụ: cổng lọc xử lý hai ngữ cảnh</a:t>
            </a:r>
            <a:endParaRPr sz="1600"/>
          </a:p>
        </p:txBody>
      </p:sp>
      <p:sp>
        <p:nvSpPr>
          <p:cNvPr id="18" name="Shape 16">
            <a:extLst>
              <a:ext uri="{FF2B5EF4-FFF2-40B4-BE49-F238E27FC236}">
                <a16:creationId xmlns:a16="http://schemas.microsoft.com/office/drawing/2014/main" id="{1F194036-49A2-4A9F-B513-26431268BD5E}"/>
              </a:ext>
            </a:extLst>
          </p:cNvPr>
          <p:cNvSpPr>
            <a:spLocks noGrp="1"/>
          </p:cNvSpPr>
          <p:nvPr/>
        </p:nvSpPr>
        <p:spPr>
          <a:xfrm>
            <a:off x="1016000" y="1625600"/>
            <a:ext cx="19642709" cy="50800"/>
          </a:xfrm>
          <a:prstGeom prst="rect">
            <a:avLst/>
          </a:prstGeom>
          <a:solidFill>
            <a:srgbClr val="1565C0"/>
          </a:solidFill>
        </p:spPr>
      </p:sp>
      <p:sp>
        <p:nvSpPr>
          <p:cNvPr id="19" name="Shape 17">
            <a:extLst>
              <a:ext uri="{FF2B5EF4-FFF2-40B4-BE49-F238E27FC236}">
                <a16:creationId xmlns:a16="http://schemas.microsoft.com/office/drawing/2014/main" id="{01B6932B-6C44-4EF7-960E-DBA93BD469FA}"/>
              </a:ext>
            </a:extLst>
          </p:cNvPr>
          <p:cNvSpPr>
            <a:spLocks noGrp="1"/>
          </p:cNvSpPr>
          <p:nvPr/>
        </p:nvSpPr>
        <p:spPr>
          <a:xfrm>
            <a:off x="1016000" y="1947291"/>
            <a:ext cx="19642709" cy="846709"/>
          </a:xfrm>
          <a:prstGeom prst="rect">
            <a:avLst/>
          </a:prstGeom>
          <a:solidFill>
            <a:srgbClr val="FFFFFF">
              <a:alpha val="0"/>
            </a:srgbClr>
          </a:solidFill>
        </p:spPr>
      </p:sp>
      <p:sp>
        <p:nvSpPr>
          <p:cNvPr id="20" name="Text 18">
            <a:extLst>
              <a:ext uri="{FF2B5EF4-FFF2-40B4-BE49-F238E27FC236}">
                <a16:creationId xmlns:a16="http://schemas.microsoft.com/office/drawing/2014/main" id="{B2D84FCA-38F4-4E0C-B811-824B1FD03B10}"/>
              </a:ext>
            </a:extLst>
          </p:cNvPr>
          <p:cNvSpPr>
            <a:spLocks noGrp="1"/>
          </p:cNvSpPr>
          <p:nvPr/>
        </p:nvSpPr>
        <p:spPr>
          <a:xfrm>
            <a:off x="894080" y="1886331"/>
            <a:ext cx="19886549" cy="968629"/>
          </a:xfrm>
          <a:prstGeom prst="rect">
            <a:avLst/>
          </a:prstGeom>
          <a:noFill/>
        </p:spPr>
        <p:txBody>
          <a:bodyPr wrap="square" lIns="0" tIns="0" rIns="0" bIns="0" anchor="t">
            <a:noAutofit/>
          </a:bodyPr>
          <a:lstStyle/>
          <a:p>
            <a:pPr>
              <a:lnSpc>
                <a:spcPct val="160000"/>
              </a:lnSpc>
              <a:buNone/>
              <a:defRPr sz="2850" b="0">
                <a:solidFill>
                  <a:srgbClr val="151515"/>
                </a:solidFill>
                <a:latin typeface="Times New Roman"/>
                <a:ea typeface="Times New Roman"/>
                <a:cs typeface="Times New Roman"/>
              </a:defRPr>
            </a:pPr>
            <a:r>
              <a:rPr sz="2850" b="0">
                <a:solidFill>
                  <a:srgbClr val="151515"/>
                </a:solidFill>
                <a:latin typeface="Times New Roman"/>
                <a:ea typeface="Times New Roman"/>
                <a:cs typeface="Times New Roman"/>
              </a:rPr>
              <a:t>Minh họa khi xử lý riêng từng vế: “Con chó này đẹp, Mày đúng là con chó”.</a:t>
            </a:r>
            <a:endParaRPr sz="1600"/>
          </a:p>
        </p:txBody>
      </p:sp>
      <p:sp>
        <p:nvSpPr>
          <p:cNvPr id="21" name="Shape 19">
            <a:extLst>
              <a:ext uri="{FF2B5EF4-FFF2-40B4-BE49-F238E27FC236}">
                <a16:creationId xmlns:a16="http://schemas.microsoft.com/office/drawing/2014/main" id="{A23AB932-F9AB-4520-A972-B68066BA9FED}"/>
              </a:ext>
            </a:extLst>
          </p:cNvPr>
          <p:cNvSpPr>
            <a:spLocks noGrp="1"/>
          </p:cNvSpPr>
          <p:nvPr/>
        </p:nvSpPr>
        <p:spPr>
          <a:xfrm>
            <a:off x="1016000" y="2878709"/>
            <a:ext cx="9482709" cy="5249291"/>
          </a:xfrm>
          <a:prstGeom prst="roundRect">
            <a:avLst>
              <a:gd name="adj" fmla="val 8000"/>
            </a:avLst>
          </a:prstGeom>
          <a:solidFill>
            <a:srgbClr val="E3F2FD"/>
          </a:solidFill>
          <a:ln w="25400">
            <a:solidFill>
              <a:srgbClr val="1565C0"/>
            </a:solidFill>
            <a:prstDash val="solid"/>
          </a:ln>
        </p:spPr>
      </p:sp>
      <p:sp>
        <p:nvSpPr>
          <p:cNvPr id="22" name="Shape 20">
            <a:extLst>
              <a:ext uri="{FF2B5EF4-FFF2-40B4-BE49-F238E27FC236}">
                <a16:creationId xmlns:a16="http://schemas.microsoft.com/office/drawing/2014/main" id="{D0231DE9-824E-4A69-A6F9-D3FB78752451}"/>
              </a:ext>
            </a:extLst>
          </p:cNvPr>
          <p:cNvSpPr>
            <a:spLocks noGrp="1"/>
          </p:cNvSpPr>
          <p:nvPr/>
        </p:nvSpPr>
        <p:spPr>
          <a:xfrm>
            <a:off x="1270000" y="3081909"/>
            <a:ext cx="2370709" cy="508000"/>
          </a:xfrm>
          <a:prstGeom prst="roundRect">
            <a:avLst>
              <a:gd name="adj" fmla="val 12000"/>
            </a:avLst>
          </a:prstGeom>
          <a:solidFill>
            <a:srgbClr val="1565C0"/>
          </a:solidFill>
        </p:spPr>
      </p:sp>
      <p:sp>
        <p:nvSpPr>
          <p:cNvPr id="23" name="Shape 21">
            <a:extLst>
              <a:ext uri="{FF2B5EF4-FFF2-40B4-BE49-F238E27FC236}">
                <a16:creationId xmlns:a16="http://schemas.microsoft.com/office/drawing/2014/main" id="{28E95DC1-3622-4A74-B0C0-2587A01454F7}"/>
              </a:ext>
            </a:extLst>
          </p:cNvPr>
          <p:cNvSpPr>
            <a:spLocks noGrp="1"/>
          </p:cNvSpPr>
          <p:nvPr/>
        </p:nvSpPr>
        <p:spPr>
          <a:xfrm>
            <a:off x="1270000" y="3081909"/>
            <a:ext cx="2370709" cy="508000"/>
          </a:xfrm>
          <a:prstGeom prst="rect">
            <a:avLst/>
          </a:prstGeom>
          <a:solidFill>
            <a:srgbClr val="FFFFFF">
              <a:alpha val="0"/>
            </a:srgbClr>
          </a:solidFill>
        </p:spPr>
      </p:sp>
      <p:sp>
        <p:nvSpPr>
          <p:cNvPr id="24" name="Text 22">
            <a:extLst>
              <a:ext uri="{FF2B5EF4-FFF2-40B4-BE49-F238E27FC236}">
                <a16:creationId xmlns:a16="http://schemas.microsoft.com/office/drawing/2014/main" id="{EFCC1B4E-E5D4-4096-A60B-15539F7158C8}"/>
              </a:ext>
            </a:extLst>
          </p:cNvPr>
          <p:cNvSpPr>
            <a:spLocks noGrp="1"/>
          </p:cNvSpPr>
          <p:nvPr/>
        </p:nvSpPr>
        <p:spPr>
          <a:xfrm>
            <a:off x="1148080" y="3020949"/>
            <a:ext cx="2614549" cy="629920"/>
          </a:xfrm>
          <a:prstGeom prst="rect">
            <a:avLst/>
          </a:prstGeom>
          <a:noFill/>
        </p:spPr>
        <p:txBody>
          <a:bodyPr wrap="none" lIns="0" tIns="0" rIns="0" bIns="0" anchor="ctr">
            <a:noAutofit/>
          </a:bodyPr>
          <a:lstStyle/>
          <a:p>
            <a:pPr algn="ctr">
              <a:lnSpc>
                <a:spcPct val="100000"/>
              </a:lnSpc>
              <a:buNone/>
              <a:defRPr sz="2325" b="1">
                <a:solidFill>
                  <a:srgbClr val="FFFFFF"/>
                </a:solidFill>
                <a:latin typeface="Times New Roman"/>
                <a:ea typeface="Times New Roman"/>
                <a:cs typeface="Times New Roman"/>
              </a:defRPr>
            </a:pPr>
            <a:r>
              <a:rPr sz="2325" b="1">
                <a:solidFill>
                  <a:srgbClr val="FFFFFF"/>
                </a:solidFill>
                <a:latin typeface="Times New Roman"/>
                <a:ea typeface="Times New Roman"/>
                <a:cs typeface="Times New Roman"/>
              </a:rPr>
              <a:t>VẾ 1</a:t>
            </a:r>
            <a:endParaRPr sz="1600"/>
          </a:p>
        </p:txBody>
      </p:sp>
      <p:sp>
        <p:nvSpPr>
          <p:cNvPr id="25" name="Shape 23">
            <a:extLst>
              <a:ext uri="{FF2B5EF4-FFF2-40B4-BE49-F238E27FC236}">
                <a16:creationId xmlns:a16="http://schemas.microsoft.com/office/drawing/2014/main" id="{E1538C8E-44C8-4027-B182-0B0A643A0CA5}"/>
              </a:ext>
            </a:extLst>
          </p:cNvPr>
          <p:cNvSpPr>
            <a:spLocks noGrp="1"/>
          </p:cNvSpPr>
          <p:nvPr/>
        </p:nvSpPr>
        <p:spPr>
          <a:xfrm>
            <a:off x="3810000" y="3081909"/>
            <a:ext cx="6434709" cy="508000"/>
          </a:xfrm>
          <a:prstGeom prst="rect">
            <a:avLst/>
          </a:prstGeom>
          <a:solidFill>
            <a:srgbClr val="FFFFFF">
              <a:alpha val="0"/>
            </a:srgbClr>
          </a:solidFill>
        </p:spPr>
      </p:sp>
      <p:sp>
        <p:nvSpPr>
          <p:cNvPr id="26" name="Text 24">
            <a:extLst>
              <a:ext uri="{FF2B5EF4-FFF2-40B4-BE49-F238E27FC236}">
                <a16:creationId xmlns:a16="http://schemas.microsoft.com/office/drawing/2014/main" id="{68BC3F29-BB47-4252-A00A-4EC9BB6E6C14}"/>
              </a:ext>
            </a:extLst>
          </p:cNvPr>
          <p:cNvSpPr>
            <a:spLocks noGrp="1"/>
          </p:cNvSpPr>
          <p:nvPr/>
        </p:nvSpPr>
        <p:spPr>
          <a:xfrm>
            <a:off x="3688080" y="3020949"/>
            <a:ext cx="6678549" cy="629920"/>
          </a:xfrm>
          <a:prstGeom prst="rect">
            <a:avLst/>
          </a:prstGeom>
          <a:noFill/>
        </p:spPr>
        <p:txBody>
          <a:bodyPr wrap="none" lIns="0" tIns="0" rIns="0" bIns="0" anchor="ctr">
            <a:noAutofit/>
          </a:bodyPr>
          <a:lstStyle/>
          <a:p>
            <a:pPr>
              <a:lnSpc>
                <a:spcPct val="100000"/>
              </a:lnSpc>
              <a:buNone/>
              <a:defRPr sz="3000" b="1">
                <a:solidFill>
                  <a:srgbClr val="1565C0"/>
                </a:solidFill>
                <a:latin typeface="Times New Roman"/>
                <a:ea typeface="Times New Roman"/>
                <a:cs typeface="Times New Roman"/>
              </a:defRPr>
            </a:pPr>
            <a:r>
              <a:rPr sz="3000" b="1">
                <a:solidFill>
                  <a:srgbClr val="1565C0"/>
                </a:solidFill>
                <a:latin typeface="Times New Roman"/>
                <a:ea typeface="Times New Roman"/>
                <a:cs typeface="Times New Roman"/>
              </a:rPr>
              <a:t>Nói về thú cưng</a:t>
            </a:r>
            <a:endParaRPr sz="1600"/>
          </a:p>
        </p:txBody>
      </p:sp>
      <p:sp>
        <p:nvSpPr>
          <p:cNvPr id="27" name="Shape 25">
            <a:extLst>
              <a:ext uri="{FF2B5EF4-FFF2-40B4-BE49-F238E27FC236}">
                <a16:creationId xmlns:a16="http://schemas.microsoft.com/office/drawing/2014/main" id="{3ADB9359-5F8D-484C-B9A4-C01DF0E078ED}"/>
              </a:ext>
            </a:extLst>
          </p:cNvPr>
          <p:cNvSpPr>
            <a:spLocks noGrp="1"/>
          </p:cNvSpPr>
          <p:nvPr/>
        </p:nvSpPr>
        <p:spPr>
          <a:xfrm>
            <a:off x="1270000" y="3810000"/>
            <a:ext cx="8974709" cy="4064000"/>
          </a:xfrm>
          <a:prstGeom prst="rect">
            <a:avLst/>
          </a:prstGeom>
          <a:solidFill>
            <a:srgbClr val="FFFFFF">
              <a:alpha val="0"/>
            </a:srgbClr>
          </a:solidFill>
        </p:spPr>
      </p:sp>
      <p:sp>
        <p:nvSpPr>
          <p:cNvPr id="28" name="Text 26">
            <a:extLst>
              <a:ext uri="{FF2B5EF4-FFF2-40B4-BE49-F238E27FC236}">
                <a16:creationId xmlns:a16="http://schemas.microsoft.com/office/drawing/2014/main" id="{1676CF58-D1CC-4C34-9973-B491830920EC}"/>
              </a:ext>
            </a:extLst>
          </p:cNvPr>
          <p:cNvSpPr>
            <a:spLocks noGrp="1"/>
          </p:cNvSpPr>
          <p:nvPr/>
        </p:nvSpPr>
        <p:spPr>
          <a:xfrm>
            <a:off x="1148080" y="3749040"/>
            <a:ext cx="9218549" cy="4185920"/>
          </a:xfrm>
          <a:prstGeom prst="rect">
            <a:avLst/>
          </a:prstGeom>
          <a:noFill/>
        </p:spPr>
        <p:txBody>
          <a:bodyPr wrap="square" lIns="0" tIns="0" rIns="0" bIns="0" anchor="t">
            <a:noAutofit/>
          </a:bodyPr>
          <a:lstStyle/>
          <a:p>
            <a:pPr>
              <a:lnSpc>
                <a:spcPct val="150000"/>
              </a:lnSpc>
              <a:buNone/>
              <a:defRPr sz="2850" b="0">
                <a:solidFill>
                  <a:srgbClr val="151515"/>
                </a:solidFill>
                <a:latin typeface="Times New Roman"/>
                <a:ea typeface="Times New Roman"/>
                <a:cs typeface="Times New Roman"/>
              </a:defRPr>
            </a:pPr>
            <a:r>
              <a:rPr sz="2850" b="0">
                <a:solidFill>
                  <a:srgbClr val="151515"/>
                </a:solidFill>
                <a:latin typeface="Times New Roman"/>
                <a:ea typeface="Times New Roman"/>
                <a:cs typeface="Times New Roman"/>
              </a:rPr>
              <a:t>“Con chó này đẹp”</a:t>
            </a:r>
            <a:endParaRPr sz="1600"/>
          </a:p>
          <a:p>
            <a:pPr>
              <a:lnSpc>
                <a:spcPct val="150000"/>
              </a:lnSpc>
              <a:buNone/>
            </a:pPr>
            <a:endParaRPr sz="1600"/>
          </a:p>
          <a:p>
            <a:pPr>
              <a:lnSpc>
                <a:spcPct val="150000"/>
              </a:lnSpc>
              <a:buNone/>
              <a:defRPr sz="2850" b="0">
                <a:solidFill>
                  <a:srgbClr val="151515"/>
                </a:solidFill>
                <a:latin typeface="Times New Roman"/>
                <a:ea typeface="Times New Roman"/>
                <a:cs typeface="Times New Roman"/>
              </a:defRPr>
            </a:pPr>
            <a:r>
              <a:rPr sz="2850" b="0">
                <a:solidFill>
                  <a:srgbClr val="151515"/>
                </a:solidFill>
                <a:latin typeface="Times New Roman"/>
                <a:ea typeface="Times New Roman"/>
                <a:cs typeface="Times New Roman"/>
              </a:rPr>
              <a:t>Giả sử P = 0,05, thấp hơn 0,5.</a:t>
            </a:r>
            <a:endParaRPr sz="1600"/>
          </a:p>
          <a:p>
            <a:pPr>
              <a:lnSpc>
                <a:spcPct val="150000"/>
              </a:lnSpc>
              <a:buNone/>
              <a:defRPr sz="2850" b="0">
                <a:solidFill>
                  <a:srgbClr val="151515"/>
                </a:solidFill>
                <a:latin typeface="Times New Roman"/>
                <a:ea typeface="Times New Roman"/>
                <a:cs typeface="Times New Roman"/>
              </a:defRPr>
            </a:pPr>
            <a:r>
              <a:rPr sz="2850" b="0">
                <a:solidFill>
                  <a:srgbClr val="151515"/>
                </a:solidFill>
                <a:latin typeface="Times New Roman"/>
                <a:ea typeface="Times New Roman"/>
                <a:cs typeface="Times New Roman"/>
              </a:rPr>
              <a:t>Cổng đổi nhãn về O.</a:t>
            </a:r>
            <a:endParaRPr sz="1600"/>
          </a:p>
          <a:p>
            <a:pPr>
              <a:lnSpc>
                <a:spcPct val="150000"/>
              </a:lnSpc>
              <a:buNone/>
              <a:defRPr sz="2850" b="0">
                <a:solidFill>
                  <a:srgbClr val="151515"/>
                </a:solidFill>
                <a:latin typeface="Times New Roman"/>
                <a:ea typeface="Times New Roman"/>
                <a:cs typeface="Times New Roman"/>
              </a:defRPr>
            </a:pPr>
            <a:r>
              <a:rPr sz="2850" b="0">
                <a:solidFill>
                  <a:srgbClr val="151515"/>
                </a:solidFill>
                <a:latin typeface="Times New Roman"/>
                <a:ea typeface="Times New Roman"/>
                <a:cs typeface="Times New Roman"/>
              </a:rPr>
              <a:t>Kết quả: giữ nguyên câu khen.</a:t>
            </a:r>
            <a:endParaRPr sz="1600"/>
          </a:p>
        </p:txBody>
      </p:sp>
      <p:sp>
        <p:nvSpPr>
          <p:cNvPr id="29" name="Shape 27">
            <a:extLst>
              <a:ext uri="{FF2B5EF4-FFF2-40B4-BE49-F238E27FC236}">
                <a16:creationId xmlns:a16="http://schemas.microsoft.com/office/drawing/2014/main" id="{5362B768-FB45-476A-9EA1-A97996ABC980}"/>
              </a:ext>
            </a:extLst>
          </p:cNvPr>
          <p:cNvSpPr>
            <a:spLocks noGrp="1"/>
          </p:cNvSpPr>
          <p:nvPr/>
        </p:nvSpPr>
        <p:spPr>
          <a:xfrm>
            <a:off x="11176000" y="2878709"/>
            <a:ext cx="9482709" cy="5249291"/>
          </a:xfrm>
          <a:prstGeom prst="roundRect">
            <a:avLst>
              <a:gd name="adj" fmla="val 8000"/>
            </a:avLst>
          </a:prstGeom>
          <a:solidFill>
            <a:srgbClr val="FFF3E0"/>
          </a:solidFill>
          <a:ln w="25400">
            <a:solidFill>
              <a:srgbClr val="FF6F00"/>
            </a:solidFill>
            <a:prstDash val="solid"/>
          </a:ln>
        </p:spPr>
      </p:sp>
      <p:sp>
        <p:nvSpPr>
          <p:cNvPr id="30" name="Shape 28">
            <a:extLst>
              <a:ext uri="{FF2B5EF4-FFF2-40B4-BE49-F238E27FC236}">
                <a16:creationId xmlns:a16="http://schemas.microsoft.com/office/drawing/2014/main" id="{745CA701-8DBC-4200-B883-CED735A99885}"/>
              </a:ext>
            </a:extLst>
          </p:cNvPr>
          <p:cNvSpPr>
            <a:spLocks noGrp="1"/>
          </p:cNvSpPr>
          <p:nvPr/>
        </p:nvSpPr>
        <p:spPr>
          <a:xfrm>
            <a:off x="11430000" y="3081909"/>
            <a:ext cx="2370709" cy="508000"/>
          </a:xfrm>
          <a:prstGeom prst="roundRect">
            <a:avLst>
              <a:gd name="adj" fmla="val 12000"/>
            </a:avLst>
          </a:prstGeom>
          <a:solidFill>
            <a:srgbClr val="FF6F00"/>
          </a:solidFill>
        </p:spPr>
      </p:sp>
      <p:sp>
        <p:nvSpPr>
          <p:cNvPr id="31" name="Shape 29">
            <a:extLst>
              <a:ext uri="{FF2B5EF4-FFF2-40B4-BE49-F238E27FC236}">
                <a16:creationId xmlns:a16="http://schemas.microsoft.com/office/drawing/2014/main" id="{BAD746BA-6C33-45E9-AB9C-3F917A6D78BD}"/>
              </a:ext>
            </a:extLst>
          </p:cNvPr>
          <p:cNvSpPr>
            <a:spLocks noGrp="1"/>
          </p:cNvSpPr>
          <p:nvPr/>
        </p:nvSpPr>
        <p:spPr>
          <a:xfrm>
            <a:off x="11430000" y="3081909"/>
            <a:ext cx="2370709" cy="508000"/>
          </a:xfrm>
          <a:prstGeom prst="rect">
            <a:avLst/>
          </a:prstGeom>
          <a:solidFill>
            <a:srgbClr val="FFFFFF">
              <a:alpha val="0"/>
            </a:srgbClr>
          </a:solidFill>
        </p:spPr>
      </p:sp>
      <p:sp>
        <p:nvSpPr>
          <p:cNvPr id="32" name="Text 30">
            <a:extLst>
              <a:ext uri="{FF2B5EF4-FFF2-40B4-BE49-F238E27FC236}">
                <a16:creationId xmlns:a16="http://schemas.microsoft.com/office/drawing/2014/main" id="{121934D6-D650-4C63-8370-C66583B617D4}"/>
              </a:ext>
            </a:extLst>
          </p:cNvPr>
          <p:cNvSpPr>
            <a:spLocks noGrp="1"/>
          </p:cNvSpPr>
          <p:nvPr/>
        </p:nvSpPr>
        <p:spPr>
          <a:xfrm>
            <a:off x="11308080" y="3020949"/>
            <a:ext cx="2614549" cy="629920"/>
          </a:xfrm>
          <a:prstGeom prst="rect">
            <a:avLst/>
          </a:prstGeom>
          <a:noFill/>
        </p:spPr>
        <p:txBody>
          <a:bodyPr wrap="none" lIns="0" tIns="0" rIns="0" bIns="0" anchor="ctr">
            <a:noAutofit/>
          </a:bodyPr>
          <a:lstStyle/>
          <a:p>
            <a:pPr algn="ctr">
              <a:lnSpc>
                <a:spcPct val="100000"/>
              </a:lnSpc>
              <a:buNone/>
              <a:defRPr sz="2325" b="1">
                <a:solidFill>
                  <a:srgbClr val="FFFFFF"/>
                </a:solidFill>
                <a:latin typeface="Times New Roman"/>
                <a:ea typeface="Times New Roman"/>
                <a:cs typeface="Times New Roman"/>
              </a:defRPr>
            </a:pPr>
            <a:r>
              <a:rPr sz="2325" b="1">
                <a:solidFill>
                  <a:srgbClr val="FFFFFF"/>
                </a:solidFill>
                <a:latin typeface="Times New Roman"/>
                <a:ea typeface="Times New Roman"/>
                <a:cs typeface="Times New Roman"/>
              </a:rPr>
              <a:t>VẾ 2</a:t>
            </a:r>
            <a:endParaRPr sz="1600"/>
          </a:p>
        </p:txBody>
      </p:sp>
      <p:sp>
        <p:nvSpPr>
          <p:cNvPr id="33" name="Shape 31">
            <a:extLst>
              <a:ext uri="{FF2B5EF4-FFF2-40B4-BE49-F238E27FC236}">
                <a16:creationId xmlns:a16="http://schemas.microsoft.com/office/drawing/2014/main" id="{85334675-8B5E-4FC1-A328-57379C10CBA6}"/>
              </a:ext>
            </a:extLst>
          </p:cNvPr>
          <p:cNvSpPr>
            <a:spLocks noGrp="1"/>
          </p:cNvSpPr>
          <p:nvPr/>
        </p:nvSpPr>
        <p:spPr>
          <a:xfrm>
            <a:off x="13970000" y="3081909"/>
            <a:ext cx="6434709" cy="508000"/>
          </a:xfrm>
          <a:prstGeom prst="rect">
            <a:avLst/>
          </a:prstGeom>
          <a:solidFill>
            <a:srgbClr val="FFFFFF">
              <a:alpha val="0"/>
            </a:srgbClr>
          </a:solidFill>
        </p:spPr>
      </p:sp>
      <p:sp>
        <p:nvSpPr>
          <p:cNvPr id="34" name="Text 32">
            <a:extLst>
              <a:ext uri="{FF2B5EF4-FFF2-40B4-BE49-F238E27FC236}">
                <a16:creationId xmlns:a16="http://schemas.microsoft.com/office/drawing/2014/main" id="{F82A884C-54C7-48F1-8EBB-50BAADCE9C8C}"/>
              </a:ext>
            </a:extLst>
          </p:cNvPr>
          <p:cNvSpPr>
            <a:spLocks noGrp="1"/>
          </p:cNvSpPr>
          <p:nvPr/>
        </p:nvSpPr>
        <p:spPr>
          <a:xfrm>
            <a:off x="13848080" y="3020949"/>
            <a:ext cx="6678549" cy="629920"/>
          </a:xfrm>
          <a:prstGeom prst="rect">
            <a:avLst/>
          </a:prstGeom>
          <a:noFill/>
        </p:spPr>
        <p:txBody>
          <a:bodyPr wrap="none" lIns="0" tIns="0" rIns="0" bIns="0" anchor="ctr">
            <a:noAutofit/>
          </a:bodyPr>
          <a:lstStyle/>
          <a:p>
            <a:pPr>
              <a:lnSpc>
                <a:spcPct val="100000"/>
              </a:lnSpc>
              <a:buNone/>
              <a:defRPr sz="3000" b="1">
                <a:solidFill>
                  <a:srgbClr val="EF6C00"/>
                </a:solidFill>
                <a:latin typeface="Times New Roman"/>
                <a:ea typeface="Times New Roman"/>
                <a:cs typeface="Times New Roman"/>
              </a:defRPr>
            </a:pPr>
            <a:r>
              <a:rPr sz="3000" b="1">
                <a:solidFill>
                  <a:srgbClr val="EF6C00"/>
                </a:solidFill>
                <a:latin typeface="Times New Roman"/>
                <a:ea typeface="Times New Roman"/>
                <a:cs typeface="Times New Roman"/>
              </a:rPr>
              <a:t>Công kích người khác</a:t>
            </a:r>
            <a:endParaRPr sz="1600"/>
          </a:p>
        </p:txBody>
      </p:sp>
      <p:sp>
        <p:nvSpPr>
          <p:cNvPr id="35" name="Shape 33">
            <a:extLst>
              <a:ext uri="{FF2B5EF4-FFF2-40B4-BE49-F238E27FC236}">
                <a16:creationId xmlns:a16="http://schemas.microsoft.com/office/drawing/2014/main" id="{B22C143C-22CF-4282-94C6-E9847385F702}"/>
              </a:ext>
            </a:extLst>
          </p:cNvPr>
          <p:cNvSpPr>
            <a:spLocks noGrp="1"/>
          </p:cNvSpPr>
          <p:nvPr/>
        </p:nvSpPr>
        <p:spPr>
          <a:xfrm>
            <a:off x="11430000" y="3810000"/>
            <a:ext cx="8974709" cy="4064000"/>
          </a:xfrm>
          <a:prstGeom prst="rect">
            <a:avLst/>
          </a:prstGeom>
          <a:solidFill>
            <a:srgbClr val="FFFFFF">
              <a:alpha val="0"/>
            </a:srgbClr>
          </a:solidFill>
        </p:spPr>
      </p:sp>
      <p:sp>
        <p:nvSpPr>
          <p:cNvPr id="36" name="Text 34">
            <a:extLst>
              <a:ext uri="{FF2B5EF4-FFF2-40B4-BE49-F238E27FC236}">
                <a16:creationId xmlns:a16="http://schemas.microsoft.com/office/drawing/2014/main" id="{898C92EC-1BB2-48A7-AD59-FA78DD5193A2}"/>
              </a:ext>
            </a:extLst>
          </p:cNvPr>
          <p:cNvSpPr>
            <a:spLocks noGrp="1"/>
          </p:cNvSpPr>
          <p:nvPr/>
        </p:nvSpPr>
        <p:spPr>
          <a:xfrm>
            <a:off x="11308080" y="3749040"/>
            <a:ext cx="9218549" cy="4185920"/>
          </a:xfrm>
          <a:prstGeom prst="rect">
            <a:avLst/>
          </a:prstGeom>
          <a:noFill/>
        </p:spPr>
        <p:txBody>
          <a:bodyPr wrap="square" lIns="0" tIns="0" rIns="0" bIns="0" anchor="t">
            <a:noAutofit/>
          </a:bodyPr>
          <a:lstStyle/>
          <a:p>
            <a:pPr>
              <a:lnSpc>
                <a:spcPct val="150000"/>
              </a:lnSpc>
              <a:buNone/>
              <a:defRPr sz="2850" b="0">
                <a:solidFill>
                  <a:srgbClr val="151515"/>
                </a:solidFill>
                <a:latin typeface="Times New Roman"/>
                <a:ea typeface="Times New Roman"/>
                <a:cs typeface="Times New Roman"/>
              </a:defRPr>
            </a:pPr>
            <a:r>
              <a:rPr sz="2850" b="0">
                <a:solidFill>
                  <a:srgbClr val="151515"/>
                </a:solidFill>
                <a:latin typeface="Times New Roman"/>
                <a:ea typeface="Times New Roman"/>
                <a:cs typeface="Times New Roman"/>
              </a:rPr>
              <a:t>“Mày đúng là con chó”</a:t>
            </a:r>
            <a:endParaRPr sz="1600"/>
          </a:p>
          <a:p>
            <a:pPr>
              <a:lnSpc>
                <a:spcPct val="150000"/>
              </a:lnSpc>
              <a:buNone/>
            </a:pPr>
            <a:endParaRPr sz="1600"/>
          </a:p>
          <a:p>
            <a:pPr>
              <a:lnSpc>
                <a:spcPct val="150000"/>
              </a:lnSpc>
              <a:buNone/>
              <a:defRPr sz="2850" b="0">
                <a:solidFill>
                  <a:srgbClr val="151515"/>
                </a:solidFill>
                <a:latin typeface="Times New Roman"/>
                <a:ea typeface="Times New Roman"/>
                <a:cs typeface="Times New Roman"/>
              </a:defRPr>
            </a:pPr>
            <a:r>
              <a:rPr sz="2850" b="0">
                <a:solidFill>
                  <a:srgbClr val="151515"/>
                </a:solidFill>
                <a:latin typeface="Times New Roman"/>
                <a:ea typeface="Times New Roman"/>
                <a:cs typeface="Times New Roman"/>
              </a:rPr>
              <a:t>Giả sử P = 0,98, từ 0,5 trở lên.</a:t>
            </a:r>
            <a:endParaRPr sz="1600"/>
          </a:p>
          <a:p>
            <a:pPr>
              <a:lnSpc>
                <a:spcPct val="150000"/>
              </a:lnSpc>
              <a:buNone/>
              <a:defRPr sz="2850" b="0">
                <a:solidFill>
                  <a:srgbClr val="151515"/>
                </a:solidFill>
                <a:latin typeface="Times New Roman"/>
                <a:ea typeface="Times New Roman"/>
                <a:cs typeface="Times New Roman"/>
              </a:defRPr>
            </a:pPr>
            <a:r>
              <a:rPr sz="2850" b="0">
                <a:solidFill>
                  <a:srgbClr val="151515"/>
                </a:solidFill>
                <a:latin typeface="Times New Roman"/>
                <a:ea typeface="Times New Roman"/>
                <a:cs typeface="Times New Roman"/>
              </a:rPr>
              <a:t>Cổng giữ nhãn tìm được.</a:t>
            </a:r>
            <a:endParaRPr sz="1600"/>
          </a:p>
          <a:p>
            <a:pPr>
              <a:lnSpc>
                <a:spcPct val="150000"/>
              </a:lnSpc>
              <a:buNone/>
              <a:defRPr sz="2850" b="0">
                <a:solidFill>
                  <a:srgbClr val="151515"/>
                </a:solidFill>
                <a:latin typeface="Times New Roman"/>
                <a:ea typeface="Times New Roman"/>
                <a:cs typeface="Times New Roman"/>
              </a:defRPr>
            </a:pPr>
            <a:r>
              <a:rPr sz="2850" b="0">
                <a:solidFill>
                  <a:srgbClr val="151515"/>
                </a:solidFill>
                <a:latin typeface="Times New Roman"/>
                <a:ea typeface="Times New Roman"/>
                <a:cs typeface="Times New Roman"/>
              </a:rPr>
              <a:t>Có thể che cụm: “Mày đúng là ***”.</a:t>
            </a:r>
            <a:endParaRPr sz="1600"/>
          </a:p>
        </p:txBody>
      </p:sp>
      <p:sp>
        <p:nvSpPr>
          <p:cNvPr id="37" name="Shape 35">
            <a:extLst>
              <a:ext uri="{FF2B5EF4-FFF2-40B4-BE49-F238E27FC236}">
                <a16:creationId xmlns:a16="http://schemas.microsoft.com/office/drawing/2014/main" id="{8652850E-30C8-43EC-8106-E3C3583DCD0A}"/>
              </a:ext>
            </a:extLst>
          </p:cNvPr>
          <p:cNvSpPr>
            <a:spLocks noGrp="1"/>
          </p:cNvSpPr>
          <p:nvPr/>
        </p:nvSpPr>
        <p:spPr>
          <a:xfrm>
            <a:off x="1016000" y="8551291"/>
            <a:ext cx="19642709" cy="2370709"/>
          </a:xfrm>
          <a:prstGeom prst="roundRect">
            <a:avLst>
              <a:gd name="adj" fmla="val 8000"/>
            </a:avLst>
          </a:prstGeom>
          <a:solidFill>
            <a:srgbClr val="FFEBEE"/>
          </a:solidFill>
          <a:ln w="12700">
            <a:solidFill>
              <a:srgbClr val="EF9A9A"/>
            </a:solidFill>
            <a:prstDash val="solid"/>
          </a:ln>
        </p:spPr>
      </p:sp>
      <p:sp>
        <p:nvSpPr>
          <p:cNvPr id="38" name="Shape 36">
            <a:extLst>
              <a:ext uri="{FF2B5EF4-FFF2-40B4-BE49-F238E27FC236}">
                <a16:creationId xmlns:a16="http://schemas.microsoft.com/office/drawing/2014/main" id="{68ACD9BF-A173-4ACA-BF77-79A8323A1C25}"/>
              </a:ext>
            </a:extLst>
          </p:cNvPr>
          <p:cNvSpPr>
            <a:spLocks noGrp="1"/>
          </p:cNvSpPr>
          <p:nvPr/>
        </p:nvSpPr>
        <p:spPr>
          <a:xfrm>
            <a:off x="1354709" y="8805291"/>
            <a:ext cx="474091" cy="474091"/>
          </a:xfrm>
          <a:prstGeom prst="rect">
            <a:avLst/>
          </a:prstGeom>
          <a:solidFill>
            <a:srgbClr val="C62828"/>
          </a:solidFill>
        </p:spPr>
      </p:sp>
      <p:sp>
        <p:nvSpPr>
          <p:cNvPr id="39" name="Shape 37">
            <a:extLst>
              <a:ext uri="{FF2B5EF4-FFF2-40B4-BE49-F238E27FC236}">
                <a16:creationId xmlns:a16="http://schemas.microsoft.com/office/drawing/2014/main" id="{638F2DA0-9247-42BB-AE00-1A22214E6985}"/>
              </a:ext>
            </a:extLst>
          </p:cNvPr>
          <p:cNvSpPr>
            <a:spLocks noGrp="1"/>
          </p:cNvSpPr>
          <p:nvPr/>
        </p:nvSpPr>
        <p:spPr>
          <a:xfrm>
            <a:off x="1964309" y="8754491"/>
            <a:ext cx="6773291" cy="474091"/>
          </a:xfrm>
          <a:prstGeom prst="rect">
            <a:avLst/>
          </a:prstGeom>
          <a:solidFill>
            <a:srgbClr val="FFFFFF">
              <a:alpha val="0"/>
            </a:srgbClr>
          </a:solidFill>
        </p:spPr>
      </p:sp>
      <p:sp>
        <p:nvSpPr>
          <p:cNvPr id="40" name="Text 38">
            <a:extLst>
              <a:ext uri="{FF2B5EF4-FFF2-40B4-BE49-F238E27FC236}">
                <a16:creationId xmlns:a16="http://schemas.microsoft.com/office/drawing/2014/main" id="{F2901F59-505E-4F4A-8B8B-CFF2FB91B753}"/>
              </a:ext>
            </a:extLst>
          </p:cNvPr>
          <p:cNvSpPr>
            <a:spLocks noGrp="1"/>
          </p:cNvSpPr>
          <p:nvPr/>
        </p:nvSpPr>
        <p:spPr>
          <a:xfrm>
            <a:off x="1842389" y="8693531"/>
            <a:ext cx="7017131" cy="596011"/>
          </a:xfrm>
          <a:prstGeom prst="rect">
            <a:avLst/>
          </a:prstGeom>
          <a:noFill/>
        </p:spPr>
        <p:txBody>
          <a:bodyPr wrap="none" lIns="0" tIns="0" rIns="0" bIns="0" anchor="ctr">
            <a:noAutofit/>
          </a:bodyPr>
          <a:lstStyle/>
          <a:p>
            <a:pPr>
              <a:lnSpc>
                <a:spcPct val="100000"/>
              </a:lnSpc>
              <a:buNone/>
              <a:defRPr sz="3000" b="1">
                <a:solidFill>
                  <a:srgbClr val="C62828"/>
                </a:solidFill>
                <a:latin typeface="Times New Roman"/>
                <a:ea typeface="Times New Roman"/>
                <a:cs typeface="Times New Roman"/>
              </a:defRPr>
            </a:pPr>
            <a:r>
              <a:rPr sz="3000" b="1">
                <a:solidFill>
                  <a:srgbClr val="C62828"/>
                </a:solidFill>
                <a:latin typeface="Times New Roman"/>
                <a:ea typeface="Times New Roman"/>
                <a:cs typeface="Times New Roman"/>
              </a:rPr>
              <a:t>Ví dụ giải thích cách hoạt động</a:t>
            </a:r>
            <a:endParaRPr sz="1600"/>
          </a:p>
        </p:txBody>
      </p:sp>
      <p:sp>
        <p:nvSpPr>
          <p:cNvPr id="41" name="Shape 39">
            <a:extLst>
              <a:ext uri="{FF2B5EF4-FFF2-40B4-BE49-F238E27FC236}">
                <a16:creationId xmlns:a16="http://schemas.microsoft.com/office/drawing/2014/main" id="{F0812D5B-5EE4-42B1-8494-1CD6401DFC2A}"/>
              </a:ext>
            </a:extLst>
          </p:cNvPr>
          <p:cNvSpPr>
            <a:spLocks noGrp="1"/>
          </p:cNvSpPr>
          <p:nvPr/>
        </p:nvSpPr>
        <p:spPr>
          <a:xfrm>
            <a:off x="1354709" y="9398000"/>
            <a:ext cx="18965291" cy="1354709"/>
          </a:xfrm>
          <a:prstGeom prst="rect">
            <a:avLst/>
          </a:prstGeom>
          <a:solidFill>
            <a:srgbClr val="FFFFFF">
              <a:alpha val="0"/>
            </a:srgbClr>
          </a:solidFill>
        </p:spPr>
      </p:sp>
      <p:sp>
        <p:nvSpPr>
          <p:cNvPr id="42" name="Text 40">
            <a:extLst>
              <a:ext uri="{FF2B5EF4-FFF2-40B4-BE49-F238E27FC236}">
                <a16:creationId xmlns:a16="http://schemas.microsoft.com/office/drawing/2014/main" id="{09CC7768-7E5C-4A80-A54C-90B79D30C6B1}"/>
              </a:ext>
            </a:extLst>
          </p:cNvPr>
          <p:cNvSpPr>
            <a:spLocks noGrp="1"/>
          </p:cNvSpPr>
          <p:nvPr/>
        </p:nvSpPr>
        <p:spPr>
          <a:xfrm>
            <a:off x="1232789" y="9337040"/>
            <a:ext cx="19209131" cy="1476629"/>
          </a:xfrm>
          <a:prstGeom prst="rect">
            <a:avLst/>
          </a:prstGeom>
          <a:noFill/>
        </p:spPr>
        <p:txBody>
          <a:bodyPr wrap="square" lIns="0" tIns="0" rIns="0" bIns="0" anchor="t">
            <a:noAutofit/>
          </a:bodyPr>
          <a:lstStyle/>
          <a:p>
            <a:pPr>
              <a:lnSpc>
                <a:spcPct val="150000"/>
              </a:lnSpc>
              <a:buNone/>
              <a:defRPr sz="2700" b="0">
                <a:solidFill>
                  <a:srgbClr val="151515"/>
                </a:solidFill>
                <a:latin typeface="Times New Roman"/>
                <a:ea typeface="Times New Roman"/>
                <a:cs typeface="Times New Roman"/>
              </a:defRPr>
            </a:pPr>
            <a:r>
              <a:rPr sz="2700" b="0">
                <a:solidFill>
                  <a:srgbClr val="151515"/>
                </a:solidFill>
                <a:latin typeface="Times New Roman"/>
                <a:ea typeface="Times New Roman"/>
                <a:cs typeface="Times New Roman"/>
              </a:rPr>
              <a:t>0,05 và 0,98 là điểm minh họa, chưa phải xác suất Intent Head đo cho từng vế. Web hiện còn dùng luật từ khóa để lọc vế.</a:t>
            </a:r>
            <a:endParaRPr sz="1600"/>
          </a:p>
        </p:txBody>
      </p:sp>
      <p:sp>
        <p:nvSpPr>
          <p:cNvPr id="43" name="Shape 41">
            <a:extLst>
              <a:ext uri="{FF2B5EF4-FFF2-40B4-BE49-F238E27FC236}">
                <a16:creationId xmlns:a16="http://schemas.microsoft.com/office/drawing/2014/main" id="{6158C196-713D-4DE9-9CD1-F7F11BE93CF2}"/>
              </a:ext>
            </a:extLst>
          </p:cNvPr>
          <p:cNvSpPr>
            <a:spLocks noGrp="1"/>
          </p:cNvSpPr>
          <p:nvPr/>
        </p:nvSpPr>
        <p:spPr>
          <a:xfrm>
            <a:off x="19981291" y="11684000"/>
            <a:ext cx="1016000" cy="406400"/>
          </a:xfrm>
          <a:prstGeom prst="rect">
            <a:avLst/>
          </a:prstGeom>
          <a:solidFill>
            <a:srgbClr val="FFFFFF">
              <a:alpha val="0"/>
            </a:srgbClr>
          </a:solidFill>
        </p:spPr>
      </p:sp>
      <p:sp>
        <p:nvSpPr>
          <p:cNvPr id="44" name="Text 42">
            <a:extLst>
              <a:ext uri="{FF2B5EF4-FFF2-40B4-BE49-F238E27FC236}">
                <a16:creationId xmlns:a16="http://schemas.microsoft.com/office/drawing/2014/main" id="{D3E864CA-1169-44D7-90A4-35E230A6CA8F}"/>
              </a:ext>
            </a:extLst>
          </p:cNvPr>
          <p:cNvSpPr>
            <a:spLocks noGrp="1"/>
          </p:cNvSpPr>
          <p:nvPr/>
        </p:nvSpPr>
        <p:spPr>
          <a:xfrm>
            <a:off x="19859371" y="11623040"/>
            <a:ext cx="1259840" cy="528320"/>
          </a:xfrm>
          <a:prstGeom prst="rect">
            <a:avLst/>
          </a:prstGeom>
          <a:noFill/>
        </p:spPr>
        <p:txBody>
          <a:bodyPr wrap="none" lIns="0" tIns="0" rIns="0" bIns="0" anchor="ctr">
            <a:noAutofit/>
          </a:bodyPr>
          <a:lstStyle/>
          <a:p>
            <a:pPr algn="r">
              <a:lnSpc>
                <a:spcPct val="100000"/>
              </a:lnSpc>
              <a:buNone/>
              <a:defRPr sz="1950">
                <a:solidFill>
                  <a:srgbClr val="666666"/>
                </a:solidFill>
                <a:latin typeface="Times New Roman"/>
                <a:ea typeface="Times New Roman"/>
                <a:cs typeface="Times New Roman"/>
              </a:defRPr>
            </a:pPr>
            <a:r>
              <a:rPr sz="1950">
                <a:solidFill>
                  <a:srgbClr val="666666"/>
                </a:solidFill>
                <a:latin typeface="Times New Roman"/>
                <a:ea typeface="Times New Roman"/>
                <a:cs typeface="Times New Roman"/>
              </a:rPr>
              <a:t>8/18</a:t>
            </a:r>
            <a:endParaRPr sz="1600"/>
          </a:p>
        </p:txBody>
      </p:sp>
    </p:spTree>
    <p:extLst>
      <p:ext uri="{BB962C8B-B14F-4D97-AF65-F5344CB8AC3E}">
        <p14:creationId xmlns:p14="http://schemas.microsoft.com/office/powerpoint/2010/main" val="10056545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04E71FB3-17DA-4A9C-BEBC-43679F8393A7}"/>
              </a:ext>
            </a:extLst>
          </p:cNvPr>
          <p:cNvSpPr>
            <a:spLocks noGrp="1"/>
          </p:cNvSpPr>
          <p:nvPr/>
        </p:nvSpPr>
        <p:spPr>
          <a:xfrm>
            <a:off x="0" y="0"/>
            <a:ext cx="21674709" cy="677291"/>
          </a:xfrm>
          <a:prstGeom prst="rect">
            <a:avLst/>
          </a:prstGeom>
          <a:solidFill>
            <a:srgbClr val="1565C0"/>
          </a:solidFill>
        </p:spPr>
      </p:sp>
      <p:sp>
        <p:nvSpPr>
          <p:cNvPr id="3" name="Shape 1">
            <a:extLst>
              <a:ext uri="{FF2B5EF4-FFF2-40B4-BE49-F238E27FC236}">
                <a16:creationId xmlns:a16="http://schemas.microsoft.com/office/drawing/2014/main" id="{BED08B5A-4194-4D52-B5FC-090357E6E567}"/>
              </a:ext>
            </a:extLst>
          </p:cNvPr>
          <p:cNvSpPr>
            <a:spLocks noGrp="1"/>
          </p:cNvSpPr>
          <p:nvPr/>
        </p:nvSpPr>
        <p:spPr>
          <a:xfrm>
            <a:off x="7281196" y="84709"/>
            <a:ext cx="3386709" cy="508000"/>
          </a:xfrm>
          <a:prstGeom prst="roundRect">
            <a:avLst>
              <a:gd name="adj" fmla="val 8000"/>
            </a:avLst>
          </a:prstGeom>
          <a:solidFill>
            <a:srgbClr val="FFFFFF">
              <a:alpha val="3576"/>
            </a:srgbClr>
          </a:solidFill>
        </p:spPr>
      </p:sp>
      <p:sp>
        <p:nvSpPr>
          <p:cNvPr id="4" name="Shape 2">
            <a:extLst>
              <a:ext uri="{FF2B5EF4-FFF2-40B4-BE49-F238E27FC236}">
                <a16:creationId xmlns:a16="http://schemas.microsoft.com/office/drawing/2014/main" id="{A90299A0-EBDA-41F3-81BE-5B3E1A39E242}"/>
              </a:ext>
            </a:extLst>
          </p:cNvPr>
          <p:cNvSpPr>
            <a:spLocks noGrp="1"/>
          </p:cNvSpPr>
          <p:nvPr/>
        </p:nvSpPr>
        <p:spPr>
          <a:xfrm>
            <a:off x="169291" y="0"/>
            <a:ext cx="3386709" cy="677291"/>
          </a:xfrm>
          <a:prstGeom prst="rect">
            <a:avLst/>
          </a:prstGeom>
          <a:solidFill>
            <a:srgbClr val="FFFFFF">
              <a:alpha val="0"/>
            </a:srgbClr>
          </a:solidFill>
        </p:spPr>
      </p:sp>
      <p:sp>
        <p:nvSpPr>
          <p:cNvPr id="5" name="Text 3">
            <a:extLst>
              <a:ext uri="{FF2B5EF4-FFF2-40B4-BE49-F238E27FC236}">
                <a16:creationId xmlns:a16="http://schemas.microsoft.com/office/drawing/2014/main" id="{7509F3E8-5F70-48F5-96CE-E715D0EBB42A}"/>
              </a:ext>
            </a:extLst>
          </p:cNvPr>
          <p:cNvSpPr>
            <a:spLocks noGrp="1"/>
          </p:cNvSpPr>
          <p:nvPr/>
        </p:nvSpPr>
        <p:spPr>
          <a:xfrm>
            <a:off x="47339"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1. Bài toán và dữ liệu</a:t>
            </a:r>
            <a:endParaRPr sz="1600"/>
          </a:p>
        </p:txBody>
      </p:sp>
      <p:sp>
        <p:nvSpPr>
          <p:cNvPr id="6" name="Shape 4">
            <a:extLst>
              <a:ext uri="{FF2B5EF4-FFF2-40B4-BE49-F238E27FC236}">
                <a16:creationId xmlns:a16="http://schemas.microsoft.com/office/drawing/2014/main" id="{03FD3052-8CD7-4C44-B411-16C2F785C402}"/>
              </a:ext>
            </a:extLst>
          </p:cNvPr>
          <p:cNvSpPr>
            <a:spLocks noGrp="1"/>
          </p:cNvSpPr>
          <p:nvPr/>
        </p:nvSpPr>
        <p:spPr>
          <a:xfrm>
            <a:off x="3725291" y="0"/>
            <a:ext cx="3386709" cy="677291"/>
          </a:xfrm>
          <a:prstGeom prst="rect">
            <a:avLst/>
          </a:prstGeom>
          <a:solidFill>
            <a:srgbClr val="FFFFFF">
              <a:alpha val="0"/>
            </a:srgbClr>
          </a:solidFill>
        </p:spPr>
      </p:sp>
      <p:sp>
        <p:nvSpPr>
          <p:cNvPr id="7" name="Text 5">
            <a:extLst>
              <a:ext uri="{FF2B5EF4-FFF2-40B4-BE49-F238E27FC236}">
                <a16:creationId xmlns:a16="http://schemas.microsoft.com/office/drawing/2014/main" id="{0BF072F8-7AE3-437B-BE6A-D14297BF2BE8}"/>
              </a:ext>
            </a:extLst>
          </p:cNvPr>
          <p:cNvSpPr>
            <a:spLocks noGrp="1"/>
          </p:cNvSpPr>
          <p:nvPr/>
        </p:nvSpPr>
        <p:spPr>
          <a:xfrm>
            <a:off x="3603403"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2. Mô hình và dual head</a:t>
            </a:r>
            <a:endParaRPr sz="1600"/>
          </a:p>
        </p:txBody>
      </p:sp>
      <p:sp>
        <p:nvSpPr>
          <p:cNvPr id="8" name="Shape 6">
            <a:extLst>
              <a:ext uri="{FF2B5EF4-FFF2-40B4-BE49-F238E27FC236}">
                <a16:creationId xmlns:a16="http://schemas.microsoft.com/office/drawing/2014/main" id="{25372917-9CF5-416F-8E8E-58FBB54D51C9}"/>
              </a:ext>
            </a:extLst>
          </p:cNvPr>
          <p:cNvSpPr>
            <a:spLocks noGrp="1"/>
          </p:cNvSpPr>
          <p:nvPr/>
        </p:nvSpPr>
        <p:spPr>
          <a:xfrm>
            <a:off x="7281291" y="0"/>
            <a:ext cx="3386709" cy="677291"/>
          </a:xfrm>
          <a:prstGeom prst="rect">
            <a:avLst/>
          </a:prstGeom>
          <a:solidFill>
            <a:srgbClr val="FFFFFF">
              <a:alpha val="0"/>
            </a:srgbClr>
          </a:solidFill>
        </p:spPr>
      </p:sp>
      <p:sp>
        <p:nvSpPr>
          <p:cNvPr id="9" name="Text 7">
            <a:extLst>
              <a:ext uri="{FF2B5EF4-FFF2-40B4-BE49-F238E27FC236}">
                <a16:creationId xmlns:a16="http://schemas.microsoft.com/office/drawing/2014/main" id="{E2A4B60B-0688-4C6D-9FB5-6F60C7AE8C8B}"/>
              </a:ext>
            </a:extLst>
          </p:cNvPr>
          <p:cNvSpPr>
            <a:spLocks noGrp="1"/>
          </p:cNvSpPr>
          <p:nvPr/>
        </p:nvSpPr>
        <p:spPr>
          <a:xfrm>
            <a:off x="7159371" y="0"/>
            <a:ext cx="3630549" cy="676275"/>
          </a:xfrm>
          <a:prstGeom prst="rect">
            <a:avLst/>
          </a:prstGeom>
          <a:noFill/>
        </p:spPr>
        <p:txBody>
          <a:bodyPr wrap="none" lIns="0" tIns="0" rIns="0" bIns="0" anchor="ctr">
            <a:noAutofit/>
          </a:bodyPr>
          <a:lstStyle/>
          <a:p>
            <a:pPr algn="ctr">
              <a:lnSpc>
                <a:spcPct val="100000"/>
              </a:lnSpc>
              <a:buNone/>
              <a:defRPr sz="1875" b="1">
                <a:solidFill>
                  <a:srgbClr val="FFFFFF"/>
                </a:solidFill>
                <a:latin typeface="Times New Roman"/>
                <a:ea typeface="Times New Roman"/>
                <a:cs typeface="Times New Roman"/>
              </a:defRPr>
            </a:pPr>
            <a:r>
              <a:rPr sz="1875" b="1">
                <a:solidFill>
                  <a:srgbClr val="FFFFFF"/>
                </a:solidFill>
                <a:latin typeface="Times New Roman"/>
                <a:ea typeface="Times New Roman"/>
                <a:cs typeface="Times New Roman"/>
              </a:rPr>
              <a:t>3. Kết quả</a:t>
            </a:r>
            <a:endParaRPr sz="1600"/>
          </a:p>
        </p:txBody>
      </p:sp>
      <p:sp>
        <p:nvSpPr>
          <p:cNvPr id="10" name="Shape 8">
            <a:extLst>
              <a:ext uri="{FF2B5EF4-FFF2-40B4-BE49-F238E27FC236}">
                <a16:creationId xmlns:a16="http://schemas.microsoft.com/office/drawing/2014/main" id="{83D044DE-D531-4E1F-BDEE-31EE3A9B972D}"/>
              </a:ext>
            </a:extLst>
          </p:cNvPr>
          <p:cNvSpPr>
            <a:spLocks noGrp="1"/>
          </p:cNvSpPr>
          <p:nvPr/>
        </p:nvSpPr>
        <p:spPr>
          <a:xfrm>
            <a:off x="10837291" y="0"/>
            <a:ext cx="3386709" cy="677291"/>
          </a:xfrm>
          <a:prstGeom prst="rect">
            <a:avLst/>
          </a:prstGeom>
          <a:solidFill>
            <a:srgbClr val="FFFFFF">
              <a:alpha val="0"/>
            </a:srgbClr>
          </a:solidFill>
        </p:spPr>
      </p:sp>
      <p:sp>
        <p:nvSpPr>
          <p:cNvPr id="11" name="Text 9">
            <a:extLst>
              <a:ext uri="{FF2B5EF4-FFF2-40B4-BE49-F238E27FC236}">
                <a16:creationId xmlns:a16="http://schemas.microsoft.com/office/drawing/2014/main" id="{5CE824F5-850D-43B7-A2F3-276E09C11EF9}"/>
              </a:ext>
            </a:extLst>
          </p:cNvPr>
          <p:cNvSpPr>
            <a:spLocks noGrp="1"/>
          </p:cNvSpPr>
          <p:nvPr/>
        </p:nvSpPr>
        <p:spPr>
          <a:xfrm>
            <a:off x="10715339"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4. Phân tích lỗi</a:t>
            </a:r>
            <a:endParaRPr sz="1600"/>
          </a:p>
        </p:txBody>
      </p:sp>
      <p:sp>
        <p:nvSpPr>
          <p:cNvPr id="12" name="Shape 10">
            <a:extLst>
              <a:ext uri="{FF2B5EF4-FFF2-40B4-BE49-F238E27FC236}">
                <a16:creationId xmlns:a16="http://schemas.microsoft.com/office/drawing/2014/main" id="{E4EA07EE-6F56-4A92-8323-3BC01396D2E1}"/>
              </a:ext>
            </a:extLst>
          </p:cNvPr>
          <p:cNvSpPr>
            <a:spLocks noGrp="1"/>
          </p:cNvSpPr>
          <p:nvPr/>
        </p:nvSpPr>
        <p:spPr>
          <a:xfrm>
            <a:off x="14393291" y="0"/>
            <a:ext cx="3386709" cy="677291"/>
          </a:xfrm>
          <a:prstGeom prst="rect">
            <a:avLst/>
          </a:prstGeom>
          <a:solidFill>
            <a:srgbClr val="FFFFFF">
              <a:alpha val="0"/>
            </a:srgbClr>
          </a:solidFill>
        </p:spPr>
      </p:sp>
      <p:sp>
        <p:nvSpPr>
          <p:cNvPr id="13" name="Text 11">
            <a:extLst>
              <a:ext uri="{FF2B5EF4-FFF2-40B4-BE49-F238E27FC236}">
                <a16:creationId xmlns:a16="http://schemas.microsoft.com/office/drawing/2014/main" id="{13B9EEA2-0206-4167-94D3-458AEBE78ADE}"/>
              </a:ext>
            </a:extLst>
          </p:cNvPr>
          <p:cNvSpPr>
            <a:spLocks noGrp="1"/>
          </p:cNvSpPr>
          <p:nvPr/>
        </p:nvSpPr>
        <p:spPr>
          <a:xfrm>
            <a:off x="14271403"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5. Ứng dụng</a:t>
            </a:r>
            <a:endParaRPr sz="1600"/>
          </a:p>
        </p:txBody>
      </p:sp>
      <p:sp>
        <p:nvSpPr>
          <p:cNvPr id="14" name="Shape 12">
            <a:extLst>
              <a:ext uri="{FF2B5EF4-FFF2-40B4-BE49-F238E27FC236}">
                <a16:creationId xmlns:a16="http://schemas.microsoft.com/office/drawing/2014/main" id="{46E60B04-F656-4D07-9856-034FEB68CE5F}"/>
              </a:ext>
            </a:extLst>
          </p:cNvPr>
          <p:cNvSpPr>
            <a:spLocks noGrp="1"/>
          </p:cNvSpPr>
          <p:nvPr/>
        </p:nvSpPr>
        <p:spPr>
          <a:xfrm>
            <a:off x="17949291" y="0"/>
            <a:ext cx="3386709" cy="677291"/>
          </a:xfrm>
          <a:prstGeom prst="rect">
            <a:avLst/>
          </a:prstGeom>
          <a:solidFill>
            <a:srgbClr val="FFFFFF">
              <a:alpha val="0"/>
            </a:srgbClr>
          </a:solidFill>
        </p:spPr>
      </p:sp>
      <p:sp>
        <p:nvSpPr>
          <p:cNvPr id="15" name="Text 13">
            <a:extLst>
              <a:ext uri="{FF2B5EF4-FFF2-40B4-BE49-F238E27FC236}">
                <a16:creationId xmlns:a16="http://schemas.microsoft.com/office/drawing/2014/main" id="{2CCF25F0-573A-491E-AB2C-A9249E82786D}"/>
              </a:ext>
            </a:extLst>
          </p:cNvPr>
          <p:cNvSpPr>
            <a:spLocks noGrp="1"/>
          </p:cNvSpPr>
          <p:nvPr/>
        </p:nvSpPr>
        <p:spPr>
          <a:xfrm>
            <a:off x="17827371"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6. Cải thiện</a:t>
            </a:r>
            <a:endParaRPr sz="1600"/>
          </a:p>
        </p:txBody>
      </p:sp>
      <p:sp>
        <p:nvSpPr>
          <p:cNvPr id="16" name="Shape 14">
            <a:extLst>
              <a:ext uri="{FF2B5EF4-FFF2-40B4-BE49-F238E27FC236}">
                <a16:creationId xmlns:a16="http://schemas.microsoft.com/office/drawing/2014/main" id="{1F9E7EE3-005C-4948-B1A3-DA12EBCF4813}"/>
              </a:ext>
            </a:extLst>
          </p:cNvPr>
          <p:cNvSpPr>
            <a:spLocks noGrp="1"/>
          </p:cNvSpPr>
          <p:nvPr/>
        </p:nvSpPr>
        <p:spPr>
          <a:xfrm>
            <a:off x="1016000" y="931291"/>
            <a:ext cx="16933291" cy="643509"/>
          </a:xfrm>
          <a:prstGeom prst="rect">
            <a:avLst/>
          </a:prstGeom>
          <a:solidFill>
            <a:srgbClr val="FFFFFF">
              <a:alpha val="0"/>
            </a:srgbClr>
          </a:solidFill>
        </p:spPr>
      </p:sp>
      <p:sp>
        <p:nvSpPr>
          <p:cNvPr id="17" name="Text 15">
            <a:extLst>
              <a:ext uri="{FF2B5EF4-FFF2-40B4-BE49-F238E27FC236}">
                <a16:creationId xmlns:a16="http://schemas.microsoft.com/office/drawing/2014/main" id="{1A6BBB8B-3686-4E13-9BF0-30E7F78AB732}"/>
              </a:ext>
            </a:extLst>
          </p:cNvPr>
          <p:cNvSpPr>
            <a:spLocks noGrp="1"/>
          </p:cNvSpPr>
          <p:nvPr/>
        </p:nvSpPr>
        <p:spPr>
          <a:xfrm>
            <a:off x="894080" y="870331"/>
            <a:ext cx="17177131" cy="765429"/>
          </a:xfrm>
          <a:prstGeom prst="rect">
            <a:avLst/>
          </a:prstGeom>
          <a:noFill/>
        </p:spPr>
        <p:txBody>
          <a:bodyPr wrap="none" lIns="0" tIns="0" rIns="0" bIns="0" anchor="ctr">
            <a:noAutofit/>
          </a:bodyPr>
          <a:lstStyle/>
          <a:p>
            <a:pPr>
              <a:lnSpc>
                <a:spcPct val="100000"/>
              </a:lnSpc>
              <a:buNone/>
              <a:defRPr sz="3900" b="1">
                <a:solidFill>
                  <a:srgbClr val="1565C0"/>
                </a:solidFill>
                <a:latin typeface="Times New Roman"/>
                <a:ea typeface="Times New Roman"/>
                <a:cs typeface="Times New Roman"/>
              </a:defRPr>
            </a:pPr>
            <a:r>
              <a:rPr sz="3900" b="1">
                <a:solidFill>
                  <a:srgbClr val="1565C0"/>
                </a:solidFill>
                <a:latin typeface="Times New Roman"/>
                <a:ea typeface="Times New Roman"/>
                <a:cs typeface="Times New Roman"/>
              </a:rPr>
              <a:t>Kết quả ba mô hình đối chứng</a:t>
            </a:r>
            <a:endParaRPr sz="1600"/>
          </a:p>
        </p:txBody>
      </p:sp>
      <p:sp>
        <p:nvSpPr>
          <p:cNvPr id="18" name="Shape 16">
            <a:extLst>
              <a:ext uri="{FF2B5EF4-FFF2-40B4-BE49-F238E27FC236}">
                <a16:creationId xmlns:a16="http://schemas.microsoft.com/office/drawing/2014/main" id="{492531CA-9093-4EF1-AD39-6B15EB98A011}"/>
              </a:ext>
            </a:extLst>
          </p:cNvPr>
          <p:cNvSpPr>
            <a:spLocks noGrp="1"/>
          </p:cNvSpPr>
          <p:nvPr/>
        </p:nvSpPr>
        <p:spPr>
          <a:xfrm>
            <a:off x="1016000" y="1625600"/>
            <a:ext cx="19642709" cy="50800"/>
          </a:xfrm>
          <a:prstGeom prst="rect">
            <a:avLst/>
          </a:prstGeom>
          <a:solidFill>
            <a:srgbClr val="1565C0"/>
          </a:solidFill>
        </p:spPr>
      </p:sp>
      <p:sp>
        <p:nvSpPr>
          <p:cNvPr id="20" name="Shape 17">
            <a:extLst>
              <a:ext uri="{FF2B5EF4-FFF2-40B4-BE49-F238E27FC236}">
                <a16:creationId xmlns:a16="http://schemas.microsoft.com/office/drawing/2014/main" id="{133AF252-12F2-4664-93F6-11EF166EB33D}"/>
              </a:ext>
            </a:extLst>
          </p:cNvPr>
          <p:cNvSpPr>
            <a:spLocks noGrp="1"/>
          </p:cNvSpPr>
          <p:nvPr/>
        </p:nvSpPr>
        <p:spPr>
          <a:xfrm>
            <a:off x="1016000" y="9398000"/>
            <a:ext cx="19642709" cy="1693291"/>
          </a:xfrm>
          <a:prstGeom prst="roundRect">
            <a:avLst>
              <a:gd name="adj" fmla="val 8000"/>
            </a:avLst>
          </a:prstGeom>
          <a:solidFill>
            <a:srgbClr val="E3F2FD"/>
          </a:solidFill>
          <a:ln w="12700">
            <a:solidFill>
              <a:srgbClr val="BBDEFB"/>
            </a:solidFill>
            <a:prstDash val="solid"/>
          </a:ln>
        </p:spPr>
      </p:sp>
      <p:sp>
        <p:nvSpPr>
          <p:cNvPr id="21" name="Shape 18">
            <a:extLst>
              <a:ext uri="{FF2B5EF4-FFF2-40B4-BE49-F238E27FC236}">
                <a16:creationId xmlns:a16="http://schemas.microsoft.com/office/drawing/2014/main" id="{A2702F63-27C2-4B19-A725-AC42393A5BA3}"/>
              </a:ext>
            </a:extLst>
          </p:cNvPr>
          <p:cNvSpPr>
            <a:spLocks noGrp="1"/>
          </p:cNvSpPr>
          <p:nvPr/>
        </p:nvSpPr>
        <p:spPr>
          <a:xfrm>
            <a:off x="1354709" y="9567291"/>
            <a:ext cx="18965291" cy="1354709"/>
          </a:xfrm>
          <a:prstGeom prst="rect">
            <a:avLst/>
          </a:prstGeom>
          <a:solidFill>
            <a:srgbClr val="FFFFFF">
              <a:alpha val="0"/>
            </a:srgbClr>
          </a:solidFill>
        </p:spPr>
      </p:sp>
      <p:sp>
        <p:nvSpPr>
          <p:cNvPr id="22" name="Text 19">
            <a:extLst>
              <a:ext uri="{FF2B5EF4-FFF2-40B4-BE49-F238E27FC236}">
                <a16:creationId xmlns:a16="http://schemas.microsoft.com/office/drawing/2014/main" id="{44E92E37-C666-46FE-8E3A-3F0391ED13BA}"/>
              </a:ext>
            </a:extLst>
          </p:cNvPr>
          <p:cNvSpPr>
            <a:spLocks noGrp="1"/>
          </p:cNvSpPr>
          <p:nvPr/>
        </p:nvSpPr>
        <p:spPr>
          <a:xfrm>
            <a:off x="1232789" y="9506331"/>
            <a:ext cx="19209131" cy="1476629"/>
          </a:xfrm>
          <a:prstGeom prst="rect">
            <a:avLst/>
          </a:prstGeom>
          <a:noFill/>
        </p:spPr>
        <p:txBody>
          <a:bodyPr wrap="square" lIns="0" tIns="0" rIns="0" bIns="0" anchor="t">
            <a:noAutofit/>
          </a:bodyPr>
          <a:lstStyle/>
          <a:p>
            <a:pPr>
              <a:lnSpc>
                <a:spcPct val="150000"/>
              </a:lnSpc>
              <a:buNone/>
              <a:defRPr sz="2550" b="0">
                <a:solidFill>
                  <a:srgbClr val="151515"/>
                </a:solidFill>
                <a:latin typeface="Times New Roman"/>
                <a:ea typeface="Times New Roman"/>
                <a:cs typeface="Times New Roman"/>
              </a:defRPr>
            </a:pPr>
            <a:r>
              <a:rPr sz="2550" b="0">
                <a:solidFill>
                  <a:srgbClr val="151515"/>
                </a:solidFill>
                <a:latin typeface="Times New Roman"/>
                <a:ea typeface="Times New Roman"/>
                <a:cs typeface="Times New Roman"/>
              </a:rPr>
              <a:t>Đơn vị: %. DualHead cao hơn Linear 5,07 điểm F1 và cao hơn CRF 2,74 điểm. Số liệu theo bảng dùng tạo hình trong run_ablation_reports.py.</a:t>
            </a:r>
            <a:endParaRPr sz="1600"/>
          </a:p>
        </p:txBody>
      </p:sp>
      <p:sp>
        <p:nvSpPr>
          <p:cNvPr id="23" name="Shape 20">
            <a:extLst>
              <a:ext uri="{FF2B5EF4-FFF2-40B4-BE49-F238E27FC236}">
                <a16:creationId xmlns:a16="http://schemas.microsoft.com/office/drawing/2014/main" id="{0E7C839F-4B00-4F27-AE1A-75F5D8C5F7DD}"/>
              </a:ext>
            </a:extLst>
          </p:cNvPr>
          <p:cNvSpPr>
            <a:spLocks noGrp="1"/>
          </p:cNvSpPr>
          <p:nvPr/>
        </p:nvSpPr>
        <p:spPr>
          <a:xfrm>
            <a:off x="19981291" y="11684000"/>
            <a:ext cx="1016000" cy="406400"/>
          </a:xfrm>
          <a:prstGeom prst="rect">
            <a:avLst/>
          </a:prstGeom>
          <a:solidFill>
            <a:srgbClr val="FFFFFF">
              <a:alpha val="0"/>
            </a:srgbClr>
          </a:solidFill>
        </p:spPr>
      </p:sp>
      <p:sp>
        <p:nvSpPr>
          <p:cNvPr id="24" name="Text 21">
            <a:extLst>
              <a:ext uri="{FF2B5EF4-FFF2-40B4-BE49-F238E27FC236}">
                <a16:creationId xmlns:a16="http://schemas.microsoft.com/office/drawing/2014/main" id="{5A8A0AFB-47AD-477F-8CFA-181718E281BF}"/>
              </a:ext>
            </a:extLst>
          </p:cNvPr>
          <p:cNvSpPr>
            <a:spLocks noGrp="1"/>
          </p:cNvSpPr>
          <p:nvPr/>
        </p:nvSpPr>
        <p:spPr>
          <a:xfrm>
            <a:off x="19859371" y="11623040"/>
            <a:ext cx="1259840" cy="528320"/>
          </a:xfrm>
          <a:prstGeom prst="rect">
            <a:avLst/>
          </a:prstGeom>
          <a:noFill/>
        </p:spPr>
        <p:txBody>
          <a:bodyPr wrap="none" lIns="0" tIns="0" rIns="0" bIns="0" anchor="ctr">
            <a:noAutofit/>
          </a:bodyPr>
          <a:lstStyle/>
          <a:p>
            <a:pPr algn="r">
              <a:lnSpc>
                <a:spcPct val="100000"/>
              </a:lnSpc>
              <a:buNone/>
              <a:defRPr sz="1950">
                <a:solidFill>
                  <a:srgbClr val="666666"/>
                </a:solidFill>
                <a:latin typeface="Times New Roman"/>
                <a:ea typeface="Times New Roman"/>
                <a:cs typeface="Times New Roman"/>
              </a:defRPr>
            </a:pPr>
            <a:r>
              <a:rPr sz="1950">
                <a:solidFill>
                  <a:srgbClr val="666666"/>
                </a:solidFill>
                <a:latin typeface="Times New Roman"/>
                <a:ea typeface="Times New Roman"/>
                <a:cs typeface="Times New Roman"/>
              </a:rPr>
              <a:t>9/18</a:t>
            </a:r>
            <a:endParaRPr sz="1600"/>
          </a:p>
        </p:txBody>
      </p:sp>
      <p:graphicFrame>
        <p:nvGraphicFramePr>
          <p:cNvPr id="48" name="Table 47"/>
          <p:cNvGraphicFramePr/>
          <p:nvPr>
            <p:extLst>
              <p:ext uri="{D42A27DB-BD31-4B8C-83A1-F6EECF244321}">
                <p14:modId xmlns:p14="http://schemas.microsoft.com/office/powerpoint/2010/main" val="1367126194"/>
              </p:ext>
            </p:extLst>
          </p:nvPr>
        </p:nvGraphicFramePr>
        <p:xfrm>
          <a:off x="1016032" y="1947291"/>
          <a:ext cx="19642741" cy="6579112"/>
        </p:xfrm>
        <a:graphic>
          <a:graphicData uri="http://schemas.openxmlformats.org/drawingml/2006/table">
            <a:tbl>
              <a:tblPr/>
              <a:tblGrid>
                <a:gridCol w="6783991">
                  <a:extLst>
                    <a:ext uri="{9D8B030D-6E8A-4147-A177-3AD203B41FA5}">
                      <a16:colId xmlns:a16="http://schemas.microsoft.com/office/drawing/2014/main" val="20000"/>
                    </a:ext>
                  </a:extLst>
                </a:gridCol>
                <a:gridCol w="257175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gridCol w="2857500">
                  <a:extLst>
                    <a:ext uri="{9D8B030D-6E8A-4147-A177-3AD203B41FA5}">
                      <a16:colId xmlns:a16="http://schemas.microsoft.com/office/drawing/2014/main" val="20004"/>
                    </a:ext>
                  </a:extLst>
                </a:gridCol>
                <a:gridCol w="2857500">
                  <a:extLst>
                    <a:ext uri="{9D8B030D-6E8A-4147-A177-3AD203B41FA5}">
                      <a16:colId xmlns:a16="http://schemas.microsoft.com/office/drawing/2014/main" val="20005"/>
                    </a:ext>
                  </a:extLst>
                </a:gridCol>
              </a:tblGrid>
              <a:tr h="1245088">
                <a:tc>
                  <a:txBody>
                    <a:bodyPr/>
                    <a:lstStyle/>
                    <a:p>
                      <a:r>
                        <a:rPr sz="2550" b="1">
                          <a:solidFill>
                            <a:srgbClr val="FFFFFF"/>
                          </a:solidFill>
                          <a:latin typeface="Times New Roman"/>
                          <a:ea typeface="Times New Roman"/>
                          <a:cs typeface="Times New Roman"/>
                        </a:rPr>
                        <a:t>Mô hình</a:t>
                      </a:r>
                    </a:p>
                  </a:txBody>
                  <a:tcPr anchor="ctr">
                    <a:solidFill>
                      <a:srgbClr val="1565C0"/>
                    </a:solidFill>
                  </a:tcPr>
                </a:tc>
                <a:tc>
                  <a:txBody>
                    <a:bodyPr/>
                    <a:lstStyle/>
                    <a:p>
                      <a:r>
                        <a:rPr sz="2550" b="1">
                          <a:solidFill>
                            <a:srgbClr val="FFFFFF"/>
                          </a:solidFill>
                          <a:latin typeface="Times New Roman"/>
                          <a:ea typeface="Times New Roman"/>
                          <a:cs typeface="Times New Roman"/>
                        </a:rPr>
                        <a:t>Precision</a:t>
                      </a:r>
                    </a:p>
                  </a:txBody>
                  <a:tcPr anchor="ctr">
                    <a:solidFill>
                      <a:srgbClr val="1565C0"/>
                    </a:solidFill>
                  </a:tcPr>
                </a:tc>
                <a:tc>
                  <a:txBody>
                    <a:bodyPr/>
                    <a:lstStyle/>
                    <a:p>
                      <a:r>
                        <a:rPr sz="2550" b="1">
                          <a:solidFill>
                            <a:srgbClr val="FFFFFF"/>
                          </a:solidFill>
                          <a:latin typeface="Times New Roman"/>
                          <a:ea typeface="Times New Roman"/>
                          <a:cs typeface="Times New Roman"/>
                        </a:rPr>
                        <a:t>Recall</a:t>
                      </a:r>
                    </a:p>
                  </a:txBody>
                  <a:tcPr anchor="ctr">
                    <a:solidFill>
                      <a:srgbClr val="1565C0"/>
                    </a:solidFill>
                  </a:tcPr>
                </a:tc>
                <a:tc>
                  <a:txBody>
                    <a:bodyPr/>
                    <a:lstStyle/>
                    <a:p>
                      <a:r>
                        <a:rPr sz="2550" b="1">
                          <a:solidFill>
                            <a:srgbClr val="FFFFFF"/>
                          </a:solidFill>
                          <a:latin typeface="Times New Roman"/>
                          <a:ea typeface="Times New Roman"/>
                          <a:cs typeface="Times New Roman"/>
                        </a:rPr>
                        <a:t>F1</a:t>
                      </a:r>
                    </a:p>
                  </a:txBody>
                  <a:tcPr anchor="ctr">
                    <a:solidFill>
                      <a:srgbClr val="1565C0"/>
                    </a:solidFill>
                  </a:tcPr>
                </a:tc>
                <a:tc>
                  <a:txBody>
                    <a:bodyPr/>
                    <a:lstStyle/>
                    <a:p>
                      <a:r>
                        <a:rPr sz="2550" b="1">
                          <a:solidFill>
                            <a:srgbClr val="FFFFFF"/>
                          </a:solidFill>
                          <a:latin typeface="Times New Roman"/>
                          <a:ea typeface="Times New Roman"/>
                          <a:cs typeface="Times New Roman"/>
                        </a:rPr>
                        <a:t>Lỗi chuyển</a:t>
                      </a:r>
                    </a:p>
                    <a:p>
                      <a:r>
                        <a:rPr sz="2550" b="1">
                          <a:solidFill>
                            <a:srgbClr val="FFFFFF"/>
                          </a:solidFill>
                          <a:latin typeface="Times New Roman"/>
                          <a:ea typeface="Times New Roman"/>
                          <a:cs typeface="Times New Roman"/>
                        </a:rPr>
                        <a:t>nhãn</a:t>
                      </a:r>
                    </a:p>
                  </a:txBody>
                  <a:tcPr anchor="ctr">
                    <a:solidFill>
                      <a:srgbClr val="1565C0"/>
                    </a:solidFill>
                  </a:tcPr>
                </a:tc>
                <a:tc>
                  <a:txBody>
                    <a:bodyPr/>
                    <a:lstStyle/>
                    <a:p>
                      <a:r>
                        <a:rPr sz="2550" b="1">
                          <a:solidFill>
                            <a:srgbClr val="FFFFFF"/>
                          </a:solidFill>
                          <a:latin typeface="Times New Roman"/>
                          <a:ea typeface="Times New Roman"/>
                          <a:cs typeface="Times New Roman"/>
                        </a:rPr>
                        <a:t>Lỗi ranh</a:t>
                      </a:r>
                    </a:p>
                    <a:p>
                      <a:r>
                        <a:rPr sz="2550" b="1">
                          <a:solidFill>
                            <a:srgbClr val="FFFFFF"/>
                          </a:solidFill>
                          <a:latin typeface="Times New Roman"/>
                          <a:ea typeface="Times New Roman"/>
                          <a:cs typeface="Times New Roman"/>
                        </a:rPr>
                        <a:t>giới</a:t>
                      </a:r>
                    </a:p>
                  </a:txBody>
                  <a:tcPr anchor="ctr">
                    <a:solidFill>
                      <a:srgbClr val="1565C0"/>
                    </a:solidFill>
                  </a:tcPr>
                </a:tc>
                <a:extLst>
                  <a:ext uri="{0D108BD9-81ED-4DB2-BD59-A6C34878D82A}">
                    <a16:rowId xmlns:a16="http://schemas.microsoft.com/office/drawing/2014/main" val="10000"/>
                  </a:ext>
                </a:extLst>
              </a:tr>
              <a:tr h="1778008">
                <a:tc>
                  <a:txBody>
                    <a:bodyPr/>
                    <a:lstStyle/>
                    <a:p>
                      <a:r>
                        <a:rPr sz="2550" b="0">
                          <a:solidFill>
                            <a:srgbClr val="151515"/>
                          </a:solidFill>
                          <a:latin typeface="Times New Roman"/>
                          <a:ea typeface="Times New Roman"/>
                          <a:cs typeface="Times New Roman"/>
                        </a:rPr>
                        <a:t>PhoBERT–Linear</a:t>
                      </a:r>
                    </a:p>
                  </a:txBody>
                  <a:tcPr anchor="ctr">
                    <a:solidFill>
                      <a:srgbClr val="FFFFFF"/>
                    </a:solidFill>
                  </a:tcPr>
                </a:tc>
                <a:tc>
                  <a:txBody>
                    <a:bodyPr/>
                    <a:lstStyle/>
                    <a:p>
                      <a:r>
                        <a:rPr sz="2550" b="0">
                          <a:solidFill>
                            <a:srgbClr val="151515"/>
                          </a:solidFill>
                          <a:latin typeface="Times New Roman"/>
                          <a:ea typeface="Times New Roman"/>
                          <a:cs typeface="Times New Roman"/>
                        </a:rPr>
                        <a:t>67,12</a:t>
                      </a:r>
                    </a:p>
                  </a:txBody>
                  <a:tcPr anchor="ctr">
                    <a:solidFill>
                      <a:srgbClr val="FFFFFF"/>
                    </a:solidFill>
                  </a:tcPr>
                </a:tc>
                <a:tc>
                  <a:txBody>
                    <a:bodyPr/>
                    <a:lstStyle/>
                    <a:p>
                      <a:r>
                        <a:rPr sz="2550" b="0">
                          <a:solidFill>
                            <a:srgbClr val="151515"/>
                          </a:solidFill>
                          <a:latin typeface="Times New Roman"/>
                          <a:ea typeface="Times New Roman"/>
                          <a:cs typeface="Times New Roman"/>
                        </a:rPr>
                        <a:t>65,46</a:t>
                      </a:r>
                    </a:p>
                  </a:txBody>
                  <a:tcPr anchor="ctr">
                    <a:solidFill>
                      <a:srgbClr val="FFFFFF"/>
                    </a:solidFill>
                  </a:tcPr>
                </a:tc>
                <a:tc>
                  <a:txBody>
                    <a:bodyPr/>
                    <a:lstStyle/>
                    <a:p>
                      <a:r>
                        <a:rPr sz="2550" b="0">
                          <a:solidFill>
                            <a:srgbClr val="151515"/>
                          </a:solidFill>
                          <a:latin typeface="Times New Roman"/>
                          <a:ea typeface="Times New Roman"/>
                          <a:cs typeface="Times New Roman"/>
                        </a:rPr>
                        <a:t>66,28</a:t>
                      </a:r>
                    </a:p>
                  </a:txBody>
                  <a:tcPr anchor="ctr">
                    <a:solidFill>
                      <a:srgbClr val="FFFFFF"/>
                    </a:solidFill>
                  </a:tcPr>
                </a:tc>
                <a:tc>
                  <a:txBody>
                    <a:bodyPr/>
                    <a:lstStyle/>
                    <a:p>
                      <a:r>
                        <a:rPr sz="2550" b="0">
                          <a:solidFill>
                            <a:srgbClr val="151515"/>
                          </a:solidFill>
                          <a:latin typeface="Times New Roman"/>
                          <a:ea typeface="Times New Roman"/>
                          <a:cs typeface="Times New Roman"/>
                        </a:rPr>
                        <a:t>26,4</a:t>
                      </a:r>
                    </a:p>
                  </a:txBody>
                  <a:tcPr anchor="ctr">
                    <a:solidFill>
                      <a:srgbClr val="FFFFFF"/>
                    </a:solidFill>
                  </a:tcPr>
                </a:tc>
                <a:tc>
                  <a:txBody>
                    <a:bodyPr/>
                    <a:lstStyle/>
                    <a:p>
                      <a:r>
                        <a:rPr sz="2550" b="0">
                          <a:solidFill>
                            <a:srgbClr val="151515"/>
                          </a:solidFill>
                          <a:latin typeface="Times New Roman"/>
                          <a:ea typeface="Times New Roman"/>
                          <a:cs typeface="Times New Roman"/>
                        </a:rPr>
                        <a:t>25,8</a:t>
                      </a:r>
                    </a:p>
                  </a:txBody>
                  <a:tcPr anchor="ctr">
                    <a:solidFill>
                      <a:srgbClr val="FFFFFF"/>
                    </a:solidFill>
                  </a:tcPr>
                </a:tc>
                <a:extLst>
                  <a:ext uri="{0D108BD9-81ED-4DB2-BD59-A6C34878D82A}">
                    <a16:rowId xmlns:a16="http://schemas.microsoft.com/office/drawing/2014/main" val="10001"/>
                  </a:ext>
                </a:extLst>
              </a:tr>
              <a:tr h="1778008">
                <a:tc>
                  <a:txBody>
                    <a:bodyPr/>
                    <a:lstStyle/>
                    <a:p>
                      <a:r>
                        <a:rPr sz="2550" b="0">
                          <a:solidFill>
                            <a:srgbClr val="151515"/>
                          </a:solidFill>
                          <a:latin typeface="Times New Roman"/>
                          <a:ea typeface="Times New Roman"/>
                          <a:cs typeface="Times New Roman"/>
                        </a:rPr>
                        <a:t>PhoBERT–CRF</a:t>
                      </a:r>
                    </a:p>
                  </a:txBody>
                  <a:tcPr anchor="ctr">
                    <a:solidFill>
                      <a:srgbClr val="E3F2FD"/>
                    </a:solidFill>
                  </a:tcPr>
                </a:tc>
                <a:tc>
                  <a:txBody>
                    <a:bodyPr/>
                    <a:lstStyle/>
                    <a:p>
                      <a:r>
                        <a:rPr sz="2550" b="0">
                          <a:solidFill>
                            <a:srgbClr val="151515"/>
                          </a:solidFill>
                          <a:latin typeface="Times New Roman"/>
                          <a:ea typeface="Times New Roman"/>
                          <a:cs typeface="Times New Roman"/>
                        </a:rPr>
                        <a:t>69,40</a:t>
                      </a:r>
                    </a:p>
                  </a:txBody>
                  <a:tcPr anchor="ctr">
                    <a:solidFill>
                      <a:srgbClr val="E3F2FD"/>
                    </a:solidFill>
                  </a:tcPr>
                </a:tc>
                <a:tc>
                  <a:txBody>
                    <a:bodyPr/>
                    <a:lstStyle/>
                    <a:p>
                      <a:r>
                        <a:rPr sz="2550" b="0">
                          <a:solidFill>
                            <a:srgbClr val="151515"/>
                          </a:solidFill>
                          <a:latin typeface="Times New Roman"/>
                          <a:ea typeface="Times New Roman"/>
                          <a:cs typeface="Times New Roman"/>
                        </a:rPr>
                        <a:t>67,85</a:t>
                      </a:r>
                    </a:p>
                  </a:txBody>
                  <a:tcPr anchor="ctr">
                    <a:solidFill>
                      <a:srgbClr val="E3F2FD"/>
                    </a:solidFill>
                  </a:tcPr>
                </a:tc>
                <a:tc>
                  <a:txBody>
                    <a:bodyPr/>
                    <a:lstStyle/>
                    <a:p>
                      <a:r>
                        <a:rPr sz="2550" b="0">
                          <a:solidFill>
                            <a:srgbClr val="151515"/>
                          </a:solidFill>
                          <a:latin typeface="Times New Roman"/>
                          <a:ea typeface="Times New Roman"/>
                          <a:cs typeface="Times New Roman"/>
                        </a:rPr>
                        <a:t>68,61</a:t>
                      </a:r>
                    </a:p>
                  </a:txBody>
                  <a:tcPr anchor="ctr">
                    <a:solidFill>
                      <a:srgbClr val="E3F2FD"/>
                    </a:solidFill>
                  </a:tcPr>
                </a:tc>
                <a:tc>
                  <a:txBody>
                    <a:bodyPr/>
                    <a:lstStyle/>
                    <a:p>
                      <a:r>
                        <a:rPr sz="2550" b="0">
                          <a:solidFill>
                            <a:srgbClr val="151515"/>
                          </a:solidFill>
                          <a:latin typeface="Times New Roman"/>
                          <a:ea typeface="Times New Roman"/>
                          <a:cs typeface="Times New Roman"/>
                        </a:rPr>
                        <a:t>0,0</a:t>
                      </a:r>
                    </a:p>
                  </a:txBody>
                  <a:tcPr anchor="ctr">
                    <a:solidFill>
                      <a:srgbClr val="E3F2FD"/>
                    </a:solidFill>
                  </a:tcPr>
                </a:tc>
                <a:tc>
                  <a:txBody>
                    <a:bodyPr/>
                    <a:lstStyle/>
                    <a:p>
                      <a:r>
                        <a:rPr sz="2550" b="0">
                          <a:solidFill>
                            <a:srgbClr val="151515"/>
                          </a:solidFill>
                          <a:latin typeface="Times New Roman"/>
                          <a:ea typeface="Times New Roman"/>
                          <a:cs typeface="Times New Roman"/>
                        </a:rPr>
                        <a:t>18,4</a:t>
                      </a:r>
                    </a:p>
                  </a:txBody>
                  <a:tcPr anchor="ctr">
                    <a:solidFill>
                      <a:srgbClr val="E3F2FD"/>
                    </a:solidFill>
                  </a:tcPr>
                </a:tc>
                <a:extLst>
                  <a:ext uri="{0D108BD9-81ED-4DB2-BD59-A6C34878D82A}">
                    <a16:rowId xmlns:a16="http://schemas.microsoft.com/office/drawing/2014/main" val="10002"/>
                  </a:ext>
                </a:extLst>
              </a:tr>
              <a:tr h="1778008">
                <a:tc>
                  <a:txBody>
                    <a:bodyPr/>
                    <a:lstStyle/>
                    <a:p>
                      <a:r>
                        <a:rPr sz="2550" b="0">
                          <a:solidFill>
                            <a:srgbClr val="151515"/>
                          </a:solidFill>
                          <a:latin typeface="Times New Roman"/>
                          <a:ea typeface="Times New Roman"/>
                          <a:cs typeface="Times New Roman"/>
                        </a:rPr>
                        <a:t>PhoBERT–BiLSTM–CRF</a:t>
                      </a:r>
                    </a:p>
                    <a:p>
                      <a:r>
                        <a:rPr sz="2550" b="0">
                          <a:solidFill>
                            <a:srgbClr val="151515"/>
                          </a:solidFill>
                          <a:latin typeface="Times New Roman"/>
                          <a:ea typeface="Times New Roman"/>
                          <a:cs typeface="Times New Roman"/>
                        </a:rPr>
                        <a:t>(DualHead)</a:t>
                      </a:r>
                    </a:p>
                  </a:txBody>
                  <a:tcPr anchor="ctr">
                    <a:solidFill>
                      <a:srgbClr val="FFFFFF"/>
                    </a:solidFill>
                  </a:tcPr>
                </a:tc>
                <a:tc>
                  <a:txBody>
                    <a:bodyPr/>
                    <a:lstStyle/>
                    <a:p>
                      <a:r>
                        <a:rPr sz="2550" b="0">
                          <a:solidFill>
                            <a:srgbClr val="151515"/>
                          </a:solidFill>
                          <a:latin typeface="Times New Roman"/>
                          <a:ea typeface="Times New Roman"/>
                          <a:cs typeface="Times New Roman"/>
                        </a:rPr>
                        <a:t>74,82</a:t>
                      </a:r>
                    </a:p>
                  </a:txBody>
                  <a:tcPr anchor="ctr">
                    <a:solidFill>
                      <a:srgbClr val="FFFFFF"/>
                    </a:solidFill>
                  </a:tcPr>
                </a:tc>
                <a:tc>
                  <a:txBody>
                    <a:bodyPr/>
                    <a:lstStyle/>
                    <a:p>
                      <a:r>
                        <a:rPr sz="2550" b="0">
                          <a:solidFill>
                            <a:srgbClr val="151515"/>
                          </a:solidFill>
                          <a:latin typeface="Times New Roman"/>
                          <a:ea typeface="Times New Roman"/>
                          <a:cs typeface="Times New Roman"/>
                        </a:rPr>
                        <a:t>68,20</a:t>
                      </a:r>
                    </a:p>
                  </a:txBody>
                  <a:tcPr anchor="ctr">
                    <a:solidFill>
                      <a:srgbClr val="FFFFFF"/>
                    </a:solidFill>
                  </a:tcPr>
                </a:tc>
                <a:tc>
                  <a:txBody>
                    <a:bodyPr/>
                    <a:lstStyle/>
                    <a:p>
                      <a:r>
                        <a:rPr sz="2550" b="0">
                          <a:solidFill>
                            <a:srgbClr val="151515"/>
                          </a:solidFill>
                          <a:latin typeface="Times New Roman"/>
                          <a:ea typeface="Times New Roman"/>
                          <a:cs typeface="Times New Roman"/>
                        </a:rPr>
                        <a:t>71,35</a:t>
                      </a:r>
                    </a:p>
                  </a:txBody>
                  <a:tcPr anchor="ctr">
                    <a:solidFill>
                      <a:srgbClr val="FFFFFF"/>
                    </a:solidFill>
                  </a:tcPr>
                </a:tc>
                <a:tc>
                  <a:txBody>
                    <a:bodyPr/>
                    <a:lstStyle/>
                    <a:p>
                      <a:r>
                        <a:rPr sz="2550" b="0">
                          <a:solidFill>
                            <a:srgbClr val="151515"/>
                          </a:solidFill>
                          <a:latin typeface="Times New Roman"/>
                          <a:ea typeface="Times New Roman"/>
                          <a:cs typeface="Times New Roman"/>
                        </a:rPr>
                        <a:t>0,0</a:t>
                      </a:r>
                    </a:p>
                  </a:txBody>
                  <a:tcPr anchor="ctr">
                    <a:solidFill>
                      <a:srgbClr val="FFFFFF"/>
                    </a:solidFill>
                  </a:tcPr>
                </a:tc>
                <a:tc>
                  <a:txBody>
                    <a:bodyPr/>
                    <a:lstStyle/>
                    <a:p>
                      <a:r>
                        <a:rPr sz="2550" b="0" dirty="0">
                          <a:solidFill>
                            <a:srgbClr val="151515"/>
                          </a:solidFill>
                          <a:latin typeface="Times New Roman"/>
                          <a:ea typeface="Times New Roman"/>
                          <a:cs typeface="Times New Roman"/>
                        </a:rPr>
                        <a:t>13,8</a:t>
                      </a:r>
                    </a:p>
                  </a:txBody>
                  <a:tcPr anchor="ctr">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3702307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64A20B4-C1B6-4CE2-B64A-5506183A29C2}"/>
              </a:ext>
            </a:extLst>
          </p:cNvPr>
          <p:cNvSpPr>
            <a:spLocks noGrp="1"/>
          </p:cNvSpPr>
          <p:nvPr/>
        </p:nvSpPr>
        <p:spPr>
          <a:xfrm>
            <a:off x="0" y="0"/>
            <a:ext cx="21674709" cy="677291"/>
          </a:xfrm>
          <a:prstGeom prst="rect">
            <a:avLst/>
          </a:prstGeom>
          <a:solidFill>
            <a:srgbClr val="1565C0"/>
          </a:solidFill>
        </p:spPr>
      </p:sp>
      <p:sp>
        <p:nvSpPr>
          <p:cNvPr id="3" name="Shape 1">
            <a:extLst>
              <a:ext uri="{FF2B5EF4-FFF2-40B4-BE49-F238E27FC236}">
                <a16:creationId xmlns:a16="http://schemas.microsoft.com/office/drawing/2014/main" id="{7C07B71D-F92D-41E3-B4AA-BEB5F54ACE63}"/>
              </a:ext>
            </a:extLst>
          </p:cNvPr>
          <p:cNvSpPr>
            <a:spLocks noGrp="1"/>
          </p:cNvSpPr>
          <p:nvPr/>
        </p:nvSpPr>
        <p:spPr>
          <a:xfrm>
            <a:off x="7281196" y="84709"/>
            <a:ext cx="3386709" cy="508000"/>
          </a:xfrm>
          <a:prstGeom prst="roundRect">
            <a:avLst>
              <a:gd name="adj" fmla="val 8000"/>
            </a:avLst>
          </a:prstGeom>
          <a:solidFill>
            <a:srgbClr val="FFFFFF">
              <a:alpha val="3576"/>
            </a:srgbClr>
          </a:solidFill>
        </p:spPr>
      </p:sp>
      <p:sp>
        <p:nvSpPr>
          <p:cNvPr id="4" name="Shape 2">
            <a:extLst>
              <a:ext uri="{FF2B5EF4-FFF2-40B4-BE49-F238E27FC236}">
                <a16:creationId xmlns:a16="http://schemas.microsoft.com/office/drawing/2014/main" id="{D3C0D4A2-7494-4FE1-8023-D988553FF390}"/>
              </a:ext>
            </a:extLst>
          </p:cNvPr>
          <p:cNvSpPr>
            <a:spLocks noGrp="1"/>
          </p:cNvSpPr>
          <p:nvPr/>
        </p:nvSpPr>
        <p:spPr>
          <a:xfrm>
            <a:off x="169291" y="0"/>
            <a:ext cx="3386709" cy="677291"/>
          </a:xfrm>
          <a:prstGeom prst="rect">
            <a:avLst/>
          </a:prstGeom>
          <a:solidFill>
            <a:srgbClr val="FFFFFF">
              <a:alpha val="0"/>
            </a:srgbClr>
          </a:solidFill>
        </p:spPr>
      </p:sp>
      <p:sp>
        <p:nvSpPr>
          <p:cNvPr id="5" name="Text 3">
            <a:extLst>
              <a:ext uri="{FF2B5EF4-FFF2-40B4-BE49-F238E27FC236}">
                <a16:creationId xmlns:a16="http://schemas.microsoft.com/office/drawing/2014/main" id="{D6834B19-F43F-45C7-BD47-0E79B6CFCE65}"/>
              </a:ext>
            </a:extLst>
          </p:cNvPr>
          <p:cNvSpPr>
            <a:spLocks noGrp="1"/>
          </p:cNvSpPr>
          <p:nvPr/>
        </p:nvSpPr>
        <p:spPr>
          <a:xfrm>
            <a:off x="47339"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1. Bài toán và dữ liệu</a:t>
            </a:r>
            <a:endParaRPr sz="1600"/>
          </a:p>
        </p:txBody>
      </p:sp>
      <p:sp>
        <p:nvSpPr>
          <p:cNvPr id="6" name="Shape 4">
            <a:extLst>
              <a:ext uri="{FF2B5EF4-FFF2-40B4-BE49-F238E27FC236}">
                <a16:creationId xmlns:a16="http://schemas.microsoft.com/office/drawing/2014/main" id="{4EBCB68D-0BCE-4101-B79E-3E31A90823FE}"/>
              </a:ext>
            </a:extLst>
          </p:cNvPr>
          <p:cNvSpPr>
            <a:spLocks noGrp="1"/>
          </p:cNvSpPr>
          <p:nvPr/>
        </p:nvSpPr>
        <p:spPr>
          <a:xfrm>
            <a:off x="3725291" y="0"/>
            <a:ext cx="3386709" cy="677291"/>
          </a:xfrm>
          <a:prstGeom prst="rect">
            <a:avLst/>
          </a:prstGeom>
          <a:solidFill>
            <a:srgbClr val="FFFFFF">
              <a:alpha val="0"/>
            </a:srgbClr>
          </a:solidFill>
        </p:spPr>
      </p:sp>
      <p:sp>
        <p:nvSpPr>
          <p:cNvPr id="7" name="Text 5">
            <a:extLst>
              <a:ext uri="{FF2B5EF4-FFF2-40B4-BE49-F238E27FC236}">
                <a16:creationId xmlns:a16="http://schemas.microsoft.com/office/drawing/2014/main" id="{AC81AE39-5641-4E33-B8B2-81369B9958BD}"/>
              </a:ext>
            </a:extLst>
          </p:cNvPr>
          <p:cNvSpPr>
            <a:spLocks noGrp="1"/>
          </p:cNvSpPr>
          <p:nvPr/>
        </p:nvSpPr>
        <p:spPr>
          <a:xfrm>
            <a:off x="3603403"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2. Mô hình và dual head</a:t>
            </a:r>
            <a:endParaRPr sz="1600"/>
          </a:p>
        </p:txBody>
      </p:sp>
      <p:sp>
        <p:nvSpPr>
          <p:cNvPr id="8" name="Shape 6">
            <a:extLst>
              <a:ext uri="{FF2B5EF4-FFF2-40B4-BE49-F238E27FC236}">
                <a16:creationId xmlns:a16="http://schemas.microsoft.com/office/drawing/2014/main" id="{3BD1BE30-611D-4D32-9B0B-D0F78012D3FD}"/>
              </a:ext>
            </a:extLst>
          </p:cNvPr>
          <p:cNvSpPr>
            <a:spLocks noGrp="1"/>
          </p:cNvSpPr>
          <p:nvPr/>
        </p:nvSpPr>
        <p:spPr>
          <a:xfrm>
            <a:off x="7281291" y="0"/>
            <a:ext cx="3386709" cy="677291"/>
          </a:xfrm>
          <a:prstGeom prst="rect">
            <a:avLst/>
          </a:prstGeom>
          <a:solidFill>
            <a:srgbClr val="FFFFFF">
              <a:alpha val="0"/>
            </a:srgbClr>
          </a:solidFill>
        </p:spPr>
      </p:sp>
      <p:sp>
        <p:nvSpPr>
          <p:cNvPr id="9" name="Text 7">
            <a:extLst>
              <a:ext uri="{FF2B5EF4-FFF2-40B4-BE49-F238E27FC236}">
                <a16:creationId xmlns:a16="http://schemas.microsoft.com/office/drawing/2014/main" id="{86279E51-B1B3-4B07-A7F8-3304B3E8AF83}"/>
              </a:ext>
            </a:extLst>
          </p:cNvPr>
          <p:cNvSpPr>
            <a:spLocks noGrp="1"/>
          </p:cNvSpPr>
          <p:nvPr/>
        </p:nvSpPr>
        <p:spPr>
          <a:xfrm>
            <a:off x="7159371" y="0"/>
            <a:ext cx="3630549" cy="676275"/>
          </a:xfrm>
          <a:prstGeom prst="rect">
            <a:avLst/>
          </a:prstGeom>
          <a:noFill/>
        </p:spPr>
        <p:txBody>
          <a:bodyPr wrap="none" lIns="0" tIns="0" rIns="0" bIns="0" anchor="ctr">
            <a:noAutofit/>
          </a:bodyPr>
          <a:lstStyle/>
          <a:p>
            <a:pPr algn="ctr">
              <a:lnSpc>
                <a:spcPct val="100000"/>
              </a:lnSpc>
              <a:buNone/>
              <a:defRPr sz="1875" b="1">
                <a:solidFill>
                  <a:srgbClr val="FFFFFF"/>
                </a:solidFill>
                <a:latin typeface="Times New Roman"/>
                <a:ea typeface="Times New Roman"/>
                <a:cs typeface="Times New Roman"/>
              </a:defRPr>
            </a:pPr>
            <a:r>
              <a:rPr sz="1875" b="1">
                <a:solidFill>
                  <a:srgbClr val="FFFFFF"/>
                </a:solidFill>
                <a:latin typeface="Times New Roman"/>
                <a:ea typeface="Times New Roman"/>
                <a:cs typeface="Times New Roman"/>
              </a:rPr>
              <a:t>3. Kết quả</a:t>
            </a:r>
            <a:endParaRPr sz="1600"/>
          </a:p>
        </p:txBody>
      </p:sp>
      <p:sp>
        <p:nvSpPr>
          <p:cNvPr id="10" name="Shape 8">
            <a:extLst>
              <a:ext uri="{FF2B5EF4-FFF2-40B4-BE49-F238E27FC236}">
                <a16:creationId xmlns:a16="http://schemas.microsoft.com/office/drawing/2014/main" id="{8861AE7D-C8F6-4D37-9088-AEA6767923DC}"/>
              </a:ext>
            </a:extLst>
          </p:cNvPr>
          <p:cNvSpPr>
            <a:spLocks noGrp="1"/>
          </p:cNvSpPr>
          <p:nvPr/>
        </p:nvSpPr>
        <p:spPr>
          <a:xfrm>
            <a:off x="10837291" y="0"/>
            <a:ext cx="3386709" cy="677291"/>
          </a:xfrm>
          <a:prstGeom prst="rect">
            <a:avLst/>
          </a:prstGeom>
          <a:solidFill>
            <a:srgbClr val="FFFFFF">
              <a:alpha val="0"/>
            </a:srgbClr>
          </a:solidFill>
        </p:spPr>
      </p:sp>
      <p:sp>
        <p:nvSpPr>
          <p:cNvPr id="11" name="Text 9">
            <a:extLst>
              <a:ext uri="{FF2B5EF4-FFF2-40B4-BE49-F238E27FC236}">
                <a16:creationId xmlns:a16="http://schemas.microsoft.com/office/drawing/2014/main" id="{4545473B-A759-4790-908D-E307A7966A3A}"/>
              </a:ext>
            </a:extLst>
          </p:cNvPr>
          <p:cNvSpPr>
            <a:spLocks noGrp="1"/>
          </p:cNvSpPr>
          <p:nvPr/>
        </p:nvSpPr>
        <p:spPr>
          <a:xfrm>
            <a:off x="10715339"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4. Phân tích lỗi</a:t>
            </a:r>
            <a:endParaRPr sz="1600"/>
          </a:p>
        </p:txBody>
      </p:sp>
      <p:sp>
        <p:nvSpPr>
          <p:cNvPr id="12" name="Shape 10">
            <a:extLst>
              <a:ext uri="{FF2B5EF4-FFF2-40B4-BE49-F238E27FC236}">
                <a16:creationId xmlns:a16="http://schemas.microsoft.com/office/drawing/2014/main" id="{22FE91F2-6615-42C6-9380-D3040C2E62EA}"/>
              </a:ext>
            </a:extLst>
          </p:cNvPr>
          <p:cNvSpPr>
            <a:spLocks noGrp="1"/>
          </p:cNvSpPr>
          <p:nvPr/>
        </p:nvSpPr>
        <p:spPr>
          <a:xfrm>
            <a:off x="14393291" y="0"/>
            <a:ext cx="3386709" cy="677291"/>
          </a:xfrm>
          <a:prstGeom prst="rect">
            <a:avLst/>
          </a:prstGeom>
          <a:solidFill>
            <a:srgbClr val="FFFFFF">
              <a:alpha val="0"/>
            </a:srgbClr>
          </a:solidFill>
        </p:spPr>
      </p:sp>
      <p:sp>
        <p:nvSpPr>
          <p:cNvPr id="13" name="Text 11">
            <a:extLst>
              <a:ext uri="{FF2B5EF4-FFF2-40B4-BE49-F238E27FC236}">
                <a16:creationId xmlns:a16="http://schemas.microsoft.com/office/drawing/2014/main" id="{94A4D390-A300-4A10-9E43-F1DC4E6F13C9}"/>
              </a:ext>
            </a:extLst>
          </p:cNvPr>
          <p:cNvSpPr>
            <a:spLocks noGrp="1"/>
          </p:cNvSpPr>
          <p:nvPr/>
        </p:nvSpPr>
        <p:spPr>
          <a:xfrm>
            <a:off x="14271403"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5. Ứng dụng</a:t>
            </a:r>
            <a:endParaRPr sz="1600"/>
          </a:p>
        </p:txBody>
      </p:sp>
      <p:sp>
        <p:nvSpPr>
          <p:cNvPr id="14" name="Shape 12">
            <a:extLst>
              <a:ext uri="{FF2B5EF4-FFF2-40B4-BE49-F238E27FC236}">
                <a16:creationId xmlns:a16="http://schemas.microsoft.com/office/drawing/2014/main" id="{C4935CBF-954D-4E93-9307-5CF1081C5E81}"/>
              </a:ext>
            </a:extLst>
          </p:cNvPr>
          <p:cNvSpPr>
            <a:spLocks noGrp="1"/>
          </p:cNvSpPr>
          <p:nvPr/>
        </p:nvSpPr>
        <p:spPr>
          <a:xfrm>
            <a:off x="17949291" y="0"/>
            <a:ext cx="3386709" cy="677291"/>
          </a:xfrm>
          <a:prstGeom prst="rect">
            <a:avLst/>
          </a:prstGeom>
          <a:solidFill>
            <a:srgbClr val="FFFFFF">
              <a:alpha val="0"/>
            </a:srgbClr>
          </a:solidFill>
        </p:spPr>
      </p:sp>
      <p:sp>
        <p:nvSpPr>
          <p:cNvPr id="15" name="Text 13">
            <a:extLst>
              <a:ext uri="{FF2B5EF4-FFF2-40B4-BE49-F238E27FC236}">
                <a16:creationId xmlns:a16="http://schemas.microsoft.com/office/drawing/2014/main" id="{55B7AC0E-B841-4480-A113-DC05E10E6ECF}"/>
              </a:ext>
            </a:extLst>
          </p:cNvPr>
          <p:cNvSpPr>
            <a:spLocks noGrp="1"/>
          </p:cNvSpPr>
          <p:nvPr/>
        </p:nvSpPr>
        <p:spPr>
          <a:xfrm>
            <a:off x="17827371"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6. Cải thiện</a:t>
            </a:r>
            <a:endParaRPr sz="1600"/>
          </a:p>
        </p:txBody>
      </p:sp>
      <p:sp>
        <p:nvSpPr>
          <p:cNvPr id="16" name="Shape 14">
            <a:extLst>
              <a:ext uri="{FF2B5EF4-FFF2-40B4-BE49-F238E27FC236}">
                <a16:creationId xmlns:a16="http://schemas.microsoft.com/office/drawing/2014/main" id="{DC086E6B-7A8C-47CE-A90F-E2C2192519D4}"/>
              </a:ext>
            </a:extLst>
          </p:cNvPr>
          <p:cNvSpPr>
            <a:spLocks noGrp="1"/>
          </p:cNvSpPr>
          <p:nvPr/>
        </p:nvSpPr>
        <p:spPr>
          <a:xfrm>
            <a:off x="1016000" y="931291"/>
            <a:ext cx="15240000" cy="643509"/>
          </a:xfrm>
          <a:prstGeom prst="rect">
            <a:avLst/>
          </a:prstGeom>
          <a:solidFill>
            <a:srgbClr val="FFFFFF">
              <a:alpha val="0"/>
            </a:srgbClr>
          </a:solidFill>
        </p:spPr>
      </p:sp>
      <p:sp>
        <p:nvSpPr>
          <p:cNvPr id="17" name="Text 15">
            <a:extLst>
              <a:ext uri="{FF2B5EF4-FFF2-40B4-BE49-F238E27FC236}">
                <a16:creationId xmlns:a16="http://schemas.microsoft.com/office/drawing/2014/main" id="{B06844EA-EF61-45ED-9555-EBC4C0A996C0}"/>
              </a:ext>
            </a:extLst>
          </p:cNvPr>
          <p:cNvSpPr>
            <a:spLocks noGrp="1"/>
          </p:cNvSpPr>
          <p:nvPr/>
        </p:nvSpPr>
        <p:spPr>
          <a:xfrm>
            <a:off x="894080" y="870331"/>
            <a:ext cx="15483840" cy="765429"/>
          </a:xfrm>
          <a:prstGeom prst="rect">
            <a:avLst/>
          </a:prstGeom>
          <a:noFill/>
        </p:spPr>
        <p:txBody>
          <a:bodyPr wrap="none" lIns="0" tIns="0" rIns="0" bIns="0" anchor="ctr">
            <a:noAutofit/>
          </a:bodyPr>
          <a:lstStyle/>
          <a:p>
            <a:pPr>
              <a:lnSpc>
                <a:spcPct val="100000"/>
              </a:lnSpc>
              <a:buNone/>
              <a:defRPr sz="3900" b="1">
                <a:solidFill>
                  <a:srgbClr val="1565C0"/>
                </a:solidFill>
                <a:latin typeface="Times New Roman"/>
                <a:ea typeface="Times New Roman"/>
                <a:cs typeface="Times New Roman"/>
              </a:defRPr>
            </a:pPr>
            <a:r>
              <a:rPr sz="3900" b="1">
                <a:solidFill>
                  <a:srgbClr val="1565C0"/>
                </a:solidFill>
                <a:latin typeface="Times New Roman"/>
                <a:ea typeface="Times New Roman"/>
                <a:cs typeface="Times New Roman"/>
              </a:rPr>
              <a:t>Span-F1 của ba mô hình</a:t>
            </a:r>
            <a:endParaRPr sz="1600"/>
          </a:p>
        </p:txBody>
      </p:sp>
      <p:sp>
        <p:nvSpPr>
          <p:cNvPr id="18" name="Shape 16">
            <a:extLst>
              <a:ext uri="{FF2B5EF4-FFF2-40B4-BE49-F238E27FC236}">
                <a16:creationId xmlns:a16="http://schemas.microsoft.com/office/drawing/2014/main" id="{2B2B3B67-AA35-4D52-9009-3E7B608491F4}"/>
              </a:ext>
            </a:extLst>
          </p:cNvPr>
          <p:cNvSpPr>
            <a:spLocks noGrp="1"/>
          </p:cNvSpPr>
          <p:nvPr/>
        </p:nvSpPr>
        <p:spPr>
          <a:xfrm>
            <a:off x="1016000" y="1625600"/>
            <a:ext cx="19642709" cy="50800"/>
          </a:xfrm>
          <a:prstGeom prst="rect">
            <a:avLst/>
          </a:prstGeom>
          <a:solidFill>
            <a:srgbClr val="1565C0"/>
          </a:solidFill>
        </p:spPr>
      </p:sp>
      <p:sp>
        <p:nvSpPr>
          <p:cNvPr id="26" name="Shape 24">
            <a:extLst>
              <a:ext uri="{FF2B5EF4-FFF2-40B4-BE49-F238E27FC236}">
                <a16:creationId xmlns:a16="http://schemas.microsoft.com/office/drawing/2014/main" id="{61C10AEB-65D2-45D4-9EB3-A1C1528032F9}"/>
              </a:ext>
            </a:extLst>
          </p:cNvPr>
          <p:cNvSpPr>
            <a:spLocks noGrp="1"/>
          </p:cNvSpPr>
          <p:nvPr/>
        </p:nvSpPr>
        <p:spPr>
          <a:xfrm>
            <a:off x="19981291" y="11684000"/>
            <a:ext cx="1016000" cy="406400"/>
          </a:xfrm>
          <a:prstGeom prst="rect">
            <a:avLst/>
          </a:prstGeom>
          <a:solidFill>
            <a:srgbClr val="FFFFFF">
              <a:alpha val="0"/>
            </a:srgbClr>
          </a:solidFill>
        </p:spPr>
      </p:sp>
      <p:sp>
        <p:nvSpPr>
          <p:cNvPr id="27" name="Text 25">
            <a:extLst>
              <a:ext uri="{FF2B5EF4-FFF2-40B4-BE49-F238E27FC236}">
                <a16:creationId xmlns:a16="http://schemas.microsoft.com/office/drawing/2014/main" id="{254AA83A-B393-42B8-8BB2-9206F05A0C7C}"/>
              </a:ext>
            </a:extLst>
          </p:cNvPr>
          <p:cNvSpPr>
            <a:spLocks noGrp="1"/>
          </p:cNvSpPr>
          <p:nvPr/>
        </p:nvSpPr>
        <p:spPr>
          <a:xfrm>
            <a:off x="19859371" y="11623040"/>
            <a:ext cx="1259840" cy="528320"/>
          </a:xfrm>
          <a:prstGeom prst="rect">
            <a:avLst/>
          </a:prstGeom>
          <a:noFill/>
        </p:spPr>
        <p:txBody>
          <a:bodyPr wrap="none" lIns="0" tIns="0" rIns="0" bIns="0" anchor="ctr">
            <a:noAutofit/>
          </a:bodyPr>
          <a:lstStyle/>
          <a:p>
            <a:pPr algn="r">
              <a:lnSpc>
                <a:spcPct val="100000"/>
              </a:lnSpc>
              <a:buNone/>
              <a:defRPr sz="1950">
                <a:solidFill>
                  <a:srgbClr val="666666"/>
                </a:solidFill>
                <a:latin typeface="Times New Roman"/>
                <a:ea typeface="Times New Roman"/>
                <a:cs typeface="Times New Roman"/>
              </a:defRPr>
            </a:pPr>
            <a:r>
              <a:rPr sz="1950">
                <a:solidFill>
                  <a:srgbClr val="666666"/>
                </a:solidFill>
                <a:latin typeface="Times New Roman"/>
                <a:ea typeface="Times New Roman"/>
                <a:cs typeface="Times New Roman"/>
              </a:rPr>
              <a:t>10/18</a:t>
            </a:r>
            <a:endParaRPr sz="1600"/>
          </a:p>
        </p:txBody>
      </p:sp>
      <p:sp>
        <p:nvSpPr>
          <p:cNvPr id="29" name="Rectangle 28">
            <a:extLst>
              <a:ext uri="{FF2B5EF4-FFF2-40B4-BE49-F238E27FC236}">
                <a16:creationId xmlns:a16="http://schemas.microsoft.com/office/drawing/2014/main" id="{4F227220-4D04-47E1-AA7B-AF8BE23047CF}"/>
              </a:ext>
            </a:extLst>
          </p:cNvPr>
          <p:cNvSpPr>
            <a:spLocks noGrp="1"/>
          </p:cNvSpPr>
          <p:nvPr/>
        </p:nvSpPr>
        <p:spPr>
          <a:xfrm>
            <a:off x="16097250" y="2952750"/>
            <a:ext cx="4572000" cy="7810500"/>
          </a:xfrm>
          <a:prstGeom prst="rect">
            <a:avLst/>
          </a:prstGeom>
          <a:noFill/>
          <a:ln w="0">
            <a:noFill/>
          </a:ln>
        </p:spPr>
        <p:txBody>
          <a:bodyPr>
            <a:noAutofit/>
          </a:bodyPr>
          <a:lstStyle/>
          <a:p>
            <a:pPr>
              <a:buNone/>
              <a:defRPr sz="2625" b="0">
                <a:solidFill>
                  <a:srgbClr val="151515"/>
                </a:solidFill>
                <a:latin typeface="Times New Roman"/>
                <a:ea typeface="Times New Roman"/>
                <a:cs typeface="Times New Roman"/>
              </a:defRPr>
            </a:pPr>
            <a:r>
              <a:rPr sz="2625" b="0">
                <a:solidFill>
                  <a:srgbClr val="151515"/>
                </a:solidFill>
                <a:latin typeface="Times New Roman"/>
                <a:ea typeface="Times New Roman"/>
                <a:cs typeface="Times New Roman"/>
              </a:rPr>
              <a:t>Linear: 66,28%</a:t>
            </a:r>
          </a:p>
          <a:p>
            <a:pPr>
              <a:defRPr sz="2625" b="0">
                <a:solidFill>
                  <a:srgbClr val="151515"/>
                </a:solidFill>
                <a:latin typeface="Times New Roman"/>
                <a:ea typeface="Times New Roman"/>
                <a:cs typeface="Times New Roman"/>
              </a:defRPr>
            </a:pPr>
            <a:r>
              <a:rPr sz="2625" b="0">
                <a:solidFill>
                  <a:srgbClr val="151515"/>
                </a:solidFill>
                <a:latin typeface="Times New Roman"/>
                <a:ea typeface="Times New Roman"/>
                <a:cs typeface="Times New Roman"/>
              </a:rPr>
              <a:t>CRF: 68,61%</a:t>
            </a:r>
          </a:p>
          <a:p>
            <a:pPr>
              <a:buNone/>
              <a:defRPr sz="2625" b="0">
                <a:solidFill>
                  <a:srgbClr val="151515"/>
                </a:solidFill>
                <a:latin typeface="Times New Roman"/>
                <a:ea typeface="Times New Roman"/>
                <a:cs typeface="Times New Roman"/>
              </a:defRPr>
            </a:pPr>
            <a:r>
              <a:rPr sz="2625" b="0">
                <a:solidFill>
                  <a:srgbClr val="151515"/>
                </a:solidFill>
                <a:latin typeface="Times New Roman"/>
                <a:ea typeface="Times New Roman"/>
                <a:cs typeface="Times New Roman"/>
              </a:rPr>
              <a:t>DualHead: 71,35%</a:t>
            </a:r>
          </a:p>
          <a:p>
            <a:endParaRPr sz="2625" b="0">
              <a:solidFill>
                <a:srgbClr val="151515"/>
              </a:solidFill>
              <a:latin typeface="Times New Roman"/>
              <a:ea typeface="Times New Roman"/>
              <a:cs typeface="Times New Roman"/>
            </a:endParaRPr>
          </a:p>
          <a:p>
            <a:pPr>
              <a:buNone/>
              <a:defRPr sz="2625" b="0">
                <a:solidFill>
                  <a:srgbClr val="151515"/>
                </a:solidFill>
                <a:latin typeface="Times New Roman"/>
                <a:ea typeface="Times New Roman"/>
                <a:cs typeface="Times New Roman"/>
              </a:defRPr>
            </a:pPr>
            <a:r>
              <a:rPr sz="2625" b="0">
                <a:solidFill>
                  <a:srgbClr val="151515"/>
                </a:solidFill>
                <a:latin typeface="Times New Roman"/>
                <a:ea typeface="Times New Roman"/>
                <a:cs typeface="Times New Roman"/>
              </a:rPr>
              <a:t>DualHead tăng:</a:t>
            </a:r>
          </a:p>
          <a:p>
            <a:pPr>
              <a:defRPr sz="2625" b="0">
                <a:solidFill>
                  <a:srgbClr val="151515"/>
                </a:solidFill>
                <a:latin typeface="Times New Roman"/>
                <a:ea typeface="Times New Roman"/>
                <a:cs typeface="Times New Roman"/>
              </a:defRPr>
            </a:pPr>
            <a:r>
              <a:rPr sz="2625" b="0">
                <a:solidFill>
                  <a:srgbClr val="151515"/>
                </a:solidFill>
                <a:latin typeface="Times New Roman"/>
                <a:ea typeface="Times New Roman"/>
                <a:cs typeface="Times New Roman"/>
              </a:rPr>
              <a:t>5,07 điểm so với Linear.</a:t>
            </a:r>
          </a:p>
          <a:p>
            <a:pPr>
              <a:buNone/>
              <a:defRPr sz="2625" b="0">
                <a:solidFill>
                  <a:srgbClr val="151515"/>
                </a:solidFill>
                <a:latin typeface="Times New Roman"/>
                <a:ea typeface="Times New Roman"/>
                <a:cs typeface="Times New Roman"/>
              </a:defRPr>
            </a:pPr>
            <a:r>
              <a:rPr sz="2625" b="0">
                <a:solidFill>
                  <a:srgbClr val="151515"/>
                </a:solidFill>
                <a:latin typeface="Times New Roman"/>
                <a:ea typeface="Times New Roman"/>
                <a:cs typeface="Times New Roman"/>
              </a:rPr>
              <a:t>2,74 điểm so với CRF.</a:t>
            </a:r>
          </a:p>
          <a:p>
            <a:pPr>
              <a:buNone/>
              <a:defRPr sz="2625" b="0">
                <a:solidFill>
                  <a:srgbClr val="151515"/>
                </a:solidFill>
                <a:latin typeface="Times New Roman"/>
                <a:ea typeface="Times New Roman"/>
                <a:cs typeface="Times New Roman"/>
              </a:defRPr>
            </a:pPr>
            <a:endParaRPr sz="2625" b="0">
              <a:solidFill>
                <a:srgbClr val="151515"/>
              </a:solidFill>
              <a:latin typeface="Times New Roman"/>
              <a:ea typeface="Times New Roman"/>
              <a:cs typeface="Times New Roman"/>
            </a:endParaRPr>
          </a:p>
          <a:p>
            <a:pPr>
              <a:buNone/>
              <a:defRPr sz="2625" b="0">
                <a:solidFill>
                  <a:srgbClr val="151515"/>
                </a:solidFill>
                <a:latin typeface="Times New Roman"/>
                <a:ea typeface="Times New Roman"/>
                <a:cs typeface="Times New Roman"/>
              </a:defRPr>
            </a:pPr>
            <a:r>
              <a:rPr sz="2625" b="0">
                <a:solidFill>
                  <a:srgbClr val="151515"/>
                </a:solidFill>
                <a:latin typeface="Times New Roman"/>
                <a:ea typeface="Times New Roman"/>
                <a:cs typeface="Times New Roman"/>
              </a:rPr>
              <a:t>Trục tung bắt đầu từ 60.</a:t>
            </a:r>
          </a:p>
        </p:txBody>
      </p:sp>
      <p:pic>
        <p:nvPicPr>
          <p:cNvPr id="51" name="Picture 50"/>
          <p:cNvPicPr>
            <a:picLocks noChangeAspect="1"/>
          </p:cNvPicPr>
          <p:nvPr/>
        </p:nvPicPr>
        <p:blipFill>
          <a:blip r:embed="rId3"/>
          <a:stretch/>
        </p:blipFill>
        <p:spPr>
          <a:xfrm>
            <a:off x="1214438" y="2333625"/>
            <a:ext cx="14144625" cy="7858125"/>
          </a:xfrm>
          <a:prstGeom prst="rect">
            <a:avLst/>
          </a:prstGeom>
        </p:spPr>
      </p:pic>
    </p:spTree>
    <p:extLst>
      <p:ext uri="{BB962C8B-B14F-4D97-AF65-F5344CB8AC3E}">
        <p14:creationId xmlns:p14="http://schemas.microsoft.com/office/powerpoint/2010/main" val="14837779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64A20B4-C1B6-4CE2-B64A-5506183A29C2}"/>
              </a:ext>
            </a:extLst>
          </p:cNvPr>
          <p:cNvSpPr>
            <a:spLocks noGrp="1"/>
          </p:cNvSpPr>
          <p:nvPr/>
        </p:nvSpPr>
        <p:spPr>
          <a:xfrm>
            <a:off x="0" y="0"/>
            <a:ext cx="21674709" cy="677291"/>
          </a:xfrm>
          <a:prstGeom prst="rect">
            <a:avLst/>
          </a:prstGeom>
          <a:solidFill>
            <a:srgbClr val="1565C0"/>
          </a:solidFill>
        </p:spPr>
      </p:sp>
      <p:sp>
        <p:nvSpPr>
          <p:cNvPr id="3" name="Shape 1">
            <a:extLst>
              <a:ext uri="{FF2B5EF4-FFF2-40B4-BE49-F238E27FC236}">
                <a16:creationId xmlns:a16="http://schemas.microsoft.com/office/drawing/2014/main" id="{7C07B71D-F92D-41E3-B4AA-BEB5F54ACE63}"/>
              </a:ext>
            </a:extLst>
          </p:cNvPr>
          <p:cNvSpPr>
            <a:spLocks noGrp="1"/>
          </p:cNvSpPr>
          <p:nvPr/>
        </p:nvSpPr>
        <p:spPr>
          <a:xfrm>
            <a:off x="7281196" y="84709"/>
            <a:ext cx="3386709" cy="508000"/>
          </a:xfrm>
          <a:prstGeom prst="roundRect">
            <a:avLst>
              <a:gd name="adj" fmla="val 8000"/>
            </a:avLst>
          </a:prstGeom>
          <a:solidFill>
            <a:srgbClr val="FFFFFF">
              <a:alpha val="3576"/>
            </a:srgbClr>
          </a:solidFill>
        </p:spPr>
      </p:sp>
      <p:sp>
        <p:nvSpPr>
          <p:cNvPr id="4" name="Shape 2">
            <a:extLst>
              <a:ext uri="{FF2B5EF4-FFF2-40B4-BE49-F238E27FC236}">
                <a16:creationId xmlns:a16="http://schemas.microsoft.com/office/drawing/2014/main" id="{D3C0D4A2-7494-4FE1-8023-D988553FF390}"/>
              </a:ext>
            </a:extLst>
          </p:cNvPr>
          <p:cNvSpPr>
            <a:spLocks noGrp="1"/>
          </p:cNvSpPr>
          <p:nvPr/>
        </p:nvSpPr>
        <p:spPr>
          <a:xfrm>
            <a:off x="169291" y="0"/>
            <a:ext cx="3386709" cy="677291"/>
          </a:xfrm>
          <a:prstGeom prst="rect">
            <a:avLst/>
          </a:prstGeom>
          <a:solidFill>
            <a:srgbClr val="FFFFFF">
              <a:alpha val="0"/>
            </a:srgbClr>
          </a:solidFill>
        </p:spPr>
      </p:sp>
      <p:sp>
        <p:nvSpPr>
          <p:cNvPr id="5" name="Text 3">
            <a:extLst>
              <a:ext uri="{FF2B5EF4-FFF2-40B4-BE49-F238E27FC236}">
                <a16:creationId xmlns:a16="http://schemas.microsoft.com/office/drawing/2014/main" id="{D6834B19-F43F-45C7-BD47-0E79B6CFCE65}"/>
              </a:ext>
            </a:extLst>
          </p:cNvPr>
          <p:cNvSpPr>
            <a:spLocks noGrp="1"/>
          </p:cNvSpPr>
          <p:nvPr/>
        </p:nvSpPr>
        <p:spPr>
          <a:xfrm>
            <a:off x="47339"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1. Bài toán và dữ liệu</a:t>
            </a:r>
            <a:endParaRPr sz="1600"/>
          </a:p>
        </p:txBody>
      </p:sp>
      <p:sp>
        <p:nvSpPr>
          <p:cNvPr id="6" name="Shape 4">
            <a:extLst>
              <a:ext uri="{FF2B5EF4-FFF2-40B4-BE49-F238E27FC236}">
                <a16:creationId xmlns:a16="http://schemas.microsoft.com/office/drawing/2014/main" id="{4EBCB68D-0BCE-4101-B79E-3E31A90823FE}"/>
              </a:ext>
            </a:extLst>
          </p:cNvPr>
          <p:cNvSpPr>
            <a:spLocks noGrp="1"/>
          </p:cNvSpPr>
          <p:nvPr/>
        </p:nvSpPr>
        <p:spPr>
          <a:xfrm>
            <a:off x="3725291" y="0"/>
            <a:ext cx="3386709" cy="677291"/>
          </a:xfrm>
          <a:prstGeom prst="rect">
            <a:avLst/>
          </a:prstGeom>
          <a:solidFill>
            <a:srgbClr val="FFFFFF">
              <a:alpha val="0"/>
            </a:srgbClr>
          </a:solidFill>
        </p:spPr>
      </p:sp>
      <p:sp>
        <p:nvSpPr>
          <p:cNvPr id="7" name="Text 5">
            <a:extLst>
              <a:ext uri="{FF2B5EF4-FFF2-40B4-BE49-F238E27FC236}">
                <a16:creationId xmlns:a16="http://schemas.microsoft.com/office/drawing/2014/main" id="{AC81AE39-5641-4E33-B8B2-81369B9958BD}"/>
              </a:ext>
            </a:extLst>
          </p:cNvPr>
          <p:cNvSpPr>
            <a:spLocks noGrp="1"/>
          </p:cNvSpPr>
          <p:nvPr/>
        </p:nvSpPr>
        <p:spPr>
          <a:xfrm>
            <a:off x="3603403"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2. Mô hình và dual head</a:t>
            </a:r>
            <a:endParaRPr sz="1600"/>
          </a:p>
        </p:txBody>
      </p:sp>
      <p:sp>
        <p:nvSpPr>
          <p:cNvPr id="8" name="Shape 6">
            <a:extLst>
              <a:ext uri="{FF2B5EF4-FFF2-40B4-BE49-F238E27FC236}">
                <a16:creationId xmlns:a16="http://schemas.microsoft.com/office/drawing/2014/main" id="{3BD1BE30-611D-4D32-9B0B-D0F78012D3FD}"/>
              </a:ext>
            </a:extLst>
          </p:cNvPr>
          <p:cNvSpPr>
            <a:spLocks noGrp="1"/>
          </p:cNvSpPr>
          <p:nvPr/>
        </p:nvSpPr>
        <p:spPr>
          <a:xfrm>
            <a:off x="7281291" y="0"/>
            <a:ext cx="3386709" cy="677291"/>
          </a:xfrm>
          <a:prstGeom prst="rect">
            <a:avLst/>
          </a:prstGeom>
          <a:solidFill>
            <a:srgbClr val="FFFFFF">
              <a:alpha val="0"/>
            </a:srgbClr>
          </a:solidFill>
        </p:spPr>
      </p:sp>
      <p:sp>
        <p:nvSpPr>
          <p:cNvPr id="9" name="Text 7">
            <a:extLst>
              <a:ext uri="{FF2B5EF4-FFF2-40B4-BE49-F238E27FC236}">
                <a16:creationId xmlns:a16="http://schemas.microsoft.com/office/drawing/2014/main" id="{86279E51-B1B3-4B07-A7F8-3304B3E8AF83}"/>
              </a:ext>
            </a:extLst>
          </p:cNvPr>
          <p:cNvSpPr>
            <a:spLocks noGrp="1"/>
          </p:cNvSpPr>
          <p:nvPr/>
        </p:nvSpPr>
        <p:spPr>
          <a:xfrm>
            <a:off x="7159371" y="0"/>
            <a:ext cx="3630549" cy="676275"/>
          </a:xfrm>
          <a:prstGeom prst="rect">
            <a:avLst/>
          </a:prstGeom>
          <a:noFill/>
        </p:spPr>
        <p:txBody>
          <a:bodyPr wrap="none" lIns="0" tIns="0" rIns="0" bIns="0" anchor="ctr">
            <a:noAutofit/>
          </a:bodyPr>
          <a:lstStyle/>
          <a:p>
            <a:pPr algn="ctr">
              <a:lnSpc>
                <a:spcPct val="100000"/>
              </a:lnSpc>
              <a:buNone/>
              <a:defRPr sz="1875" b="1">
                <a:solidFill>
                  <a:srgbClr val="FFFFFF"/>
                </a:solidFill>
                <a:latin typeface="Times New Roman"/>
                <a:ea typeface="Times New Roman"/>
                <a:cs typeface="Times New Roman"/>
              </a:defRPr>
            </a:pPr>
            <a:r>
              <a:rPr sz="1875" b="1">
                <a:solidFill>
                  <a:srgbClr val="FFFFFF"/>
                </a:solidFill>
                <a:latin typeface="Times New Roman"/>
                <a:ea typeface="Times New Roman"/>
                <a:cs typeface="Times New Roman"/>
              </a:rPr>
              <a:t>3. Kết quả</a:t>
            </a:r>
            <a:endParaRPr sz="1600"/>
          </a:p>
        </p:txBody>
      </p:sp>
      <p:sp>
        <p:nvSpPr>
          <p:cNvPr id="10" name="Shape 8">
            <a:extLst>
              <a:ext uri="{FF2B5EF4-FFF2-40B4-BE49-F238E27FC236}">
                <a16:creationId xmlns:a16="http://schemas.microsoft.com/office/drawing/2014/main" id="{8861AE7D-C8F6-4D37-9088-AEA6767923DC}"/>
              </a:ext>
            </a:extLst>
          </p:cNvPr>
          <p:cNvSpPr>
            <a:spLocks noGrp="1"/>
          </p:cNvSpPr>
          <p:nvPr/>
        </p:nvSpPr>
        <p:spPr>
          <a:xfrm>
            <a:off x="10837291" y="0"/>
            <a:ext cx="3386709" cy="677291"/>
          </a:xfrm>
          <a:prstGeom prst="rect">
            <a:avLst/>
          </a:prstGeom>
          <a:solidFill>
            <a:srgbClr val="FFFFFF">
              <a:alpha val="0"/>
            </a:srgbClr>
          </a:solidFill>
        </p:spPr>
      </p:sp>
      <p:sp>
        <p:nvSpPr>
          <p:cNvPr id="11" name="Text 9">
            <a:extLst>
              <a:ext uri="{FF2B5EF4-FFF2-40B4-BE49-F238E27FC236}">
                <a16:creationId xmlns:a16="http://schemas.microsoft.com/office/drawing/2014/main" id="{4545473B-A759-4790-908D-E307A7966A3A}"/>
              </a:ext>
            </a:extLst>
          </p:cNvPr>
          <p:cNvSpPr>
            <a:spLocks noGrp="1"/>
          </p:cNvSpPr>
          <p:nvPr/>
        </p:nvSpPr>
        <p:spPr>
          <a:xfrm>
            <a:off x="10715339"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4. Phân tích lỗi</a:t>
            </a:r>
            <a:endParaRPr sz="1600"/>
          </a:p>
        </p:txBody>
      </p:sp>
      <p:sp>
        <p:nvSpPr>
          <p:cNvPr id="12" name="Shape 10">
            <a:extLst>
              <a:ext uri="{FF2B5EF4-FFF2-40B4-BE49-F238E27FC236}">
                <a16:creationId xmlns:a16="http://schemas.microsoft.com/office/drawing/2014/main" id="{22FE91F2-6615-42C6-9380-D3040C2E62EA}"/>
              </a:ext>
            </a:extLst>
          </p:cNvPr>
          <p:cNvSpPr>
            <a:spLocks noGrp="1"/>
          </p:cNvSpPr>
          <p:nvPr/>
        </p:nvSpPr>
        <p:spPr>
          <a:xfrm>
            <a:off x="14393291" y="0"/>
            <a:ext cx="3386709" cy="677291"/>
          </a:xfrm>
          <a:prstGeom prst="rect">
            <a:avLst/>
          </a:prstGeom>
          <a:solidFill>
            <a:srgbClr val="FFFFFF">
              <a:alpha val="0"/>
            </a:srgbClr>
          </a:solidFill>
        </p:spPr>
      </p:sp>
      <p:sp>
        <p:nvSpPr>
          <p:cNvPr id="13" name="Text 11">
            <a:extLst>
              <a:ext uri="{FF2B5EF4-FFF2-40B4-BE49-F238E27FC236}">
                <a16:creationId xmlns:a16="http://schemas.microsoft.com/office/drawing/2014/main" id="{94A4D390-A300-4A10-9E43-F1DC4E6F13C9}"/>
              </a:ext>
            </a:extLst>
          </p:cNvPr>
          <p:cNvSpPr>
            <a:spLocks noGrp="1"/>
          </p:cNvSpPr>
          <p:nvPr/>
        </p:nvSpPr>
        <p:spPr>
          <a:xfrm>
            <a:off x="14271403"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5. Ứng dụng</a:t>
            </a:r>
            <a:endParaRPr sz="1600"/>
          </a:p>
        </p:txBody>
      </p:sp>
      <p:sp>
        <p:nvSpPr>
          <p:cNvPr id="14" name="Shape 12">
            <a:extLst>
              <a:ext uri="{FF2B5EF4-FFF2-40B4-BE49-F238E27FC236}">
                <a16:creationId xmlns:a16="http://schemas.microsoft.com/office/drawing/2014/main" id="{C4935CBF-954D-4E93-9307-5CF1081C5E81}"/>
              </a:ext>
            </a:extLst>
          </p:cNvPr>
          <p:cNvSpPr>
            <a:spLocks noGrp="1"/>
          </p:cNvSpPr>
          <p:nvPr/>
        </p:nvSpPr>
        <p:spPr>
          <a:xfrm>
            <a:off x="17949291" y="0"/>
            <a:ext cx="3386709" cy="677291"/>
          </a:xfrm>
          <a:prstGeom prst="rect">
            <a:avLst/>
          </a:prstGeom>
          <a:solidFill>
            <a:srgbClr val="FFFFFF">
              <a:alpha val="0"/>
            </a:srgbClr>
          </a:solidFill>
        </p:spPr>
      </p:sp>
      <p:sp>
        <p:nvSpPr>
          <p:cNvPr id="15" name="Text 13">
            <a:extLst>
              <a:ext uri="{FF2B5EF4-FFF2-40B4-BE49-F238E27FC236}">
                <a16:creationId xmlns:a16="http://schemas.microsoft.com/office/drawing/2014/main" id="{55B7AC0E-B841-4480-A113-DC05E10E6ECF}"/>
              </a:ext>
            </a:extLst>
          </p:cNvPr>
          <p:cNvSpPr>
            <a:spLocks noGrp="1"/>
          </p:cNvSpPr>
          <p:nvPr/>
        </p:nvSpPr>
        <p:spPr>
          <a:xfrm>
            <a:off x="17827371"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6. Cải thiện</a:t>
            </a:r>
            <a:endParaRPr sz="1600"/>
          </a:p>
        </p:txBody>
      </p:sp>
      <p:sp>
        <p:nvSpPr>
          <p:cNvPr id="16" name="Shape 14">
            <a:extLst>
              <a:ext uri="{FF2B5EF4-FFF2-40B4-BE49-F238E27FC236}">
                <a16:creationId xmlns:a16="http://schemas.microsoft.com/office/drawing/2014/main" id="{DC086E6B-7A8C-47CE-A90F-E2C2192519D4}"/>
              </a:ext>
            </a:extLst>
          </p:cNvPr>
          <p:cNvSpPr>
            <a:spLocks noGrp="1"/>
          </p:cNvSpPr>
          <p:nvPr/>
        </p:nvSpPr>
        <p:spPr>
          <a:xfrm>
            <a:off x="1016000" y="931291"/>
            <a:ext cx="15240000" cy="643509"/>
          </a:xfrm>
          <a:prstGeom prst="rect">
            <a:avLst/>
          </a:prstGeom>
          <a:solidFill>
            <a:srgbClr val="FFFFFF">
              <a:alpha val="0"/>
            </a:srgbClr>
          </a:solidFill>
        </p:spPr>
      </p:sp>
      <p:sp>
        <p:nvSpPr>
          <p:cNvPr id="17" name="Text 15">
            <a:extLst>
              <a:ext uri="{FF2B5EF4-FFF2-40B4-BE49-F238E27FC236}">
                <a16:creationId xmlns:a16="http://schemas.microsoft.com/office/drawing/2014/main" id="{B06844EA-EF61-45ED-9555-EBC4C0A996C0}"/>
              </a:ext>
            </a:extLst>
          </p:cNvPr>
          <p:cNvSpPr>
            <a:spLocks noGrp="1"/>
          </p:cNvSpPr>
          <p:nvPr/>
        </p:nvSpPr>
        <p:spPr>
          <a:xfrm>
            <a:off x="894080" y="870331"/>
            <a:ext cx="15483840" cy="765429"/>
          </a:xfrm>
          <a:prstGeom prst="rect">
            <a:avLst/>
          </a:prstGeom>
          <a:noFill/>
        </p:spPr>
        <p:txBody>
          <a:bodyPr wrap="none" lIns="0" tIns="0" rIns="0" bIns="0" anchor="ctr">
            <a:noAutofit/>
          </a:bodyPr>
          <a:lstStyle/>
          <a:p>
            <a:pPr>
              <a:lnSpc>
                <a:spcPct val="100000"/>
              </a:lnSpc>
              <a:buNone/>
              <a:defRPr sz="3900" b="1">
                <a:solidFill>
                  <a:srgbClr val="1565C0"/>
                </a:solidFill>
                <a:latin typeface="Times New Roman"/>
                <a:ea typeface="Times New Roman"/>
                <a:cs typeface="Times New Roman"/>
              </a:defRPr>
            </a:pPr>
            <a:r>
              <a:rPr sz="3900" b="1">
                <a:solidFill>
                  <a:srgbClr val="1565C0"/>
                </a:solidFill>
                <a:latin typeface="Times New Roman"/>
                <a:ea typeface="Times New Roman"/>
                <a:cs typeface="Times New Roman"/>
              </a:rPr>
              <a:t>Lỗi ranh giới từ ghép</a:t>
            </a:r>
            <a:endParaRPr sz="1600"/>
          </a:p>
        </p:txBody>
      </p:sp>
      <p:sp>
        <p:nvSpPr>
          <p:cNvPr id="18" name="Shape 16">
            <a:extLst>
              <a:ext uri="{FF2B5EF4-FFF2-40B4-BE49-F238E27FC236}">
                <a16:creationId xmlns:a16="http://schemas.microsoft.com/office/drawing/2014/main" id="{2B2B3B67-AA35-4D52-9009-3E7B608491F4}"/>
              </a:ext>
            </a:extLst>
          </p:cNvPr>
          <p:cNvSpPr>
            <a:spLocks noGrp="1"/>
          </p:cNvSpPr>
          <p:nvPr/>
        </p:nvSpPr>
        <p:spPr>
          <a:xfrm>
            <a:off x="1016000" y="1625600"/>
            <a:ext cx="19642709" cy="50800"/>
          </a:xfrm>
          <a:prstGeom prst="rect">
            <a:avLst/>
          </a:prstGeom>
          <a:solidFill>
            <a:srgbClr val="1565C0"/>
          </a:solidFill>
        </p:spPr>
      </p:sp>
      <p:sp>
        <p:nvSpPr>
          <p:cNvPr id="26" name="Shape 24">
            <a:extLst>
              <a:ext uri="{FF2B5EF4-FFF2-40B4-BE49-F238E27FC236}">
                <a16:creationId xmlns:a16="http://schemas.microsoft.com/office/drawing/2014/main" id="{61C10AEB-65D2-45D4-9EB3-A1C1528032F9}"/>
              </a:ext>
            </a:extLst>
          </p:cNvPr>
          <p:cNvSpPr>
            <a:spLocks noGrp="1"/>
          </p:cNvSpPr>
          <p:nvPr/>
        </p:nvSpPr>
        <p:spPr>
          <a:xfrm>
            <a:off x="19981291" y="11684000"/>
            <a:ext cx="1016000" cy="406400"/>
          </a:xfrm>
          <a:prstGeom prst="rect">
            <a:avLst/>
          </a:prstGeom>
          <a:solidFill>
            <a:srgbClr val="FFFFFF">
              <a:alpha val="0"/>
            </a:srgbClr>
          </a:solidFill>
        </p:spPr>
      </p:sp>
      <p:sp>
        <p:nvSpPr>
          <p:cNvPr id="27" name="Text 25">
            <a:extLst>
              <a:ext uri="{FF2B5EF4-FFF2-40B4-BE49-F238E27FC236}">
                <a16:creationId xmlns:a16="http://schemas.microsoft.com/office/drawing/2014/main" id="{254AA83A-B393-42B8-8BB2-9206F05A0C7C}"/>
              </a:ext>
            </a:extLst>
          </p:cNvPr>
          <p:cNvSpPr>
            <a:spLocks noGrp="1"/>
          </p:cNvSpPr>
          <p:nvPr/>
        </p:nvSpPr>
        <p:spPr>
          <a:xfrm>
            <a:off x="19859371" y="11623040"/>
            <a:ext cx="1259840" cy="528320"/>
          </a:xfrm>
          <a:prstGeom prst="rect">
            <a:avLst/>
          </a:prstGeom>
          <a:noFill/>
        </p:spPr>
        <p:txBody>
          <a:bodyPr wrap="none" lIns="0" tIns="0" rIns="0" bIns="0" anchor="ctr">
            <a:noAutofit/>
          </a:bodyPr>
          <a:lstStyle/>
          <a:p>
            <a:pPr algn="r">
              <a:lnSpc>
                <a:spcPct val="100000"/>
              </a:lnSpc>
              <a:buNone/>
              <a:defRPr sz="1950">
                <a:solidFill>
                  <a:srgbClr val="666666"/>
                </a:solidFill>
                <a:latin typeface="Times New Roman"/>
                <a:ea typeface="Times New Roman"/>
                <a:cs typeface="Times New Roman"/>
              </a:defRPr>
            </a:pPr>
            <a:r>
              <a:rPr sz="1950">
                <a:solidFill>
                  <a:srgbClr val="666666"/>
                </a:solidFill>
                <a:latin typeface="Times New Roman"/>
                <a:ea typeface="Times New Roman"/>
                <a:cs typeface="Times New Roman"/>
              </a:rPr>
              <a:t>11/18</a:t>
            </a:r>
            <a:endParaRPr sz="1600"/>
          </a:p>
        </p:txBody>
      </p:sp>
      <p:sp>
        <p:nvSpPr>
          <p:cNvPr id="29" name="Rectangle 28">
            <a:extLst>
              <a:ext uri="{FF2B5EF4-FFF2-40B4-BE49-F238E27FC236}">
                <a16:creationId xmlns:a16="http://schemas.microsoft.com/office/drawing/2014/main" id="{FDB53714-0D7D-429C-B217-45AF47488013}"/>
              </a:ext>
            </a:extLst>
          </p:cNvPr>
          <p:cNvSpPr>
            <a:spLocks noGrp="1"/>
          </p:cNvSpPr>
          <p:nvPr/>
        </p:nvSpPr>
        <p:spPr>
          <a:xfrm>
            <a:off x="16097250" y="2952750"/>
            <a:ext cx="4572000" cy="7810500"/>
          </a:xfrm>
          <a:prstGeom prst="rect">
            <a:avLst/>
          </a:prstGeom>
          <a:noFill/>
          <a:ln w="0">
            <a:noFill/>
          </a:ln>
        </p:spPr>
        <p:txBody>
          <a:bodyPr>
            <a:noAutofit/>
          </a:bodyPr>
          <a:lstStyle/>
          <a:p>
            <a:pPr>
              <a:buNone/>
              <a:defRPr sz="2625" b="0">
                <a:solidFill>
                  <a:srgbClr val="151515"/>
                </a:solidFill>
                <a:latin typeface="Times New Roman"/>
                <a:ea typeface="Times New Roman"/>
                <a:cs typeface="Times New Roman"/>
              </a:defRPr>
            </a:pPr>
            <a:r>
              <a:rPr sz="2625" b="0">
                <a:solidFill>
                  <a:srgbClr val="151515"/>
                </a:solidFill>
                <a:latin typeface="Times New Roman"/>
                <a:ea typeface="Times New Roman"/>
                <a:cs typeface="Times New Roman"/>
              </a:rPr>
              <a:t>Linear: 25,8%</a:t>
            </a:r>
          </a:p>
          <a:p>
            <a:pPr>
              <a:defRPr sz="2625" b="0">
                <a:solidFill>
                  <a:srgbClr val="151515"/>
                </a:solidFill>
                <a:latin typeface="Times New Roman"/>
                <a:ea typeface="Times New Roman"/>
                <a:cs typeface="Times New Roman"/>
              </a:defRPr>
            </a:pPr>
            <a:r>
              <a:rPr sz="2625" b="0">
                <a:solidFill>
                  <a:srgbClr val="151515"/>
                </a:solidFill>
                <a:latin typeface="Times New Roman"/>
                <a:ea typeface="Times New Roman"/>
                <a:cs typeface="Times New Roman"/>
              </a:rPr>
              <a:t>CRF: 18,4%</a:t>
            </a:r>
          </a:p>
          <a:p>
            <a:pPr>
              <a:buNone/>
              <a:defRPr sz="2625" b="0">
                <a:solidFill>
                  <a:srgbClr val="151515"/>
                </a:solidFill>
                <a:latin typeface="Times New Roman"/>
                <a:ea typeface="Times New Roman"/>
                <a:cs typeface="Times New Roman"/>
              </a:defRPr>
            </a:pPr>
            <a:r>
              <a:rPr sz="2625" b="0">
                <a:solidFill>
                  <a:srgbClr val="151515"/>
                </a:solidFill>
                <a:latin typeface="Times New Roman"/>
                <a:ea typeface="Times New Roman"/>
                <a:cs typeface="Times New Roman"/>
              </a:rPr>
              <a:t>DualHead: 13,8%</a:t>
            </a:r>
          </a:p>
          <a:p>
            <a:endParaRPr sz="2625" b="0">
              <a:solidFill>
                <a:srgbClr val="151515"/>
              </a:solidFill>
              <a:latin typeface="Times New Roman"/>
              <a:ea typeface="Times New Roman"/>
              <a:cs typeface="Times New Roman"/>
            </a:endParaRPr>
          </a:p>
          <a:p>
            <a:pPr>
              <a:buNone/>
              <a:defRPr sz="2625" b="0">
                <a:solidFill>
                  <a:srgbClr val="151515"/>
                </a:solidFill>
                <a:latin typeface="Times New Roman"/>
                <a:ea typeface="Times New Roman"/>
                <a:cs typeface="Times New Roman"/>
              </a:defRPr>
            </a:pPr>
            <a:r>
              <a:rPr sz="2625" b="0">
                <a:solidFill>
                  <a:srgbClr val="151515"/>
                </a:solidFill>
                <a:latin typeface="Times New Roman"/>
                <a:ea typeface="Times New Roman"/>
                <a:cs typeface="Times New Roman"/>
              </a:rPr>
              <a:t>DualHead giảm 12,0 điểm phần trăm so với Linear.</a:t>
            </a:r>
          </a:p>
          <a:p>
            <a:endParaRPr sz="2625" b="0">
              <a:solidFill>
                <a:srgbClr val="151515"/>
              </a:solidFill>
              <a:latin typeface="Times New Roman"/>
              <a:ea typeface="Times New Roman"/>
              <a:cs typeface="Times New Roman"/>
            </a:endParaRPr>
          </a:p>
          <a:p>
            <a:pPr>
              <a:buNone/>
              <a:defRPr sz="2625" b="0">
                <a:solidFill>
                  <a:srgbClr val="151515"/>
                </a:solidFill>
                <a:latin typeface="Times New Roman"/>
                <a:ea typeface="Times New Roman"/>
                <a:cs typeface="Times New Roman"/>
              </a:defRPr>
            </a:pPr>
            <a:r>
              <a:rPr sz="2625" b="0">
                <a:solidFill>
                  <a:srgbClr val="151515"/>
                </a:solidFill>
                <a:latin typeface="Times New Roman"/>
                <a:ea typeface="Times New Roman"/>
                <a:cs typeface="Times New Roman"/>
              </a:rPr>
              <a:t>Tỷ lệ thấp hơn là tốt hơn.</a:t>
            </a:r>
          </a:p>
        </p:txBody>
      </p:sp>
      <p:sp>
        <p:nvSpPr>
          <p:cNvPr id="30" name="Rectangle 29">
            <a:extLst>
              <a:ext uri="{FF2B5EF4-FFF2-40B4-BE49-F238E27FC236}">
                <a16:creationId xmlns:a16="http://schemas.microsoft.com/office/drawing/2014/main" id="{996C7BB5-8A63-44A0-886F-C1820A11A8D9}"/>
              </a:ext>
            </a:extLst>
          </p:cNvPr>
          <p:cNvSpPr>
            <a:spLocks noGrp="1"/>
          </p:cNvSpPr>
          <p:nvPr/>
        </p:nvSpPr>
        <p:spPr>
          <a:xfrm>
            <a:off x="1047750" y="10858500"/>
            <a:ext cx="19050000" cy="523875"/>
          </a:xfrm>
          <a:prstGeom prst="rect">
            <a:avLst/>
          </a:prstGeom>
          <a:noFill/>
          <a:ln w="0">
            <a:noFill/>
          </a:ln>
        </p:spPr>
        <p:txBody>
          <a:bodyPr>
            <a:noAutofit/>
          </a:bodyPr>
          <a:lstStyle/>
          <a:p>
            <a:pPr>
              <a:buNone/>
              <a:defRPr sz="2100" b="0" i="1">
                <a:solidFill>
                  <a:srgbClr val="555555"/>
                </a:solidFill>
                <a:latin typeface="Times New Roman"/>
                <a:ea typeface="Times New Roman"/>
                <a:cs typeface="Times New Roman"/>
              </a:defRPr>
            </a:pPr>
            <a:r>
              <a:rPr sz="2100" b="0" i="1">
                <a:solidFill>
                  <a:srgbClr val="555555"/>
                </a:solidFill>
                <a:latin typeface="Times New Roman"/>
                <a:ea typeface="Times New Roman"/>
                <a:cs typeface="Times New Roman"/>
              </a:rPr>
              <a:t>Chú thích “Giảm 7,4% / 12,0%” trong hình là mức chênh lệch 7,4 / 12,0 điểm phần trăm.</a:t>
            </a:r>
          </a:p>
        </p:txBody>
      </p:sp>
      <p:pic>
        <p:nvPicPr>
          <p:cNvPr id="53" name="Picture 52"/>
          <p:cNvPicPr>
            <a:picLocks noChangeAspect="1"/>
          </p:cNvPicPr>
          <p:nvPr/>
        </p:nvPicPr>
        <p:blipFill>
          <a:blip r:embed="rId3"/>
          <a:stretch/>
        </p:blipFill>
        <p:spPr>
          <a:xfrm>
            <a:off x="952500" y="2840037"/>
            <a:ext cx="14668500" cy="6845300"/>
          </a:xfrm>
          <a:prstGeom prst="rect">
            <a:avLst/>
          </a:prstGeom>
        </p:spPr>
      </p:pic>
    </p:spTree>
    <p:extLst>
      <p:ext uri="{BB962C8B-B14F-4D97-AF65-F5344CB8AC3E}">
        <p14:creationId xmlns:p14="http://schemas.microsoft.com/office/powerpoint/2010/main" val="14837779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64A20B4-C1B6-4CE2-B64A-5506183A29C2}"/>
              </a:ext>
            </a:extLst>
          </p:cNvPr>
          <p:cNvSpPr>
            <a:spLocks noGrp="1"/>
          </p:cNvSpPr>
          <p:nvPr/>
        </p:nvSpPr>
        <p:spPr>
          <a:xfrm>
            <a:off x="0" y="0"/>
            <a:ext cx="21674709" cy="677291"/>
          </a:xfrm>
          <a:prstGeom prst="rect">
            <a:avLst/>
          </a:prstGeom>
          <a:solidFill>
            <a:srgbClr val="1565C0"/>
          </a:solidFill>
        </p:spPr>
      </p:sp>
      <p:sp>
        <p:nvSpPr>
          <p:cNvPr id="3" name="Shape 1">
            <a:extLst>
              <a:ext uri="{FF2B5EF4-FFF2-40B4-BE49-F238E27FC236}">
                <a16:creationId xmlns:a16="http://schemas.microsoft.com/office/drawing/2014/main" id="{7C07B71D-F92D-41E3-B4AA-BEB5F54ACE63}"/>
              </a:ext>
            </a:extLst>
          </p:cNvPr>
          <p:cNvSpPr>
            <a:spLocks noGrp="1"/>
          </p:cNvSpPr>
          <p:nvPr/>
        </p:nvSpPr>
        <p:spPr>
          <a:xfrm>
            <a:off x="7281196" y="84709"/>
            <a:ext cx="3386709" cy="508000"/>
          </a:xfrm>
          <a:prstGeom prst="roundRect">
            <a:avLst>
              <a:gd name="adj" fmla="val 8000"/>
            </a:avLst>
          </a:prstGeom>
          <a:solidFill>
            <a:srgbClr val="FFFFFF">
              <a:alpha val="3576"/>
            </a:srgbClr>
          </a:solidFill>
        </p:spPr>
      </p:sp>
      <p:sp>
        <p:nvSpPr>
          <p:cNvPr id="4" name="Shape 2">
            <a:extLst>
              <a:ext uri="{FF2B5EF4-FFF2-40B4-BE49-F238E27FC236}">
                <a16:creationId xmlns:a16="http://schemas.microsoft.com/office/drawing/2014/main" id="{D3C0D4A2-7494-4FE1-8023-D988553FF390}"/>
              </a:ext>
            </a:extLst>
          </p:cNvPr>
          <p:cNvSpPr>
            <a:spLocks noGrp="1"/>
          </p:cNvSpPr>
          <p:nvPr/>
        </p:nvSpPr>
        <p:spPr>
          <a:xfrm>
            <a:off x="169291" y="0"/>
            <a:ext cx="3386709" cy="677291"/>
          </a:xfrm>
          <a:prstGeom prst="rect">
            <a:avLst/>
          </a:prstGeom>
          <a:solidFill>
            <a:srgbClr val="FFFFFF">
              <a:alpha val="0"/>
            </a:srgbClr>
          </a:solidFill>
        </p:spPr>
      </p:sp>
      <p:sp>
        <p:nvSpPr>
          <p:cNvPr id="5" name="Text 3">
            <a:extLst>
              <a:ext uri="{FF2B5EF4-FFF2-40B4-BE49-F238E27FC236}">
                <a16:creationId xmlns:a16="http://schemas.microsoft.com/office/drawing/2014/main" id="{D6834B19-F43F-45C7-BD47-0E79B6CFCE65}"/>
              </a:ext>
            </a:extLst>
          </p:cNvPr>
          <p:cNvSpPr>
            <a:spLocks noGrp="1"/>
          </p:cNvSpPr>
          <p:nvPr/>
        </p:nvSpPr>
        <p:spPr>
          <a:xfrm>
            <a:off x="47339"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1. Bài toán và dữ liệu</a:t>
            </a:r>
            <a:endParaRPr sz="1600"/>
          </a:p>
        </p:txBody>
      </p:sp>
      <p:sp>
        <p:nvSpPr>
          <p:cNvPr id="6" name="Shape 4">
            <a:extLst>
              <a:ext uri="{FF2B5EF4-FFF2-40B4-BE49-F238E27FC236}">
                <a16:creationId xmlns:a16="http://schemas.microsoft.com/office/drawing/2014/main" id="{4EBCB68D-0BCE-4101-B79E-3E31A90823FE}"/>
              </a:ext>
            </a:extLst>
          </p:cNvPr>
          <p:cNvSpPr>
            <a:spLocks noGrp="1"/>
          </p:cNvSpPr>
          <p:nvPr/>
        </p:nvSpPr>
        <p:spPr>
          <a:xfrm>
            <a:off x="3725291" y="0"/>
            <a:ext cx="3386709" cy="677291"/>
          </a:xfrm>
          <a:prstGeom prst="rect">
            <a:avLst/>
          </a:prstGeom>
          <a:solidFill>
            <a:srgbClr val="FFFFFF">
              <a:alpha val="0"/>
            </a:srgbClr>
          </a:solidFill>
        </p:spPr>
      </p:sp>
      <p:sp>
        <p:nvSpPr>
          <p:cNvPr id="7" name="Text 5">
            <a:extLst>
              <a:ext uri="{FF2B5EF4-FFF2-40B4-BE49-F238E27FC236}">
                <a16:creationId xmlns:a16="http://schemas.microsoft.com/office/drawing/2014/main" id="{AC81AE39-5641-4E33-B8B2-81369B9958BD}"/>
              </a:ext>
            </a:extLst>
          </p:cNvPr>
          <p:cNvSpPr>
            <a:spLocks noGrp="1"/>
          </p:cNvSpPr>
          <p:nvPr/>
        </p:nvSpPr>
        <p:spPr>
          <a:xfrm>
            <a:off x="3603403"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2. Mô hình và dual head</a:t>
            </a:r>
            <a:endParaRPr sz="1600"/>
          </a:p>
        </p:txBody>
      </p:sp>
      <p:sp>
        <p:nvSpPr>
          <p:cNvPr id="8" name="Shape 6">
            <a:extLst>
              <a:ext uri="{FF2B5EF4-FFF2-40B4-BE49-F238E27FC236}">
                <a16:creationId xmlns:a16="http://schemas.microsoft.com/office/drawing/2014/main" id="{3BD1BE30-611D-4D32-9B0B-D0F78012D3FD}"/>
              </a:ext>
            </a:extLst>
          </p:cNvPr>
          <p:cNvSpPr>
            <a:spLocks noGrp="1"/>
          </p:cNvSpPr>
          <p:nvPr/>
        </p:nvSpPr>
        <p:spPr>
          <a:xfrm>
            <a:off x="7281291" y="0"/>
            <a:ext cx="3386709" cy="677291"/>
          </a:xfrm>
          <a:prstGeom prst="rect">
            <a:avLst/>
          </a:prstGeom>
          <a:solidFill>
            <a:srgbClr val="FFFFFF">
              <a:alpha val="0"/>
            </a:srgbClr>
          </a:solidFill>
        </p:spPr>
      </p:sp>
      <p:sp>
        <p:nvSpPr>
          <p:cNvPr id="9" name="Text 7">
            <a:extLst>
              <a:ext uri="{FF2B5EF4-FFF2-40B4-BE49-F238E27FC236}">
                <a16:creationId xmlns:a16="http://schemas.microsoft.com/office/drawing/2014/main" id="{86279E51-B1B3-4B07-A7F8-3304B3E8AF83}"/>
              </a:ext>
            </a:extLst>
          </p:cNvPr>
          <p:cNvSpPr>
            <a:spLocks noGrp="1"/>
          </p:cNvSpPr>
          <p:nvPr/>
        </p:nvSpPr>
        <p:spPr>
          <a:xfrm>
            <a:off x="7159371" y="0"/>
            <a:ext cx="3630549" cy="676275"/>
          </a:xfrm>
          <a:prstGeom prst="rect">
            <a:avLst/>
          </a:prstGeom>
          <a:noFill/>
        </p:spPr>
        <p:txBody>
          <a:bodyPr wrap="none" lIns="0" tIns="0" rIns="0" bIns="0" anchor="ctr">
            <a:noAutofit/>
          </a:bodyPr>
          <a:lstStyle/>
          <a:p>
            <a:pPr algn="ctr">
              <a:lnSpc>
                <a:spcPct val="100000"/>
              </a:lnSpc>
              <a:buNone/>
              <a:defRPr sz="1875" b="1">
                <a:solidFill>
                  <a:srgbClr val="FFFFFF"/>
                </a:solidFill>
                <a:latin typeface="Times New Roman"/>
                <a:ea typeface="Times New Roman"/>
                <a:cs typeface="Times New Roman"/>
              </a:defRPr>
            </a:pPr>
            <a:r>
              <a:rPr sz="1875" b="1">
                <a:solidFill>
                  <a:srgbClr val="FFFFFF"/>
                </a:solidFill>
                <a:latin typeface="Times New Roman"/>
                <a:ea typeface="Times New Roman"/>
                <a:cs typeface="Times New Roman"/>
              </a:rPr>
              <a:t>3. Kết quả</a:t>
            </a:r>
            <a:endParaRPr sz="1600"/>
          </a:p>
        </p:txBody>
      </p:sp>
      <p:sp>
        <p:nvSpPr>
          <p:cNvPr id="10" name="Shape 8">
            <a:extLst>
              <a:ext uri="{FF2B5EF4-FFF2-40B4-BE49-F238E27FC236}">
                <a16:creationId xmlns:a16="http://schemas.microsoft.com/office/drawing/2014/main" id="{8861AE7D-C8F6-4D37-9088-AEA6767923DC}"/>
              </a:ext>
            </a:extLst>
          </p:cNvPr>
          <p:cNvSpPr>
            <a:spLocks noGrp="1"/>
          </p:cNvSpPr>
          <p:nvPr/>
        </p:nvSpPr>
        <p:spPr>
          <a:xfrm>
            <a:off x="10837291" y="0"/>
            <a:ext cx="3386709" cy="677291"/>
          </a:xfrm>
          <a:prstGeom prst="rect">
            <a:avLst/>
          </a:prstGeom>
          <a:solidFill>
            <a:srgbClr val="FFFFFF">
              <a:alpha val="0"/>
            </a:srgbClr>
          </a:solidFill>
        </p:spPr>
      </p:sp>
      <p:sp>
        <p:nvSpPr>
          <p:cNvPr id="11" name="Text 9">
            <a:extLst>
              <a:ext uri="{FF2B5EF4-FFF2-40B4-BE49-F238E27FC236}">
                <a16:creationId xmlns:a16="http://schemas.microsoft.com/office/drawing/2014/main" id="{4545473B-A759-4790-908D-E307A7966A3A}"/>
              </a:ext>
            </a:extLst>
          </p:cNvPr>
          <p:cNvSpPr>
            <a:spLocks noGrp="1"/>
          </p:cNvSpPr>
          <p:nvPr/>
        </p:nvSpPr>
        <p:spPr>
          <a:xfrm>
            <a:off x="10715339"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4. Phân tích lỗi</a:t>
            </a:r>
            <a:endParaRPr sz="1600"/>
          </a:p>
        </p:txBody>
      </p:sp>
      <p:sp>
        <p:nvSpPr>
          <p:cNvPr id="12" name="Shape 10">
            <a:extLst>
              <a:ext uri="{FF2B5EF4-FFF2-40B4-BE49-F238E27FC236}">
                <a16:creationId xmlns:a16="http://schemas.microsoft.com/office/drawing/2014/main" id="{22FE91F2-6615-42C6-9380-D3040C2E62EA}"/>
              </a:ext>
            </a:extLst>
          </p:cNvPr>
          <p:cNvSpPr>
            <a:spLocks noGrp="1"/>
          </p:cNvSpPr>
          <p:nvPr/>
        </p:nvSpPr>
        <p:spPr>
          <a:xfrm>
            <a:off x="14393291" y="0"/>
            <a:ext cx="3386709" cy="677291"/>
          </a:xfrm>
          <a:prstGeom prst="rect">
            <a:avLst/>
          </a:prstGeom>
          <a:solidFill>
            <a:srgbClr val="FFFFFF">
              <a:alpha val="0"/>
            </a:srgbClr>
          </a:solidFill>
        </p:spPr>
      </p:sp>
      <p:sp>
        <p:nvSpPr>
          <p:cNvPr id="13" name="Text 11">
            <a:extLst>
              <a:ext uri="{FF2B5EF4-FFF2-40B4-BE49-F238E27FC236}">
                <a16:creationId xmlns:a16="http://schemas.microsoft.com/office/drawing/2014/main" id="{94A4D390-A300-4A10-9E43-F1DC4E6F13C9}"/>
              </a:ext>
            </a:extLst>
          </p:cNvPr>
          <p:cNvSpPr>
            <a:spLocks noGrp="1"/>
          </p:cNvSpPr>
          <p:nvPr/>
        </p:nvSpPr>
        <p:spPr>
          <a:xfrm>
            <a:off x="14271403"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5. Ứng dụng</a:t>
            </a:r>
            <a:endParaRPr sz="1600"/>
          </a:p>
        </p:txBody>
      </p:sp>
      <p:sp>
        <p:nvSpPr>
          <p:cNvPr id="14" name="Shape 12">
            <a:extLst>
              <a:ext uri="{FF2B5EF4-FFF2-40B4-BE49-F238E27FC236}">
                <a16:creationId xmlns:a16="http://schemas.microsoft.com/office/drawing/2014/main" id="{C4935CBF-954D-4E93-9307-5CF1081C5E81}"/>
              </a:ext>
            </a:extLst>
          </p:cNvPr>
          <p:cNvSpPr>
            <a:spLocks noGrp="1"/>
          </p:cNvSpPr>
          <p:nvPr/>
        </p:nvSpPr>
        <p:spPr>
          <a:xfrm>
            <a:off x="17949291" y="0"/>
            <a:ext cx="3386709" cy="677291"/>
          </a:xfrm>
          <a:prstGeom prst="rect">
            <a:avLst/>
          </a:prstGeom>
          <a:solidFill>
            <a:srgbClr val="FFFFFF">
              <a:alpha val="0"/>
            </a:srgbClr>
          </a:solidFill>
        </p:spPr>
      </p:sp>
      <p:sp>
        <p:nvSpPr>
          <p:cNvPr id="15" name="Text 13">
            <a:extLst>
              <a:ext uri="{FF2B5EF4-FFF2-40B4-BE49-F238E27FC236}">
                <a16:creationId xmlns:a16="http://schemas.microsoft.com/office/drawing/2014/main" id="{55B7AC0E-B841-4480-A113-DC05E10E6ECF}"/>
              </a:ext>
            </a:extLst>
          </p:cNvPr>
          <p:cNvSpPr>
            <a:spLocks noGrp="1"/>
          </p:cNvSpPr>
          <p:nvPr/>
        </p:nvSpPr>
        <p:spPr>
          <a:xfrm>
            <a:off x="17827371"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6. Cải thiện</a:t>
            </a:r>
            <a:endParaRPr sz="1600"/>
          </a:p>
        </p:txBody>
      </p:sp>
      <p:sp>
        <p:nvSpPr>
          <p:cNvPr id="16" name="Shape 14">
            <a:extLst>
              <a:ext uri="{FF2B5EF4-FFF2-40B4-BE49-F238E27FC236}">
                <a16:creationId xmlns:a16="http://schemas.microsoft.com/office/drawing/2014/main" id="{DC086E6B-7A8C-47CE-A90F-E2C2192519D4}"/>
              </a:ext>
            </a:extLst>
          </p:cNvPr>
          <p:cNvSpPr>
            <a:spLocks noGrp="1"/>
          </p:cNvSpPr>
          <p:nvPr/>
        </p:nvSpPr>
        <p:spPr>
          <a:xfrm>
            <a:off x="1016000" y="931291"/>
            <a:ext cx="15240000" cy="643509"/>
          </a:xfrm>
          <a:prstGeom prst="rect">
            <a:avLst/>
          </a:prstGeom>
          <a:solidFill>
            <a:srgbClr val="FFFFFF">
              <a:alpha val="0"/>
            </a:srgbClr>
          </a:solidFill>
        </p:spPr>
      </p:sp>
      <p:sp>
        <p:nvSpPr>
          <p:cNvPr id="17" name="Text 15">
            <a:extLst>
              <a:ext uri="{FF2B5EF4-FFF2-40B4-BE49-F238E27FC236}">
                <a16:creationId xmlns:a16="http://schemas.microsoft.com/office/drawing/2014/main" id="{B06844EA-EF61-45ED-9555-EBC4C0A996C0}"/>
              </a:ext>
            </a:extLst>
          </p:cNvPr>
          <p:cNvSpPr>
            <a:spLocks noGrp="1"/>
          </p:cNvSpPr>
          <p:nvPr/>
        </p:nvSpPr>
        <p:spPr>
          <a:xfrm>
            <a:off x="894080" y="870331"/>
            <a:ext cx="15483840" cy="765429"/>
          </a:xfrm>
          <a:prstGeom prst="rect">
            <a:avLst/>
          </a:prstGeom>
          <a:noFill/>
        </p:spPr>
        <p:txBody>
          <a:bodyPr wrap="none" lIns="0" tIns="0" rIns="0" bIns="0" anchor="ctr">
            <a:noAutofit/>
          </a:bodyPr>
          <a:lstStyle/>
          <a:p>
            <a:pPr>
              <a:lnSpc>
                <a:spcPct val="100000"/>
              </a:lnSpc>
              <a:buNone/>
              <a:defRPr sz="3900" b="1">
                <a:solidFill>
                  <a:srgbClr val="1565C0"/>
                </a:solidFill>
                <a:latin typeface="Times New Roman"/>
                <a:ea typeface="Times New Roman"/>
                <a:cs typeface="Times New Roman"/>
              </a:defRPr>
            </a:pPr>
            <a:r>
              <a:rPr sz="3900" b="1">
                <a:solidFill>
                  <a:srgbClr val="1565C0"/>
                </a:solidFill>
                <a:latin typeface="Times New Roman"/>
                <a:ea typeface="Times New Roman"/>
                <a:cs typeface="Times New Roman"/>
              </a:rPr>
              <a:t>Mười một dạng lỗi trên 100 câu phân tích</a:t>
            </a:r>
            <a:endParaRPr sz="1600"/>
          </a:p>
        </p:txBody>
      </p:sp>
      <p:sp>
        <p:nvSpPr>
          <p:cNvPr id="18" name="Shape 16">
            <a:extLst>
              <a:ext uri="{FF2B5EF4-FFF2-40B4-BE49-F238E27FC236}">
                <a16:creationId xmlns:a16="http://schemas.microsoft.com/office/drawing/2014/main" id="{2B2B3B67-AA35-4D52-9009-3E7B608491F4}"/>
              </a:ext>
            </a:extLst>
          </p:cNvPr>
          <p:cNvSpPr>
            <a:spLocks noGrp="1"/>
          </p:cNvSpPr>
          <p:nvPr/>
        </p:nvSpPr>
        <p:spPr>
          <a:xfrm>
            <a:off x="1016000" y="1625600"/>
            <a:ext cx="19642709" cy="50800"/>
          </a:xfrm>
          <a:prstGeom prst="rect">
            <a:avLst/>
          </a:prstGeom>
          <a:solidFill>
            <a:srgbClr val="1565C0"/>
          </a:solidFill>
        </p:spPr>
      </p:sp>
      <p:sp>
        <p:nvSpPr>
          <p:cNvPr id="26" name="Shape 24">
            <a:extLst>
              <a:ext uri="{FF2B5EF4-FFF2-40B4-BE49-F238E27FC236}">
                <a16:creationId xmlns:a16="http://schemas.microsoft.com/office/drawing/2014/main" id="{61C10AEB-65D2-45D4-9EB3-A1C1528032F9}"/>
              </a:ext>
            </a:extLst>
          </p:cNvPr>
          <p:cNvSpPr>
            <a:spLocks noGrp="1"/>
          </p:cNvSpPr>
          <p:nvPr/>
        </p:nvSpPr>
        <p:spPr>
          <a:xfrm>
            <a:off x="19981291" y="11684000"/>
            <a:ext cx="1016000" cy="406400"/>
          </a:xfrm>
          <a:prstGeom prst="rect">
            <a:avLst/>
          </a:prstGeom>
          <a:solidFill>
            <a:srgbClr val="FFFFFF">
              <a:alpha val="0"/>
            </a:srgbClr>
          </a:solidFill>
        </p:spPr>
      </p:sp>
      <p:sp>
        <p:nvSpPr>
          <p:cNvPr id="27" name="Text 25">
            <a:extLst>
              <a:ext uri="{FF2B5EF4-FFF2-40B4-BE49-F238E27FC236}">
                <a16:creationId xmlns:a16="http://schemas.microsoft.com/office/drawing/2014/main" id="{254AA83A-B393-42B8-8BB2-9206F05A0C7C}"/>
              </a:ext>
            </a:extLst>
          </p:cNvPr>
          <p:cNvSpPr>
            <a:spLocks noGrp="1"/>
          </p:cNvSpPr>
          <p:nvPr/>
        </p:nvSpPr>
        <p:spPr>
          <a:xfrm>
            <a:off x="19859371" y="11623040"/>
            <a:ext cx="1259840" cy="528320"/>
          </a:xfrm>
          <a:prstGeom prst="rect">
            <a:avLst/>
          </a:prstGeom>
          <a:noFill/>
        </p:spPr>
        <p:txBody>
          <a:bodyPr wrap="none" lIns="0" tIns="0" rIns="0" bIns="0" anchor="ctr">
            <a:noAutofit/>
          </a:bodyPr>
          <a:lstStyle/>
          <a:p>
            <a:pPr algn="r">
              <a:lnSpc>
                <a:spcPct val="100000"/>
              </a:lnSpc>
              <a:buNone/>
              <a:defRPr sz="1950">
                <a:solidFill>
                  <a:srgbClr val="666666"/>
                </a:solidFill>
                <a:latin typeface="Times New Roman"/>
                <a:ea typeface="Times New Roman"/>
                <a:cs typeface="Times New Roman"/>
              </a:defRPr>
            </a:pPr>
            <a:r>
              <a:rPr sz="1950">
                <a:solidFill>
                  <a:srgbClr val="666666"/>
                </a:solidFill>
                <a:latin typeface="Times New Roman"/>
                <a:ea typeface="Times New Roman"/>
                <a:cs typeface="Times New Roman"/>
              </a:rPr>
              <a:t>12/18</a:t>
            </a:r>
            <a:endParaRPr sz="1600"/>
          </a:p>
        </p:txBody>
      </p:sp>
      <p:sp>
        <p:nvSpPr>
          <p:cNvPr id="30" name="Rectangle 29">
            <a:extLst>
              <a:ext uri="{FF2B5EF4-FFF2-40B4-BE49-F238E27FC236}">
                <a16:creationId xmlns:a16="http://schemas.microsoft.com/office/drawing/2014/main" id="{021F5542-02FF-4D08-97F8-46738333A0F0}"/>
              </a:ext>
            </a:extLst>
          </p:cNvPr>
          <p:cNvSpPr>
            <a:spLocks noGrp="1"/>
          </p:cNvSpPr>
          <p:nvPr/>
        </p:nvSpPr>
        <p:spPr>
          <a:xfrm>
            <a:off x="1000125" y="11096625"/>
            <a:ext cx="19621500" cy="619125"/>
          </a:xfrm>
          <a:prstGeom prst="rect">
            <a:avLst/>
          </a:prstGeom>
          <a:noFill/>
          <a:ln w="0">
            <a:noFill/>
          </a:ln>
        </p:spPr>
        <p:txBody>
          <a:bodyPr>
            <a:noAutofit/>
          </a:bodyPr>
          <a:lstStyle/>
          <a:p>
            <a:pPr>
              <a:buNone/>
              <a:defRPr sz="2175" b="0" i="1">
                <a:solidFill>
                  <a:srgbClr val="555555"/>
                </a:solidFill>
                <a:latin typeface="Times New Roman"/>
                <a:ea typeface="Times New Roman"/>
                <a:cs typeface="Times New Roman"/>
              </a:defRPr>
            </a:pPr>
            <a:r>
              <a:rPr sz="2175" b="0" i="1">
                <a:solidFill>
                  <a:srgbClr val="555555"/>
                </a:solidFill>
                <a:latin typeface="Times New Roman"/>
                <a:ea typeface="Times New Roman"/>
                <a:cs typeface="Times New Roman"/>
              </a:rPr>
              <a:t>Nhầm câu nói về động vật: 8 còn 1 lỗi. Trích dẫn và nhãn gốc chưa cải thiện. Đây là số lỗi trên 100 câu phân tích.</a:t>
            </a:r>
          </a:p>
        </p:txBody>
      </p:sp>
      <p:pic>
        <p:nvPicPr>
          <p:cNvPr id="52" name="Picture 51"/>
          <p:cNvPicPr>
            <a:picLocks noChangeAspect="1"/>
          </p:cNvPicPr>
          <p:nvPr/>
        </p:nvPicPr>
        <p:blipFill>
          <a:blip r:embed="rId3"/>
          <a:stretch/>
        </p:blipFill>
        <p:spPr>
          <a:xfrm>
            <a:off x="2516188" y="1857375"/>
            <a:ext cx="16589375" cy="9048750"/>
          </a:xfrm>
          <a:prstGeom prst="rect">
            <a:avLst/>
          </a:prstGeom>
        </p:spPr>
      </p:pic>
    </p:spTree>
    <p:extLst>
      <p:ext uri="{BB962C8B-B14F-4D97-AF65-F5344CB8AC3E}">
        <p14:creationId xmlns:p14="http://schemas.microsoft.com/office/powerpoint/2010/main" val="14837779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64A20B4-C1B6-4CE2-B64A-5506183A29C2}"/>
              </a:ext>
            </a:extLst>
          </p:cNvPr>
          <p:cNvSpPr>
            <a:spLocks noGrp="1"/>
          </p:cNvSpPr>
          <p:nvPr/>
        </p:nvSpPr>
        <p:spPr>
          <a:xfrm>
            <a:off x="0" y="0"/>
            <a:ext cx="21674709" cy="677291"/>
          </a:xfrm>
          <a:prstGeom prst="rect">
            <a:avLst/>
          </a:prstGeom>
          <a:solidFill>
            <a:srgbClr val="1565C0"/>
          </a:solidFill>
        </p:spPr>
      </p:sp>
      <p:sp>
        <p:nvSpPr>
          <p:cNvPr id="3" name="Shape 1">
            <a:extLst>
              <a:ext uri="{FF2B5EF4-FFF2-40B4-BE49-F238E27FC236}">
                <a16:creationId xmlns:a16="http://schemas.microsoft.com/office/drawing/2014/main" id="{7C07B71D-F92D-41E3-B4AA-BEB5F54ACE63}"/>
              </a:ext>
            </a:extLst>
          </p:cNvPr>
          <p:cNvSpPr>
            <a:spLocks noGrp="1"/>
          </p:cNvSpPr>
          <p:nvPr/>
        </p:nvSpPr>
        <p:spPr>
          <a:xfrm>
            <a:off x="7281196" y="84709"/>
            <a:ext cx="3386709" cy="508000"/>
          </a:xfrm>
          <a:prstGeom prst="roundRect">
            <a:avLst>
              <a:gd name="adj" fmla="val 8000"/>
            </a:avLst>
          </a:prstGeom>
          <a:solidFill>
            <a:srgbClr val="FFFFFF">
              <a:alpha val="3576"/>
            </a:srgbClr>
          </a:solidFill>
        </p:spPr>
      </p:sp>
      <p:sp>
        <p:nvSpPr>
          <p:cNvPr id="4" name="Shape 2">
            <a:extLst>
              <a:ext uri="{FF2B5EF4-FFF2-40B4-BE49-F238E27FC236}">
                <a16:creationId xmlns:a16="http://schemas.microsoft.com/office/drawing/2014/main" id="{D3C0D4A2-7494-4FE1-8023-D988553FF390}"/>
              </a:ext>
            </a:extLst>
          </p:cNvPr>
          <p:cNvSpPr>
            <a:spLocks noGrp="1"/>
          </p:cNvSpPr>
          <p:nvPr/>
        </p:nvSpPr>
        <p:spPr>
          <a:xfrm>
            <a:off x="169291" y="0"/>
            <a:ext cx="3386709" cy="677291"/>
          </a:xfrm>
          <a:prstGeom prst="rect">
            <a:avLst/>
          </a:prstGeom>
          <a:solidFill>
            <a:srgbClr val="FFFFFF">
              <a:alpha val="0"/>
            </a:srgbClr>
          </a:solidFill>
        </p:spPr>
      </p:sp>
      <p:sp>
        <p:nvSpPr>
          <p:cNvPr id="5" name="Text 3">
            <a:extLst>
              <a:ext uri="{FF2B5EF4-FFF2-40B4-BE49-F238E27FC236}">
                <a16:creationId xmlns:a16="http://schemas.microsoft.com/office/drawing/2014/main" id="{D6834B19-F43F-45C7-BD47-0E79B6CFCE65}"/>
              </a:ext>
            </a:extLst>
          </p:cNvPr>
          <p:cNvSpPr>
            <a:spLocks noGrp="1"/>
          </p:cNvSpPr>
          <p:nvPr/>
        </p:nvSpPr>
        <p:spPr>
          <a:xfrm>
            <a:off x="47339"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1. Bài toán và dữ liệu</a:t>
            </a:r>
            <a:endParaRPr sz="1600"/>
          </a:p>
        </p:txBody>
      </p:sp>
      <p:sp>
        <p:nvSpPr>
          <p:cNvPr id="6" name="Shape 4">
            <a:extLst>
              <a:ext uri="{FF2B5EF4-FFF2-40B4-BE49-F238E27FC236}">
                <a16:creationId xmlns:a16="http://schemas.microsoft.com/office/drawing/2014/main" id="{4EBCB68D-0BCE-4101-B79E-3E31A90823FE}"/>
              </a:ext>
            </a:extLst>
          </p:cNvPr>
          <p:cNvSpPr>
            <a:spLocks noGrp="1"/>
          </p:cNvSpPr>
          <p:nvPr/>
        </p:nvSpPr>
        <p:spPr>
          <a:xfrm>
            <a:off x="3725291" y="0"/>
            <a:ext cx="3386709" cy="677291"/>
          </a:xfrm>
          <a:prstGeom prst="rect">
            <a:avLst/>
          </a:prstGeom>
          <a:solidFill>
            <a:srgbClr val="FFFFFF">
              <a:alpha val="0"/>
            </a:srgbClr>
          </a:solidFill>
        </p:spPr>
      </p:sp>
      <p:sp>
        <p:nvSpPr>
          <p:cNvPr id="7" name="Text 5">
            <a:extLst>
              <a:ext uri="{FF2B5EF4-FFF2-40B4-BE49-F238E27FC236}">
                <a16:creationId xmlns:a16="http://schemas.microsoft.com/office/drawing/2014/main" id="{AC81AE39-5641-4E33-B8B2-81369B9958BD}"/>
              </a:ext>
            </a:extLst>
          </p:cNvPr>
          <p:cNvSpPr>
            <a:spLocks noGrp="1"/>
          </p:cNvSpPr>
          <p:nvPr/>
        </p:nvSpPr>
        <p:spPr>
          <a:xfrm>
            <a:off x="3603403"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2. Mô hình và dual head</a:t>
            </a:r>
            <a:endParaRPr sz="1600"/>
          </a:p>
        </p:txBody>
      </p:sp>
      <p:sp>
        <p:nvSpPr>
          <p:cNvPr id="8" name="Shape 6">
            <a:extLst>
              <a:ext uri="{FF2B5EF4-FFF2-40B4-BE49-F238E27FC236}">
                <a16:creationId xmlns:a16="http://schemas.microsoft.com/office/drawing/2014/main" id="{3BD1BE30-611D-4D32-9B0B-D0F78012D3FD}"/>
              </a:ext>
            </a:extLst>
          </p:cNvPr>
          <p:cNvSpPr>
            <a:spLocks noGrp="1"/>
          </p:cNvSpPr>
          <p:nvPr/>
        </p:nvSpPr>
        <p:spPr>
          <a:xfrm>
            <a:off x="7281291" y="0"/>
            <a:ext cx="3386709" cy="677291"/>
          </a:xfrm>
          <a:prstGeom prst="rect">
            <a:avLst/>
          </a:prstGeom>
          <a:solidFill>
            <a:srgbClr val="FFFFFF">
              <a:alpha val="0"/>
            </a:srgbClr>
          </a:solidFill>
        </p:spPr>
      </p:sp>
      <p:sp>
        <p:nvSpPr>
          <p:cNvPr id="9" name="Text 7">
            <a:extLst>
              <a:ext uri="{FF2B5EF4-FFF2-40B4-BE49-F238E27FC236}">
                <a16:creationId xmlns:a16="http://schemas.microsoft.com/office/drawing/2014/main" id="{86279E51-B1B3-4B07-A7F8-3304B3E8AF83}"/>
              </a:ext>
            </a:extLst>
          </p:cNvPr>
          <p:cNvSpPr>
            <a:spLocks noGrp="1"/>
          </p:cNvSpPr>
          <p:nvPr/>
        </p:nvSpPr>
        <p:spPr>
          <a:xfrm>
            <a:off x="7159371" y="0"/>
            <a:ext cx="3630549" cy="676275"/>
          </a:xfrm>
          <a:prstGeom prst="rect">
            <a:avLst/>
          </a:prstGeom>
          <a:noFill/>
        </p:spPr>
        <p:txBody>
          <a:bodyPr wrap="none" lIns="0" tIns="0" rIns="0" bIns="0" anchor="ctr">
            <a:noAutofit/>
          </a:bodyPr>
          <a:lstStyle/>
          <a:p>
            <a:pPr algn="ctr">
              <a:lnSpc>
                <a:spcPct val="100000"/>
              </a:lnSpc>
              <a:buNone/>
              <a:defRPr sz="1875" b="1">
                <a:solidFill>
                  <a:srgbClr val="FFFFFF"/>
                </a:solidFill>
                <a:latin typeface="Times New Roman"/>
                <a:ea typeface="Times New Roman"/>
                <a:cs typeface="Times New Roman"/>
              </a:defRPr>
            </a:pPr>
            <a:r>
              <a:rPr sz="1875" b="1">
                <a:solidFill>
                  <a:srgbClr val="FFFFFF"/>
                </a:solidFill>
                <a:latin typeface="Times New Roman"/>
                <a:ea typeface="Times New Roman"/>
                <a:cs typeface="Times New Roman"/>
              </a:rPr>
              <a:t>3. Kết quả</a:t>
            </a:r>
            <a:endParaRPr sz="1600"/>
          </a:p>
        </p:txBody>
      </p:sp>
      <p:sp>
        <p:nvSpPr>
          <p:cNvPr id="10" name="Shape 8">
            <a:extLst>
              <a:ext uri="{FF2B5EF4-FFF2-40B4-BE49-F238E27FC236}">
                <a16:creationId xmlns:a16="http://schemas.microsoft.com/office/drawing/2014/main" id="{8861AE7D-C8F6-4D37-9088-AEA6767923DC}"/>
              </a:ext>
            </a:extLst>
          </p:cNvPr>
          <p:cNvSpPr>
            <a:spLocks noGrp="1"/>
          </p:cNvSpPr>
          <p:nvPr/>
        </p:nvSpPr>
        <p:spPr>
          <a:xfrm>
            <a:off x="10837291" y="0"/>
            <a:ext cx="3386709" cy="677291"/>
          </a:xfrm>
          <a:prstGeom prst="rect">
            <a:avLst/>
          </a:prstGeom>
          <a:solidFill>
            <a:srgbClr val="FFFFFF">
              <a:alpha val="0"/>
            </a:srgbClr>
          </a:solidFill>
        </p:spPr>
      </p:sp>
      <p:sp>
        <p:nvSpPr>
          <p:cNvPr id="11" name="Text 9">
            <a:extLst>
              <a:ext uri="{FF2B5EF4-FFF2-40B4-BE49-F238E27FC236}">
                <a16:creationId xmlns:a16="http://schemas.microsoft.com/office/drawing/2014/main" id="{4545473B-A759-4790-908D-E307A7966A3A}"/>
              </a:ext>
            </a:extLst>
          </p:cNvPr>
          <p:cNvSpPr>
            <a:spLocks noGrp="1"/>
          </p:cNvSpPr>
          <p:nvPr/>
        </p:nvSpPr>
        <p:spPr>
          <a:xfrm>
            <a:off x="10715339"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4. Phân tích lỗi</a:t>
            </a:r>
            <a:endParaRPr sz="1600"/>
          </a:p>
        </p:txBody>
      </p:sp>
      <p:sp>
        <p:nvSpPr>
          <p:cNvPr id="12" name="Shape 10">
            <a:extLst>
              <a:ext uri="{FF2B5EF4-FFF2-40B4-BE49-F238E27FC236}">
                <a16:creationId xmlns:a16="http://schemas.microsoft.com/office/drawing/2014/main" id="{22FE91F2-6615-42C6-9380-D3040C2E62EA}"/>
              </a:ext>
            </a:extLst>
          </p:cNvPr>
          <p:cNvSpPr>
            <a:spLocks noGrp="1"/>
          </p:cNvSpPr>
          <p:nvPr/>
        </p:nvSpPr>
        <p:spPr>
          <a:xfrm>
            <a:off x="14393291" y="0"/>
            <a:ext cx="3386709" cy="677291"/>
          </a:xfrm>
          <a:prstGeom prst="rect">
            <a:avLst/>
          </a:prstGeom>
          <a:solidFill>
            <a:srgbClr val="FFFFFF">
              <a:alpha val="0"/>
            </a:srgbClr>
          </a:solidFill>
        </p:spPr>
      </p:sp>
      <p:sp>
        <p:nvSpPr>
          <p:cNvPr id="13" name="Text 11">
            <a:extLst>
              <a:ext uri="{FF2B5EF4-FFF2-40B4-BE49-F238E27FC236}">
                <a16:creationId xmlns:a16="http://schemas.microsoft.com/office/drawing/2014/main" id="{94A4D390-A300-4A10-9E43-F1DC4E6F13C9}"/>
              </a:ext>
            </a:extLst>
          </p:cNvPr>
          <p:cNvSpPr>
            <a:spLocks noGrp="1"/>
          </p:cNvSpPr>
          <p:nvPr/>
        </p:nvSpPr>
        <p:spPr>
          <a:xfrm>
            <a:off x="14271403"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5. Ứng dụng</a:t>
            </a:r>
            <a:endParaRPr sz="1600"/>
          </a:p>
        </p:txBody>
      </p:sp>
      <p:sp>
        <p:nvSpPr>
          <p:cNvPr id="14" name="Shape 12">
            <a:extLst>
              <a:ext uri="{FF2B5EF4-FFF2-40B4-BE49-F238E27FC236}">
                <a16:creationId xmlns:a16="http://schemas.microsoft.com/office/drawing/2014/main" id="{C4935CBF-954D-4E93-9307-5CF1081C5E81}"/>
              </a:ext>
            </a:extLst>
          </p:cNvPr>
          <p:cNvSpPr>
            <a:spLocks noGrp="1"/>
          </p:cNvSpPr>
          <p:nvPr/>
        </p:nvSpPr>
        <p:spPr>
          <a:xfrm>
            <a:off x="17949291" y="0"/>
            <a:ext cx="3386709" cy="677291"/>
          </a:xfrm>
          <a:prstGeom prst="rect">
            <a:avLst/>
          </a:prstGeom>
          <a:solidFill>
            <a:srgbClr val="FFFFFF">
              <a:alpha val="0"/>
            </a:srgbClr>
          </a:solidFill>
        </p:spPr>
      </p:sp>
      <p:sp>
        <p:nvSpPr>
          <p:cNvPr id="15" name="Text 13">
            <a:extLst>
              <a:ext uri="{FF2B5EF4-FFF2-40B4-BE49-F238E27FC236}">
                <a16:creationId xmlns:a16="http://schemas.microsoft.com/office/drawing/2014/main" id="{55B7AC0E-B841-4480-A113-DC05E10E6ECF}"/>
              </a:ext>
            </a:extLst>
          </p:cNvPr>
          <p:cNvSpPr>
            <a:spLocks noGrp="1"/>
          </p:cNvSpPr>
          <p:nvPr/>
        </p:nvSpPr>
        <p:spPr>
          <a:xfrm>
            <a:off x="17827371"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6. Cải thiện</a:t>
            </a:r>
            <a:endParaRPr sz="1600"/>
          </a:p>
        </p:txBody>
      </p:sp>
      <p:sp>
        <p:nvSpPr>
          <p:cNvPr id="16" name="Shape 14">
            <a:extLst>
              <a:ext uri="{FF2B5EF4-FFF2-40B4-BE49-F238E27FC236}">
                <a16:creationId xmlns:a16="http://schemas.microsoft.com/office/drawing/2014/main" id="{DC086E6B-7A8C-47CE-A90F-E2C2192519D4}"/>
              </a:ext>
            </a:extLst>
          </p:cNvPr>
          <p:cNvSpPr>
            <a:spLocks noGrp="1"/>
          </p:cNvSpPr>
          <p:nvPr/>
        </p:nvSpPr>
        <p:spPr>
          <a:xfrm>
            <a:off x="1016000" y="931291"/>
            <a:ext cx="15240000" cy="643509"/>
          </a:xfrm>
          <a:prstGeom prst="rect">
            <a:avLst/>
          </a:prstGeom>
          <a:solidFill>
            <a:srgbClr val="FFFFFF">
              <a:alpha val="0"/>
            </a:srgbClr>
          </a:solidFill>
        </p:spPr>
      </p:sp>
      <p:sp>
        <p:nvSpPr>
          <p:cNvPr id="17" name="Text 15">
            <a:extLst>
              <a:ext uri="{FF2B5EF4-FFF2-40B4-BE49-F238E27FC236}">
                <a16:creationId xmlns:a16="http://schemas.microsoft.com/office/drawing/2014/main" id="{B06844EA-EF61-45ED-9555-EBC4C0A996C0}"/>
              </a:ext>
            </a:extLst>
          </p:cNvPr>
          <p:cNvSpPr>
            <a:spLocks noGrp="1"/>
          </p:cNvSpPr>
          <p:nvPr/>
        </p:nvSpPr>
        <p:spPr>
          <a:xfrm>
            <a:off x="894080" y="870331"/>
            <a:ext cx="15483840" cy="765429"/>
          </a:xfrm>
          <a:prstGeom prst="rect">
            <a:avLst/>
          </a:prstGeom>
          <a:noFill/>
        </p:spPr>
        <p:txBody>
          <a:bodyPr wrap="none" lIns="0" tIns="0" rIns="0" bIns="0" anchor="ctr">
            <a:noAutofit/>
          </a:bodyPr>
          <a:lstStyle/>
          <a:p>
            <a:pPr>
              <a:lnSpc>
                <a:spcPct val="100000"/>
              </a:lnSpc>
              <a:buNone/>
              <a:defRPr sz="3900" b="1">
                <a:solidFill>
                  <a:srgbClr val="1565C0"/>
                </a:solidFill>
                <a:latin typeface="Times New Roman"/>
                <a:ea typeface="Times New Roman"/>
                <a:cs typeface="Times New Roman"/>
              </a:defRPr>
            </a:pPr>
            <a:r>
              <a:rPr sz="3900" b="1">
                <a:solidFill>
                  <a:srgbClr val="1565C0"/>
                </a:solidFill>
                <a:latin typeface="Times New Roman"/>
                <a:ea typeface="Times New Roman"/>
                <a:cs typeface="Times New Roman"/>
              </a:rPr>
              <a:t>Ma trận BIO trên 100 câu đầu tập test</a:t>
            </a:r>
            <a:endParaRPr sz="1600"/>
          </a:p>
        </p:txBody>
      </p:sp>
      <p:sp>
        <p:nvSpPr>
          <p:cNvPr id="18" name="Shape 16">
            <a:extLst>
              <a:ext uri="{FF2B5EF4-FFF2-40B4-BE49-F238E27FC236}">
                <a16:creationId xmlns:a16="http://schemas.microsoft.com/office/drawing/2014/main" id="{2B2B3B67-AA35-4D52-9009-3E7B608491F4}"/>
              </a:ext>
            </a:extLst>
          </p:cNvPr>
          <p:cNvSpPr>
            <a:spLocks noGrp="1"/>
          </p:cNvSpPr>
          <p:nvPr/>
        </p:nvSpPr>
        <p:spPr>
          <a:xfrm>
            <a:off x="1016000" y="1625600"/>
            <a:ext cx="19642709" cy="50800"/>
          </a:xfrm>
          <a:prstGeom prst="rect">
            <a:avLst/>
          </a:prstGeom>
          <a:solidFill>
            <a:srgbClr val="1565C0"/>
          </a:solidFill>
        </p:spPr>
      </p:sp>
      <p:sp>
        <p:nvSpPr>
          <p:cNvPr id="26" name="Shape 24">
            <a:extLst>
              <a:ext uri="{FF2B5EF4-FFF2-40B4-BE49-F238E27FC236}">
                <a16:creationId xmlns:a16="http://schemas.microsoft.com/office/drawing/2014/main" id="{61C10AEB-65D2-45D4-9EB3-A1C1528032F9}"/>
              </a:ext>
            </a:extLst>
          </p:cNvPr>
          <p:cNvSpPr>
            <a:spLocks noGrp="1"/>
          </p:cNvSpPr>
          <p:nvPr/>
        </p:nvSpPr>
        <p:spPr>
          <a:xfrm>
            <a:off x="19981291" y="11684000"/>
            <a:ext cx="1016000" cy="406400"/>
          </a:xfrm>
          <a:prstGeom prst="rect">
            <a:avLst/>
          </a:prstGeom>
          <a:solidFill>
            <a:srgbClr val="FFFFFF">
              <a:alpha val="0"/>
            </a:srgbClr>
          </a:solidFill>
        </p:spPr>
      </p:sp>
      <p:sp>
        <p:nvSpPr>
          <p:cNvPr id="27" name="Text 25">
            <a:extLst>
              <a:ext uri="{FF2B5EF4-FFF2-40B4-BE49-F238E27FC236}">
                <a16:creationId xmlns:a16="http://schemas.microsoft.com/office/drawing/2014/main" id="{254AA83A-B393-42B8-8BB2-9206F05A0C7C}"/>
              </a:ext>
            </a:extLst>
          </p:cNvPr>
          <p:cNvSpPr>
            <a:spLocks noGrp="1"/>
          </p:cNvSpPr>
          <p:nvPr/>
        </p:nvSpPr>
        <p:spPr>
          <a:xfrm>
            <a:off x="19859371" y="11623040"/>
            <a:ext cx="1259840" cy="528320"/>
          </a:xfrm>
          <a:prstGeom prst="rect">
            <a:avLst/>
          </a:prstGeom>
          <a:noFill/>
        </p:spPr>
        <p:txBody>
          <a:bodyPr wrap="none" lIns="0" tIns="0" rIns="0" bIns="0" anchor="ctr">
            <a:noAutofit/>
          </a:bodyPr>
          <a:lstStyle/>
          <a:p>
            <a:pPr algn="r">
              <a:lnSpc>
                <a:spcPct val="100000"/>
              </a:lnSpc>
              <a:buNone/>
              <a:defRPr sz="1950">
                <a:solidFill>
                  <a:srgbClr val="666666"/>
                </a:solidFill>
                <a:latin typeface="Times New Roman"/>
                <a:ea typeface="Times New Roman"/>
                <a:cs typeface="Times New Roman"/>
              </a:defRPr>
            </a:pPr>
            <a:r>
              <a:rPr sz="1950">
                <a:solidFill>
                  <a:srgbClr val="666666"/>
                </a:solidFill>
                <a:latin typeface="Times New Roman"/>
                <a:ea typeface="Times New Roman"/>
                <a:cs typeface="Times New Roman"/>
              </a:rPr>
              <a:t>13/18</a:t>
            </a:r>
            <a:endParaRPr sz="1600"/>
          </a:p>
        </p:txBody>
      </p:sp>
      <p:sp>
        <p:nvSpPr>
          <p:cNvPr id="29" name="Rectangle 28">
            <a:extLst>
              <a:ext uri="{FF2B5EF4-FFF2-40B4-BE49-F238E27FC236}">
                <a16:creationId xmlns:a16="http://schemas.microsoft.com/office/drawing/2014/main" id="{EBE41F25-75E3-43AE-A4E9-AF76D1CA9051}"/>
              </a:ext>
            </a:extLst>
          </p:cNvPr>
          <p:cNvSpPr>
            <a:spLocks noGrp="1"/>
          </p:cNvSpPr>
          <p:nvPr/>
        </p:nvSpPr>
        <p:spPr>
          <a:xfrm>
            <a:off x="16097250" y="2857500"/>
            <a:ext cx="4572000" cy="7810500"/>
          </a:xfrm>
          <a:prstGeom prst="rect">
            <a:avLst/>
          </a:prstGeom>
          <a:noFill/>
          <a:ln w="0">
            <a:noFill/>
          </a:ln>
        </p:spPr>
        <p:txBody>
          <a:bodyPr>
            <a:noAutofit/>
          </a:bodyPr>
          <a:lstStyle/>
          <a:p>
            <a:pPr>
              <a:buNone/>
              <a:defRPr sz="2550" b="0">
                <a:solidFill>
                  <a:srgbClr val="151515"/>
                </a:solidFill>
                <a:latin typeface="Times New Roman"/>
                <a:ea typeface="Times New Roman"/>
                <a:cs typeface="Times New Roman"/>
              </a:defRPr>
            </a:pPr>
            <a:r>
              <a:rPr sz="2550" b="0">
                <a:solidFill>
                  <a:srgbClr val="151515"/>
                </a:solidFill>
                <a:latin typeface="Times New Roman"/>
                <a:ea typeface="Times New Roman"/>
                <a:cs typeface="Times New Roman"/>
              </a:rPr>
              <a:t>Hàng: nhãn thật.</a:t>
            </a:r>
          </a:p>
          <a:p>
            <a:pPr>
              <a:buNone/>
              <a:defRPr sz="2550" b="0">
                <a:solidFill>
                  <a:srgbClr val="151515"/>
                </a:solidFill>
                <a:latin typeface="Times New Roman"/>
                <a:ea typeface="Times New Roman"/>
                <a:cs typeface="Times New Roman"/>
              </a:defRPr>
            </a:pPr>
            <a:r>
              <a:rPr sz="2550" b="0">
                <a:solidFill>
                  <a:srgbClr val="151515"/>
                </a:solidFill>
                <a:latin typeface="Times New Roman"/>
                <a:ea typeface="Times New Roman"/>
                <a:cs typeface="Times New Roman"/>
              </a:rPr>
              <a:t>Cột: nhãn dự đoán.</a:t>
            </a:r>
          </a:p>
          <a:p>
            <a:endParaRPr sz="2625" b="0">
              <a:solidFill>
                <a:srgbClr val="151515"/>
              </a:solidFill>
              <a:latin typeface="Times New Roman"/>
              <a:ea typeface="Times New Roman"/>
              <a:cs typeface="Times New Roman"/>
            </a:endParaRPr>
          </a:p>
          <a:p>
            <a:pPr>
              <a:buNone/>
              <a:defRPr sz="2550" b="0">
                <a:solidFill>
                  <a:srgbClr val="151515"/>
                </a:solidFill>
                <a:latin typeface="Times New Roman"/>
                <a:ea typeface="Times New Roman"/>
                <a:cs typeface="Times New Roman"/>
              </a:defRPr>
            </a:pPr>
            <a:r>
              <a:rPr sz="2550" b="0">
                <a:solidFill>
                  <a:srgbClr val="151515"/>
                </a:solidFill>
                <a:latin typeface="Times New Roman"/>
                <a:ea typeface="Times New Roman"/>
                <a:cs typeface="Times New Roman"/>
              </a:rPr>
              <a:t>100 câu, 1.186 từ.</a:t>
            </a:r>
          </a:p>
          <a:p>
            <a:pPr>
              <a:buNone/>
              <a:defRPr sz="2625" b="0">
                <a:solidFill>
                  <a:srgbClr val="151515"/>
                </a:solidFill>
                <a:latin typeface="Times New Roman"/>
                <a:ea typeface="Times New Roman"/>
                <a:cs typeface="Times New Roman"/>
              </a:defRPr>
            </a:pPr>
            <a:endParaRPr sz="2550" b="0">
              <a:solidFill>
                <a:srgbClr val="151515"/>
              </a:solidFill>
              <a:latin typeface="Times New Roman"/>
              <a:ea typeface="Times New Roman"/>
              <a:cs typeface="Times New Roman"/>
            </a:endParaRPr>
          </a:p>
          <a:p>
            <a:pPr>
              <a:defRPr sz="2550" b="0">
                <a:solidFill>
                  <a:srgbClr val="151515"/>
                </a:solidFill>
                <a:latin typeface="Times New Roman"/>
                <a:ea typeface="Times New Roman"/>
                <a:cs typeface="Times New Roman"/>
              </a:defRPr>
            </a:pPr>
            <a:r>
              <a:rPr sz="2550" b="0">
                <a:solidFill>
                  <a:srgbClr val="151515"/>
                </a:solidFill>
                <a:latin typeface="Times New Roman"/>
                <a:ea typeface="Times New Roman"/>
                <a:cs typeface="Times New Roman"/>
              </a:rPr>
              <a:t>B/I thành O: 59 từ bỏ sót.</a:t>
            </a:r>
            <a:endParaRPr sz="2625" b="0">
              <a:solidFill>
                <a:srgbClr val="151515"/>
              </a:solidFill>
              <a:latin typeface="Times New Roman"/>
              <a:ea typeface="Times New Roman"/>
              <a:cs typeface="Times New Roman"/>
            </a:endParaRPr>
          </a:p>
          <a:p>
            <a:pPr>
              <a:buNone/>
              <a:defRPr sz="2550" b="0">
                <a:solidFill>
                  <a:srgbClr val="151515"/>
                </a:solidFill>
                <a:latin typeface="Times New Roman"/>
                <a:ea typeface="Times New Roman"/>
                <a:cs typeface="Times New Roman"/>
              </a:defRPr>
            </a:pPr>
            <a:r>
              <a:rPr sz="2550" b="0">
                <a:solidFill>
                  <a:srgbClr val="151515"/>
                </a:solidFill>
                <a:latin typeface="Times New Roman"/>
                <a:ea typeface="Times New Roman"/>
                <a:cs typeface="Times New Roman"/>
              </a:rPr>
              <a:t>O thành B/I: 28 từ đánh dấu nhầm.</a:t>
            </a:r>
          </a:p>
          <a:p>
            <a:pPr>
              <a:buNone/>
              <a:defRPr sz="2550" b="0">
                <a:solidFill>
                  <a:srgbClr val="151515"/>
                </a:solidFill>
                <a:latin typeface="Times New Roman"/>
                <a:ea typeface="Times New Roman"/>
                <a:cs typeface="Times New Roman"/>
              </a:defRPr>
            </a:pPr>
            <a:r>
              <a:rPr sz="2550" b="0">
                <a:solidFill>
                  <a:srgbClr val="151515"/>
                </a:solidFill>
                <a:latin typeface="Times New Roman"/>
                <a:ea typeface="Times New Roman"/>
                <a:cs typeface="Times New Roman"/>
              </a:rPr>
              <a:t>Nhầm giữa B và I: 25 từ.</a:t>
            </a:r>
          </a:p>
          <a:p>
            <a:pPr>
              <a:buNone/>
              <a:defRPr sz="2625" b="0">
                <a:solidFill>
                  <a:srgbClr val="151515"/>
                </a:solidFill>
                <a:latin typeface="Times New Roman"/>
                <a:ea typeface="Times New Roman"/>
                <a:cs typeface="Times New Roman"/>
              </a:defRPr>
            </a:pPr>
            <a:endParaRPr sz="2550" b="0">
              <a:solidFill>
                <a:srgbClr val="151515"/>
              </a:solidFill>
              <a:latin typeface="Times New Roman"/>
              <a:ea typeface="Times New Roman"/>
              <a:cs typeface="Times New Roman"/>
            </a:endParaRPr>
          </a:p>
          <a:p>
            <a:pPr>
              <a:buNone/>
              <a:defRPr sz="2550" b="0">
                <a:solidFill>
                  <a:srgbClr val="151515"/>
                </a:solidFill>
                <a:latin typeface="Times New Roman"/>
                <a:ea typeface="Times New Roman"/>
                <a:cs typeface="Times New Roman"/>
              </a:defRPr>
            </a:pPr>
            <a:r>
              <a:rPr sz="2550" b="0">
                <a:solidFill>
                  <a:srgbClr val="151515"/>
                </a:solidFill>
                <a:latin typeface="Times New Roman"/>
                <a:ea typeface="Times New Roman"/>
                <a:cs typeface="Times New Roman"/>
              </a:rPr>
              <a:t>Không thay thế Span-F1.</a:t>
            </a:r>
          </a:p>
        </p:txBody>
      </p:sp>
      <p:pic>
        <p:nvPicPr>
          <p:cNvPr id="51" name="Picture 50"/>
          <p:cNvPicPr>
            <a:picLocks noChangeAspect="1"/>
          </p:cNvPicPr>
          <p:nvPr/>
        </p:nvPicPr>
        <p:blipFill>
          <a:blip r:embed="rId3"/>
          <a:stretch/>
        </p:blipFill>
        <p:spPr>
          <a:xfrm>
            <a:off x="3571875" y="2333625"/>
            <a:ext cx="9429750" cy="7858125"/>
          </a:xfrm>
          <a:prstGeom prst="rect">
            <a:avLst/>
          </a:prstGeom>
        </p:spPr>
      </p:pic>
    </p:spTree>
    <p:extLst>
      <p:ext uri="{BB962C8B-B14F-4D97-AF65-F5344CB8AC3E}">
        <p14:creationId xmlns:p14="http://schemas.microsoft.com/office/powerpoint/2010/main" val="14837779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759A78F6-CA85-4D00-B269-FD62517A2E4A}"/>
              </a:ext>
            </a:extLst>
          </p:cNvPr>
          <p:cNvSpPr>
            <a:spLocks noGrp="1"/>
          </p:cNvSpPr>
          <p:nvPr/>
        </p:nvSpPr>
        <p:spPr>
          <a:xfrm>
            <a:off x="0" y="0"/>
            <a:ext cx="21674709" cy="677291"/>
          </a:xfrm>
          <a:prstGeom prst="rect">
            <a:avLst/>
          </a:prstGeom>
          <a:solidFill>
            <a:srgbClr val="1565C0"/>
          </a:solidFill>
        </p:spPr>
      </p:sp>
      <p:sp>
        <p:nvSpPr>
          <p:cNvPr id="3" name="Shape 1">
            <a:extLst>
              <a:ext uri="{FF2B5EF4-FFF2-40B4-BE49-F238E27FC236}">
                <a16:creationId xmlns:a16="http://schemas.microsoft.com/office/drawing/2014/main" id="{6680B868-52EE-463A-9E1D-1C9D325E99D3}"/>
              </a:ext>
            </a:extLst>
          </p:cNvPr>
          <p:cNvSpPr>
            <a:spLocks noGrp="1"/>
          </p:cNvSpPr>
          <p:nvPr/>
        </p:nvSpPr>
        <p:spPr>
          <a:xfrm>
            <a:off x="10837164" y="84709"/>
            <a:ext cx="3386709" cy="508000"/>
          </a:xfrm>
          <a:prstGeom prst="roundRect">
            <a:avLst>
              <a:gd name="adj" fmla="val 8000"/>
            </a:avLst>
          </a:prstGeom>
          <a:solidFill>
            <a:srgbClr val="FFFFFF">
              <a:alpha val="3576"/>
            </a:srgbClr>
          </a:solidFill>
        </p:spPr>
      </p:sp>
      <p:sp>
        <p:nvSpPr>
          <p:cNvPr id="4" name="Shape 2">
            <a:extLst>
              <a:ext uri="{FF2B5EF4-FFF2-40B4-BE49-F238E27FC236}">
                <a16:creationId xmlns:a16="http://schemas.microsoft.com/office/drawing/2014/main" id="{3D269225-725F-4E42-9A5A-5A23BA587C0E}"/>
              </a:ext>
            </a:extLst>
          </p:cNvPr>
          <p:cNvSpPr>
            <a:spLocks noGrp="1"/>
          </p:cNvSpPr>
          <p:nvPr/>
        </p:nvSpPr>
        <p:spPr>
          <a:xfrm>
            <a:off x="169291" y="0"/>
            <a:ext cx="3386709" cy="677291"/>
          </a:xfrm>
          <a:prstGeom prst="rect">
            <a:avLst/>
          </a:prstGeom>
          <a:solidFill>
            <a:srgbClr val="FFFFFF">
              <a:alpha val="0"/>
            </a:srgbClr>
          </a:solidFill>
        </p:spPr>
      </p:sp>
      <p:sp>
        <p:nvSpPr>
          <p:cNvPr id="5" name="Text 3">
            <a:extLst>
              <a:ext uri="{FF2B5EF4-FFF2-40B4-BE49-F238E27FC236}">
                <a16:creationId xmlns:a16="http://schemas.microsoft.com/office/drawing/2014/main" id="{8487EB80-44A7-439D-826B-526890C6D212}"/>
              </a:ext>
            </a:extLst>
          </p:cNvPr>
          <p:cNvSpPr>
            <a:spLocks noGrp="1"/>
          </p:cNvSpPr>
          <p:nvPr/>
        </p:nvSpPr>
        <p:spPr>
          <a:xfrm>
            <a:off x="47339"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1. Bài toán và dữ liệu</a:t>
            </a:r>
            <a:endParaRPr sz="1600"/>
          </a:p>
        </p:txBody>
      </p:sp>
      <p:sp>
        <p:nvSpPr>
          <p:cNvPr id="6" name="Shape 4">
            <a:extLst>
              <a:ext uri="{FF2B5EF4-FFF2-40B4-BE49-F238E27FC236}">
                <a16:creationId xmlns:a16="http://schemas.microsoft.com/office/drawing/2014/main" id="{6E0582A5-963E-4F00-AE0B-B02CED718996}"/>
              </a:ext>
            </a:extLst>
          </p:cNvPr>
          <p:cNvSpPr>
            <a:spLocks noGrp="1"/>
          </p:cNvSpPr>
          <p:nvPr/>
        </p:nvSpPr>
        <p:spPr>
          <a:xfrm>
            <a:off x="3725291" y="0"/>
            <a:ext cx="3386709" cy="677291"/>
          </a:xfrm>
          <a:prstGeom prst="rect">
            <a:avLst/>
          </a:prstGeom>
          <a:solidFill>
            <a:srgbClr val="FFFFFF">
              <a:alpha val="0"/>
            </a:srgbClr>
          </a:solidFill>
        </p:spPr>
      </p:sp>
      <p:sp>
        <p:nvSpPr>
          <p:cNvPr id="7" name="Text 5">
            <a:extLst>
              <a:ext uri="{FF2B5EF4-FFF2-40B4-BE49-F238E27FC236}">
                <a16:creationId xmlns:a16="http://schemas.microsoft.com/office/drawing/2014/main" id="{87C82307-4A49-4D40-A601-ADDFD1843CE6}"/>
              </a:ext>
            </a:extLst>
          </p:cNvPr>
          <p:cNvSpPr>
            <a:spLocks noGrp="1"/>
          </p:cNvSpPr>
          <p:nvPr/>
        </p:nvSpPr>
        <p:spPr>
          <a:xfrm>
            <a:off x="3603403"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2. Mô hình và dual head</a:t>
            </a:r>
            <a:endParaRPr sz="1600"/>
          </a:p>
        </p:txBody>
      </p:sp>
      <p:sp>
        <p:nvSpPr>
          <p:cNvPr id="8" name="Shape 6">
            <a:extLst>
              <a:ext uri="{FF2B5EF4-FFF2-40B4-BE49-F238E27FC236}">
                <a16:creationId xmlns:a16="http://schemas.microsoft.com/office/drawing/2014/main" id="{423A1F33-EF39-4A12-A359-C4E17FEE15CA}"/>
              </a:ext>
            </a:extLst>
          </p:cNvPr>
          <p:cNvSpPr>
            <a:spLocks noGrp="1"/>
          </p:cNvSpPr>
          <p:nvPr/>
        </p:nvSpPr>
        <p:spPr>
          <a:xfrm>
            <a:off x="7281291" y="0"/>
            <a:ext cx="3386709" cy="677291"/>
          </a:xfrm>
          <a:prstGeom prst="rect">
            <a:avLst/>
          </a:prstGeom>
          <a:solidFill>
            <a:srgbClr val="FFFFFF">
              <a:alpha val="0"/>
            </a:srgbClr>
          </a:solidFill>
        </p:spPr>
      </p:sp>
      <p:sp>
        <p:nvSpPr>
          <p:cNvPr id="9" name="Text 7">
            <a:extLst>
              <a:ext uri="{FF2B5EF4-FFF2-40B4-BE49-F238E27FC236}">
                <a16:creationId xmlns:a16="http://schemas.microsoft.com/office/drawing/2014/main" id="{855FFD9C-5668-464C-B604-52E936728263}"/>
              </a:ext>
            </a:extLst>
          </p:cNvPr>
          <p:cNvSpPr>
            <a:spLocks noGrp="1"/>
          </p:cNvSpPr>
          <p:nvPr/>
        </p:nvSpPr>
        <p:spPr>
          <a:xfrm>
            <a:off x="7159371"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3. Kết quả</a:t>
            </a:r>
            <a:endParaRPr sz="1600"/>
          </a:p>
        </p:txBody>
      </p:sp>
      <p:sp>
        <p:nvSpPr>
          <p:cNvPr id="10" name="Shape 8">
            <a:extLst>
              <a:ext uri="{FF2B5EF4-FFF2-40B4-BE49-F238E27FC236}">
                <a16:creationId xmlns:a16="http://schemas.microsoft.com/office/drawing/2014/main" id="{39B60F24-7C3E-4018-A36A-579664416722}"/>
              </a:ext>
            </a:extLst>
          </p:cNvPr>
          <p:cNvSpPr>
            <a:spLocks noGrp="1"/>
          </p:cNvSpPr>
          <p:nvPr/>
        </p:nvSpPr>
        <p:spPr>
          <a:xfrm>
            <a:off x="10837291" y="0"/>
            <a:ext cx="3386709" cy="677291"/>
          </a:xfrm>
          <a:prstGeom prst="rect">
            <a:avLst/>
          </a:prstGeom>
          <a:solidFill>
            <a:srgbClr val="FFFFFF">
              <a:alpha val="0"/>
            </a:srgbClr>
          </a:solidFill>
        </p:spPr>
      </p:sp>
      <p:sp>
        <p:nvSpPr>
          <p:cNvPr id="11" name="Text 9">
            <a:extLst>
              <a:ext uri="{FF2B5EF4-FFF2-40B4-BE49-F238E27FC236}">
                <a16:creationId xmlns:a16="http://schemas.microsoft.com/office/drawing/2014/main" id="{6701011B-42CF-402F-9608-6DA7445ED492}"/>
              </a:ext>
            </a:extLst>
          </p:cNvPr>
          <p:cNvSpPr>
            <a:spLocks noGrp="1"/>
          </p:cNvSpPr>
          <p:nvPr/>
        </p:nvSpPr>
        <p:spPr>
          <a:xfrm>
            <a:off x="10715339" y="0"/>
            <a:ext cx="3630549" cy="676275"/>
          </a:xfrm>
          <a:prstGeom prst="rect">
            <a:avLst/>
          </a:prstGeom>
          <a:noFill/>
        </p:spPr>
        <p:txBody>
          <a:bodyPr wrap="none" lIns="0" tIns="0" rIns="0" bIns="0" anchor="ctr">
            <a:noAutofit/>
          </a:bodyPr>
          <a:lstStyle/>
          <a:p>
            <a:pPr algn="ctr">
              <a:lnSpc>
                <a:spcPct val="100000"/>
              </a:lnSpc>
              <a:buNone/>
              <a:defRPr sz="1875" b="1">
                <a:solidFill>
                  <a:srgbClr val="FFFFFF"/>
                </a:solidFill>
                <a:latin typeface="Times New Roman"/>
                <a:ea typeface="Times New Roman"/>
                <a:cs typeface="Times New Roman"/>
              </a:defRPr>
            </a:pPr>
            <a:r>
              <a:rPr sz="1875" b="1">
                <a:solidFill>
                  <a:srgbClr val="FFFFFF"/>
                </a:solidFill>
                <a:latin typeface="Times New Roman"/>
                <a:ea typeface="Times New Roman"/>
                <a:cs typeface="Times New Roman"/>
              </a:rPr>
              <a:t>4. Phân tích lỗi</a:t>
            </a:r>
            <a:endParaRPr sz="1600"/>
          </a:p>
        </p:txBody>
      </p:sp>
      <p:sp>
        <p:nvSpPr>
          <p:cNvPr id="12" name="Shape 10">
            <a:extLst>
              <a:ext uri="{FF2B5EF4-FFF2-40B4-BE49-F238E27FC236}">
                <a16:creationId xmlns:a16="http://schemas.microsoft.com/office/drawing/2014/main" id="{31269858-CBF9-4D7E-A5D0-584EF553AD9E}"/>
              </a:ext>
            </a:extLst>
          </p:cNvPr>
          <p:cNvSpPr>
            <a:spLocks noGrp="1"/>
          </p:cNvSpPr>
          <p:nvPr/>
        </p:nvSpPr>
        <p:spPr>
          <a:xfrm>
            <a:off x="14393291" y="0"/>
            <a:ext cx="3386709" cy="677291"/>
          </a:xfrm>
          <a:prstGeom prst="rect">
            <a:avLst/>
          </a:prstGeom>
          <a:solidFill>
            <a:srgbClr val="FFFFFF">
              <a:alpha val="0"/>
            </a:srgbClr>
          </a:solidFill>
        </p:spPr>
      </p:sp>
      <p:sp>
        <p:nvSpPr>
          <p:cNvPr id="13" name="Text 11">
            <a:extLst>
              <a:ext uri="{FF2B5EF4-FFF2-40B4-BE49-F238E27FC236}">
                <a16:creationId xmlns:a16="http://schemas.microsoft.com/office/drawing/2014/main" id="{38F86A0C-54D2-4AE6-9620-A773AED64E5B}"/>
              </a:ext>
            </a:extLst>
          </p:cNvPr>
          <p:cNvSpPr>
            <a:spLocks noGrp="1"/>
          </p:cNvSpPr>
          <p:nvPr/>
        </p:nvSpPr>
        <p:spPr>
          <a:xfrm>
            <a:off x="14271403"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5. Ứng dụng</a:t>
            </a:r>
            <a:endParaRPr sz="1600"/>
          </a:p>
        </p:txBody>
      </p:sp>
      <p:sp>
        <p:nvSpPr>
          <p:cNvPr id="14" name="Shape 12">
            <a:extLst>
              <a:ext uri="{FF2B5EF4-FFF2-40B4-BE49-F238E27FC236}">
                <a16:creationId xmlns:a16="http://schemas.microsoft.com/office/drawing/2014/main" id="{FA55D761-F5D2-43C5-9586-2C4549345AA9}"/>
              </a:ext>
            </a:extLst>
          </p:cNvPr>
          <p:cNvSpPr>
            <a:spLocks noGrp="1"/>
          </p:cNvSpPr>
          <p:nvPr/>
        </p:nvSpPr>
        <p:spPr>
          <a:xfrm>
            <a:off x="17949291" y="0"/>
            <a:ext cx="3386709" cy="677291"/>
          </a:xfrm>
          <a:prstGeom prst="rect">
            <a:avLst/>
          </a:prstGeom>
          <a:solidFill>
            <a:srgbClr val="FFFFFF">
              <a:alpha val="0"/>
            </a:srgbClr>
          </a:solidFill>
        </p:spPr>
      </p:sp>
      <p:sp>
        <p:nvSpPr>
          <p:cNvPr id="15" name="Text 13">
            <a:extLst>
              <a:ext uri="{FF2B5EF4-FFF2-40B4-BE49-F238E27FC236}">
                <a16:creationId xmlns:a16="http://schemas.microsoft.com/office/drawing/2014/main" id="{97899EEC-EF49-41F6-B5C5-51F331A3C076}"/>
              </a:ext>
            </a:extLst>
          </p:cNvPr>
          <p:cNvSpPr>
            <a:spLocks noGrp="1"/>
          </p:cNvSpPr>
          <p:nvPr/>
        </p:nvSpPr>
        <p:spPr>
          <a:xfrm>
            <a:off x="17827371"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6. Cải thiện</a:t>
            </a:r>
            <a:endParaRPr sz="1600"/>
          </a:p>
        </p:txBody>
      </p:sp>
      <p:sp>
        <p:nvSpPr>
          <p:cNvPr id="16" name="Shape 14">
            <a:extLst>
              <a:ext uri="{FF2B5EF4-FFF2-40B4-BE49-F238E27FC236}">
                <a16:creationId xmlns:a16="http://schemas.microsoft.com/office/drawing/2014/main" id="{5219EAC3-C1A2-4530-85DC-F74BD98C5B1D}"/>
              </a:ext>
            </a:extLst>
          </p:cNvPr>
          <p:cNvSpPr>
            <a:spLocks noGrp="1"/>
          </p:cNvSpPr>
          <p:nvPr/>
        </p:nvSpPr>
        <p:spPr>
          <a:xfrm>
            <a:off x="1016000" y="931291"/>
            <a:ext cx="16933291" cy="643509"/>
          </a:xfrm>
          <a:prstGeom prst="rect">
            <a:avLst/>
          </a:prstGeom>
          <a:solidFill>
            <a:srgbClr val="FFFFFF">
              <a:alpha val="0"/>
            </a:srgbClr>
          </a:solidFill>
        </p:spPr>
      </p:sp>
      <p:sp>
        <p:nvSpPr>
          <p:cNvPr id="17" name="Text 15">
            <a:extLst>
              <a:ext uri="{FF2B5EF4-FFF2-40B4-BE49-F238E27FC236}">
                <a16:creationId xmlns:a16="http://schemas.microsoft.com/office/drawing/2014/main" id="{CDB95956-56CE-4F23-BCFC-4FDC2EA77C4C}"/>
              </a:ext>
            </a:extLst>
          </p:cNvPr>
          <p:cNvSpPr>
            <a:spLocks noGrp="1"/>
          </p:cNvSpPr>
          <p:nvPr/>
        </p:nvSpPr>
        <p:spPr>
          <a:xfrm>
            <a:off x="894080" y="870331"/>
            <a:ext cx="17177131" cy="765429"/>
          </a:xfrm>
          <a:prstGeom prst="rect">
            <a:avLst/>
          </a:prstGeom>
          <a:noFill/>
        </p:spPr>
        <p:txBody>
          <a:bodyPr wrap="none" lIns="0" tIns="0" rIns="0" bIns="0" anchor="ctr">
            <a:noAutofit/>
          </a:bodyPr>
          <a:lstStyle/>
          <a:p>
            <a:pPr>
              <a:lnSpc>
                <a:spcPct val="100000"/>
              </a:lnSpc>
              <a:buNone/>
              <a:defRPr sz="3900" b="1">
                <a:solidFill>
                  <a:srgbClr val="1565C0"/>
                </a:solidFill>
                <a:latin typeface="Times New Roman"/>
                <a:ea typeface="Times New Roman"/>
                <a:cs typeface="Times New Roman"/>
              </a:defRPr>
            </a:pPr>
            <a:r>
              <a:rPr sz="3900" b="1">
                <a:solidFill>
                  <a:srgbClr val="1565C0"/>
                </a:solidFill>
                <a:latin typeface="Times New Roman"/>
                <a:ea typeface="Times New Roman"/>
                <a:cs typeface="Times New Roman"/>
              </a:rPr>
              <a:t>Ca từ lóng ở phiên bản chưa có DualHead</a:t>
            </a:r>
            <a:endParaRPr sz="1600"/>
          </a:p>
        </p:txBody>
      </p:sp>
      <p:sp>
        <p:nvSpPr>
          <p:cNvPr id="18" name="Shape 16">
            <a:extLst>
              <a:ext uri="{FF2B5EF4-FFF2-40B4-BE49-F238E27FC236}">
                <a16:creationId xmlns:a16="http://schemas.microsoft.com/office/drawing/2014/main" id="{1F194036-49A2-4A9F-B513-26431268BD5E}"/>
              </a:ext>
            </a:extLst>
          </p:cNvPr>
          <p:cNvSpPr>
            <a:spLocks noGrp="1"/>
          </p:cNvSpPr>
          <p:nvPr/>
        </p:nvSpPr>
        <p:spPr>
          <a:xfrm>
            <a:off x="1016000" y="1625600"/>
            <a:ext cx="19642709" cy="50800"/>
          </a:xfrm>
          <a:prstGeom prst="rect">
            <a:avLst/>
          </a:prstGeom>
          <a:solidFill>
            <a:srgbClr val="1565C0"/>
          </a:solidFill>
        </p:spPr>
      </p:sp>
      <p:sp>
        <p:nvSpPr>
          <p:cNvPr id="19" name="Shape 17">
            <a:extLst>
              <a:ext uri="{FF2B5EF4-FFF2-40B4-BE49-F238E27FC236}">
                <a16:creationId xmlns:a16="http://schemas.microsoft.com/office/drawing/2014/main" id="{01B6932B-6C44-4EF7-960E-DBA93BD469FA}"/>
              </a:ext>
            </a:extLst>
          </p:cNvPr>
          <p:cNvSpPr>
            <a:spLocks noGrp="1"/>
          </p:cNvSpPr>
          <p:nvPr/>
        </p:nvSpPr>
        <p:spPr>
          <a:xfrm>
            <a:off x="1016000" y="1947291"/>
            <a:ext cx="19642709" cy="846709"/>
          </a:xfrm>
          <a:prstGeom prst="rect">
            <a:avLst/>
          </a:prstGeom>
          <a:solidFill>
            <a:srgbClr val="FFFFFF">
              <a:alpha val="0"/>
            </a:srgbClr>
          </a:solidFill>
        </p:spPr>
      </p:sp>
      <p:sp>
        <p:nvSpPr>
          <p:cNvPr id="20" name="Text 18">
            <a:extLst>
              <a:ext uri="{FF2B5EF4-FFF2-40B4-BE49-F238E27FC236}">
                <a16:creationId xmlns:a16="http://schemas.microsoft.com/office/drawing/2014/main" id="{B2D84FCA-38F4-4E0C-B811-824B1FD03B10}"/>
              </a:ext>
            </a:extLst>
          </p:cNvPr>
          <p:cNvSpPr>
            <a:spLocks noGrp="1"/>
          </p:cNvSpPr>
          <p:nvPr/>
        </p:nvSpPr>
        <p:spPr>
          <a:xfrm>
            <a:off x="894080" y="1886331"/>
            <a:ext cx="19886549" cy="968629"/>
          </a:xfrm>
          <a:prstGeom prst="rect">
            <a:avLst/>
          </a:prstGeom>
          <a:noFill/>
        </p:spPr>
        <p:txBody>
          <a:bodyPr wrap="square" lIns="0" tIns="0" rIns="0" bIns="0" anchor="t">
            <a:noAutofit/>
          </a:bodyPr>
          <a:lstStyle/>
          <a:p>
            <a:pPr>
              <a:lnSpc>
                <a:spcPct val="160000"/>
              </a:lnSpc>
              <a:buNone/>
              <a:defRPr sz="2850" b="0">
                <a:solidFill>
                  <a:srgbClr val="151515"/>
                </a:solidFill>
                <a:latin typeface="Times New Roman"/>
                <a:ea typeface="Times New Roman"/>
                <a:cs typeface="Times New Roman"/>
              </a:defRPr>
            </a:pPr>
            <a:r>
              <a:rPr sz="2850" b="0" dirty="0">
                <a:solidFill>
                  <a:srgbClr val="151515"/>
                </a:solidFill>
                <a:latin typeface="Times New Roman"/>
                <a:ea typeface="Times New Roman"/>
                <a:cs typeface="Times New Roman"/>
              </a:rPr>
              <a:t>Ca </a:t>
            </a:r>
            <a:r>
              <a:rPr sz="2850" b="0" dirty="0" err="1">
                <a:solidFill>
                  <a:srgbClr val="151515"/>
                </a:solidFill>
                <a:latin typeface="Times New Roman"/>
                <a:ea typeface="Times New Roman"/>
                <a:cs typeface="Times New Roman"/>
              </a:rPr>
              <a:t>thử</a:t>
            </a:r>
            <a:r>
              <a:rPr sz="2850" b="0" dirty="0">
                <a:solidFill>
                  <a:srgbClr val="151515"/>
                </a:solidFill>
                <a:latin typeface="Times New Roman"/>
                <a:ea typeface="Times New Roman"/>
                <a:cs typeface="Times New Roman"/>
              </a:rPr>
              <a:t> </a:t>
            </a:r>
            <a:r>
              <a:rPr sz="2850" b="0" dirty="0" err="1">
                <a:solidFill>
                  <a:srgbClr val="151515"/>
                </a:solidFill>
                <a:latin typeface="Times New Roman"/>
                <a:ea typeface="Times New Roman"/>
                <a:cs typeface="Times New Roman"/>
              </a:rPr>
              <a:t>trước</a:t>
            </a:r>
            <a:r>
              <a:rPr sz="2850" b="0" dirty="0">
                <a:solidFill>
                  <a:srgbClr val="151515"/>
                </a:solidFill>
                <a:latin typeface="Times New Roman"/>
                <a:ea typeface="Times New Roman"/>
                <a:cs typeface="Times New Roman"/>
              </a:rPr>
              <a:t> </a:t>
            </a:r>
            <a:r>
              <a:rPr sz="2850" b="0" dirty="0" err="1">
                <a:solidFill>
                  <a:srgbClr val="151515"/>
                </a:solidFill>
                <a:latin typeface="Times New Roman"/>
                <a:ea typeface="Times New Roman"/>
                <a:cs typeface="Times New Roman"/>
              </a:rPr>
              <a:t>đây</a:t>
            </a:r>
            <a:r>
              <a:rPr sz="2850" b="0" dirty="0">
                <a:solidFill>
                  <a:srgbClr val="151515"/>
                </a:solidFill>
                <a:latin typeface="Times New Roman"/>
                <a:ea typeface="Times New Roman"/>
                <a:cs typeface="Times New Roman"/>
              </a:rPr>
              <a:t>: “</a:t>
            </a:r>
            <a:r>
              <a:rPr sz="2850" b="0" dirty="0" err="1">
                <a:solidFill>
                  <a:srgbClr val="151515"/>
                </a:solidFill>
                <a:latin typeface="Times New Roman"/>
                <a:ea typeface="Times New Roman"/>
                <a:cs typeface="Times New Roman"/>
              </a:rPr>
              <a:t>Món</a:t>
            </a:r>
            <a:r>
              <a:rPr sz="2850" b="0" dirty="0">
                <a:solidFill>
                  <a:srgbClr val="151515"/>
                </a:solidFill>
                <a:latin typeface="Times New Roman"/>
                <a:ea typeface="Times New Roman"/>
                <a:cs typeface="Times New Roman"/>
              </a:rPr>
              <a:t> </a:t>
            </a:r>
            <a:r>
              <a:rPr sz="2850" b="0" dirty="0" err="1">
                <a:solidFill>
                  <a:srgbClr val="151515"/>
                </a:solidFill>
                <a:latin typeface="Times New Roman"/>
                <a:ea typeface="Times New Roman"/>
                <a:cs typeface="Times New Roman"/>
              </a:rPr>
              <a:t>ăn</a:t>
            </a:r>
            <a:r>
              <a:rPr sz="2850" b="0" dirty="0">
                <a:solidFill>
                  <a:srgbClr val="151515"/>
                </a:solidFill>
                <a:latin typeface="Times New Roman"/>
                <a:ea typeface="Times New Roman"/>
                <a:cs typeface="Times New Roman"/>
              </a:rPr>
              <a:t> </a:t>
            </a:r>
            <a:r>
              <a:rPr sz="2850" b="0" dirty="0" err="1">
                <a:solidFill>
                  <a:srgbClr val="151515"/>
                </a:solidFill>
                <a:latin typeface="Times New Roman"/>
                <a:ea typeface="Times New Roman"/>
                <a:cs typeface="Times New Roman"/>
              </a:rPr>
              <a:t>của</a:t>
            </a:r>
            <a:r>
              <a:rPr sz="2850" b="0" dirty="0">
                <a:solidFill>
                  <a:srgbClr val="151515"/>
                </a:solidFill>
                <a:latin typeface="Times New Roman"/>
                <a:ea typeface="Times New Roman"/>
                <a:cs typeface="Times New Roman"/>
              </a:rPr>
              <a:t> </a:t>
            </a:r>
            <a:r>
              <a:rPr sz="2850" b="0" dirty="0" err="1">
                <a:solidFill>
                  <a:srgbClr val="151515"/>
                </a:solidFill>
                <a:latin typeface="Times New Roman"/>
                <a:ea typeface="Times New Roman"/>
                <a:cs typeface="Times New Roman"/>
              </a:rPr>
              <a:t>quán</a:t>
            </a:r>
            <a:r>
              <a:rPr sz="2850" b="0" dirty="0">
                <a:solidFill>
                  <a:srgbClr val="151515"/>
                </a:solidFill>
                <a:latin typeface="Times New Roman"/>
                <a:ea typeface="Times New Roman"/>
                <a:cs typeface="Times New Roman"/>
              </a:rPr>
              <a:t> </a:t>
            </a:r>
            <a:r>
              <a:rPr sz="2850" b="0" dirty="0" err="1">
                <a:solidFill>
                  <a:srgbClr val="151515"/>
                </a:solidFill>
                <a:latin typeface="Times New Roman"/>
                <a:ea typeface="Times New Roman"/>
                <a:cs typeface="Times New Roman"/>
              </a:rPr>
              <a:t>này</a:t>
            </a:r>
            <a:r>
              <a:rPr sz="2850" b="0" dirty="0">
                <a:solidFill>
                  <a:srgbClr val="151515"/>
                </a:solidFill>
                <a:latin typeface="Times New Roman"/>
                <a:ea typeface="Times New Roman"/>
                <a:cs typeface="Times New Roman"/>
              </a:rPr>
              <a:t> </a:t>
            </a:r>
            <a:r>
              <a:rPr sz="2850" b="0" dirty="0" err="1">
                <a:solidFill>
                  <a:srgbClr val="151515"/>
                </a:solidFill>
                <a:latin typeface="Times New Roman"/>
                <a:ea typeface="Times New Roman"/>
                <a:cs typeface="Times New Roman"/>
              </a:rPr>
              <a:t>bình</a:t>
            </a:r>
            <a:r>
              <a:rPr sz="2850" b="0" dirty="0">
                <a:solidFill>
                  <a:srgbClr val="151515"/>
                </a:solidFill>
                <a:latin typeface="Times New Roman"/>
                <a:ea typeface="Times New Roman"/>
                <a:cs typeface="Times New Roman"/>
              </a:rPr>
              <a:t> </a:t>
            </a:r>
            <a:r>
              <a:rPr sz="2850" b="0" dirty="0" err="1">
                <a:solidFill>
                  <a:srgbClr val="151515"/>
                </a:solidFill>
                <a:latin typeface="Times New Roman"/>
                <a:ea typeface="Times New Roman"/>
                <a:cs typeface="Times New Roman"/>
              </a:rPr>
              <a:t>thường</a:t>
            </a:r>
            <a:r>
              <a:rPr sz="2850" b="0" dirty="0">
                <a:solidFill>
                  <a:srgbClr val="151515"/>
                </a:solidFill>
                <a:latin typeface="Times New Roman"/>
                <a:ea typeface="Times New Roman"/>
                <a:cs typeface="Times New Roman"/>
              </a:rPr>
              <a:t> </a:t>
            </a:r>
            <a:r>
              <a:rPr sz="2850" b="0" dirty="0" err="1">
                <a:solidFill>
                  <a:srgbClr val="151515"/>
                </a:solidFill>
                <a:latin typeface="Times New Roman"/>
                <a:ea typeface="Times New Roman"/>
                <a:cs typeface="Times New Roman"/>
              </a:rPr>
              <a:t>nhưng</a:t>
            </a:r>
            <a:r>
              <a:rPr sz="2850" b="0" dirty="0">
                <a:solidFill>
                  <a:srgbClr val="151515"/>
                </a:solidFill>
                <a:latin typeface="Times New Roman"/>
                <a:ea typeface="Times New Roman"/>
                <a:cs typeface="Times New Roman"/>
              </a:rPr>
              <a:t> </a:t>
            </a:r>
            <a:r>
              <a:rPr sz="2850" b="0" dirty="0" err="1">
                <a:solidFill>
                  <a:srgbClr val="151515"/>
                </a:solidFill>
                <a:latin typeface="Times New Roman"/>
                <a:ea typeface="Times New Roman"/>
                <a:cs typeface="Times New Roman"/>
              </a:rPr>
              <a:t>giá</a:t>
            </a:r>
            <a:r>
              <a:rPr sz="2850" b="0" dirty="0">
                <a:solidFill>
                  <a:srgbClr val="151515"/>
                </a:solidFill>
                <a:latin typeface="Times New Roman"/>
                <a:ea typeface="Times New Roman"/>
                <a:cs typeface="Times New Roman"/>
              </a:rPr>
              <a:t> </a:t>
            </a:r>
            <a:r>
              <a:rPr sz="2850" b="0" dirty="0" err="1">
                <a:solidFill>
                  <a:srgbClr val="151515"/>
                </a:solidFill>
                <a:latin typeface="Times New Roman"/>
                <a:ea typeface="Times New Roman"/>
                <a:cs typeface="Times New Roman"/>
              </a:rPr>
              <a:t>cả</a:t>
            </a:r>
            <a:r>
              <a:rPr sz="2850" b="0" dirty="0">
                <a:solidFill>
                  <a:srgbClr val="151515"/>
                </a:solidFill>
                <a:latin typeface="Times New Roman"/>
                <a:ea typeface="Times New Roman"/>
                <a:cs typeface="Times New Roman"/>
              </a:rPr>
              <a:t> </a:t>
            </a:r>
            <a:r>
              <a:rPr sz="2850" b="0" dirty="0" err="1">
                <a:solidFill>
                  <a:srgbClr val="151515"/>
                </a:solidFill>
                <a:latin typeface="Times New Roman"/>
                <a:ea typeface="Times New Roman"/>
                <a:cs typeface="Times New Roman"/>
              </a:rPr>
              <a:t>hơi</a:t>
            </a:r>
            <a:r>
              <a:rPr sz="2850" b="0" dirty="0">
                <a:solidFill>
                  <a:srgbClr val="151515"/>
                </a:solidFill>
                <a:latin typeface="Times New Roman"/>
                <a:ea typeface="Times New Roman"/>
                <a:cs typeface="Times New Roman"/>
              </a:rPr>
              <a:t> </a:t>
            </a:r>
            <a:r>
              <a:rPr sz="2850" b="0" dirty="0" err="1">
                <a:solidFill>
                  <a:srgbClr val="151515"/>
                </a:solidFill>
                <a:latin typeface="Times New Roman"/>
                <a:ea typeface="Times New Roman"/>
                <a:cs typeface="Times New Roman"/>
              </a:rPr>
              <a:t>đắt</a:t>
            </a:r>
            <a:r>
              <a:rPr sz="2850" b="0" dirty="0">
                <a:solidFill>
                  <a:srgbClr val="151515"/>
                </a:solidFill>
                <a:latin typeface="Times New Roman"/>
                <a:ea typeface="Times New Roman"/>
                <a:cs typeface="Times New Roman"/>
              </a:rPr>
              <a:t> </a:t>
            </a:r>
            <a:r>
              <a:rPr sz="2850" b="0" dirty="0" err="1">
                <a:solidFill>
                  <a:srgbClr val="151515"/>
                </a:solidFill>
                <a:latin typeface="Times New Roman"/>
                <a:ea typeface="Times New Roman"/>
                <a:cs typeface="Times New Roman"/>
              </a:rPr>
              <a:t>như</a:t>
            </a:r>
            <a:r>
              <a:rPr sz="2850" b="0" dirty="0">
                <a:solidFill>
                  <a:srgbClr val="151515"/>
                </a:solidFill>
                <a:latin typeface="Times New Roman"/>
                <a:ea typeface="Times New Roman"/>
                <a:cs typeface="Times New Roman"/>
              </a:rPr>
              <a:t> con </a:t>
            </a:r>
            <a:r>
              <a:rPr sz="2850" b="0" dirty="0" err="1">
                <a:solidFill>
                  <a:srgbClr val="151515"/>
                </a:solidFill>
                <a:latin typeface="Times New Roman"/>
                <a:ea typeface="Times New Roman"/>
                <a:cs typeface="Times New Roman"/>
              </a:rPr>
              <a:t>ket</a:t>
            </a:r>
            <a:r>
              <a:rPr sz="2850" b="0" dirty="0">
                <a:solidFill>
                  <a:srgbClr val="151515"/>
                </a:solidFill>
                <a:latin typeface="Times New Roman"/>
                <a:ea typeface="Times New Roman"/>
                <a:cs typeface="Times New Roman"/>
              </a:rPr>
              <a:t>”.</a:t>
            </a:r>
            <a:endParaRPr sz="1600" dirty="0"/>
          </a:p>
        </p:txBody>
      </p:sp>
      <p:sp>
        <p:nvSpPr>
          <p:cNvPr id="21" name="Shape 19">
            <a:extLst>
              <a:ext uri="{FF2B5EF4-FFF2-40B4-BE49-F238E27FC236}">
                <a16:creationId xmlns:a16="http://schemas.microsoft.com/office/drawing/2014/main" id="{A23AB932-F9AB-4520-A972-B68066BA9FED}"/>
              </a:ext>
            </a:extLst>
          </p:cNvPr>
          <p:cNvSpPr>
            <a:spLocks noGrp="1"/>
          </p:cNvSpPr>
          <p:nvPr/>
        </p:nvSpPr>
        <p:spPr>
          <a:xfrm>
            <a:off x="1016000" y="2878709"/>
            <a:ext cx="9482709" cy="5249291"/>
          </a:xfrm>
          <a:prstGeom prst="roundRect">
            <a:avLst>
              <a:gd name="adj" fmla="val 8000"/>
            </a:avLst>
          </a:prstGeom>
          <a:solidFill>
            <a:srgbClr val="E3F2FD"/>
          </a:solidFill>
          <a:ln w="25400">
            <a:solidFill>
              <a:srgbClr val="1565C0"/>
            </a:solidFill>
            <a:prstDash val="solid"/>
          </a:ln>
        </p:spPr>
      </p:sp>
      <p:sp>
        <p:nvSpPr>
          <p:cNvPr id="22" name="Shape 20">
            <a:extLst>
              <a:ext uri="{FF2B5EF4-FFF2-40B4-BE49-F238E27FC236}">
                <a16:creationId xmlns:a16="http://schemas.microsoft.com/office/drawing/2014/main" id="{D0231DE9-824E-4A69-A6F9-D3FB78752451}"/>
              </a:ext>
            </a:extLst>
          </p:cNvPr>
          <p:cNvSpPr>
            <a:spLocks noGrp="1"/>
          </p:cNvSpPr>
          <p:nvPr/>
        </p:nvSpPr>
        <p:spPr>
          <a:xfrm>
            <a:off x="1270000" y="3081909"/>
            <a:ext cx="2370709" cy="508000"/>
          </a:xfrm>
          <a:prstGeom prst="roundRect">
            <a:avLst>
              <a:gd name="adj" fmla="val 12000"/>
            </a:avLst>
          </a:prstGeom>
          <a:solidFill>
            <a:srgbClr val="1565C0"/>
          </a:solidFill>
        </p:spPr>
      </p:sp>
      <p:sp>
        <p:nvSpPr>
          <p:cNvPr id="23" name="Shape 21">
            <a:extLst>
              <a:ext uri="{FF2B5EF4-FFF2-40B4-BE49-F238E27FC236}">
                <a16:creationId xmlns:a16="http://schemas.microsoft.com/office/drawing/2014/main" id="{28E95DC1-3622-4A74-B0C0-2587A01454F7}"/>
              </a:ext>
            </a:extLst>
          </p:cNvPr>
          <p:cNvSpPr>
            <a:spLocks noGrp="1"/>
          </p:cNvSpPr>
          <p:nvPr/>
        </p:nvSpPr>
        <p:spPr>
          <a:xfrm>
            <a:off x="1270000" y="3081909"/>
            <a:ext cx="2370709" cy="508000"/>
          </a:xfrm>
          <a:prstGeom prst="rect">
            <a:avLst/>
          </a:prstGeom>
          <a:solidFill>
            <a:srgbClr val="FFFFFF">
              <a:alpha val="0"/>
            </a:srgbClr>
          </a:solidFill>
        </p:spPr>
      </p:sp>
      <p:sp>
        <p:nvSpPr>
          <p:cNvPr id="24" name="Text 22">
            <a:extLst>
              <a:ext uri="{FF2B5EF4-FFF2-40B4-BE49-F238E27FC236}">
                <a16:creationId xmlns:a16="http://schemas.microsoft.com/office/drawing/2014/main" id="{EFCC1B4E-E5D4-4096-A60B-15539F7158C8}"/>
              </a:ext>
            </a:extLst>
          </p:cNvPr>
          <p:cNvSpPr>
            <a:spLocks noGrp="1"/>
          </p:cNvSpPr>
          <p:nvPr/>
        </p:nvSpPr>
        <p:spPr>
          <a:xfrm>
            <a:off x="1148080" y="3020949"/>
            <a:ext cx="2614549" cy="629920"/>
          </a:xfrm>
          <a:prstGeom prst="rect">
            <a:avLst/>
          </a:prstGeom>
          <a:noFill/>
        </p:spPr>
        <p:txBody>
          <a:bodyPr wrap="none" lIns="0" tIns="0" rIns="0" bIns="0" anchor="ctr">
            <a:noAutofit/>
          </a:bodyPr>
          <a:lstStyle/>
          <a:p>
            <a:pPr algn="ctr">
              <a:lnSpc>
                <a:spcPct val="100000"/>
              </a:lnSpc>
              <a:buNone/>
              <a:defRPr sz="2325" b="1">
                <a:solidFill>
                  <a:srgbClr val="FFFFFF"/>
                </a:solidFill>
                <a:latin typeface="Times New Roman"/>
                <a:ea typeface="Times New Roman"/>
                <a:cs typeface="Times New Roman"/>
              </a:defRPr>
            </a:pPr>
            <a:r>
              <a:rPr sz="2325" b="1">
                <a:solidFill>
                  <a:srgbClr val="FFFFFF"/>
                </a:solidFill>
                <a:latin typeface="Times New Roman"/>
                <a:ea typeface="Times New Roman"/>
                <a:cs typeface="Times New Roman"/>
              </a:rPr>
              <a:t>LINEAR / CRF</a:t>
            </a:r>
            <a:endParaRPr sz="1600"/>
          </a:p>
        </p:txBody>
      </p:sp>
      <p:sp>
        <p:nvSpPr>
          <p:cNvPr id="25" name="Shape 23">
            <a:extLst>
              <a:ext uri="{FF2B5EF4-FFF2-40B4-BE49-F238E27FC236}">
                <a16:creationId xmlns:a16="http://schemas.microsoft.com/office/drawing/2014/main" id="{E1538C8E-44C8-4027-B182-0B0A643A0CA5}"/>
              </a:ext>
            </a:extLst>
          </p:cNvPr>
          <p:cNvSpPr>
            <a:spLocks noGrp="1"/>
          </p:cNvSpPr>
          <p:nvPr/>
        </p:nvSpPr>
        <p:spPr>
          <a:xfrm>
            <a:off x="3810000" y="3081909"/>
            <a:ext cx="6434709" cy="508000"/>
          </a:xfrm>
          <a:prstGeom prst="rect">
            <a:avLst/>
          </a:prstGeom>
          <a:solidFill>
            <a:srgbClr val="FFFFFF">
              <a:alpha val="0"/>
            </a:srgbClr>
          </a:solidFill>
        </p:spPr>
      </p:sp>
      <p:sp>
        <p:nvSpPr>
          <p:cNvPr id="26" name="Text 24">
            <a:extLst>
              <a:ext uri="{FF2B5EF4-FFF2-40B4-BE49-F238E27FC236}">
                <a16:creationId xmlns:a16="http://schemas.microsoft.com/office/drawing/2014/main" id="{68BC3F29-BB47-4252-A00A-4EC9BB6E6C14}"/>
              </a:ext>
            </a:extLst>
          </p:cNvPr>
          <p:cNvSpPr>
            <a:spLocks noGrp="1"/>
          </p:cNvSpPr>
          <p:nvPr/>
        </p:nvSpPr>
        <p:spPr>
          <a:xfrm>
            <a:off x="3688080" y="3020949"/>
            <a:ext cx="6678549" cy="629920"/>
          </a:xfrm>
          <a:prstGeom prst="rect">
            <a:avLst/>
          </a:prstGeom>
          <a:noFill/>
        </p:spPr>
        <p:txBody>
          <a:bodyPr wrap="none" lIns="0" tIns="0" rIns="0" bIns="0" anchor="ctr">
            <a:noAutofit/>
          </a:bodyPr>
          <a:lstStyle/>
          <a:p>
            <a:pPr>
              <a:lnSpc>
                <a:spcPct val="100000"/>
              </a:lnSpc>
              <a:buNone/>
              <a:defRPr sz="3000" b="1">
                <a:solidFill>
                  <a:srgbClr val="1565C0"/>
                </a:solidFill>
                <a:latin typeface="Times New Roman"/>
                <a:ea typeface="Times New Roman"/>
                <a:cs typeface="Times New Roman"/>
              </a:defRPr>
            </a:pPr>
            <a:r>
              <a:rPr sz="3000" b="1">
                <a:solidFill>
                  <a:srgbClr val="1565C0"/>
                </a:solidFill>
                <a:latin typeface="Times New Roman"/>
                <a:ea typeface="Times New Roman"/>
                <a:cs typeface="Times New Roman"/>
              </a:rPr>
              <a:t>Phát hiện 1 cụm</a:t>
            </a:r>
            <a:endParaRPr sz="1600"/>
          </a:p>
        </p:txBody>
      </p:sp>
      <p:sp>
        <p:nvSpPr>
          <p:cNvPr id="27" name="Shape 25">
            <a:extLst>
              <a:ext uri="{FF2B5EF4-FFF2-40B4-BE49-F238E27FC236}">
                <a16:creationId xmlns:a16="http://schemas.microsoft.com/office/drawing/2014/main" id="{3ADB9359-5F8D-484C-B9A4-C01DF0E078ED}"/>
              </a:ext>
            </a:extLst>
          </p:cNvPr>
          <p:cNvSpPr>
            <a:spLocks noGrp="1"/>
          </p:cNvSpPr>
          <p:nvPr/>
        </p:nvSpPr>
        <p:spPr>
          <a:xfrm>
            <a:off x="1270000" y="3810000"/>
            <a:ext cx="8974709" cy="4064000"/>
          </a:xfrm>
          <a:prstGeom prst="rect">
            <a:avLst/>
          </a:prstGeom>
          <a:solidFill>
            <a:srgbClr val="FFFFFF">
              <a:alpha val="0"/>
            </a:srgbClr>
          </a:solidFill>
        </p:spPr>
      </p:sp>
      <p:sp>
        <p:nvSpPr>
          <p:cNvPr id="28" name="Text 26">
            <a:extLst>
              <a:ext uri="{FF2B5EF4-FFF2-40B4-BE49-F238E27FC236}">
                <a16:creationId xmlns:a16="http://schemas.microsoft.com/office/drawing/2014/main" id="{1676CF58-D1CC-4C34-9973-B491830920EC}"/>
              </a:ext>
            </a:extLst>
          </p:cNvPr>
          <p:cNvSpPr>
            <a:spLocks noGrp="1"/>
          </p:cNvSpPr>
          <p:nvPr/>
        </p:nvSpPr>
        <p:spPr>
          <a:xfrm>
            <a:off x="1148080" y="3749040"/>
            <a:ext cx="9218549" cy="4185920"/>
          </a:xfrm>
          <a:prstGeom prst="rect">
            <a:avLst/>
          </a:prstGeom>
          <a:noFill/>
        </p:spPr>
        <p:txBody>
          <a:bodyPr wrap="square" lIns="0" tIns="0" rIns="0" bIns="0" anchor="t">
            <a:noAutofit/>
          </a:bodyPr>
          <a:lstStyle/>
          <a:p>
            <a:pPr>
              <a:lnSpc>
                <a:spcPct val="150000"/>
              </a:lnSpc>
              <a:buNone/>
              <a:defRPr sz="2925" b="0">
                <a:solidFill>
                  <a:srgbClr val="151515"/>
                </a:solidFill>
                <a:latin typeface="Times New Roman"/>
                <a:ea typeface="Times New Roman"/>
                <a:cs typeface="Times New Roman"/>
              </a:defRPr>
            </a:pPr>
            <a:r>
              <a:rPr sz="2925" b="0">
                <a:solidFill>
                  <a:srgbClr val="151515"/>
                </a:solidFill>
                <a:latin typeface="Times New Roman"/>
                <a:ea typeface="Times New Roman"/>
                <a:cs typeface="Times New Roman"/>
              </a:rPr>
              <a:t>Cụm được ghi nhận: “con ket”.</a:t>
            </a:r>
            <a:endParaRPr sz="1600"/>
          </a:p>
          <a:p>
            <a:pPr>
              <a:lnSpc>
                <a:spcPct val="150000"/>
              </a:lnSpc>
              <a:buNone/>
            </a:pPr>
            <a:endParaRPr sz="1600"/>
          </a:p>
          <a:p>
            <a:pPr>
              <a:lnSpc>
                <a:spcPct val="150000"/>
              </a:lnSpc>
              <a:buNone/>
              <a:defRPr sz="2925" b="0">
                <a:solidFill>
                  <a:srgbClr val="151515"/>
                </a:solidFill>
                <a:latin typeface="Times New Roman"/>
                <a:ea typeface="Times New Roman"/>
                <a:cs typeface="Times New Roman"/>
              </a:defRPr>
            </a:pPr>
            <a:r>
              <a:rPr sz="2925" b="0">
                <a:solidFill>
                  <a:srgbClr val="151515"/>
                </a:solidFill>
                <a:latin typeface="Times New Roman"/>
                <a:ea typeface="Times New Roman"/>
                <a:cs typeface="Times New Roman"/>
              </a:rPr>
              <a:t>Linear: 102,6 ms.</a:t>
            </a:r>
            <a:endParaRPr sz="1600"/>
          </a:p>
          <a:p>
            <a:pPr>
              <a:lnSpc>
                <a:spcPct val="150000"/>
              </a:lnSpc>
              <a:buNone/>
              <a:defRPr sz="2925" b="0">
                <a:solidFill>
                  <a:srgbClr val="151515"/>
                </a:solidFill>
                <a:latin typeface="Times New Roman"/>
                <a:ea typeface="Times New Roman"/>
                <a:cs typeface="Times New Roman"/>
              </a:defRPr>
            </a:pPr>
            <a:r>
              <a:rPr sz="2925" b="0">
                <a:solidFill>
                  <a:srgbClr val="151515"/>
                </a:solidFill>
                <a:latin typeface="Times New Roman"/>
                <a:ea typeface="Times New Roman"/>
                <a:cs typeface="Times New Roman"/>
              </a:rPr>
              <a:t>CRF: 104,6 ms.</a:t>
            </a:r>
            <a:endParaRPr sz="1600"/>
          </a:p>
          <a:p>
            <a:pPr>
              <a:lnSpc>
                <a:spcPct val="150000"/>
              </a:lnSpc>
              <a:buNone/>
            </a:pPr>
            <a:endParaRPr sz="1600"/>
          </a:p>
          <a:p>
            <a:pPr>
              <a:lnSpc>
                <a:spcPct val="150000"/>
              </a:lnSpc>
              <a:buNone/>
              <a:defRPr sz="2925" b="0">
                <a:solidFill>
                  <a:srgbClr val="151515"/>
                </a:solidFill>
                <a:latin typeface="Times New Roman"/>
                <a:ea typeface="Times New Roman"/>
                <a:cs typeface="Times New Roman"/>
              </a:defRPr>
            </a:pPr>
            <a:r>
              <a:rPr sz="2925" b="0">
                <a:solidFill>
                  <a:srgbClr val="151515"/>
                </a:solidFill>
                <a:latin typeface="Times New Roman"/>
                <a:ea typeface="Times New Roman"/>
                <a:cs typeface="Times New Roman"/>
              </a:rPr>
              <a:t>Đây là thời gian của ca thử trong báo cáo, không phải độ trễ trung bình.</a:t>
            </a:r>
            <a:endParaRPr sz="1600"/>
          </a:p>
        </p:txBody>
      </p:sp>
      <p:sp>
        <p:nvSpPr>
          <p:cNvPr id="29" name="Shape 27">
            <a:extLst>
              <a:ext uri="{FF2B5EF4-FFF2-40B4-BE49-F238E27FC236}">
                <a16:creationId xmlns:a16="http://schemas.microsoft.com/office/drawing/2014/main" id="{5362B768-FB45-476A-9EA1-A97996ABC980}"/>
              </a:ext>
            </a:extLst>
          </p:cNvPr>
          <p:cNvSpPr>
            <a:spLocks noGrp="1"/>
          </p:cNvSpPr>
          <p:nvPr/>
        </p:nvSpPr>
        <p:spPr>
          <a:xfrm>
            <a:off x="11176000" y="2878709"/>
            <a:ext cx="9482709" cy="5249291"/>
          </a:xfrm>
          <a:prstGeom prst="roundRect">
            <a:avLst>
              <a:gd name="adj" fmla="val 8000"/>
            </a:avLst>
          </a:prstGeom>
          <a:solidFill>
            <a:srgbClr val="FFF3E0"/>
          </a:solidFill>
          <a:ln w="25400">
            <a:solidFill>
              <a:srgbClr val="FF6F00"/>
            </a:solidFill>
            <a:prstDash val="solid"/>
          </a:ln>
        </p:spPr>
      </p:sp>
      <p:sp>
        <p:nvSpPr>
          <p:cNvPr id="30" name="Shape 28">
            <a:extLst>
              <a:ext uri="{FF2B5EF4-FFF2-40B4-BE49-F238E27FC236}">
                <a16:creationId xmlns:a16="http://schemas.microsoft.com/office/drawing/2014/main" id="{745CA701-8DBC-4200-B883-CED735A99885}"/>
              </a:ext>
            </a:extLst>
          </p:cNvPr>
          <p:cNvSpPr>
            <a:spLocks noGrp="1"/>
          </p:cNvSpPr>
          <p:nvPr/>
        </p:nvSpPr>
        <p:spPr>
          <a:xfrm>
            <a:off x="11430000" y="3081909"/>
            <a:ext cx="2370709" cy="508000"/>
          </a:xfrm>
          <a:prstGeom prst="roundRect">
            <a:avLst>
              <a:gd name="adj" fmla="val 12000"/>
            </a:avLst>
          </a:prstGeom>
          <a:solidFill>
            <a:srgbClr val="FF6F00"/>
          </a:solidFill>
        </p:spPr>
      </p:sp>
      <p:sp>
        <p:nvSpPr>
          <p:cNvPr id="31" name="Shape 29">
            <a:extLst>
              <a:ext uri="{FF2B5EF4-FFF2-40B4-BE49-F238E27FC236}">
                <a16:creationId xmlns:a16="http://schemas.microsoft.com/office/drawing/2014/main" id="{BAD746BA-6C33-45E9-AB9C-3F917A6D78BD}"/>
              </a:ext>
            </a:extLst>
          </p:cNvPr>
          <p:cNvSpPr>
            <a:spLocks noGrp="1"/>
          </p:cNvSpPr>
          <p:nvPr/>
        </p:nvSpPr>
        <p:spPr>
          <a:xfrm>
            <a:off x="11430000" y="3081909"/>
            <a:ext cx="2370709" cy="508000"/>
          </a:xfrm>
          <a:prstGeom prst="rect">
            <a:avLst/>
          </a:prstGeom>
          <a:solidFill>
            <a:srgbClr val="FFFFFF">
              <a:alpha val="0"/>
            </a:srgbClr>
          </a:solidFill>
        </p:spPr>
      </p:sp>
      <p:sp>
        <p:nvSpPr>
          <p:cNvPr id="32" name="Text 30">
            <a:extLst>
              <a:ext uri="{FF2B5EF4-FFF2-40B4-BE49-F238E27FC236}">
                <a16:creationId xmlns:a16="http://schemas.microsoft.com/office/drawing/2014/main" id="{121934D6-D650-4C63-8370-C66583B617D4}"/>
              </a:ext>
            </a:extLst>
          </p:cNvPr>
          <p:cNvSpPr>
            <a:spLocks noGrp="1"/>
          </p:cNvSpPr>
          <p:nvPr/>
        </p:nvSpPr>
        <p:spPr>
          <a:xfrm>
            <a:off x="11308080" y="3020949"/>
            <a:ext cx="2614549" cy="629920"/>
          </a:xfrm>
          <a:prstGeom prst="rect">
            <a:avLst/>
          </a:prstGeom>
          <a:noFill/>
        </p:spPr>
        <p:txBody>
          <a:bodyPr wrap="none" lIns="0" tIns="0" rIns="0" bIns="0" anchor="ctr">
            <a:noAutofit/>
          </a:bodyPr>
          <a:lstStyle/>
          <a:p>
            <a:pPr algn="ctr">
              <a:lnSpc>
                <a:spcPct val="100000"/>
              </a:lnSpc>
              <a:buNone/>
              <a:defRPr sz="2325" b="1">
                <a:solidFill>
                  <a:srgbClr val="FFFFFF"/>
                </a:solidFill>
                <a:latin typeface="Times New Roman"/>
                <a:ea typeface="Times New Roman"/>
                <a:cs typeface="Times New Roman"/>
              </a:defRPr>
            </a:pPr>
            <a:r>
              <a:rPr sz="2325" b="1">
                <a:solidFill>
                  <a:srgbClr val="FFFFFF"/>
                </a:solidFill>
                <a:latin typeface="Times New Roman"/>
                <a:ea typeface="Times New Roman"/>
                <a:cs typeface="Times New Roman"/>
              </a:rPr>
              <a:t>BiLSTM–CRF (một đầu)</a:t>
            </a:r>
            <a:endParaRPr sz="1600"/>
          </a:p>
        </p:txBody>
      </p:sp>
      <p:sp>
        <p:nvSpPr>
          <p:cNvPr id="33" name="Shape 31">
            <a:extLst>
              <a:ext uri="{FF2B5EF4-FFF2-40B4-BE49-F238E27FC236}">
                <a16:creationId xmlns:a16="http://schemas.microsoft.com/office/drawing/2014/main" id="{85334675-8B5E-4FC1-A328-57379C10CBA6}"/>
              </a:ext>
            </a:extLst>
          </p:cNvPr>
          <p:cNvSpPr>
            <a:spLocks noGrp="1"/>
          </p:cNvSpPr>
          <p:nvPr/>
        </p:nvSpPr>
        <p:spPr>
          <a:xfrm>
            <a:off x="13970000" y="3081909"/>
            <a:ext cx="6434709" cy="508000"/>
          </a:xfrm>
          <a:prstGeom prst="rect">
            <a:avLst/>
          </a:prstGeom>
          <a:solidFill>
            <a:srgbClr val="FFFFFF">
              <a:alpha val="0"/>
            </a:srgbClr>
          </a:solidFill>
        </p:spPr>
      </p:sp>
      <p:sp>
        <p:nvSpPr>
          <p:cNvPr id="34" name="Text 32">
            <a:extLst>
              <a:ext uri="{FF2B5EF4-FFF2-40B4-BE49-F238E27FC236}">
                <a16:creationId xmlns:a16="http://schemas.microsoft.com/office/drawing/2014/main" id="{F82A884C-54C7-48F1-8EBB-50BAADCE9C8C}"/>
              </a:ext>
            </a:extLst>
          </p:cNvPr>
          <p:cNvSpPr>
            <a:spLocks noGrp="1"/>
          </p:cNvSpPr>
          <p:nvPr/>
        </p:nvSpPr>
        <p:spPr>
          <a:xfrm>
            <a:off x="13848080" y="3020949"/>
            <a:ext cx="6678549" cy="629920"/>
          </a:xfrm>
          <a:prstGeom prst="rect">
            <a:avLst/>
          </a:prstGeom>
          <a:noFill/>
        </p:spPr>
        <p:txBody>
          <a:bodyPr wrap="none" lIns="0" tIns="0" rIns="0" bIns="0" anchor="ctr">
            <a:noAutofit/>
          </a:bodyPr>
          <a:lstStyle/>
          <a:p>
            <a:pPr>
              <a:lnSpc>
                <a:spcPct val="100000"/>
              </a:lnSpc>
              <a:buNone/>
              <a:defRPr sz="3000" b="1">
                <a:solidFill>
                  <a:srgbClr val="EF6C00"/>
                </a:solidFill>
                <a:latin typeface="Times New Roman"/>
                <a:ea typeface="Times New Roman"/>
                <a:cs typeface="Times New Roman"/>
              </a:defRPr>
            </a:pPr>
            <a:r>
              <a:rPr sz="3000" b="1">
                <a:solidFill>
                  <a:srgbClr val="EF6C00"/>
                </a:solidFill>
                <a:latin typeface="Times New Roman"/>
                <a:ea typeface="Times New Roman"/>
                <a:cs typeface="Times New Roman"/>
              </a:rPr>
              <a:t>Bỏ sót cụm</a:t>
            </a:r>
            <a:endParaRPr sz="1600"/>
          </a:p>
        </p:txBody>
      </p:sp>
      <p:sp>
        <p:nvSpPr>
          <p:cNvPr id="35" name="Shape 33">
            <a:extLst>
              <a:ext uri="{FF2B5EF4-FFF2-40B4-BE49-F238E27FC236}">
                <a16:creationId xmlns:a16="http://schemas.microsoft.com/office/drawing/2014/main" id="{B22C143C-22CF-4282-94C6-E9847385F702}"/>
              </a:ext>
            </a:extLst>
          </p:cNvPr>
          <p:cNvSpPr>
            <a:spLocks noGrp="1"/>
          </p:cNvSpPr>
          <p:nvPr/>
        </p:nvSpPr>
        <p:spPr>
          <a:xfrm>
            <a:off x="11430000" y="3810000"/>
            <a:ext cx="8974709" cy="4064000"/>
          </a:xfrm>
          <a:prstGeom prst="rect">
            <a:avLst/>
          </a:prstGeom>
          <a:solidFill>
            <a:srgbClr val="FFFFFF">
              <a:alpha val="0"/>
            </a:srgbClr>
          </a:solidFill>
        </p:spPr>
      </p:sp>
      <p:sp>
        <p:nvSpPr>
          <p:cNvPr id="36" name="Text 34">
            <a:extLst>
              <a:ext uri="{FF2B5EF4-FFF2-40B4-BE49-F238E27FC236}">
                <a16:creationId xmlns:a16="http://schemas.microsoft.com/office/drawing/2014/main" id="{898C92EC-1BB2-48A7-AD59-FA78DD5193A2}"/>
              </a:ext>
            </a:extLst>
          </p:cNvPr>
          <p:cNvSpPr>
            <a:spLocks noGrp="1"/>
          </p:cNvSpPr>
          <p:nvPr/>
        </p:nvSpPr>
        <p:spPr>
          <a:xfrm>
            <a:off x="11308080" y="3749040"/>
            <a:ext cx="9218549" cy="4185920"/>
          </a:xfrm>
          <a:prstGeom prst="rect">
            <a:avLst/>
          </a:prstGeom>
          <a:noFill/>
        </p:spPr>
        <p:txBody>
          <a:bodyPr wrap="square" lIns="0" tIns="0" rIns="0" bIns="0" anchor="t">
            <a:noAutofit/>
          </a:bodyPr>
          <a:lstStyle/>
          <a:p>
            <a:pPr>
              <a:lnSpc>
                <a:spcPct val="150000"/>
              </a:lnSpc>
              <a:buNone/>
              <a:defRPr sz="2925" b="0">
                <a:solidFill>
                  <a:srgbClr val="151515"/>
                </a:solidFill>
                <a:latin typeface="Times New Roman"/>
                <a:ea typeface="Times New Roman"/>
                <a:cs typeface="Times New Roman"/>
              </a:defRPr>
            </a:pPr>
            <a:r>
              <a:rPr sz="2925" b="0" dirty="0">
                <a:solidFill>
                  <a:srgbClr val="151515"/>
                </a:solidFill>
                <a:latin typeface="Times New Roman"/>
                <a:ea typeface="Times New Roman"/>
                <a:cs typeface="Times New Roman"/>
              </a:rPr>
              <a:t>Báo </a:t>
            </a:r>
            <a:r>
              <a:rPr sz="2925" b="0" dirty="0" err="1">
                <a:solidFill>
                  <a:srgbClr val="151515"/>
                </a:solidFill>
                <a:latin typeface="Times New Roman"/>
                <a:ea typeface="Times New Roman"/>
                <a:cs typeface="Times New Roman"/>
              </a:rPr>
              <a:t>cáo</a:t>
            </a:r>
            <a:r>
              <a:rPr sz="2925" b="0" dirty="0">
                <a:solidFill>
                  <a:srgbClr val="151515"/>
                </a:solidFill>
                <a:latin typeface="Times New Roman"/>
                <a:ea typeface="Times New Roman"/>
                <a:cs typeface="Times New Roman"/>
              </a:rPr>
              <a:t> </a:t>
            </a:r>
            <a:r>
              <a:rPr sz="2925" b="0" dirty="0" err="1">
                <a:solidFill>
                  <a:srgbClr val="151515"/>
                </a:solidFill>
                <a:latin typeface="Times New Roman"/>
                <a:ea typeface="Times New Roman"/>
                <a:cs typeface="Times New Roman"/>
              </a:rPr>
              <a:t>ghi</a:t>
            </a:r>
            <a:r>
              <a:rPr sz="2925" b="0" dirty="0">
                <a:solidFill>
                  <a:srgbClr val="151515"/>
                </a:solidFill>
                <a:latin typeface="Times New Roman"/>
                <a:ea typeface="Times New Roman"/>
                <a:cs typeface="Times New Roman"/>
              </a:rPr>
              <a:t> </a:t>
            </a:r>
            <a:r>
              <a:rPr sz="2925" b="0" dirty="0" err="1">
                <a:solidFill>
                  <a:srgbClr val="151515"/>
                </a:solidFill>
                <a:latin typeface="Times New Roman"/>
                <a:ea typeface="Times New Roman"/>
                <a:cs typeface="Times New Roman"/>
              </a:rPr>
              <a:t>nhận</a:t>
            </a:r>
            <a:r>
              <a:rPr sz="2925" b="0" dirty="0">
                <a:solidFill>
                  <a:srgbClr val="151515"/>
                </a:solidFill>
                <a:latin typeface="Times New Roman"/>
                <a:ea typeface="Times New Roman"/>
                <a:cs typeface="Times New Roman"/>
              </a:rPr>
              <a:t> 0 </a:t>
            </a:r>
            <a:r>
              <a:rPr sz="2925" b="0" dirty="0" err="1">
                <a:solidFill>
                  <a:srgbClr val="151515"/>
                </a:solidFill>
                <a:latin typeface="Times New Roman"/>
                <a:ea typeface="Times New Roman"/>
                <a:cs typeface="Times New Roman"/>
              </a:rPr>
              <a:t>cụm</a:t>
            </a:r>
            <a:r>
              <a:rPr sz="2925" b="0" dirty="0">
                <a:solidFill>
                  <a:srgbClr val="151515"/>
                </a:solidFill>
                <a:latin typeface="Times New Roman"/>
                <a:ea typeface="Times New Roman"/>
                <a:cs typeface="Times New Roman"/>
              </a:rPr>
              <a:t> </a:t>
            </a:r>
            <a:r>
              <a:rPr sz="2925" b="0" dirty="0" err="1">
                <a:solidFill>
                  <a:srgbClr val="151515"/>
                </a:solidFill>
                <a:latin typeface="Times New Roman"/>
                <a:ea typeface="Times New Roman"/>
                <a:cs typeface="Times New Roman"/>
              </a:rPr>
              <a:t>xúc</a:t>
            </a:r>
            <a:r>
              <a:rPr sz="2925" b="0" dirty="0">
                <a:solidFill>
                  <a:srgbClr val="151515"/>
                </a:solidFill>
                <a:latin typeface="Times New Roman"/>
                <a:ea typeface="Times New Roman"/>
                <a:cs typeface="Times New Roman"/>
              </a:rPr>
              <a:t> </a:t>
            </a:r>
            <a:r>
              <a:rPr sz="2925" b="0" dirty="0" err="1">
                <a:solidFill>
                  <a:srgbClr val="151515"/>
                </a:solidFill>
                <a:latin typeface="Times New Roman"/>
                <a:ea typeface="Times New Roman"/>
                <a:cs typeface="Times New Roman"/>
              </a:rPr>
              <a:t>phạm</a:t>
            </a:r>
            <a:r>
              <a:rPr sz="2925" b="0" dirty="0">
                <a:solidFill>
                  <a:srgbClr val="151515"/>
                </a:solidFill>
                <a:latin typeface="Times New Roman"/>
                <a:ea typeface="Times New Roman"/>
                <a:cs typeface="Times New Roman"/>
              </a:rPr>
              <a:t>.</a:t>
            </a:r>
            <a:endParaRPr sz="1600" dirty="0"/>
          </a:p>
          <a:p>
            <a:pPr>
              <a:lnSpc>
                <a:spcPct val="150000"/>
              </a:lnSpc>
              <a:buNone/>
            </a:pPr>
            <a:endParaRPr sz="1600" dirty="0"/>
          </a:p>
          <a:p>
            <a:pPr>
              <a:lnSpc>
                <a:spcPct val="150000"/>
              </a:lnSpc>
              <a:buNone/>
              <a:defRPr sz="2925" b="0">
                <a:solidFill>
                  <a:srgbClr val="151515"/>
                </a:solidFill>
                <a:latin typeface="Times New Roman"/>
                <a:ea typeface="Times New Roman"/>
                <a:cs typeface="Times New Roman"/>
              </a:defRPr>
            </a:pPr>
            <a:r>
              <a:rPr sz="2925" b="0" dirty="0" err="1">
                <a:solidFill>
                  <a:srgbClr val="151515"/>
                </a:solidFill>
                <a:latin typeface="Times New Roman"/>
                <a:ea typeface="Times New Roman"/>
                <a:cs typeface="Times New Roman"/>
              </a:rPr>
              <a:t>Giả</a:t>
            </a:r>
            <a:r>
              <a:rPr sz="2925" b="0" dirty="0">
                <a:solidFill>
                  <a:srgbClr val="151515"/>
                </a:solidFill>
                <a:latin typeface="Times New Roman"/>
                <a:ea typeface="Times New Roman"/>
                <a:cs typeface="Times New Roman"/>
              </a:rPr>
              <a:t> </a:t>
            </a:r>
            <a:r>
              <a:rPr sz="2925" b="0" dirty="0" err="1">
                <a:solidFill>
                  <a:srgbClr val="151515"/>
                </a:solidFill>
                <a:latin typeface="Times New Roman"/>
                <a:ea typeface="Times New Roman"/>
                <a:cs typeface="Times New Roman"/>
              </a:rPr>
              <a:t>thuyết</a:t>
            </a:r>
            <a:r>
              <a:rPr sz="2925" b="0" dirty="0">
                <a:solidFill>
                  <a:srgbClr val="151515"/>
                </a:solidFill>
                <a:latin typeface="Times New Roman"/>
                <a:ea typeface="Times New Roman"/>
                <a:cs typeface="Times New Roman"/>
              </a:rPr>
              <a:t>: </a:t>
            </a:r>
            <a:r>
              <a:rPr sz="2925" b="0" dirty="0" err="1">
                <a:solidFill>
                  <a:srgbClr val="151515"/>
                </a:solidFill>
                <a:latin typeface="Times New Roman"/>
                <a:ea typeface="Times New Roman"/>
                <a:cs typeface="Times New Roman"/>
              </a:rPr>
              <a:t>ngữ</a:t>
            </a:r>
            <a:r>
              <a:rPr sz="2925" b="0" dirty="0">
                <a:solidFill>
                  <a:srgbClr val="151515"/>
                </a:solidFill>
                <a:latin typeface="Times New Roman"/>
                <a:ea typeface="Times New Roman"/>
                <a:cs typeface="Times New Roman"/>
              </a:rPr>
              <a:t> </a:t>
            </a:r>
            <a:r>
              <a:rPr sz="2925" b="0" dirty="0" err="1">
                <a:solidFill>
                  <a:srgbClr val="151515"/>
                </a:solidFill>
                <a:latin typeface="Times New Roman"/>
                <a:ea typeface="Times New Roman"/>
                <a:cs typeface="Times New Roman"/>
              </a:rPr>
              <a:t>cảnh</a:t>
            </a:r>
            <a:r>
              <a:rPr sz="2925" b="0" dirty="0">
                <a:solidFill>
                  <a:srgbClr val="151515"/>
                </a:solidFill>
                <a:latin typeface="Times New Roman"/>
                <a:ea typeface="Times New Roman"/>
                <a:cs typeface="Times New Roman"/>
              </a:rPr>
              <a:t> </a:t>
            </a:r>
            <a:r>
              <a:rPr sz="2925" b="0" dirty="0" err="1">
                <a:solidFill>
                  <a:srgbClr val="151515"/>
                </a:solidFill>
                <a:latin typeface="Times New Roman"/>
                <a:ea typeface="Times New Roman"/>
                <a:cs typeface="Times New Roman"/>
              </a:rPr>
              <a:t>trung</a:t>
            </a:r>
            <a:r>
              <a:rPr sz="2925" b="0" dirty="0">
                <a:solidFill>
                  <a:srgbClr val="151515"/>
                </a:solidFill>
                <a:latin typeface="Times New Roman"/>
                <a:ea typeface="Times New Roman"/>
                <a:cs typeface="Times New Roman"/>
              </a:rPr>
              <a:t> </a:t>
            </a:r>
            <a:r>
              <a:rPr sz="2925" b="0" dirty="0" err="1">
                <a:solidFill>
                  <a:srgbClr val="151515"/>
                </a:solidFill>
                <a:latin typeface="Times New Roman"/>
                <a:ea typeface="Times New Roman"/>
                <a:cs typeface="Times New Roman"/>
              </a:rPr>
              <a:t>tính</a:t>
            </a:r>
            <a:r>
              <a:rPr sz="2925" b="0" dirty="0">
                <a:solidFill>
                  <a:srgbClr val="151515"/>
                </a:solidFill>
                <a:latin typeface="Times New Roman"/>
                <a:ea typeface="Times New Roman"/>
                <a:cs typeface="Times New Roman"/>
              </a:rPr>
              <a:t> </a:t>
            </a:r>
            <a:r>
              <a:rPr sz="2925" b="0" dirty="0" err="1">
                <a:solidFill>
                  <a:srgbClr val="151515"/>
                </a:solidFill>
                <a:latin typeface="Times New Roman"/>
                <a:ea typeface="Times New Roman"/>
                <a:cs typeface="Times New Roman"/>
              </a:rPr>
              <a:t>làm</a:t>
            </a:r>
            <a:r>
              <a:rPr sz="2925" b="0" dirty="0">
                <a:solidFill>
                  <a:srgbClr val="151515"/>
                </a:solidFill>
                <a:latin typeface="Times New Roman"/>
                <a:ea typeface="Times New Roman"/>
                <a:cs typeface="Times New Roman"/>
              </a:rPr>
              <a:t> </a:t>
            </a:r>
            <a:r>
              <a:rPr sz="2925" b="0" dirty="0" err="1">
                <a:solidFill>
                  <a:srgbClr val="151515"/>
                </a:solidFill>
                <a:latin typeface="Times New Roman"/>
                <a:ea typeface="Times New Roman"/>
                <a:cs typeface="Times New Roman"/>
              </a:rPr>
              <a:t>yếu</a:t>
            </a:r>
            <a:r>
              <a:rPr sz="2925" b="0" dirty="0">
                <a:solidFill>
                  <a:srgbClr val="151515"/>
                </a:solidFill>
                <a:latin typeface="Times New Roman"/>
                <a:ea typeface="Times New Roman"/>
                <a:cs typeface="Times New Roman"/>
              </a:rPr>
              <a:t> </a:t>
            </a:r>
            <a:r>
              <a:rPr sz="2925" b="0" dirty="0" err="1">
                <a:solidFill>
                  <a:srgbClr val="151515"/>
                </a:solidFill>
                <a:latin typeface="Times New Roman"/>
                <a:ea typeface="Times New Roman"/>
                <a:cs typeface="Times New Roman"/>
              </a:rPr>
              <a:t>tín</a:t>
            </a:r>
            <a:r>
              <a:rPr sz="2925" b="0" dirty="0">
                <a:solidFill>
                  <a:srgbClr val="151515"/>
                </a:solidFill>
                <a:latin typeface="Times New Roman"/>
                <a:ea typeface="Times New Roman"/>
                <a:cs typeface="Times New Roman"/>
              </a:rPr>
              <a:t> </a:t>
            </a:r>
            <a:r>
              <a:rPr sz="2925" b="0" dirty="0" err="1">
                <a:solidFill>
                  <a:srgbClr val="151515"/>
                </a:solidFill>
                <a:latin typeface="Times New Roman"/>
                <a:ea typeface="Times New Roman"/>
                <a:cs typeface="Times New Roman"/>
              </a:rPr>
              <a:t>hiệu</a:t>
            </a:r>
            <a:r>
              <a:rPr sz="2925" b="0" dirty="0">
                <a:solidFill>
                  <a:srgbClr val="151515"/>
                </a:solidFill>
                <a:latin typeface="Times New Roman"/>
                <a:ea typeface="Times New Roman"/>
                <a:cs typeface="Times New Roman"/>
              </a:rPr>
              <a:t> </a:t>
            </a:r>
            <a:r>
              <a:rPr sz="2925" b="0" dirty="0" err="1">
                <a:solidFill>
                  <a:srgbClr val="151515"/>
                </a:solidFill>
                <a:latin typeface="Times New Roman"/>
                <a:ea typeface="Times New Roman"/>
                <a:cs typeface="Times New Roman"/>
              </a:rPr>
              <a:t>từ</a:t>
            </a:r>
            <a:r>
              <a:rPr sz="2925" b="0" dirty="0">
                <a:solidFill>
                  <a:srgbClr val="151515"/>
                </a:solidFill>
                <a:latin typeface="Times New Roman"/>
                <a:ea typeface="Times New Roman"/>
                <a:cs typeface="Times New Roman"/>
              </a:rPr>
              <a:t> </a:t>
            </a:r>
            <a:r>
              <a:rPr sz="2925" b="0" dirty="0" err="1">
                <a:solidFill>
                  <a:srgbClr val="151515"/>
                </a:solidFill>
                <a:latin typeface="Times New Roman"/>
                <a:ea typeface="Times New Roman"/>
                <a:cs typeface="Times New Roman"/>
              </a:rPr>
              <a:t>lóng</a:t>
            </a:r>
            <a:r>
              <a:rPr sz="2925" b="0" dirty="0">
                <a:solidFill>
                  <a:srgbClr val="151515"/>
                </a:solidFill>
                <a:latin typeface="Times New Roman"/>
                <a:ea typeface="Times New Roman"/>
                <a:cs typeface="Times New Roman"/>
              </a:rPr>
              <a:t> </a:t>
            </a:r>
            <a:r>
              <a:rPr sz="2925" b="0" dirty="0" err="1">
                <a:solidFill>
                  <a:srgbClr val="151515"/>
                </a:solidFill>
                <a:latin typeface="Times New Roman"/>
                <a:ea typeface="Times New Roman"/>
                <a:cs typeface="Times New Roman"/>
              </a:rPr>
              <a:t>hiếm</a:t>
            </a:r>
            <a:r>
              <a:rPr sz="2925" b="0" dirty="0">
                <a:solidFill>
                  <a:srgbClr val="151515"/>
                </a:solidFill>
                <a:latin typeface="Times New Roman"/>
                <a:ea typeface="Times New Roman"/>
                <a:cs typeface="Times New Roman"/>
              </a:rPr>
              <a:t> ở </a:t>
            </a:r>
            <a:r>
              <a:rPr sz="2925" b="0" dirty="0" err="1">
                <a:solidFill>
                  <a:srgbClr val="151515"/>
                </a:solidFill>
                <a:latin typeface="Times New Roman"/>
                <a:ea typeface="Times New Roman"/>
                <a:cs typeface="Times New Roman"/>
              </a:rPr>
              <a:t>cuối</a:t>
            </a:r>
            <a:r>
              <a:rPr sz="2925" b="0" dirty="0">
                <a:solidFill>
                  <a:srgbClr val="151515"/>
                </a:solidFill>
                <a:latin typeface="Times New Roman"/>
                <a:ea typeface="Times New Roman"/>
                <a:cs typeface="Times New Roman"/>
              </a:rPr>
              <a:t> </a:t>
            </a:r>
            <a:r>
              <a:rPr sz="2925" b="0" dirty="0" err="1">
                <a:solidFill>
                  <a:srgbClr val="151515"/>
                </a:solidFill>
                <a:latin typeface="Times New Roman"/>
                <a:ea typeface="Times New Roman"/>
                <a:cs typeface="Times New Roman"/>
              </a:rPr>
              <a:t>câu</a:t>
            </a:r>
            <a:r>
              <a:rPr sz="2925" b="0" dirty="0">
                <a:solidFill>
                  <a:srgbClr val="151515"/>
                </a:solidFill>
                <a:latin typeface="Times New Roman"/>
                <a:ea typeface="Times New Roman"/>
                <a:cs typeface="Times New Roman"/>
              </a:rPr>
              <a:t>.</a:t>
            </a:r>
            <a:endParaRPr sz="1600" dirty="0"/>
          </a:p>
          <a:p>
            <a:pPr>
              <a:lnSpc>
                <a:spcPct val="150000"/>
              </a:lnSpc>
              <a:buNone/>
            </a:pPr>
            <a:endParaRPr sz="1600" dirty="0"/>
          </a:p>
          <a:p>
            <a:pPr>
              <a:lnSpc>
                <a:spcPct val="150000"/>
              </a:lnSpc>
              <a:buNone/>
              <a:defRPr sz="2925" b="0">
                <a:solidFill>
                  <a:srgbClr val="151515"/>
                </a:solidFill>
                <a:latin typeface="Times New Roman"/>
                <a:ea typeface="Times New Roman"/>
                <a:cs typeface="Times New Roman"/>
              </a:defRPr>
            </a:pPr>
            <a:r>
              <a:rPr sz="2925" b="0" dirty="0" err="1">
                <a:solidFill>
                  <a:srgbClr val="151515"/>
                </a:solidFill>
                <a:latin typeface="Times New Roman"/>
                <a:ea typeface="Times New Roman"/>
                <a:cs typeface="Times New Roman"/>
              </a:rPr>
              <a:t>Cần</a:t>
            </a:r>
            <a:r>
              <a:rPr sz="2925" b="0" dirty="0">
                <a:solidFill>
                  <a:srgbClr val="151515"/>
                </a:solidFill>
                <a:latin typeface="Times New Roman"/>
                <a:ea typeface="Times New Roman"/>
                <a:cs typeface="Times New Roman"/>
              </a:rPr>
              <a:t> </a:t>
            </a:r>
            <a:r>
              <a:rPr sz="2925" b="0" dirty="0" err="1">
                <a:solidFill>
                  <a:srgbClr val="151515"/>
                </a:solidFill>
                <a:latin typeface="Times New Roman"/>
                <a:ea typeface="Times New Roman"/>
                <a:cs typeface="Times New Roman"/>
              </a:rPr>
              <a:t>thử</a:t>
            </a:r>
            <a:r>
              <a:rPr sz="2925" b="0" dirty="0">
                <a:solidFill>
                  <a:srgbClr val="151515"/>
                </a:solidFill>
                <a:latin typeface="Times New Roman"/>
                <a:ea typeface="Times New Roman"/>
                <a:cs typeface="Times New Roman"/>
              </a:rPr>
              <a:t> </a:t>
            </a:r>
            <a:r>
              <a:rPr sz="2925" b="0" dirty="0" err="1">
                <a:solidFill>
                  <a:srgbClr val="151515"/>
                </a:solidFill>
                <a:latin typeface="Times New Roman"/>
                <a:ea typeface="Times New Roman"/>
                <a:cs typeface="Times New Roman"/>
              </a:rPr>
              <a:t>nghiệm</a:t>
            </a:r>
            <a:r>
              <a:rPr sz="2925" b="0" dirty="0">
                <a:solidFill>
                  <a:srgbClr val="151515"/>
                </a:solidFill>
                <a:latin typeface="Times New Roman"/>
                <a:ea typeface="Times New Roman"/>
                <a:cs typeface="Times New Roman"/>
              </a:rPr>
              <a:t> </a:t>
            </a:r>
            <a:r>
              <a:rPr sz="2925" b="0" dirty="0" err="1">
                <a:solidFill>
                  <a:srgbClr val="151515"/>
                </a:solidFill>
                <a:latin typeface="Times New Roman"/>
                <a:ea typeface="Times New Roman"/>
                <a:cs typeface="Times New Roman"/>
              </a:rPr>
              <a:t>thêm</a:t>
            </a:r>
            <a:r>
              <a:rPr sz="2925" b="0" dirty="0">
                <a:solidFill>
                  <a:srgbClr val="151515"/>
                </a:solidFill>
                <a:latin typeface="Times New Roman"/>
                <a:ea typeface="Times New Roman"/>
                <a:cs typeface="Times New Roman"/>
              </a:rPr>
              <a:t> </a:t>
            </a:r>
            <a:r>
              <a:rPr sz="2925" b="0" dirty="0" err="1">
                <a:solidFill>
                  <a:srgbClr val="151515"/>
                </a:solidFill>
                <a:latin typeface="Times New Roman"/>
                <a:ea typeface="Times New Roman"/>
                <a:cs typeface="Times New Roman"/>
              </a:rPr>
              <a:t>để</a:t>
            </a:r>
            <a:r>
              <a:rPr sz="2925" b="0" dirty="0">
                <a:solidFill>
                  <a:srgbClr val="151515"/>
                </a:solidFill>
                <a:latin typeface="Times New Roman"/>
                <a:ea typeface="Times New Roman"/>
                <a:cs typeface="Times New Roman"/>
              </a:rPr>
              <a:t> </a:t>
            </a:r>
            <a:r>
              <a:rPr sz="2925" b="0" dirty="0" err="1">
                <a:solidFill>
                  <a:srgbClr val="151515"/>
                </a:solidFill>
                <a:latin typeface="Times New Roman"/>
                <a:ea typeface="Times New Roman"/>
                <a:cs typeface="Times New Roman"/>
              </a:rPr>
              <a:t>xác</a:t>
            </a:r>
            <a:r>
              <a:rPr sz="2925" b="0" dirty="0">
                <a:solidFill>
                  <a:srgbClr val="151515"/>
                </a:solidFill>
                <a:latin typeface="Times New Roman"/>
                <a:ea typeface="Times New Roman"/>
                <a:cs typeface="Times New Roman"/>
              </a:rPr>
              <a:t> </a:t>
            </a:r>
            <a:r>
              <a:rPr sz="2925" b="0" dirty="0" err="1">
                <a:solidFill>
                  <a:srgbClr val="151515"/>
                </a:solidFill>
                <a:latin typeface="Times New Roman"/>
                <a:ea typeface="Times New Roman"/>
                <a:cs typeface="Times New Roman"/>
              </a:rPr>
              <a:t>định</a:t>
            </a:r>
            <a:r>
              <a:rPr sz="2925" b="0" dirty="0">
                <a:solidFill>
                  <a:srgbClr val="151515"/>
                </a:solidFill>
                <a:latin typeface="Times New Roman"/>
                <a:ea typeface="Times New Roman"/>
                <a:cs typeface="Times New Roman"/>
              </a:rPr>
              <a:t> </a:t>
            </a:r>
            <a:r>
              <a:rPr sz="2925" b="0" dirty="0" err="1">
                <a:solidFill>
                  <a:srgbClr val="151515"/>
                </a:solidFill>
                <a:latin typeface="Times New Roman"/>
                <a:ea typeface="Times New Roman"/>
                <a:cs typeface="Times New Roman"/>
              </a:rPr>
              <a:t>nguyên</a:t>
            </a:r>
            <a:r>
              <a:rPr sz="2925" b="0" dirty="0">
                <a:solidFill>
                  <a:srgbClr val="151515"/>
                </a:solidFill>
                <a:latin typeface="Times New Roman"/>
                <a:ea typeface="Times New Roman"/>
                <a:cs typeface="Times New Roman"/>
              </a:rPr>
              <a:t> </a:t>
            </a:r>
            <a:r>
              <a:rPr sz="2925" b="0" dirty="0" err="1">
                <a:solidFill>
                  <a:srgbClr val="151515"/>
                </a:solidFill>
                <a:latin typeface="Times New Roman"/>
                <a:ea typeface="Times New Roman"/>
                <a:cs typeface="Times New Roman"/>
              </a:rPr>
              <a:t>nhân</a:t>
            </a:r>
            <a:r>
              <a:rPr sz="2925" b="0" dirty="0">
                <a:solidFill>
                  <a:srgbClr val="151515"/>
                </a:solidFill>
                <a:latin typeface="Times New Roman"/>
                <a:ea typeface="Times New Roman"/>
                <a:cs typeface="Times New Roman"/>
              </a:rPr>
              <a:t>.</a:t>
            </a:r>
            <a:endParaRPr sz="1600" dirty="0"/>
          </a:p>
        </p:txBody>
      </p:sp>
      <p:sp>
        <p:nvSpPr>
          <p:cNvPr id="37" name="Shape 35">
            <a:extLst>
              <a:ext uri="{FF2B5EF4-FFF2-40B4-BE49-F238E27FC236}">
                <a16:creationId xmlns:a16="http://schemas.microsoft.com/office/drawing/2014/main" id="{8652850E-30C8-43EC-8106-E3C3583DCD0A}"/>
              </a:ext>
            </a:extLst>
          </p:cNvPr>
          <p:cNvSpPr>
            <a:spLocks noGrp="1"/>
          </p:cNvSpPr>
          <p:nvPr/>
        </p:nvSpPr>
        <p:spPr>
          <a:xfrm>
            <a:off x="1016000" y="8551291"/>
            <a:ext cx="19642709" cy="2370709"/>
          </a:xfrm>
          <a:prstGeom prst="roundRect">
            <a:avLst>
              <a:gd name="adj" fmla="val 8000"/>
            </a:avLst>
          </a:prstGeom>
          <a:solidFill>
            <a:srgbClr val="FFEBEE"/>
          </a:solidFill>
          <a:ln w="12700">
            <a:solidFill>
              <a:srgbClr val="EF9A9A"/>
            </a:solidFill>
            <a:prstDash val="solid"/>
          </a:ln>
        </p:spPr>
      </p:sp>
      <p:sp>
        <p:nvSpPr>
          <p:cNvPr id="38" name="Shape 36">
            <a:extLst>
              <a:ext uri="{FF2B5EF4-FFF2-40B4-BE49-F238E27FC236}">
                <a16:creationId xmlns:a16="http://schemas.microsoft.com/office/drawing/2014/main" id="{68ACD9BF-A173-4ACA-BF77-79A8323A1C25}"/>
              </a:ext>
            </a:extLst>
          </p:cNvPr>
          <p:cNvSpPr>
            <a:spLocks noGrp="1"/>
          </p:cNvSpPr>
          <p:nvPr/>
        </p:nvSpPr>
        <p:spPr>
          <a:xfrm>
            <a:off x="1354709" y="8805291"/>
            <a:ext cx="474091" cy="474091"/>
          </a:xfrm>
          <a:prstGeom prst="rect">
            <a:avLst/>
          </a:prstGeom>
          <a:solidFill>
            <a:srgbClr val="C62828"/>
          </a:solidFill>
        </p:spPr>
      </p:sp>
      <p:sp>
        <p:nvSpPr>
          <p:cNvPr id="39" name="Shape 37">
            <a:extLst>
              <a:ext uri="{FF2B5EF4-FFF2-40B4-BE49-F238E27FC236}">
                <a16:creationId xmlns:a16="http://schemas.microsoft.com/office/drawing/2014/main" id="{638F2DA0-9247-42BB-AE00-1A22214E6985}"/>
              </a:ext>
            </a:extLst>
          </p:cNvPr>
          <p:cNvSpPr>
            <a:spLocks noGrp="1"/>
          </p:cNvSpPr>
          <p:nvPr/>
        </p:nvSpPr>
        <p:spPr>
          <a:xfrm>
            <a:off x="1964309" y="8754491"/>
            <a:ext cx="6773291" cy="474091"/>
          </a:xfrm>
          <a:prstGeom prst="rect">
            <a:avLst/>
          </a:prstGeom>
          <a:solidFill>
            <a:srgbClr val="FFFFFF">
              <a:alpha val="0"/>
            </a:srgbClr>
          </a:solidFill>
        </p:spPr>
      </p:sp>
      <p:sp>
        <p:nvSpPr>
          <p:cNvPr id="40" name="Text 38">
            <a:extLst>
              <a:ext uri="{FF2B5EF4-FFF2-40B4-BE49-F238E27FC236}">
                <a16:creationId xmlns:a16="http://schemas.microsoft.com/office/drawing/2014/main" id="{F2901F59-505E-4F4A-8B8B-CFF2FB91B753}"/>
              </a:ext>
            </a:extLst>
          </p:cNvPr>
          <p:cNvSpPr>
            <a:spLocks noGrp="1"/>
          </p:cNvSpPr>
          <p:nvPr/>
        </p:nvSpPr>
        <p:spPr>
          <a:xfrm>
            <a:off x="1842389" y="8693531"/>
            <a:ext cx="7017131" cy="596011"/>
          </a:xfrm>
          <a:prstGeom prst="rect">
            <a:avLst/>
          </a:prstGeom>
          <a:noFill/>
        </p:spPr>
        <p:txBody>
          <a:bodyPr wrap="none" lIns="0" tIns="0" rIns="0" bIns="0" anchor="ctr">
            <a:noAutofit/>
          </a:bodyPr>
          <a:lstStyle/>
          <a:p>
            <a:pPr>
              <a:lnSpc>
                <a:spcPct val="100000"/>
              </a:lnSpc>
              <a:buNone/>
              <a:defRPr sz="3000" b="1">
                <a:solidFill>
                  <a:srgbClr val="C62828"/>
                </a:solidFill>
                <a:latin typeface="Times New Roman"/>
                <a:ea typeface="Times New Roman"/>
                <a:cs typeface="Times New Roman"/>
              </a:defRPr>
            </a:pPr>
            <a:r>
              <a:rPr sz="3000" b="1">
                <a:solidFill>
                  <a:srgbClr val="C62828"/>
                </a:solidFill>
                <a:latin typeface="Times New Roman"/>
                <a:ea typeface="Times New Roman"/>
                <a:cs typeface="Times New Roman"/>
              </a:rPr>
              <a:t>Bài học từ trường hợp này</a:t>
            </a:r>
            <a:endParaRPr sz="1600"/>
          </a:p>
        </p:txBody>
      </p:sp>
      <p:sp>
        <p:nvSpPr>
          <p:cNvPr id="41" name="Shape 39">
            <a:extLst>
              <a:ext uri="{FF2B5EF4-FFF2-40B4-BE49-F238E27FC236}">
                <a16:creationId xmlns:a16="http://schemas.microsoft.com/office/drawing/2014/main" id="{F0812D5B-5EE4-42B1-8494-1CD6401DFC2A}"/>
              </a:ext>
            </a:extLst>
          </p:cNvPr>
          <p:cNvSpPr>
            <a:spLocks noGrp="1"/>
          </p:cNvSpPr>
          <p:nvPr/>
        </p:nvSpPr>
        <p:spPr>
          <a:xfrm>
            <a:off x="1354709" y="9398000"/>
            <a:ext cx="18965291" cy="1354709"/>
          </a:xfrm>
          <a:prstGeom prst="rect">
            <a:avLst/>
          </a:prstGeom>
          <a:solidFill>
            <a:srgbClr val="FFFFFF">
              <a:alpha val="0"/>
            </a:srgbClr>
          </a:solidFill>
        </p:spPr>
      </p:sp>
      <p:sp>
        <p:nvSpPr>
          <p:cNvPr id="42" name="Text 40">
            <a:extLst>
              <a:ext uri="{FF2B5EF4-FFF2-40B4-BE49-F238E27FC236}">
                <a16:creationId xmlns:a16="http://schemas.microsoft.com/office/drawing/2014/main" id="{09CC7768-7E5C-4A80-A54C-90B79D30C6B1}"/>
              </a:ext>
            </a:extLst>
          </p:cNvPr>
          <p:cNvSpPr>
            <a:spLocks noGrp="1"/>
          </p:cNvSpPr>
          <p:nvPr/>
        </p:nvSpPr>
        <p:spPr>
          <a:xfrm>
            <a:off x="1232789" y="9337040"/>
            <a:ext cx="19209131" cy="1476629"/>
          </a:xfrm>
          <a:prstGeom prst="rect">
            <a:avLst/>
          </a:prstGeom>
          <a:noFill/>
        </p:spPr>
        <p:txBody>
          <a:bodyPr wrap="square" lIns="0" tIns="0" rIns="0" bIns="0" anchor="t">
            <a:noAutofit/>
          </a:bodyPr>
          <a:lstStyle/>
          <a:p>
            <a:pPr>
              <a:lnSpc>
                <a:spcPct val="150000"/>
              </a:lnSpc>
              <a:buNone/>
              <a:defRPr sz="2775" b="0">
                <a:solidFill>
                  <a:srgbClr val="151515"/>
                </a:solidFill>
                <a:latin typeface="Times New Roman"/>
                <a:ea typeface="Times New Roman"/>
                <a:cs typeface="Times New Roman"/>
              </a:defRPr>
            </a:pPr>
            <a:r>
              <a:rPr sz="2775" b="0">
                <a:solidFill>
                  <a:srgbClr val="151515"/>
                </a:solidFill>
                <a:latin typeface="Times New Roman"/>
                <a:ea typeface="Times New Roman"/>
                <a:cs typeface="Times New Roman"/>
              </a:rPr>
              <a:t>Đây là ca thử của phiên bản một đầu, chưa kết luận cho DualHead mới. Cần chạy lại cùng câu để biết mô hình mới có cải thiện hay không.</a:t>
            </a:r>
            <a:endParaRPr sz="1600"/>
          </a:p>
        </p:txBody>
      </p:sp>
      <p:sp>
        <p:nvSpPr>
          <p:cNvPr id="43" name="Shape 41">
            <a:extLst>
              <a:ext uri="{FF2B5EF4-FFF2-40B4-BE49-F238E27FC236}">
                <a16:creationId xmlns:a16="http://schemas.microsoft.com/office/drawing/2014/main" id="{6158C196-713D-4DE9-9CD1-F7F11BE93CF2}"/>
              </a:ext>
            </a:extLst>
          </p:cNvPr>
          <p:cNvSpPr>
            <a:spLocks noGrp="1"/>
          </p:cNvSpPr>
          <p:nvPr/>
        </p:nvSpPr>
        <p:spPr>
          <a:xfrm>
            <a:off x="19981291" y="11684000"/>
            <a:ext cx="1016000" cy="406400"/>
          </a:xfrm>
          <a:prstGeom prst="rect">
            <a:avLst/>
          </a:prstGeom>
          <a:solidFill>
            <a:srgbClr val="FFFFFF">
              <a:alpha val="0"/>
            </a:srgbClr>
          </a:solidFill>
        </p:spPr>
      </p:sp>
      <p:sp>
        <p:nvSpPr>
          <p:cNvPr id="44" name="Text 42">
            <a:extLst>
              <a:ext uri="{FF2B5EF4-FFF2-40B4-BE49-F238E27FC236}">
                <a16:creationId xmlns:a16="http://schemas.microsoft.com/office/drawing/2014/main" id="{D3E864CA-1169-44D7-90A4-35E230A6CA8F}"/>
              </a:ext>
            </a:extLst>
          </p:cNvPr>
          <p:cNvSpPr>
            <a:spLocks noGrp="1"/>
          </p:cNvSpPr>
          <p:nvPr/>
        </p:nvSpPr>
        <p:spPr>
          <a:xfrm>
            <a:off x="19859371" y="11623040"/>
            <a:ext cx="1259840" cy="528320"/>
          </a:xfrm>
          <a:prstGeom prst="rect">
            <a:avLst/>
          </a:prstGeom>
          <a:noFill/>
        </p:spPr>
        <p:txBody>
          <a:bodyPr wrap="none" lIns="0" tIns="0" rIns="0" bIns="0" anchor="ctr">
            <a:noAutofit/>
          </a:bodyPr>
          <a:lstStyle/>
          <a:p>
            <a:pPr algn="r">
              <a:lnSpc>
                <a:spcPct val="100000"/>
              </a:lnSpc>
              <a:buNone/>
              <a:defRPr sz="1950">
                <a:solidFill>
                  <a:srgbClr val="666666"/>
                </a:solidFill>
                <a:latin typeface="Times New Roman"/>
                <a:ea typeface="Times New Roman"/>
                <a:cs typeface="Times New Roman"/>
              </a:defRPr>
            </a:pPr>
            <a:r>
              <a:rPr sz="1950">
                <a:solidFill>
                  <a:srgbClr val="666666"/>
                </a:solidFill>
                <a:latin typeface="Times New Roman"/>
                <a:ea typeface="Times New Roman"/>
                <a:cs typeface="Times New Roman"/>
              </a:rPr>
              <a:t>14/18</a:t>
            </a:r>
            <a:endParaRPr sz="1600"/>
          </a:p>
        </p:txBody>
      </p:sp>
    </p:spTree>
    <p:extLst>
      <p:ext uri="{BB962C8B-B14F-4D97-AF65-F5344CB8AC3E}">
        <p14:creationId xmlns:p14="http://schemas.microsoft.com/office/powerpoint/2010/main" val="10056545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EF84E81F-3654-4589-99EC-26AF3677160B}"/>
              </a:ext>
            </a:extLst>
          </p:cNvPr>
          <p:cNvSpPr>
            <a:spLocks noGrp="1"/>
          </p:cNvSpPr>
          <p:nvPr/>
        </p:nvSpPr>
        <p:spPr>
          <a:xfrm>
            <a:off x="0" y="0"/>
            <a:ext cx="21674709" cy="677291"/>
          </a:xfrm>
          <a:prstGeom prst="rect">
            <a:avLst/>
          </a:prstGeom>
          <a:solidFill>
            <a:srgbClr val="1565C0"/>
          </a:solidFill>
        </p:spPr>
      </p:sp>
      <p:sp>
        <p:nvSpPr>
          <p:cNvPr id="3" name="Shape 1">
            <a:extLst>
              <a:ext uri="{FF2B5EF4-FFF2-40B4-BE49-F238E27FC236}">
                <a16:creationId xmlns:a16="http://schemas.microsoft.com/office/drawing/2014/main" id="{E03957DD-A878-42ED-9C6F-4F3E2A85BC13}"/>
              </a:ext>
            </a:extLst>
          </p:cNvPr>
          <p:cNvSpPr>
            <a:spLocks noGrp="1"/>
          </p:cNvSpPr>
          <p:nvPr/>
        </p:nvSpPr>
        <p:spPr>
          <a:xfrm>
            <a:off x="14393132" y="84709"/>
            <a:ext cx="3386709" cy="508000"/>
          </a:xfrm>
          <a:prstGeom prst="roundRect">
            <a:avLst>
              <a:gd name="adj" fmla="val 8000"/>
            </a:avLst>
          </a:prstGeom>
          <a:solidFill>
            <a:srgbClr val="FFFFFF">
              <a:alpha val="3576"/>
            </a:srgbClr>
          </a:solidFill>
        </p:spPr>
      </p:sp>
      <p:sp>
        <p:nvSpPr>
          <p:cNvPr id="4" name="Shape 2">
            <a:extLst>
              <a:ext uri="{FF2B5EF4-FFF2-40B4-BE49-F238E27FC236}">
                <a16:creationId xmlns:a16="http://schemas.microsoft.com/office/drawing/2014/main" id="{BB6BBF21-41D1-4667-8D8C-88A881A00E4E}"/>
              </a:ext>
            </a:extLst>
          </p:cNvPr>
          <p:cNvSpPr>
            <a:spLocks noGrp="1"/>
          </p:cNvSpPr>
          <p:nvPr/>
        </p:nvSpPr>
        <p:spPr>
          <a:xfrm>
            <a:off x="169291" y="0"/>
            <a:ext cx="3386709" cy="677291"/>
          </a:xfrm>
          <a:prstGeom prst="rect">
            <a:avLst/>
          </a:prstGeom>
          <a:solidFill>
            <a:srgbClr val="FFFFFF">
              <a:alpha val="0"/>
            </a:srgbClr>
          </a:solidFill>
        </p:spPr>
      </p:sp>
      <p:sp>
        <p:nvSpPr>
          <p:cNvPr id="5" name="Text 3">
            <a:extLst>
              <a:ext uri="{FF2B5EF4-FFF2-40B4-BE49-F238E27FC236}">
                <a16:creationId xmlns:a16="http://schemas.microsoft.com/office/drawing/2014/main" id="{78C61841-10D1-4CF1-8B00-1D5FA9418299}"/>
              </a:ext>
            </a:extLst>
          </p:cNvPr>
          <p:cNvSpPr>
            <a:spLocks noGrp="1"/>
          </p:cNvSpPr>
          <p:nvPr/>
        </p:nvSpPr>
        <p:spPr>
          <a:xfrm>
            <a:off x="47339"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1. Bài toán và dữ liệu</a:t>
            </a:r>
            <a:endParaRPr sz="1600">
              <a:latin typeface="Times New Roman"/>
              <a:ea typeface="Times New Roman"/>
              <a:cs typeface="Times New Roman"/>
            </a:endParaRPr>
          </a:p>
        </p:txBody>
      </p:sp>
      <p:sp>
        <p:nvSpPr>
          <p:cNvPr id="6" name="Shape 4">
            <a:extLst>
              <a:ext uri="{FF2B5EF4-FFF2-40B4-BE49-F238E27FC236}">
                <a16:creationId xmlns:a16="http://schemas.microsoft.com/office/drawing/2014/main" id="{AC1F08B7-CF7A-4742-AFFF-5B4DBE84E826}"/>
              </a:ext>
            </a:extLst>
          </p:cNvPr>
          <p:cNvSpPr>
            <a:spLocks noGrp="1"/>
          </p:cNvSpPr>
          <p:nvPr/>
        </p:nvSpPr>
        <p:spPr>
          <a:xfrm>
            <a:off x="3725291" y="0"/>
            <a:ext cx="3386709" cy="677291"/>
          </a:xfrm>
          <a:prstGeom prst="rect">
            <a:avLst/>
          </a:prstGeom>
          <a:solidFill>
            <a:srgbClr val="FFFFFF">
              <a:alpha val="0"/>
            </a:srgbClr>
          </a:solidFill>
        </p:spPr>
      </p:sp>
      <p:sp>
        <p:nvSpPr>
          <p:cNvPr id="7" name="Text 5">
            <a:extLst>
              <a:ext uri="{FF2B5EF4-FFF2-40B4-BE49-F238E27FC236}">
                <a16:creationId xmlns:a16="http://schemas.microsoft.com/office/drawing/2014/main" id="{66F155D1-3CA6-4BCD-9652-B52B360A3758}"/>
              </a:ext>
            </a:extLst>
          </p:cNvPr>
          <p:cNvSpPr>
            <a:spLocks noGrp="1"/>
          </p:cNvSpPr>
          <p:nvPr/>
        </p:nvSpPr>
        <p:spPr>
          <a:xfrm>
            <a:off x="3603403"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2. Mô hình và dual head</a:t>
            </a:r>
            <a:endParaRPr sz="1600">
              <a:latin typeface="Times New Roman"/>
              <a:ea typeface="Times New Roman"/>
              <a:cs typeface="Times New Roman"/>
            </a:endParaRPr>
          </a:p>
        </p:txBody>
      </p:sp>
      <p:sp>
        <p:nvSpPr>
          <p:cNvPr id="8" name="Shape 6">
            <a:extLst>
              <a:ext uri="{FF2B5EF4-FFF2-40B4-BE49-F238E27FC236}">
                <a16:creationId xmlns:a16="http://schemas.microsoft.com/office/drawing/2014/main" id="{324A8769-A9FE-49B9-BD08-E0FE7D06A040}"/>
              </a:ext>
            </a:extLst>
          </p:cNvPr>
          <p:cNvSpPr>
            <a:spLocks noGrp="1"/>
          </p:cNvSpPr>
          <p:nvPr/>
        </p:nvSpPr>
        <p:spPr>
          <a:xfrm>
            <a:off x="7281291" y="0"/>
            <a:ext cx="3386709" cy="677291"/>
          </a:xfrm>
          <a:prstGeom prst="rect">
            <a:avLst/>
          </a:prstGeom>
          <a:solidFill>
            <a:srgbClr val="FFFFFF">
              <a:alpha val="0"/>
            </a:srgbClr>
          </a:solidFill>
        </p:spPr>
      </p:sp>
      <p:sp>
        <p:nvSpPr>
          <p:cNvPr id="9" name="Text 7">
            <a:extLst>
              <a:ext uri="{FF2B5EF4-FFF2-40B4-BE49-F238E27FC236}">
                <a16:creationId xmlns:a16="http://schemas.microsoft.com/office/drawing/2014/main" id="{8E1CE438-85BB-4C15-A53A-F93C8142F47C}"/>
              </a:ext>
            </a:extLst>
          </p:cNvPr>
          <p:cNvSpPr>
            <a:spLocks noGrp="1"/>
          </p:cNvSpPr>
          <p:nvPr/>
        </p:nvSpPr>
        <p:spPr>
          <a:xfrm>
            <a:off x="7159371"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3. Kết quả</a:t>
            </a:r>
            <a:endParaRPr sz="1600">
              <a:latin typeface="Times New Roman"/>
              <a:ea typeface="Times New Roman"/>
              <a:cs typeface="Times New Roman"/>
            </a:endParaRPr>
          </a:p>
        </p:txBody>
      </p:sp>
      <p:sp>
        <p:nvSpPr>
          <p:cNvPr id="10" name="Shape 8">
            <a:extLst>
              <a:ext uri="{FF2B5EF4-FFF2-40B4-BE49-F238E27FC236}">
                <a16:creationId xmlns:a16="http://schemas.microsoft.com/office/drawing/2014/main" id="{23A09239-981A-4A83-AB11-75795B73E26B}"/>
              </a:ext>
            </a:extLst>
          </p:cNvPr>
          <p:cNvSpPr>
            <a:spLocks noGrp="1"/>
          </p:cNvSpPr>
          <p:nvPr/>
        </p:nvSpPr>
        <p:spPr>
          <a:xfrm>
            <a:off x="10837291" y="0"/>
            <a:ext cx="3386709" cy="677291"/>
          </a:xfrm>
          <a:prstGeom prst="rect">
            <a:avLst/>
          </a:prstGeom>
          <a:solidFill>
            <a:srgbClr val="FFFFFF">
              <a:alpha val="0"/>
            </a:srgbClr>
          </a:solidFill>
        </p:spPr>
      </p:sp>
      <p:sp>
        <p:nvSpPr>
          <p:cNvPr id="11" name="Text 9">
            <a:extLst>
              <a:ext uri="{FF2B5EF4-FFF2-40B4-BE49-F238E27FC236}">
                <a16:creationId xmlns:a16="http://schemas.microsoft.com/office/drawing/2014/main" id="{F90AB5F9-C354-4A5B-B25A-8E3B38B3386E}"/>
              </a:ext>
            </a:extLst>
          </p:cNvPr>
          <p:cNvSpPr>
            <a:spLocks noGrp="1"/>
          </p:cNvSpPr>
          <p:nvPr/>
        </p:nvSpPr>
        <p:spPr>
          <a:xfrm>
            <a:off x="10715339"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4. Phân tích lỗi</a:t>
            </a:r>
            <a:endParaRPr sz="1600">
              <a:latin typeface="Times New Roman"/>
              <a:ea typeface="Times New Roman"/>
              <a:cs typeface="Times New Roman"/>
            </a:endParaRPr>
          </a:p>
        </p:txBody>
      </p:sp>
      <p:sp>
        <p:nvSpPr>
          <p:cNvPr id="12" name="Shape 10">
            <a:extLst>
              <a:ext uri="{FF2B5EF4-FFF2-40B4-BE49-F238E27FC236}">
                <a16:creationId xmlns:a16="http://schemas.microsoft.com/office/drawing/2014/main" id="{D8E5EFAA-FD02-42E8-81DA-639014B205DE}"/>
              </a:ext>
            </a:extLst>
          </p:cNvPr>
          <p:cNvSpPr>
            <a:spLocks noGrp="1"/>
          </p:cNvSpPr>
          <p:nvPr/>
        </p:nvSpPr>
        <p:spPr>
          <a:xfrm>
            <a:off x="14393291" y="0"/>
            <a:ext cx="3386709" cy="677291"/>
          </a:xfrm>
          <a:prstGeom prst="rect">
            <a:avLst/>
          </a:prstGeom>
          <a:solidFill>
            <a:srgbClr val="FFFFFF">
              <a:alpha val="0"/>
            </a:srgbClr>
          </a:solidFill>
        </p:spPr>
      </p:sp>
      <p:sp>
        <p:nvSpPr>
          <p:cNvPr id="13" name="Text 11">
            <a:extLst>
              <a:ext uri="{FF2B5EF4-FFF2-40B4-BE49-F238E27FC236}">
                <a16:creationId xmlns:a16="http://schemas.microsoft.com/office/drawing/2014/main" id="{35A20EF9-5654-4E32-B50F-FE3BAA4A818B}"/>
              </a:ext>
            </a:extLst>
          </p:cNvPr>
          <p:cNvSpPr>
            <a:spLocks noGrp="1"/>
          </p:cNvSpPr>
          <p:nvPr/>
        </p:nvSpPr>
        <p:spPr>
          <a:xfrm>
            <a:off x="14271403" y="0"/>
            <a:ext cx="3630549" cy="676275"/>
          </a:xfrm>
          <a:prstGeom prst="rect">
            <a:avLst/>
          </a:prstGeom>
          <a:noFill/>
        </p:spPr>
        <p:txBody>
          <a:bodyPr wrap="none" lIns="0" tIns="0" rIns="0" bIns="0" anchor="ctr">
            <a:noAutofit/>
          </a:bodyPr>
          <a:lstStyle/>
          <a:p>
            <a:pPr algn="ctr">
              <a:lnSpc>
                <a:spcPct val="100000"/>
              </a:lnSpc>
              <a:buNone/>
              <a:defRPr sz="1875" b="1">
                <a:solidFill>
                  <a:srgbClr val="FFFFFF"/>
                </a:solidFill>
                <a:latin typeface="Times New Roman"/>
                <a:ea typeface="Times New Roman"/>
                <a:cs typeface="Times New Roman"/>
              </a:defRPr>
            </a:pPr>
            <a:r>
              <a:rPr sz="1875" b="1">
                <a:solidFill>
                  <a:srgbClr val="FFFFFF"/>
                </a:solidFill>
                <a:latin typeface="Times New Roman"/>
                <a:ea typeface="Times New Roman"/>
                <a:cs typeface="Times New Roman"/>
              </a:rPr>
              <a:t>5. Ứng dụng</a:t>
            </a:r>
            <a:endParaRPr sz="1600">
              <a:latin typeface="Times New Roman"/>
              <a:ea typeface="Times New Roman"/>
              <a:cs typeface="Times New Roman"/>
            </a:endParaRPr>
          </a:p>
        </p:txBody>
      </p:sp>
      <p:sp>
        <p:nvSpPr>
          <p:cNvPr id="14" name="Shape 12">
            <a:extLst>
              <a:ext uri="{FF2B5EF4-FFF2-40B4-BE49-F238E27FC236}">
                <a16:creationId xmlns:a16="http://schemas.microsoft.com/office/drawing/2014/main" id="{DF990FE4-3150-412B-AD0B-9C31718C16C6}"/>
              </a:ext>
            </a:extLst>
          </p:cNvPr>
          <p:cNvSpPr>
            <a:spLocks noGrp="1"/>
          </p:cNvSpPr>
          <p:nvPr/>
        </p:nvSpPr>
        <p:spPr>
          <a:xfrm>
            <a:off x="17949291" y="0"/>
            <a:ext cx="3386709" cy="677291"/>
          </a:xfrm>
          <a:prstGeom prst="rect">
            <a:avLst/>
          </a:prstGeom>
          <a:solidFill>
            <a:srgbClr val="FFFFFF">
              <a:alpha val="0"/>
            </a:srgbClr>
          </a:solidFill>
        </p:spPr>
      </p:sp>
      <p:sp>
        <p:nvSpPr>
          <p:cNvPr id="15" name="Text 13">
            <a:extLst>
              <a:ext uri="{FF2B5EF4-FFF2-40B4-BE49-F238E27FC236}">
                <a16:creationId xmlns:a16="http://schemas.microsoft.com/office/drawing/2014/main" id="{008CE733-0163-49A2-B9C6-AFDE1626D8E1}"/>
              </a:ext>
            </a:extLst>
          </p:cNvPr>
          <p:cNvSpPr>
            <a:spLocks noGrp="1"/>
          </p:cNvSpPr>
          <p:nvPr/>
        </p:nvSpPr>
        <p:spPr>
          <a:xfrm>
            <a:off x="17827371"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6. Cải thiện</a:t>
            </a:r>
            <a:endParaRPr sz="1600">
              <a:latin typeface="Times New Roman"/>
              <a:ea typeface="Times New Roman"/>
              <a:cs typeface="Times New Roman"/>
            </a:endParaRPr>
          </a:p>
        </p:txBody>
      </p:sp>
      <p:sp>
        <p:nvSpPr>
          <p:cNvPr id="16" name="Shape 14">
            <a:extLst>
              <a:ext uri="{FF2B5EF4-FFF2-40B4-BE49-F238E27FC236}">
                <a16:creationId xmlns:a16="http://schemas.microsoft.com/office/drawing/2014/main" id="{4BA07A37-EF10-45CF-A08E-D236E9E0E5AB}"/>
              </a:ext>
            </a:extLst>
          </p:cNvPr>
          <p:cNvSpPr>
            <a:spLocks noGrp="1"/>
          </p:cNvSpPr>
          <p:nvPr/>
        </p:nvSpPr>
        <p:spPr>
          <a:xfrm>
            <a:off x="1016000" y="931291"/>
            <a:ext cx="16933291" cy="643509"/>
          </a:xfrm>
          <a:prstGeom prst="rect">
            <a:avLst/>
          </a:prstGeom>
          <a:solidFill>
            <a:srgbClr val="FFFFFF">
              <a:alpha val="0"/>
            </a:srgbClr>
          </a:solidFill>
        </p:spPr>
      </p:sp>
      <p:sp>
        <p:nvSpPr>
          <p:cNvPr id="17" name="Text 15">
            <a:extLst>
              <a:ext uri="{FF2B5EF4-FFF2-40B4-BE49-F238E27FC236}">
                <a16:creationId xmlns:a16="http://schemas.microsoft.com/office/drawing/2014/main" id="{6EADD8B2-0F64-44FD-A041-6C0C21535125}"/>
              </a:ext>
            </a:extLst>
          </p:cNvPr>
          <p:cNvSpPr>
            <a:spLocks noGrp="1"/>
          </p:cNvSpPr>
          <p:nvPr/>
        </p:nvSpPr>
        <p:spPr>
          <a:xfrm>
            <a:off x="894080" y="870331"/>
            <a:ext cx="17177131" cy="765429"/>
          </a:xfrm>
          <a:prstGeom prst="rect">
            <a:avLst/>
          </a:prstGeom>
          <a:noFill/>
        </p:spPr>
        <p:txBody>
          <a:bodyPr wrap="none" lIns="0" tIns="0" rIns="0" bIns="0" anchor="ctr">
            <a:noAutofit/>
          </a:bodyPr>
          <a:lstStyle/>
          <a:p>
            <a:pPr>
              <a:lnSpc>
                <a:spcPct val="100000"/>
              </a:lnSpc>
              <a:buNone/>
              <a:defRPr sz="3900" b="1">
                <a:solidFill>
                  <a:srgbClr val="1565C0"/>
                </a:solidFill>
                <a:latin typeface="Times New Roman"/>
                <a:ea typeface="Times New Roman"/>
                <a:cs typeface="Times New Roman"/>
              </a:defRPr>
            </a:pPr>
            <a:r>
              <a:rPr sz="3900" b="1">
                <a:solidFill>
                  <a:srgbClr val="1565C0"/>
                </a:solidFill>
                <a:latin typeface="Times New Roman"/>
                <a:ea typeface="Times New Roman"/>
                <a:cs typeface="Times New Roman"/>
              </a:rPr>
              <a:t>Luồng xử lý của ứng dụng</a:t>
            </a:r>
            <a:endParaRPr sz="1600">
              <a:latin typeface="Times New Roman"/>
              <a:ea typeface="Times New Roman"/>
              <a:cs typeface="Times New Roman"/>
            </a:endParaRPr>
          </a:p>
        </p:txBody>
      </p:sp>
      <p:sp>
        <p:nvSpPr>
          <p:cNvPr id="18" name="Shape 16">
            <a:extLst>
              <a:ext uri="{FF2B5EF4-FFF2-40B4-BE49-F238E27FC236}">
                <a16:creationId xmlns:a16="http://schemas.microsoft.com/office/drawing/2014/main" id="{F8B9C96B-D8D0-420B-99F9-0F240B05601F}"/>
              </a:ext>
            </a:extLst>
          </p:cNvPr>
          <p:cNvSpPr>
            <a:spLocks noGrp="1"/>
          </p:cNvSpPr>
          <p:nvPr/>
        </p:nvSpPr>
        <p:spPr>
          <a:xfrm>
            <a:off x="1016000" y="1625600"/>
            <a:ext cx="19642709" cy="50800"/>
          </a:xfrm>
          <a:prstGeom prst="rect">
            <a:avLst/>
          </a:prstGeom>
          <a:solidFill>
            <a:srgbClr val="1565C0"/>
          </a:solidFill>
        </p:spPr>
      </p:sp>
      <p:sp>
        <p:nvSpPr>
          <p:cNvPr id="21" name="Shape 19">
            <a:extLst>
              <a:ext uri="{FF2B5EF4-FFF2-40B4-BE49-F238E27FC236}">
                <a16:creationId xmlns:a16="http://schemas.microsoft.com/office/drawing/2014/main" id="{CDA851A2-008A-4844-B776-F1C37AFA7D49}"/>
              </a:ext>
            </a:extLst>
          </p:cNvPr>
          <p:cNvSpPr>
            <a:spLocks noGrp="1"/>
          </p:cNvSpPr>
          <p:nvPr/>
        </p:nvSpPr>
        <p:spPr>
          <a:xfrm>
            <a:off x="1016000" y="2709291"/>
            <a:ext cx="3386709" cy="1185291"/>
          </a:xfrm>
          <a:prstGeom prst="roundRect">
            <a:avLst>
              <a:gd name="adj" fmla="val 8000"/>
            </a:avLst>
          </a:prstGeom>
          <a:solidFill>
            <a:srgbClr val="E3F2FD"/>
          </a:solidFill>
          <a:ln w="25400">
            <a:solidFill>
              <a:srgbClr val="1565C0"/>
            </a:solidFill>
            <a:prstDash val="solid"/>
          </a:ln>
        </p:spPr>
      </p:sp>
      <p:sp>
        <p:nvSpPr>
          <p:cNvPr id="22" name="Shape 20">
            <a:extLst>
              <a:ext uri="{FF2B5EF4-FFF2-40B4-BE49-F238E27FC236}">
                <a16:creationId xmlns:a16="http://schemas.microsoft.com/office/drawing/2014/main" id="{18A7933D-0F5B-4A90-B559-1A2F6F42B376}"/>
              </a:ext>
            </a:extLst>
          </p:cNvPr>
          <p:cNvSpPr>
            <a:spLocks noGrp="1"/>
          </p:cNvSpPr>
          <p:nvPr/>
        </p:nvSpPr>
        <p:spPr>
          <a:xfrm>
            <a:off x="1016000" y="2709291"/>
            <a:ext cx="3386709" cy="1185291"/>
          </a:xfrm>
          <a:prstGeom prst="rect">
            <a:avLst/>
          </a:prstGeom>
          <a:solidFill>
            <a:srgbClr val="FFFFFF">
              <a:alpha val="0"/>
            </a:srgbClr>
          </a:solidFill>
        </p:spPr>
      </p:sp>
      <p:sp>
        <p:nvSpPr>
          <p:cNvPr id="23" name="Text 21">
            <a:extLst>
              <a:ext uri="{FF2B5EF4-FFF2-40B4-BE49-F238E27FC236}">
                <a16:creationId xmlns:a16="http://schemas.microsoft.com/office/drawing/2014/main" id="{BC0BAEA8-8BBA-4D30-B8EA-0BAC4D36EF1F}"/>
              </a:ext>
            </a:extLst>
          </p:cNvPr>
          <p:cNvSpPr>
            <a:spLocks noGrp="1"/>
          </p:cNvSpPr>
          <p:nvPr/>
        </p:nvSpPr>
        <p:spPr>
          <a:xfrm>
            <a:off x="894080" y="2648331"/>
            <a:ext cx="3630549" cy="1307211"/>
          </a:xfrm>
          <a:prstGeom prst="rect">
            <a:avLst/>
          </a:prstGeom>
          <a:noFill/>
        </p:spPr>
        <p:txBody>
          <a:bodyPr wrap="square" lIns="0" tIns="0" rIns="0" bIns="0" anchor="ctr">
            <a:noAutofit/>
          </a:bodyPr>
          <a:lstStyle/>
          <a:p>
            <a:pPr algn="ctr">
              <a:lnSpc>
                <a:spcPct val="100000"/>
              </a:lnSpc>
              <a:buNone/>
              <a:defRPr sz="2400" b="0">
                <a:solidFill>
                  <a:srgbClr val="151515"/>
                </a:solidFill>
                <a:latin typeface="Times New Roman"/>
                <a:ea typeface="Times New Roman"/>
                <a:cs typeface="Times New Roman"/>
              </a:defRPr>
            </a:pPr>
            <a:r>
              <a:rPr sz="2400" b="0">
                <a:solidFill>
                  <a:srgbClr val="151515"/>
                </a:solidFill>
                <a:latin typeface="Times New Roman"/>
                <a:ea typeface="Times New Roman"/>
                <a:cs typeface="Times New Roman"/>
              </a:rPr>
              <a:t>React</a:t>
            </a:r>
            <a:endParaRPr sz="1600">
              <a:latin typeface="Times New Roman"/>
              <a:ea typeface="Times New Roman"/>
              <a:cs typeface="Times New Roman"/>
            </a:endParaRPr>
          </a:p>
          <a:p>
            <a:pPr algn="ctr">
              <a:lnSpc>
                <a:spcPct val="100000"/>
              </a:lnSpc>
              <a:buNone/>
              <a:defRPr sz="2400" b="0">
                <a:solidFill>
                  <a:srgbClr val="151515"/>
                </a:solidFill>
                <a:latin typeface="Times New Roman"/>
                <a:ea typeface="Times New Roman"/>
                <a:cs typeface="Times New Roman"/>
              </a:defRPr>
            </a:pPr>
            <a:r>
              <a:rPr sz="2400" b="0">
                <a:solidFill>
                  <a:srgbClr val="151515"/>
                </a:solidFill>
                <a:latin typeface="Times New Roman"/>
                <a:ea typeface="Times New Roman"/>
                <a:cs typeface="Times New Roman"/>
              </a:rPr>
              <a:t>Nhập bình luận</a:t>
            </a:r>
            <a:endParaRPr sz="1600">
              <a:latin typeface="Times New Roman"/>
              <a:ea typeface="Times New Roman"/>
              <a:cs typeface="Times New Roman"/>
            </a:endParaRPr>
          </a:p>
        </p:txBody>
      </p:sp>
      <p:sp>
        <p:nvSpPr>
          <p:cNvPr id="24" name="Shape 22">
            <a:extLst>
              <a:ext uri="{FF2B5EF4-FFF2-40B4-BE49-F238E27FC236}">
                <a16:creationId xmlns:a16="http://schemas.microsoft.com/office/drawing/2014/main" id="{C0F95106-AE42-4827-9D81-3DCEC25EE195}"/>
              </a:ext>
            </a:extLst>
          </p:cNvPr>
          <p:cNvSpPr>
            <a:spLocks noGrp="1"/>
          </p:cNvSpPr>
          <p:nvPr/>
        </p:nvSpPr>
        <p:spPr>
          <a:xfrm>
            <a:off x="4572000" y="3132709"/>
            <a:ext cx="677291" cy="338709"/>
          </a:xfrm>
          <a:prstGeom prst="rightArrow">
            <a:avLst>
              <a:gd name="adj1" fmla="val 50000"/>
              <a:gd name="adj2" fmla="val 50000"/>
            </a:avLst>
          </a:prstGeom>
          <a:solidFill>
            <a:srgbClr val="1565C0"/>
          </a:solidFill>
        </p:spPr>
      </p:sp>
      <p:sp>
        <p:nvSpPr>
          <p:cNvPr id="25" name="Shape 23">
            <a:extLst>
              <a:ext uri="{FF2B5EF4-FFF2-40B4-BE49-F238E27FC236}">
                <a16:creationId xmlns:a16="http://schemas.microsoft.com/office/drawing/2014/main" id="{51592822-E2BB-4B55-8632-A153FE97950C}"/>
              </a:ext>
            </a:extLst>
          </p:cNvPr>
          <p:cNvSpPr>
            <a:spLocks noGrp="1"/>
          </p:cNvSpPr>
          <p:nvPr/>
        </p:nvSpPr>
        <p:spPr>
          <a:xfrm>
            <a:off x="5418709" y="2709291"/>
            <a:ext cx="3386709" cy="1185291"/>
          </a:xfrm>
          <a:prstGeom prst="roundRect">
            <a:avLst>
              <a:gd name="adj" fmla="val 8000"/>
            </a:avLst>
          </a:prstGeom>
          <a:solidFill>
            <a:srgbClr val="E3F2FD"/>
          </a:solidFill>
          <a:ln w="25400">
            <a:solidFill>
              <a:srgbClr val="1565C0"/>
            </a:solidFill>
            <a:prstDash val="solid"/>
          </a:ln>
        </p:spPr>
      </p:sp>
      <p:sp>
        <p:nvSpPr>
          <p:cNvPr id="26" name="Shape 24">
            <a:extLst>
              <a:ext uri="{FF2B5EF4-FFF2-40B4-BE49-F238E27FC236}">
                <a16:creationId xmlns:a16="http://schemas.microsoft.com/office/drawing/2014/main" id="{83E59995-C288-4BB7-9269-F6BEDB7892B6}"/>
              </a:ext>
            </a:extLst>
          </p:cNvPr>
          <p:cNvSpPr>
            <a:spLocks noGrp="1"/>
          </p:cNvSpPr>
          <p:nvPr/>
        </p:nvSpPr>
        <p:spPr>
          <a:xfrm>
            <a:off x="5418709" y="2709291"/>
            <a:ext cx="3386709" cy="1185291"/>
          </a:xfrm>
          <a:prstGeom prst="rect">
            <a:avLst/>
          </a:prstGeom>
          <a:solidFill>
            <a:srgbClr val="FFFFFF">
              <a:alpha val="0"/>
            </a:srgbClr>
          </a:solidFill>
        </p:spPr>
      </p:sp>
      <p:sp>
        <p:nvSpPr>
          <p:cNvPr id="27" name="Text 25">
            <a:extLst>
              <a:ext uri="{FF2B5EF4-FFF2-40B4-BE49-F238E27FC236}">
                <a16:creationId xmlns:a16="http://schemas.microsoft.com/office/drawing/2014/main" id="{17F2A214-F81D-4D51-AA68-B51F261988FC}"/>
              </a:ext>
            </a:extLst>
          </p:cNvPr>
          <p:cNvSpPr>
            <a:spLocks noGrp="1"/>
          </p:cNvSpPr>
          <p:nvPr/>
        </p:nvSpPr>
        <p:spPr>
          <a:xfrm>
            <a:off x="5296789" y="2648331"/>
            <a:ext cx="3630549" cy="1307211"/>
          </a:xfrm>
          <a:prstGeom prst="rect">
            <a:avLst/>
          </a:prstGeom>
          <a:noFill/>
        </p:spPr>
        <p:txBody>
          <a:bodyPr wrap="square" lIns="0" tIns="0" rIns="0" bIns="0" anchor="ctr">
            <a:noAutofit/>
          </a:bodyPr>
          <a:lstStyle/>
          <a:p>
            <a:pPr algn="ctr">
              <a:lnSpc>
                <a:spcPct val="100000"/>
              </a:lnSpc>
              <a:buNone/>
              <a:defRPr sz="2400" b="0">
                <a:solidFill>
                  <a:srgbClr val="151515"/>
                </a:solidFill>
                <a:latin typeface="Times New Roman"/>
                <a:ea typeface="Times New Roman"/>
                <a:cs typeface="Times New Roman"/>
              </a:defRPr>
            </a:pPr>
            <a:r>
              <a:rPr sz="2400" b="0">
                <a:solidFill>
                  <a:srgbClr val="151515"/>
                </a:solidFill>
                <a:latin typeface="Times New Roman"/>
                <a:ea typeface="Times New Roman"/>
                <a:cs typeface="Times New Roman"/>
              </a:rPr>
              <a:t>FastAPI</a:t>
            </a:r>
            <a:endParaRPr sz="1600">
              <a:latin typeface="Times New Roman"/>
              <a:ea typeface="Times New Roman"/>
              <a:cs typeface="Times New Roman"/>
            </a:endParaRPr>
          </a:p>
          <a:p>
            <a:pPr algn="ctr">
              <a:lnSpc>
                <a:spcPct val="100000"/>
              </a:lnSpc>
              <a:buNone/>
              <a:defRPr sz="2400" b="0">
                <a:solidFill>
                  <a:srgbClr val="151515"/>
                </a:solidFill>
                <a:latin typeface="Times New Roman"/>
                <a:ea typeface="Times New Roman"/>
                <a:cs typeface="Times New Roman"/>
              </a:defRPr>
            </a:pPr>
            <a:r>
              <a:rPr sz="2400" b="0">
                <a:solidFill>
                  <a:srgbClr val="151515"/>
                </a:solidFill>
                <a:latin typeface="Times New Roman"/>
                <a:ea typeface="Times New Roman"/>
                <a:cs typeface="Times New Roman"/>
              </a:rPr>
              <a:t>/api/predict</a:t>
            </a:r>
            <a:endParaRPr sz="1600">
              <a:latin typeface="Times New Roman"/>
              <a:ea typeface="Times New Roman"/>
              <a:cs typeface="Times New Roman"/>
            </a:endParaRPr>
          </a:p>
        </p:txBody>
      </p:sp>
      <p:sp>
        <p:nvSpPr>
          <p:cNvPr id="28" name="Shape 26">
            <a:extLst>
              <a:ext uri="{FF2B5EF4-FFF2-40B4-BE49-F238E27FC236}">
                <a16:creationId xmlns:a16="http://schemas.microsoft.com/office/drawing/2014/main" id="{ED532ED9-73CE-4185-BCB9-08993338B20F}"/>
              </a:ext>
            </a:extLst>
          </p:cNvPr>
          <p:cNvSpPr>
            <a:spLocks noGrp="1"/>
          </p:cNvSpPr>
          <p:nvPr/>
        </p:nvSpPr>
        <p:spPr>
          <a:xfrm>
            <a:off x="8974709" y="3132709"/>
            <a:ext cx="677291" cy="338709"/>
          </a:xfrm>
          <a:prstGeom prst="rightArrow">
            <a:avLst>
              <a:gd name="adj1" fmla="val 50000"/>
              <a:gd name="adj2" fmla="val 50000"/>
            </a:avLst>
          </a:prstGeom>
          <a:solidFill>
            <a:srgbClr val="1565C0"/>
          </a:solidFill>
        </p:spPr>
      </p:sp>
      <p:sp>
        <p:nvSpPr>
          <p:cNvPr id="29" name="Shape 27">
            <a:extLst>
              <a:ext uri="{FF2B5EF4-FFF2-40B4-BE49-F238E27FC236}">
                <a16:creationId xmlns:a16="http://schemas.microsoft.com/office/drawing/2014/main" id="{615EAF64-B9E6-458F-A93D-257712EC6486}"/>
              </a:ext>
            </a:extLst>
          </p:cNvPr>
          <p:cNvSpPr>
            <a:spLocks noGrp="1"/>
          </p:cNvSpPr>
          <p:nvPr/>
        </p:nvSpPr>
        <p:spPr>
          <a:xfrm>
            <a:off x="9821291" y="2709291"/>
            <a:ext cx="3386709" cy="1185291"/>
          </a:xfrm>
          <a:prstGeom prst="roundRect">
            <a:avLst>
              <a:gd name="adj" fmla="val 8000"/>
            </a:avLst>
          </a:prstGeom>
          <a:solidFill>
            <a:srgbClr val="FFF3E0"/>
          </a:solidFill>
          <a:ln w="25400">
            <a:solidFill>
              <a:srgbClr val="FF6F00"/>
            </a:solidFill>
            <a:prstDash val="solid"/>
          </a:ln>
        </p:spPr>
      </p:sp>
      <p:sp>
        <p:nvSpPr>
          <p:cNvPr id="30" name="Shape 28">
            <a:extLst>
              <a:ext uri="{FF2B5EF4-FFF2-40B4-BE49-F238E27FC236}">
                <a16:creationId xmlns:a16="http://schemas.microsoft.com/office/drawing/2014/main" id="{5D4BDEDD-3C41-448D-89FB-5201F3D89EC3}"/>
              </a:ext>
            </a:extLst>
          </p:cNvPr>
          <p:cNvSpPr>
            <a:spLocks noGrp="1"/>
          </p:cNvSpPr>
          <p:nvPr/>
        </p:nvSpPr>
        <p:spPr>
          <a:xfrm>
            <a:off x="9821291" y="2709291"/>
            <a:ext cx="3386709" cy="1185291"/>
          </a:xfrm>
          <a:prstGeom prst="rect">
            <a:avLst/>
          </a:prstGeom>
          <a:solidFill>
            <a:srgbClr val="FFFFFF">
              <a:alpha val="0"/>
            </a:srgbClr>
          </a:solidFill>
        </p:spPr>
      </p:sp>
      <p:sp>
        <p:nvSpPr>
          <p:cNvPr id="31" name="Text 29">
            <a:extLst>
              <a:ext uri="{FF2B5EF4-FFF2-40B4-BE49-F238E27FC236}">
                <a16:creationId xmlns:a16="http://schemas.microsoft.com/office/drawing/2014/main" id="{4EBF9F16-C7FD-4BF7-8657-77071C72A2B0}"/>
              </a:ext>
            </a:extLst>
          </p:cNvPr>
          <p:cNvSpPr>
            <a:spLocks noGrp="1"/>
          </p:cNvSpPr>
          <p:nvPr/>
        </p:nvSpPr>
        <p:spPr>
          <a:xfrm>
            <a:off x="9699371" y="2648331"/>
            <a:ext cx="3630549" cy="1307211"/>
          </a:xfrm>
          <a:prstGeom prst="rect">
            <a:avLst/>
          </a:prstGeom>
          <a:noFill/>
        </p:spPr>
        <p:txBody>
          <a:bodyPr wrap="square" lIns="0" tIns="0" rIns="0" bIns="0" anchor="ctr">
            <a:noAutofit/>
          </a:bodyPr>
          <a:lstStyle/>
          <a:p>
            <a:pPr algn="ctr">
              <a:lnSpc>
                <a:spcPct val="100000"/>
              </a:lnSpc>
              <a:buNone/>
              <a:defRPr sz="2400" b="0">
                <a:solidFill>
                  <a:srgbClr val="151515"/>
                </a:solidFill>
                <a:latin typeface="Times New Roman"/>
                <a:ea typeface="Times New Roman"/>
                <a:cs typeface="Times New Roman"/>
              </a:defRPr>
            </a:pPr>
            <a:r>
              <a:rPr sz="2400" b="0">
                <a:solidFill>
                  <a:srgbClr val="151515"/>
                </a:solidFill>
                <a:latin typeface="Times New Roman"/>
                <a:ea typeface="Times New Roman"/>
                <a:cs typeface="Times New Roman"/>
              </a:rPr>
              <a:t>Engine</a:t>
            </a:r>
            <a:endParaRPr sz="1600">
              <a:latin typeface="Times New Roman"/>
              <a:ea typeface="Times New Roman"/>
              <a:cs typeface="Times New Roman"/>
            </a:endParaRPr>
          </a:p>
          <a:p>
            <a:pPr algn="ctr">
              <a:lnSpc>
                <a:spcPct val="100000"/>
              </a:lnSpc>
              <a:buNone/>
              <a:defRPr sz="2400" b="0">
                <a:solidFill>
                  <a:srgbClr val="151515"/>
                </a:solidFill>
                <a:latin typeface="Times New Roman"/>
                <a:ea typeface="Times New Roman"/>
                <a:cs typeface="Times New Roman"/>
              </a:defRPr>
            </a:pPr>
            <a:r>
              <a:rPr sz="2400" b="0">
                <a:solidFill>
                  <a:srgbClr val="151515"/>
                </a:solidFill>
                <a:latin typeface="Times New Roman"/>
                <a:ea typeface="Times New Roman"/>
                <a:cs typeface="Times New Roman"/>
              </a:rPr>
              <a:t>Nạp checkpoint</a:t>
            </a:r>
            <a:endParaRPr sz="1600">
              <a:latin typeface="Times New Roman"/>
              <a:ea typeface="Times New Roman"/>
              <a:cs typeface="Times New Roman"/>
            </a:endParaRPr>
          </a:p>
        </p:txBody>
      </p:sp>
      <p:sp>
        <p:nvSpPr>
          <p:cNvPr id="32" name="Shape 30">
            <a:extLst>
              <a:ext uri="{FF2B5EF4-FFF2-40B4-BE49-F238E27FC236}">
                <a16:creationId xmlns:a16="http://schemas.microsoft.com/office/drawing/2014/main" id="{08DB8AC6-258F-4841-BD3E-6BF46BFE6289}"/>
              </a:ext>
            </a:extLst>
          </p:cNvPr>
          <p:cNvSpPr>
            <a:spLocks noGrp="1"/>
          </p:cNvSpPr>
          <p:nvPr/>
        </p:nvSpPr>
        <p:spPr>
          <a:xfrm>
            <a:off x="13377291" y="3132709"/>
            <a:ext cx="677291" cy="338709"/>
          </a:xfrm>
          <a:prstGeom prst="rightArrow">
            <a:avLst>
              <a:gd name="adj1" fmla="val 50000"/>
              <a:gd name="adj2" fmla="val 50000"/>
            </a:avLst>
          </a:prstGeom>
          <a:solidFill>
            <a:srgbClr val="1565C0"/>
          </a:solidFill>
        </p:spPr>
      </p:sp>
      <p:sp>
        <p:nvSpPr>
          <p:cNvPr id="33" name="Shape 31">
            <a:extLst>
              <a:ext uri="{FF2B5EF4-FFF2-40B4-BE49-F238E27FC236}">
                <a16:creationId xmlns:a16="http://schemas.microsoft.com/office/drawing/2014/main" id="{1726A139-7668-4EDB-A726-5981E15D787A}"/>
              </a:ext>
            </a:extLst>
          </p:cNvPr>
          <p:cNvSpPr>
            <a:spLocks noGrp="1"/>
          </p:cNvSpPr>
          <p:nvPr/>
        </p:nvSpPr>
        <p:spPr>
          <a:xfrm>
            <a:off x="14224000" y="2709291"/>
            <a:ext cx="3386709" cy="1185291"/>
          </a:xfrm>
          <a:prstGeom prst="roundRect">
            <a:avLst>
              <a:gd name="adj" fmla="val 8000"/>
            </a:avLst>
          </a:prstGeom>
          <a:solidFill>
            <a:srgbClr val="E8F5E9"/>
          </a:solidFill>
          <a:ln w="25400">
            <a:solidFill>
              <a:srgbClr val="2E7D32"/>
            </a:solidFill>
            <a:prstDash val="solid"/>
          </a:ln>
        </p:spPr>
      </p:sp>
      <p:sp>
        <p:nvSpPr>
          <p:cNvPr id="34" name="Shape 32">
            <a:extLst>
              <a:ext uri="{FF2B5EF4-FFF2-40B4-BE49-F238E27FC236}">
                <a16:creationId xmlns:a16="http://schemas.microsoft.com/office/drawing/2014/main" id="{0A209B35-30C7-4B3D-824C-9FBEDDD5FC18}"/>
              </a:ext>
            </a:extLst>
          </p:cNvPr>
          <p:cNvSpPr>
            <a:spLocks noGrp="1"/>
          </p:cNvSpPr>
          <p:nvPr/>
        </p:nvSpPr>
        <p:spPr>
          <a:xfrm>
            <a:off x="14224000" y="2709291"/>
            <a:ext cx="3386709" cy="1185291"/>
          </a:xfrm>
          <a:prstGeom prst="rect">
            <a:avLst/>
          </a:prstGeom>
          <a:solidFill>
            <a:srgbClr val="FFFFFF">
              <a:alpha val="0"/>
            </a:srgbClr>
          </a:solidFill>
        </p:spPr>
      </p:sp>
      <p:sp>
        <p:nvSpPr>
          <p:cNvPr id="35" name="Text 33">
            <a:extLst>
              <a:ext uri="{FF2B5EF4-FFF2-40B4-BE49-F238E27FC236}">
                <a16:creationId xmlns:a16="http://schemas.microsoft.com/office/drawing/2014/main" id="{957FB766-6A88-49EC-95C7-A43EB0A87EA9}"/>
              </a:ext>
            </a:extLst>
          </p:cNvPr>
          <p:cNvSpPr>
            <a:spLocks noGrp="1"/>
          </p:cNvSpPr>
          <p:nvPr/>
        </p:nvSpPr>
        <p:spPr>
          <a:xfrm>
            <a:off x="14102080" y="2648331"/>
            <a:ext cx="3630549" cy="1307211"/>
          </a:xfrm>
          <a:prstGeom prst="rect">
            <a:avLst/>
          </a:prstGeom>
          <a:noFill/>
        </p:spPr>
        <p:txBody>
          <a:bodyPr wrap="square" lIns="0" tIns="0" rIns="0" bIns="0" anchor="ctr">
            <a:noAutofit/>
          </a:bodyPr>
          <a:lstStyle/>
          <a:p>
            <a:pPr algn="ctr">
              <a:lnSpc>
                <a:spcPct val="100000"/>
              </a:lnSpc>
              <a:buNone/>
              <a:defRPr sz="2400" b="0">
                <a:solidFill>
                  <a:srgbClr val="151515"/>
                </a:solidFill>
                <a:latin typeface="Times New Roman"/>
                <a:ea typeface="Times New Roman"/>
                <a:cs typeface="Times New Roman"/>
              </a:defRPr>
            </a:pPr>
            <a:r>
              <a:rPr sz="2400" b="0">
                <a:solidFill>
                  <a:srgbClr val="151515"/>
                </a:solidFill>
                <a:latin typeface="Times New Roman"/>
                <a:ea typeface="Times New Roman"/>
                <a:cs typeface="Times New Roman"/>
              </a:rPr>
              <a:t>Suy luận</a:t>
            </a:r>
            <a:endParaRPr sz="1600">
              <a:latin typeface="Times New Roman"/>
              <a:ea typeface="Times New Roman"/>
              <a:cs typeface="Times New Roman"/>
            </a:endParaRPr>
          </a:p>
          <a:p>
            <a:pPr algn="ctr">
              <a:lnSpc>
                <a:spcPct val="100000"/>
              </a:lnSpc>
              <a:buNone/>
              <a:defRPr sz="2400" b="0">
                <a:solidFill>
                  <a:srgbClr val="151515"/>
                </a:solidFill>
                <a:latin typeface="Times New Roman"/>
                <a:ea typeface="Times New Roman"/>
                <a:cs typeface="Times New Roman"/>
              </a:defRPr>
            </a:pPr>
            <a:r>
              <a:rPr sz="2400" b="0">
                <a:solidFill>
                  <a:srgbClr val="151515"/>
                </a:solidFill>
                <a:latin typeface="Times New Roman"/>
                <a:ea typeface="Times New Roman"/>
                <a:cs typeface="Times New Roman"/>
              </a:rPr>
              <a:t>Nhãn và cụm</a:t>
            </a:r>
            <a:endParaRPr sz="1600">
              <a:latin typeface="Times New Roman"/>
              <a:ea typeface="Times New Roman"/>
              <a:cs typeface="Times New Roman"/>
            </a:endParaRPr>
          </a:p>
        </p:txBody>
      </p:sp>
      <p:sp>
        <p:nvSpPr>
          <p:cNvPr id="36" name="Shape 34">
            <a:extLst>
              <a:ext uri="{FF2B5EF4-FFF2-40B4-BE49-F238E27FC236}">
                <a16:creationId xmlns:a16="http://schemas.microsoft.com/office/drawing/2014/main" id="{4E265100-37AD-402B-BF2E-5F37E1565182}"/>
              </a:ext>
            </a:extLst>
          </p:cNvPr>
          <p:cNvSpPr>
            <a:spLocks noGrp="1"/>
          </p:cNvSpPr>
          <p:nvPr/>
        </p:nvSpPr>
        <p:spPr>
          <a:xfrm>
            <a:off x="17780000" y="3132709"/>
            <a:ext cx="677291" cy="338709"/>
          </a:xfrm>
          <a:prstGeom prst="rightArrow">
            <a:avLst>
              <a:gd name="adj1" fmla="val 50000"/>
              <a:gd name="adj2" fmla="val 50000"/>
            </a:avLst>
          </a:prstGeom>
          <a:solidFill>
            <a:srgbClr val="1565C0"/>
          </a:solidFill>
        </p:spPr>
      </p:sp>
      <p:sp>
        <p:nvSpPr>
          <p:cNvPr id="37" name="Shape 35">
            <a:extLst>
              <a:ext uri="{FF2B5EF4-FFF2-40B4-BE49-F238E27FC236}">
                <a16:creationId xmlns:a16="http://schemas.microsoft.com/office/drawing/2014/main" id="{79FEE24C-B6E2-47B7-95DB-393139F4AE1E}"/>
              </a:ext>
            </a:extLst>
          </p:cNvPr>
          <p:cNvSpPr>
            <a:spLocks noGrp="1"/>
          </p:cNvSpPr>
          <p:nvPr/>
        </p:nvSpPr>
        <p:spPr>
          <a:xfrm>
            <a:off x="18626709" y="2709291"/>
            <a:ext cx="2032000" cy="1185291"/>
          </a:xfrm>
          <a:prstGeom prst="roundRect">
            <a:avLst>
              <a:gd name="adj" fmla="val 8000"/>
            </a:avLst>
          </a:prstGeom>
          <a:solidFill>
            <a:srgbClr val="1565C0"/>
          </a:solidFill>
        </p:spPr>
      </p:sp>
      <p:sp>
        <p:nvSpPr>
          <p:cNvPr id="38" name="Shape 36">
            <a:extLst>
              <a:ext uri="{FF2B5EF4-FFF2-40B4-BE49-F238E27FC236}">
                <a16:creationId xmlns:a16="http://schemas.microsoft.com/office/drawing/2014/main" id="{95BEAD89-26C6-4D0A-8EF7-29E87478D851}"/>
              </a:ext>
            </a:extLst>
          </p:cNvPr>
          <p:cNvSpPr>
            <a:spLocks noGrp="1"/>
          </p:cNvSpPr>
          <p:nvPr/>
        </p:nvSpPr>
        <p:spPr>
          <a:xfrm>
            <a:off x="18626709" y="2709291"/>
            <a:ext cx="2032000" cy="1185291"/>
          </a:xfrm>
          <a:prstGeom prst="rect">
            <a:avLst/>
          </a:prstGeom>
          <a:solidFill>
            <a:srgbClr val="FFFFFF">
              <a:alpha val="0"/>
            </a:srgbClr>
          </a:solidFill>
        </p:spPr>
      </p:sp>
      <p:sp>
        <p:nvSpPr>
          <p:cNvPr id="39" name="Text 37">
            <a:extLst>
              <a:ext uri="{FF2B5EF4-FFF2-40B4-BE49-F238E27FC236}">
                <a16:creationId xmlns:a16="http://schemas.microsoft.com/office/drawing/2014/main" id="{5E97A85E-943B-4D2E-A161-A066E61961BA}"/>
              </a:ext>
            </a:extLst>
          </p:cNvPr>
          <p:cNvSpPr>
            <a:spLocks noGrp="1"/>
          </p:cNvSpPr>
          <p:nvPr/>
        </p:nvSpPr>
        <p:spPr>
          <a:xfrm>
            <a:off x="18504789" y="2648331"/>
            <a:ext cx="2275840" cy="1307211"/>
          </a:xfrm>
          <a:prstGeom prst="rect">
            <a:avLst/>
          </a:prstGeom>
          <a:noFill/>
        </p:spPr>
        <p:txBody>
          <a:bodyPr wrap="square" lIns="0" tIns="0" rIns="0" bIns="0" anchor="ctr">
            <a:noAutofit/>
          </a:bodyPr>
          <a:lstStyle/>
          <a:p>
            <a:pPr algn="ctr">
              <a:lnSpc>
                <a:spcPct val="100000"/>
              </a:lnSpc>
              <a:buNone/>
              <a:defRPr sz="2400" b="0">
                <a:solidFill>
                  <a:srgbClr val="FFFFFF"/>
                </a:solidFill>
                <a:latin typeface="Times New Roman"/>
                <a:ea typeface="Times New Roman"/>
                <a:cs typeface="Times New Roman"/>
              </a:defRPr>
            </a:pPr>
            <a:r>
              <a:rPr sz="2400" b="0">
                <a:solidFill>
                  <a:srgbClr val="FFFFFF"/>
                </a:solidFill>
                <a:latin typeface="Times New Roman"/>
                <a:ea typeface="Times New Roman"/>
                <a:cs typeface="Times New Roman"/>
              </a:rPr>
              <a:t>Kết quả</a:t>
            </a:r>
            <a:endParaRPr sz="1600">
              <a:latin typeface="Times New Roman"/>
              <a:ea typeface="Times New Roman"/>
              <a:cs typeface="Times New Roman"/>
            </a:endParaRPr>
          </a:p>
          <a:p>
            <a:pPr algn="ctr">
              <a:lnSpc>
                <a:spcPct val="100000"/>
              </a:lnSpc>
              <a:buNone/>
              <a:defRPr sz="2400" b="0">
                <a:solidFill>
                  <a:srgbClr val="FFFFFF"/>
                </a:solidFill>
                <a:latin typeface="Times New Roman"/>
                <a:ea typeface="Times New Roman"/>
                <a:cs typeface="Times New Roman"/>
              </a:defRPr>
            </a:pPr>
            <a:r>
              <a:rPr sz="2400" b="0">
                <a:solidFill>
                  <a:srgbClr val="FFFFFF"/>
                </a:solidFill>
                <a:latin typeface="Times New Roman"/>
                <a:ea typeface="Times New Roman"/>
                <a:cs typeface="Times New Roman"/>
              </a:rPr>
              <a:t>Hiển thị</a:t>
            </a:r>
            <a:endParaRPr sz="1600">
              <a:latin typeface="Times New Roman"/>
              <a:ea typeface="Times New Roman"/>
              <a:cs typeface="Times New Roman"/>
            </a:endParaRPr>
          </a:p>
        </p:txBody>
      </p:sp>
      <p:sp>
        <p:nvSpPr>
          <p:cNvPr id="40" name="Shape 38">
            <a:extLst>
              <a:ext uri="{FF2B5EF4-FFF2-40B4-BE49-F238E27FC236}">
                <a16:creationId xmlns:a16="http://schemas.microsoft.com/office/drawing/2014/main" id="{3A779F4D-F27F-402F-A3C2-16BF296266C1}"/>
              </a:ext>
            </a:extLst>
          </p:cNvPr>
          <p:cNvSpPr>
            <a:spLocks noGrp="1"/>
          </p:cNvSpPr>
          <p:nvPr/>
        </p:nvSpPr>
        <p:spPr>
          <a:xfrm>
            <a:off x="1016000" y="4402709"/>
            <a:ext cx="19642709" cy="2032000"/>
          </a:xfrm>
          <a:prstGeom prst="roundRect">
            <a:avLst>
              <a:gd name="adj" fmla="val 8000"/>
            </a:avLst>
          </a:prstGeom>
          <a:solidFill>
            <a:srgbClr val="FFEBEE"/>
          </a:solidFill>
          <a:ln w="25400">
            <a:solidFill>
              <a:srgbClr val="C62828"/>
            </a:solidFill>
            <a:prstDash val="solid"/>
          </a:ln>
        </p:spPr>
      </p:sp>
      <p:sp>
        <p:nvSpPr>
          <p:cNvPr id="42" name="Shape 40">
            <a:extLst>
              <a:ext uri="{FF2B5EF4-FFF2-40B4-BE49-F238E27FC236}">
                <a16:creationId xmlns:a16="http://schemas.microsoft.com/office/drawing/2014/main" id="{71C3A013-462D-46F5-AE1A-F4562C349AC7}"/>
              </a:ext>
            </a:extLst>
          </p:cNvPr>
          <p:cNvSpPr>
            <a:spLocks noGrp="1"/>
          </p:cNvSpPr>
          <p:nvPr/>
        </p:nvSpPr>
        <p:spPr>
          <a:xfrm>
            <a:off x="1964309" y="4656709"/>
            <a:ext cx="10160000" cy="474091"/>
          </a:xfrm>
          <a:prstGeom prst="rect">
            <a:avLst/>
          </a:prstGeom>
          <a:solidFill>
            <a:srgbClr val="FFFFFF">
              <a:alpha val="0"/>
            </a:srgbClr>
          </a:solidFill>
        </p:spPr>
      </p:sp>
      <p:sp>
        <p:nvSpPr>
          <p:cNvPr id="43" name="Text 41">
            <a:extLst>
              <a:ext uri="{FF2B5EF4-FFF2-40B4-BE49-F238E27FC236}">
                <a16:creationId xmlns:a16="http://schemas.microsoft.com/office/drawing/2014/main" id="{5A58BB1E-ACFB-4C1C-899F-FA9223476143}"/>
              </a:ext>
            </a:extLst>
          </p:cNvPr>
          <p:cNvSpPr>
            <a:spLocks noGrp="1"/>
          </p:cNvSpPr>
          <p:nvPr/>
        </p:nvSpPr>
        <p:spPr>
          <a:xfrm>
            <a:off x="1842389" y="4595749"/>
            <a:ext cx="10403840" cy="596011"/>
          </a:xfrm>
          <a:prstGeom prst="rect">
            <a:avLst/>
          </a:prstGeom>
          <a:noFill/>
        </p:spPr>
        <p:txBody>
          <a:bodyPr wrap="none" lIns="0" tIns="0" rIns="0" bIns="0" anchor="ctr">
            <a:noAutofit/>
          </a:bodyPr>
          <a:lstStyle/>
          <a:p>
            <a:pPr>
              <a:lnSpc>
                <a:spcPct val="100000"/>
              </a:lnSpc>
              <a:buNone/>
              <a:defRPr sz="2850" b="1">
                <a:solidFill>
                  <a:srgbClr val="C62828"/>
                </a:solidFill>
                <a:latin typeface="Times New Roman"/>
                <a:ea typeface="Times New Roman"/>
                <a:cs typeface="Times New Roman"/>
              </a:defRPr>
            </a:pPr>
            <a:r>
              <a:rPr sz="2850" b="1">
                <a:solidFill>
                  <a:srgbClr val="C62828"/>
                </a:solidFill>
                <a:latin typeface="Times New Roman"/>
                <a:ea typeface="Times New Roman"/>
                <a:cs typeface="Times New Roman"/>
              </a:rPr>
              <a:t>Hai bước lọc cần phân biệt</a:t>
            </a:r>
            <a:endParaRPr sz="1600">
              <a:latin typeface="Times New Roman"/>
              <a:ea typeface="Times New Roman"/>
              <a:cs typeface="Times New Roman"/>
            </a:endParaRPr>
          </a:p>
        </p:txBody>
      </p:sp>
      <p:sp>
        <p:nvSpPr>
          <p:cNvPr id="44" name="Shape 42">
            <a:extLst>
              <a:ext uri="{FF2B5EF4-FFF2-40B4-BE49-F238E27FC236}">
                <a16:creationId xmlns:a16="http://schemas.microsoft.com/office/drawing/2014/main" id="{BE495453-6D3A-4E59-9923-13041E9BBD83}"/>
              </a:ext>
            </a:extLst>
          </p:cNvPr>
          <p:cNvSpPr>
            <a:spLocks noGrp="1"/>
          </p:cNvSpPr>
          <p:nvPr/>
        </p:nvSpPr>
        <p:spPr>
          <a:xfrm>
            <a:off x="1354709" y="5283200"/>
            <a:ext cx="18965291" cy="982091"/>
          </a:xfrm>
          <a:prstGeom prst="rect">
            <a:avLst/>
          </a:prstGeom>
          <a:solidFill>
            <a:srgbClr val="FFFFFF">
              <a:alpha val="0"/>
            </a:srgbClr>
          </a:solidFill>
        </p:spPr>
      </p:sp>
      <p:sp>
        <p:nvSpPr>
          <p:cNvPr id="45" name="Text 43">
            <a:extLst>
              <a:ext uri="{FF2B5EF4-FFF2-40B4-BE49-F238E27FC236}">
                <a16:creationId xmlns:a16="http://schemas.microsoft.com/office/drawing/2014/main" id="{7B248DDB-D382-45A0-B420-709A99E70089}"/>
              </a:ext>
            </a:extLst>
          </p:cNvPr>
          <p:cNvSpPr>
            <a:spLocks noGrp="1"/>
          </p:cNvSpPr>
          <p:nvPr/>
        </p:nvSpPr>
        <p:spPr>
          <a:xfrm>
            <a:off x="1232789" y="5222240"/>
            <a:ext cx="19209131" cy="1104011"/>
          </a:xfrm>
          <a:prstGeom prst="rect">
            <a:avLst/>
          </a:prstGeom>
          <a:noFill/>
        </p:spPr>
        <p:txBody>
          <a:bodyPr wrap="square" lIns="0" tIns="0" rIns="0" bIns="0" anchor="t">
            <a:noAutofit/>
          </a:bodyPr>
          <a:lstStyle/>
          <a:p>
            <a:pPr>
              <a:lnSpc>
                <a:spcPct val="150000"/>
              </a:lnSpc>
              <a:buNone/>
              <a:defRPr sz="2625" b="0">
                <a:solidFill>
                  <a:srgbClr val="151515"/>
                </a:solidFill>
                <a:latin typeface="Times New Roman"/>
                <a:ea typeface="Times New Roman"/>
                <a:cs typeface="Times New Roman"/>
              </a:defRPr>
            </a:pPr>
            <a:r>
              <a:rPr sz="2625" b="0">
                <a:solidFill>
                  <a:srgbClr val="151515"/>
                </a:solidFill>
                <a:latin typeface="Times New Roman"/>
                <a:ea typeface="Times New Roman"/>
                <a:cs typeface="Times New Roman"/>
              </a:rPr>
              <a:t>Dual head có cổng học ở cấp đầu vào. Web còn lọc từng vế bằng luật từ khóa. Khi demo cần ghi rõ loại mô hình đã tải và bước lọc đang dùng.</a:t>
            </a:r>
            <a:endParaRPr sz="1600">
              <a:latin typeface="Times New Roman"/>
              <a:ea typeface="Times New Roman"/>
              <a:cs typeface="Times New Roman"/>
            </a:endParaRPr>
          </a:p>
        </p:txBody>
      </p:sp>
      <p:sp>
        <p:nvSpPr>
          <p:cNvPr id="46" name="Shape 44">
            <a:extLst>
              <a:ext uri="{FF2B5EF4-FFF2-40B4-BE49-F238E27FC236}">
                <a16:creationId xmlns:a16="http://schemas.microsoft.com/office/drawing/2014/main" id="{D1C88092-E589-47DF-9FD4-883812B56B59}"/>
              </a:ext>
            </a:extLst>
          </p:cNvPr>
          <p:cNvSpPr>
            <a:spLocks noGrp="1"/>
          </p:cNvSpPr>
          <p:nvPr/>
        </p:nvSpPr>
        <p:spPr>
          <a:xfrm>
            <a:off x="1016000" y="6858000"/>
            <a:ext cx="8466709" cy="474091"/>
          </a:xfrm>
          <a:prstGeom prst="rect">
            <a:avLst/>
          </a:prstGeom>
          <a:solidFill>
            <a:srgbClr val="FFFFFF">
              <a:alpha val="0"/>
            </a:srgbClr>
          </a:solidFill>
        </p:spPr>
      </p:sp>
      <p:sp>
        <p:nvSpPr>
          <p:cNvPr id="47" name="Text 45">
            <a:extLst>
              <a:ext uri="{FF2B5EF4-FFF2-40B4-BE49-F238E27FC236}">
                <a16:creationId xmlns:a16="http://schemas.microsoft.com/office/drawing/2014/main" id="{1C5E6880-B801-40B2-B7A7-57C2AFCF0CED}"/>
              </a:ext>
            </a:extLst>
          </p:cNvPr>
          <p:cNvSpPr>
            <a:spLocks noGrp="1"/>
          </p:cNvSpPr>
          <p:nvPr/>
        </p:nvSpPr>
        <p:spPr>
          <a:xfrm>
            <a:off x="894080" y="6797040"/>
            <a:ext cx="8710549" cy="596011"/>
          </a:xfrm>
          <a:prstGeom prst="rect">
            <a:avLst/>
          </a:prstGeom>
          <a:noFill/>
        </p:spPr>
        <p:txBody>
          <a:bodyPr wrap="none" lIns="0" tIns="0" rIns="0" bIns="0" anchor="ctr">
            <a:noAutofit/>
          </a:bodyPr>
          <a:lstStyle/>
          <a:p>
            <a:pPr>
              <a:lnSpc>
                <a:spcPct val="100000"/>
              </a:lnSpc>
              <a:buNone/>
              <a:defRPr sz="3000" b="1">
                <a:solidFill>
                  <a:srgbClr val="1565C0"/>
                </a:solidFill>
                <a:latin typeface="Times New Roman"/>
                <a:ea typeface="Times New Roman"/>
                <a:cs typeface="Times New Roman"/>
              </a:defRPr>
            </a:pPr>
            <a:r>
              <a:rPr sz="3000" b="1">
                <a:solidFill>
                  <a:srgbClr val="1565C0"/>
                </a:solidFill>
                <a:latin typeface="Times New Roman"/>
                <a:ea typeface="Times New Roman"/>
                <a:cs typeface="Times New Roman"/>
              </a:rPr>
              <a:t>Chức năng chính</a:t>
            </a:r>
            <a:endParaRPr sz="1600">
              <a:latin typeface="Times New Roman"/>
              <a:ea typeface="Times New Roman"/>
              <a:cs typeface="Times New Roman"/>
            </a:endParaRPr>
          </a:p>
        </p:txBody>
      </p:sp>
      <p:sp>
        <p:nvSpPr>
          <p:cNvPr id="49" name="Shape 46">
            <a:extLst>
              <a:ext uri="{FF2B5EF4-FFF2-40B4-BE49-F238E27FC236}">
                <a16:creationId xmlns:a16="http://schemas.microsoft.com/office/drawing/2014/main" id="{3A19C1F7-51EA-48ED-8BD7-9B871F2E0E55}"/>
              </a:ext>
            </a:extLst>
          </p:cNvPr>
          <p:cNvSpPr>
            <a:spLocks noGrp="1"/>
          </p:cNvSpPr>
          <p:nvPr/>
        </p:nvSpPr>
        <p:spPr>
          <a:xfrm>
            <a:off x="19981291" y="11684000"/>
            <a:ext cx="1016000" cy="406400"/>
          </a:xfrm>
          <a:prstGeom prst="rect">
            <a:avLst/>
          </a:prstGeom>
          <a:solidFill>
            <a:srgbClr val="FFFFFF">
              <a:alpha val="0"/>
            </a:srgbClr>
          </a:solidFill>
        </p:spPr>
      </p:sp>
      <p:sp>
        <p:nvSpPr>
          <p:cNvPr id="50" name="Text 47">
            <a:extLst>
              <a:ext uri="{FF2B5EF4-FFF2-40B4-BE49-F238E27FC236}">
                <a16:creationId xmlns:a16="http://schemas.microsoft.com/office/drawing/2014/main" id="{FEB74024-A235-4381-BFED-900E5619A93C}"/>
              </a:ext>
            </a:extLst>
          </p:cNvPr>
          <p:cNvSpPr>
            <a:spLocks noGrp="1"/>
          </p:cNvSpPr>
          <p:nvPr/>
        </p:nvSpPr>
        <p:spPr>
          <a:xfrm>
            <a:off x="19859371" y="11623040"/>
            <a:ext cx="1259840" cy="528320"/>
          </a:xfrm>
          <a:prstGeom prst="rect">
            <a:avLst/>
          </a:prstGeom>
          <a:noFill/>
        </p:spPr>
        <p:txBody>
          <a:bodyPr wrap="none" lIns="0" tIns="0" rIns="0" bIns="0" anchor="ctr">
            <a:noAutofit/>
          </a:bodyPr>
          <a:lstStyle/>
          <a:p>
            <a:pPr algn="r">
              <a:lnSpc>
                <a:spcPct val="100000"/>
              </a:lnSpc>
              <a:buNone/>
              <a:defRPr sz="1950">
                <a:solidFill>
                  <a:srgbClr val="666666"/>
                </a:solidFill>
                <a:latin typeface="Times New Roman"/>
                <a:ea typeface="Times New Roman"/>
                <a:cs typeface="Times New Roman"/>
              </a:defRPr>
            </a:pPr>
            <a:r>
              <a:rPr sz="1950">
                <a:solidFill>
                  <a:srgbClr val="666666"/>
                </a:solidFill>
                <a:latin typeface="Times New Roman"/>
                <a:ea typeface="Times New Roman"/>
                <a:cs typeface="Times New Roman"/>
              </a:rPr>
              <a:t>15/18</a:t>
            </a:r>
            <a:endParaRPr sz="1600">
              <a:latin typeface="Times New Roman"/>
              <a:ea typeface="Times New Roman"/>
              <a:cs typeface="Times New Roman"/>
            </a:endParaRPr>
          </a:p>
        </p:txBody>
      </p:sp>
      <p:sp>
        <p:nvSpPr>
          <p:cNvPr id="52" name="Shape 26">
            <a:extLst>
              <a:ext uri="{FF2B5EF4-FFF2-40B4-BE49-F238E27FC236}">
                <a16:creationId xmlns:a16="http://schemas.microsoft.com/office/drawing/2014/main" id="{5BB23E60-AABA-6C0F-8A59-6BDA4DFC435A}"/>
              </a:ext>
            </a:extLst>
          </p:cNvPr>
          <p:cNvSpPr>
            <a:spLocks noGrp="1"/>
          </p:cNvSpPr>
          <p:nvPr/>
        </p:nvSpPr>
        <p:spPr>
          <a:xfrm>
            <a:off x="1330323" y="4743069"/>
            <a:ext cx="355600" cy="355600"/>
          </a:xfrm>
          <a:custGeom>
            <a:avLst/>
            <a:gdLst/>
            <a:ahLst/>
            <a:cxnLst/>
            <a:rect l="l" t="t" r="r" b="b"/>
            <a:pathLst>
              <a:path w="355600" h="355600">
                <a:moveTo>
                  <a:pt x="177800" y="0"/>
                </a:moveTo>
                <a:cubicBezTo>
                  <a:pt x="180995" y="0"/>
                  <a:pt x="184190" y="695"/>
                  <a:pt x="187107" y="2014"/>
                </a:cubicBezTo>
                <a:lnTo>
                  <a:pt x="317956" y="57507"/>
                </a:lnTo>
                <a:cubicBezTo>
                  <a:pt x="333236" y="63966"/>
                  <a:pt x="344626" y="79038"/>
                  <a:pt x="344557" y="97234"/>
                </a:cubicBezTo>
                <a:cubicBezTo>
                  <a:pt x="344210" y="166132"/>
                  <a:pt x="315873" y="292189"/>
                  <a:pt x="196205" y="349488"/>
                </a:cubicBezTo>
                <a:cubicBezTo>
                  <a:pt x="184606" y="355044"/>
                  <a:pt x="171133" y="355044"/>
                  <a:pt x="159534" y="349488"/>
                </a:cubicBezTo>
                <a:cubicBezTo>
                  <a:pt x="39797" y="292189"/>
                  <a:pt x="11529" y="166132"/>
                  <a:pt x="11182" y="97234"/>
                </a:cubicBezTo>
                <a:cubicBezTo>
                  <a:pt x="11112" y="79038"/>
                  <a:pt x="22503" y="63966"/>
                  <a:pt x="37782" y="57507"/>
                </a:cubicBezTo>
                <a:lnTo>
                  <a:pt x="168563" y="2014"/>
                </a:lnTo>
                <a:cubicBezTo>
                  <a:pt x="171480" y="695"/>
                  <a:pt x="174605" y="0"/>
                  <a:pt x="177800" y="0"/>
                </a:cubicBezTo>
                <a:close/>
                <a:moveTo>
                  <a:pt x="177800" y="46395"/>
                </a:moveTo>
                <a:lnTo>
                  <a:pt x="177800" y="308997"/>
                </a:lnTo>
                <a:cubicBezTo>
                  <a:pt x="273645" y="262602"/>
                  <a:pt x="299412" y="159812"/>
                  <a:pt x="300038" y="98276"/>
                </a:cubicBezTo>
                <a:lnTo>
                  <a:pt x="177800" y="46464"/>
                </a:lnTo>
                <a:lnTo>
                  <a:pt x="177800" y="46464"/>
                </a:lnTo>
                <a:close/>
              </a:path>
            </a:pathLst>
          </a:custGeom>
          <a:solidFill>
            <a:srgbClr val="C62828"/>
          </a:solidFill>
        </p:spPr>
      </p:sp>
      <p:graphicFrame>
        <p:nvGraphicFramePr>
          <p:cNvPr id="100" name="Table 101"/>
          <p:cNvGraphicFramePr/>
          <p:nvPr/>
        </p:nvGraphicFramePr>
        <p:xfrm>
          <a:off x="1016032" y="7535323"/>
          <a:ext cx="19642740" cy="3386708"/>
        </p:xfrm>
        <a:graphic>
          <a:graphicData uri="http://schemas.openxmlformats.org/drawingml/2006/table">
            <a:tbl>
              <a:tblPr/>
              <a:tblGrid>
                <a:gridCol w="4910685">
                  <a:extLst>
                    <a:ext uri="{9D8B030D-6E8A-4147-A177-3AD203B41FA5}">
                      <a16:colId xmlns:a16="http://schemas.microsoft.com/office/drawing/2014/main" val="20000"/>
                    </a:ext>
                  </a:extLst>
                </a:gridCol>
                <a:gridCol w="4910685">
                  <a:extLst>
                    <a:ext uri="{9D8B030D-6E8A-4147-A177-3AD203B41FA5}">
                      <a16:colId xmlns:a16="http://schemas.microsoft.com/office/drawing/2014/main" val="20001"/>
                    </a:ext>
                  </a:extLst>
                </a:gridCol>
                <a:gridCol w="4910685">
                  <a:extLst>
                    <a:ext uri="{9D8B030D-6E8A-4147-A177-3AD203B41FA5}">
                      <a16:colId xmlns:a16="http://schemas.microsoft.com/office/drawing/2014/main" val="20002"/>
                    </a:ext>
                  </a:extLst>
                </a:gridCol>
                <a:gridCol w="4910685">
                  <a:extLst>
                    <a:ext uri="{9D8B030D-6E8A-4147-A177-3AD203B41FA5}">
                      <a16:colId xmlns:a16="http://schemas.microsoft.com/office/drawing/2014/main" val="20003"/>
                    </a:ext>
                  </a:extLst>
                </a:gridCol>
              </a:tblGrid>
              <a:tr h="846677">
                <a:tc>
                  <a:txBody>
                    <a:bodyPr/>
                    <a:lstStyle/>
                    <a:p>
                      <a:r>
                        <a:rPr sz="2475" b="1">
                          <a:solidFill>
                            <a:srgbClr val="FFFFFF"/>
                          </a:solidFill>
                          <a:latin typeface="Times New Roman"/>
                          <a:ea typeface="Times New Roman"/>
                          <a:cs typeface="Times New Roman"/>
                        </a:rPr>
                        <a:t>Thành phần</a:t>
                      </a:r>
                    </a:p>
                  </a:txBody>
                  <a:tcPr anchor="ctr">
                    <a:solidFill>
                      <a:srgbClr val="1565C0"/>
                    </a:solidFill>
                  </a:tcPr>
                </a:tc>
                <a:tc>
                  <a:txBody>
                    <a:bodyPr/>
                    <a:lstStyle/>
                    <a:p>
                      <a:r>
                        <a:rPr sz="2475" b="1">
                          <a:solidFill>
                            <a:srgbClr val="FFFFFF"/>
                          </a:solidFill>
                          <a:latin typeface="Times New Roman"/>
                          <a:ea typeface="Times New Roman"/>
                          <a:cs typeface="Times New Roman"/>
                        </a:rPr>
                        <a:t>Công nghệ</a:t>
                      </a:r>
                    </a:p>
                  </a:txBody>
                  <a:tcPr anchor="ctr">
                    <a:solidFill>
                      <a:srgbClr val="1565C0"/>
                    </a:solidFill>
                  </a:tcPr>
                </a:tc>
                <a:tc>
                  <a:txBody>
                    <a:bodyPr/>
                    <a:lstStyle/>
                    <a:p>
                      <a:r>
                        <a:rPr sz="2475" b="1">
                          <a:solidFill>
                            <a:srgbClr val="FFFFFF"/>
                          </a:solidFill>
                          <a:latin typeface="Times New Roman"/>
                          <a:ea typeface="Times New Roman"/>
                          <a:cs typeface="Times New Roman"/>
                        </a:rPr>
                        <a:t>Chức năng</a:t>
                      </a:r>
                    </a:p>
                  </a:txBody>
                  <a:tcPr anchor="ctr">
                    <a:solidFill>
                      <a:srgbClr val="1565C0"/>
                    </a:solidFill>
                  </a:tcPr>
                </a:tc>
                <a:tc>
                  <a:txBody>
                    <a:bodyPr/>
                    <a:lstStyle/>
                    <a:p>
                      <a:r>
                        <a:rPr sz="2475" b="1">
                          <a:solidFill>
                            <a:srgbClr val="FFFFFF"/>
                          </a:solidFill>
                          <a:latin typeface="Times New Roman"/>
                          <a:ea typeface="Times New Roman"/>
                          <a:cs typeface="Times New Roman"/>
                        </a:rPr>
                        <a:t>Đầu ra</a:t>
                      </a:r>
                    </a:p>
                  </a:txBody>
                  <a:tcPr anchor="ctr">
                    <a:solidFill>
                      <a:srgbClr val="1565C0"/>
                    </a:solidFill>
                  </a:tcPr>
                </a:tc>
                <a:extLst>
                  <a:ext uri="{0D108BD9-81ED-4DB2-BD59-A6C34878D82A}">
                    <a16:rowId xmlns:a16="http://schemas.microsoft.com/office/drawing/2014/main" val="10000"/>
                  </a:ext>
                </a:extLst>
              </a:tr>
              <a:tr h="846677">
                <a:tc>
                  <a:txBody>
                    <a:bodyPr/>
                    <a:lstStyle/>
                    <a:p>
                      <a:r>
                        <a:rPr sz="2475" b="0">
                          <a:solidFill>
                            <a:srgbClr val="151515"/>
                          </a:solidFill>
                          <a:latin typeface="Times New Roman"/>
                          <a:ea typeface="Times New Roman"/>
                          <a:cs typeface="Times New Roman"/>
                        </a:rPr>
                        <a:t>Giao diện</a:t>
                      </a:r>
                    </a:p>
                  </a:txBody>
                  <a:tcPr anchor="ctr">
                    <a:solidFill>
                      <a:srgbClr val="FFFFFF"/>
                    </a:solidFill>
                  </a:tcPr>
                </a:tc>
                <a:tc>
                  <a:txBody>
                    <a:bodyPr/>
                    <a:lstStyle/>
                    <a:p>
                      <a:r>
                        <a:rPr sz="2475" b="0">
                          <a:solidFill>
                            <a:srgbClr val="151515"/>
                          </a:solidFill>
                          <a:latin typeface="Times New Roman"/>
                          <a:ea typeface="Times New Roman"/>
                          <a:cs typeface="Times New Roman"/>
                        </a:rPr>
                        <a:t>React + Vite</a:t>
                      </a:r>
                    </a:p>
                  </a:txBody>
                  <a:tcPr anchor="ctr">
                    <a:solidFill>
                      <a:srgbClr val="FFFFFF"/>
                    </a:solidFill>
                  </a:tcPr>
                </a:tc>
                <a:tc>
                  <a:txBody>
                    <a:bodyPr/>
                    <a:lstStyle/>
                    <a:p>
                      <a:r>
                        <a:rPr sz="2475" b="0">
                          <a:solidFill>
                            <a:srgbClr val="151515"/>
                          </a:solidFill>
                          <a:latin typeface="Times New Roman"/>
                          <a:ea typeface="Times New Roman"/>
                          <a:cs typeface="Times New Roman"/>
                        </a:rPr>
                        <a:t>Chọn mô hình</a:t>
                      </a:r>
                    </a:p>
                  </a:txBody>
                  <a:tcPr anchor="ctr">
                    <a:solidFill>
                      <a:srgbClr val="FFFFFF"/>
                    </a:solidFill>
                  </a:tcPr>
                </a:tc>
                <a:tc>
                  <a:txBody>
                    <a:bodyPr/>
                    <a:lstStyle/>
                    <a:p>
                      <a:r>
                        <a:rPr sz="2475" b="0">
                          <a:solidFill>
                            <a:srgbClr val="151515"/>
                          </a:solidFill>
                          <a:latin typeface="Times New Roman"/>
                          <a:ea typeface="Times New Roman"/>
                          <a:cs typeface="Times New Roman"/>
                        </a:rPr>
                        <a:t>Cụm và nhãn</a:t>
                      </a:r>
                    </a:p>
                  </a:txBody>
                  <a:tcPr anchor="ctr">
                    <a:solidFill>
                      <a:srgbClr val="FFFFFF"/>
                    </a:solidFill>
                  </a:tcPr>
                </a:tc>
                <a:extLst>
                  <a:ext uri="{0D108BD9-81ED-4DB2-BD59-A6C34878D82A}">
                    <a16:rowId xmlns:a16="http://schemas.microsoft.com/office/drawing/2014/main" val="10001"/>
                  </a:ext>
                </a:extLst>
              </a:tr>
              <a:tr h="846677">
                <a:tc>
                  <a:txBody>
                    <a:bodyPr/>
                    <a:lstStyle/>
                    <a:p>
                      <a:r>
                        <a:rPr sz="2475" b="0">
                          <a:solidFill>
                            <a:srgbClr val="151515"/>
                          </a:solidFill>
                          <a:latin typeface="Times New Roman"/>
                          <a:ea typeface="Times New Roman"/>
                          <a:cs typeface="Times New Roman"/>
                        </a:rPr>
                        <a:t>Backend</a:t>
                      </a:r>
                    </a:p>
                  </a:txBody>
                  <a:tcPr anchor="ctr">
                    <a:solidFill>
                      <a:srgbClr val="E3F2FD"/>
                    </a:solidFill>
                  </a:tcPr>
                </a:tc>
                <a:tc>
                  <a:txBody>
                    <a:bodyPr/>
                    <a:lstStyle/>
                    <a:p>
                      <a:r>
                        <a:rPr sz="2475" b="0">
                          <a:solidFill>
                            <a:srgbClr val="151515"/>
                          </a:solidFill>
                          <a:latin typeface="Times New Roman"/>
                          <a:ea typeface="Times New Roman"/>
                          <a:cs typeface="Times New Roman"/>
                        </a:rPr>
                        <a:t>FastAPI</a:t>
                      </a:r>
                    </a:p>
                  </a:txBody>
                  <a:tcPr anchor="ctr">
                    <a:solidFill>
                      <a:srgbClr val="E3F2FD"/>
                    </a:solidFill>
                  </a:tcPr>
                </a:tc>
                <a:tc>
                  <a:txBody>
                    <a:bodyPr/>
                    <a:lstStyle/>
                    <a:p>
                      <a:r>
                        <a:rPr sz="2475" b="0">
                          <a:solidFill>
                            <a:srgbClr val="151515"/>
                          </a:solidFill>
                          <a:latin typeface="Times New Roman"/>
                          <a:ea typeface="Times New Roman"/>
                          <a:cs typeface="Times New Roman"/>
                        </a:rPr>
                        <a:t>Dự đoán / trạng thái</a:t>
                      </a:r>
                    </a:p>
                  </a:txBody>
                  <a:tcPr anchor="ctr">
                    <a:solidFill>
                      <a:srgbClr val="E3F2FD"/>
                    </a:solidFill>
                  </a:tcPr>
                </a:tc>
                <a:tc>
                  <a:txBody>
                    <a:bodyPr/>
                    <a:lstStyle/>
                    <a:p>
                      <a:r>
                        <a:rPr sz="2475" b="0">
                          <a:solidFill>
                            <a:srgbClr val="151515"/>
                          </a:solidFill>
                          <a:latin typeface="Times New Roman"/>
                          <a:ea typeface="Times New Roman"/>
                          <a:cs typeface="Times New Roman"/>
                        </a:rPr>
                        <a:t>JSON</a:t>
                      </a:r>
                    </a:p>
                  </a:txBody>
                  <a:tcPr anchor="ctr">
                    <a:solidFill>
                      <a:srgbClr val="E3F2FD"/>
                    </a:solidFill>
                  </a:tcPr>
                </a:tc>
                <a:extLst>
                  <a:ext uri="{0D108BD9-81ED-4DB2-BD59-A6C34878D82A}">
                    <a16:rowId xmlns:a16="http://schemas.microsoft.com/office/drawing/2014/main" val="10002"/>
                  </a:ext>
                </a:extLst>
              </a:tr>
              <a:tr h="846677">
                <a:tc>
                  <a:txBody>
                    <a:bodyPr/>
                    <a:lstStyle/>
                    <a:p>
                      <a:r>
                        <a:rPr sz="2475" b="0">
                          <a:solidFill>
                            <a:srgbClr val="151515"/>
                          </a:solidFill>
                          <a:latin typeface="Times New Roman"/>
                          <a:ea typeface="Times New Roman"/>
                          <a:cs typeface="Times New Roman"/>
                        </a:rPr>
                        <a:t>Hậu xử lý</a:t>
                      </a:r>
                    </a:p>
                  </a:txBody>
                  <a:tcPr anchor="ctr">
                    <a:solidFill>
                      <a:srgbClr val="FFFFFF"/>
                    </a:solidFill>
                  </a:tcPr>
                </a:tc>
                <a:tc>
                  <a:txBody>
                    <a:bodyPr/>
                    <a:lstStyle/>
                    <a:p>
                      <a:r>
                        <a:rPr sz="2475" b="0">
                          <a:solidFill>
                            <a:srgbClr val="151515"/>
                          </a:solidFill>
                          <a:latin typeface="Times New Roman"/>
                          <a:ea typeface="Times New Roman"/>
                          <a:cs typeface="Times New Roman"/>
                        </a:rPr>
                        <a:t>Luật + masking</a:t>
                      </a:r>
                    </a:p>
                  </a:txBody>
                  <a:tcPr anchor="ctr">
                    <a:solidFill>
                      <a:srgbClr val="FFFFFF"/>
                    </a:solidFill>
                  </a:tcPr>
                </a:tc>
                <a:tc>
                  <a:txBody>
                    <a:bodyPr/>
                    <a:lstStyle/>
                    <a:p>
                      <a:r>
                        <a:rPr sz="2475" b="0">
                          <a:solidFill>
                            <a:srgbClr val="151515"/>
                          </a:solidFill>
                          <a:latin typeface="Times New Roman"/>
                          <a:ea typeface="Times New Roman"/>
                          <a:cs typeface="Times New Roman"/>
                        </a:rPr>
                        <a:t>Lọc vế, che cụm</a:t>
                      </a:r>
                    </a:p>
                  </a:txBody>
                  <a:tcPr anchor="ctr">
                    <a:solidFill>
                      <a:srgbClr val="FFFFFF"/>
                    </a:solidFill>
                  </a:tcPr>
                </a:tc>
                <a:tc>
                  <a:txBody>
                    <a:bodyPr/>
                    <a:lstStyle/>
                    <a:p>
                      <a:r>
                        <a:rPr sz="2475" b="0">
                          <a:solidFill>
                            <a:srgbClr val="151515"/>
                          </a:solidFill>
                          <a:latin typeface="Times New Roman"/>
                          <a:ea typeface="Times New Roman"/>
                          <a:cs typeface="Times New Roman"/>
                        </a:rPr>
                        <a:t>Văn bản ***</a:t>
                      </a:r>
                    </a:p>
                  </a:txBody>
                  <a:tcPr anchor="ctr">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2076354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DB88666C-A7F3-4540-9D2A-85BD04FED25F}"/>
              </a:ext>
            </a:extLst>
          </p:cNvPr>
          <p:cNvSpPr>
            <a:spLocks noGrp="1"/>
          </p:cNvSpPr>
          <p:nvPr/>
        </p:nvSpPr>
        <p:spPr>
          <a:xfrm>
            <a:off x="0" y="0"/>
            <a:ext cx="21674709" cy="677291"/>
          </a:xfrm>
          <a:prstGeom prst="rect">
            <a:avLst/>
          </a:prstGeom>
          <a:solidFill>
            <a:srgbClr val="1565C0"/>
          </a:solidFill>
        </p:spPr>
      </p:sp>
      <p:sp>
        <p:nvSpPr>
          <p:cNvPr id="3" name="Shape 1">
            <a:extLst>
              <a:ext uri="{FF2B5EF4-FFF2-40B4-BE49-F238E27FC236}">
                <a16:creationId xmlns:a16="http://schemas.microsoft.com/office/drawing/2014/main" id="{ECE2A6BC-9C4C-48B9-9954-BAEDD2BE8AE9}"/>
              </a:ext>
            </a:extLst>
          </p:cNvPr>
          <p:cNvSpPr>
            <a:spLocks noGrp="1"/>
          </p:cNvSpPr>
          <p:nvPr/>
        </p:nvSpPr>
        <p:spPr>
          <a:xfrm>
            <a:off x="17949101" y="84709"/>
            <a:ext cx="3386709" cy="508000"/>
          </a:xfrm>
          <a:prstGeom prst="roundRect">
            <a:avLst>
              <a:gd name="adj" fmla="val 8000"/>
            </a:avLst>
          </a:prstGeom>
          <a:solidFill>
            <a:srgbClr val="FFFFFF">
              <a:alpha val="3576"/>
            </a:srgbClr>
          </a:solidFill>
        </p:spPr>
      </p:sp>
      <p:sp>
        <p:nvSpPr>
          <p:cNvPr id="4" name="Shape 2">
            <a:extLst>
              <a:ext uri="{FF2B5EF4-FFF2-40B4-BE49-F238E27FC236}">
                <a16:creationId xmlns:a16="http://schemas.microsoft.com/office/drawing/2014/main" id="{BC95ABFA-E6DE-4EB4-9D63-997B1C70FDA9}"/>
              </a:ext>
            </a:extLst>
          </p:cNvPr>
          <p:cNvSpPr>
            <a:spLocks noGrp="1"/>
          </p:cNvSpPr>
          <p:nvPr/>
        </p:nvSpPr>
        <p:spPr>
          <a:xfrm>
            <a:off x="169291" y="0"/>
            <a:ext cx="3386709" cy="677291"/>
          </a:xfrm>
          <a:prstGeom prst="rect">
            <a:avLst/>
          </a:prstGeom>
          <a:solidFill>
            <a:srgbClr val="FFFFFF">
              <a:alpha val="0"/>
            </a:srgbClr>
          </a:solidFill>
        </p:spPr>
      </p:sp>
      <p:sp>
        <p:nvSpPr>
          <p:cNvPr id="5" name="Text 3">
            <a:extLst>
              <a:ext uri="{FF2B5EF4-FFF2-40B4-BE49-F238E27FC236}">
                <a16:creationId xmlns:a16="http://schemas.microsoft.com/office/drawing/2014/main" id="{34C8ED6D-95BB-4F0F-9C5D-2ACDCAEAF1C5}"/>
              </a:ext>
            </a:extLst>
          </p:cNvPr>
          <p:cNvSpPr>
            <a:spLocks noGrp="1"/>
          </p:cNvSpPr>
          <p:nvPr/>
        </p:nvSpPr>
        <p:spPr>
          <a:xfrm>
            <a:off x="47339"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1. Bài toán và dữ liệu</a:t>
            </a:r>
            <a:endParaRPr sz="1600">
              <a:latin typeface="Times New Roman"/>
              <a:ea typeface="Times New Roman"/>
              <a:cs typeface="Times New Roman"/>
            </a:endParaRPr>
          </a:p>
        </p:txBody>
      </p:sp>
      <p:sp>
        <p:nvSpPr>
          <p:cNvPr id="6" name="Shape 4">
            <a:extLst>
              <a:ext uri="{FF2B5EF4-FFF2-40B4-BE49-F238E27FC236}">
                <a16:creationId xmlns:a16="http://schemas.microsoft.com/office/drawing/2014/main" id="{5EF4A0A8-C063-4E3B-AB00-845D6A83E5A7}"/>
              </a:ext>
            </a:extLst>
          </p:cNvPr>
          <p:cNvSpPr>
            <a:spLocks noGrp="1"/>
          </p:cNvSpPr>
          <p:nvPr/>
        </p:nvSpPr>
        <p:spPr>
          <a:xfrm>
            <a:off x="3725291" y="0"/>
            <a:ext cx="3386709" cy="677291"/>
          </a:xfrm>
          <a:prstGeom prst="rect">
            <a:avLst/>
          </a:prstGeom>
          <a:solidFill>
            <a:srgbClr val="FFFFFF">
              <a:alpha val="0"/>
            </a:srgbClr>
          </a:solidFill>
        </p:spPr>
      </p:sp>
      <p:sp>
        <p:nvSpPr>
          <p:cNvPr id="7" name="Text 5">
            <a:extLst>
              <a:ext uri="{FF2B5EF4-FFF2-40B4-BE49-F238E27FC236}">
                <a16:creationId xmlns:a16="http://schemas.microsoft.com/office/drawing/2014/main" id="{9F9E9458-3F74-48AE-846E-8B4C995C80CC}"/>
              </a:ext>
            </a:extLst>
          </p:cNvPr>
          <p:cNvSpPr>
            <a:spLocks noGrp="1"/>
          </p:cNvSpPr>
          <p:nvPr/>
        </p:nvSpPr>
        <p:spPr>
          <a:xfrm>
            <a:off x="3603403"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2. Mô hình và dual head</a:t>
            </a:r>
            <a:endParaRPr sz="1600">
              <a:latin typeface="Times New Roman"/>
              <a:ea typeface="Times New Roman"/>
              <a:cs typeface="Times New Roman"/>
            </a:endParaRPr>
          </a:p>
        </p:txBody>
      </p:sp>
      <p:sp>
        <p:nvSpPr>
          <p:cNvPr id="8" name="Shape 6">
            <a:extLst>
              <a:ext uri="{FF2B5EF4-FFF2-40B4-BE49-F238E27FC236}">
                <a16:creationId xmlns:a16="http://schemas.microsoft.com/office/drawing/2014/main" id="{C2F3470D-A50B-4892-B294-E6A73A413C34}"/>
              </a:ext>
            </a:extLst>
          </p:cNvPr>
          <p:cNvSpPr>
            <a:spLocks noGrp="1"/>
          </p:cNvSpPr>
          <p:nvPr/>
        </p:nvSpPr>
        <p:spPr>
          <a:xfrm>
            <a:off x="7281291" y="0"/>
            <a:ext cx="3386709" cy="677291"/>
          </a:xfrm>
          <a:prstGeom prst="rect">
            <a:avLst/>
          </a:prstGeom>
          <a:solidFill>
            <a:srgbClr val="FFFFFF">
              <a:alpha val="0"/>
            </a:srgbClr>
          </a:solidFill>
        </p:spPr>
      </p:sp>
      <p:sp>
        <p:nvSpPr>
          <p:cNvPr id="9" name="Text 7">
            <a:extLst>
              <a:ext uri="{FF2B5EF4-FFF2-40B4-BE49-F238E27FC236}">
                <a16:creationId xmlns:a16="http://schemas.microsoft.com/office/drawing/2014/main" id="{F3622138-CE87-4A4E-AC4F-49B2A472DF43}"/>
              </a:ext>
            </a:extLst>
          </p:cNvPr>
          <p:cNvSpPr>
            <a:spLocks noGrp="1"/>
          </p:cNvSpPr>
          <p:nvPr/>
        </p:nvSpPr>
        <p:spPr>
          <a:xfrm>
            <a:off x="7159371"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3. Kết quả</a:t>
            </a:r>
            <a:endParaRPr sz="1600">
              <a:latin typeface="Times New Roman"/>
              <a:ea typeface="Times New Roman"/>
              <a:cs typeface="Times New Roman"/>
            </a:endParaRPr>
          </a:p>
        </p:txBody>
      </p:sp>
      <p:sp>
        <p:nvSpPr>
          <p:cNvPr id="10" name="Shape 8">
            <a:extLst>
              <a:ext uri="{FF2B5EF4-FFF2-40B4-BE49-F238E27FC236}">
                <a16:creationId xmlns:a16="http://schemas.microsoft.com/office/drawing/2014/main" id="{B191EB4B-651B-45B2-8146-15D3F493CBD9}"/>
              </a:ext>
            </a:extLst>
          </p:cNvPr>
          <p:cNvSpPr>
            <a:spLocks noGrp="1"/>
          </p:cNvSpPr>
          <p:nvPr/>
        </p:nvSpPr>
        <p:spPr>
          <a:xfrm>
            <a:off x="10837291" y="0"/>
            <a:ext cx="3386709" cy="677291"/>
          </a:xfrm>
          <a:prstGeom prst="rect">
            <a:avLst/>
          </a:prstGeom>
          <a:solidFill>
            <a:srgbClr val="FFFFFF">
              <a:alpha val="0"/>
            </a:srgbClr>
          </a:solidFill>
        </p:spPr>
      </p:sp>
      <p:sp>
        <p:nvSpPr>
          <p:cNvPr id="11" name="Text 9">
            <a:extLst>
              <a:ext uri="{FF2B5EF4-FFF2-40B4-BE49-F238E27FC236}">
                <a16:creationId xmlns:a16="http://schemas.microsoft.com/office/drawing/2014/main" id="{0DC85924-726E-4CBF-B128-BC1EE59582F6}"/>
              </a:ext>
            </a:extLst>
          </p:cNvPr>
          <p:cNvSpPr>
            <a:spLocks noGrp="1"/>
          </p:cNvSpPr>
          <p:nvPr/>
        </p:nvSpPr>
        <p:spPr>
          <a:xfrm>
            <a:off x="10715339"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4. Phân tích lỗi</a:t>
            </a:r>
            <a:endParaRPr sz="1600">
              <a:latin typeface="Times New Roman"/>
              <a:ea typeface="Times New Roman"/>
              <a:cs typeface="Times New Roman"/>
            </a:endParaRPr>
          </a:p>
        </p:txBody>
      </p:sp>
      <p:sp>
        <p:nvSpPr>
          <p:cNvPr id="12" name="Shape 10">
            <a:extLst>
              <a:ext uri="{FF2B5EF4-FFF2-40B4-BE49-F238E27FC236}">
                <a16:creationId xmlns:a16="http://schemas.microsoft.com/office/drawing/2014/main" id="{CC46FEB6-9113-434F-A0D8-DE67E8DA76B2}"/>
              </a:ext>
            </a:extLst>
          </p:cNvPr>
          <p:cNvSpPr>
            <a:spLocks noGrp="1"/>
          </p:cNvSpPr>
          <p:nvPr/>
        </p:nvSpPr>
        <p:spPr>
          <a:xfrm>
            <a:off x="14393291" y="0"/>
            <a:ext cx="3386709" cy="677291"/>
          </a:xfrm>
          <a:prstGeom prst="rect">
            <a:avLst/>
          </a:prstGeom>
          <a:solidFill>
            <a:srgbClr val="FFFFFF">
              <a:alpha val="0"/>
            </a:srgbClr>
          </a:solidFill>
        </p:spPr>
      </p:sp>
      <p:sp>
        <p:nvSpPr>
          <p:cNvPr id="13" name="Text 11">
            <a:extLst>
              <a:ext uri="{FF2B5EF4-FFF2-40B4-BE49-F238E27FC236}">
                <a16:creationId xmlns:a16="http://schemas.microsoft.com/office/drawing/2014/main" id="{FE0EF8DC-62D5-49BC-A54E-990B378114DA}"/>
              </a:ext>
            </a:extLst>
          </p:cNvPr>
          <p:cNvSpPr>
            <a:spLocks noGrp="1"/>
          </p:cNvSpPr>
          <p:nvPr/>
        </p:nvSpPr>
        <p:spPr>
          <a:xfrm>
            <a:off x="14271403"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5. Ứng dụng</a:t>
            </a:r>
            <a:endParaRPr sz="1600">
              <a:latin typeface="Times New Roman"/>
              <a:ea typeface="Times New Roman"/>
              <a:cs typeface="Times New Roman"/>
            </a:endParaRPr>
          </a:p>
        </p:txBody>
      </p:sp>
      <p:sp>
        <p:nvSpPr>
          <p:cNvPr id="14" name="Shape 12">
            <a:extLst>
              <a:ext uri="{FF2B5EF4-FFF2-40B4-BE49-F238E27FC236}">
                <a16:creationId xmlns:a16="http://schemas.microsoft.com/office/drawing/2014/main" id="{56860E57-F671-44BB-8F63-C76365AB2729}"/>
              </a:ext>
            </a:extLst>
          </p:cNvPr>
          <p:cNvSpPr>
            <a:spLocks noGrp="1"/>
          </p:cNvSpPr>
          <p:nvPr/>
        </p:nvSpPr>
        <p:spPr>
          <a:xfrm>
            <a:off x="17949291" y="0"/>
            <a:ext cx="3386709" cy="677291"/>
          </a:xfrm>
          <a:prstGeom prst="rect">
            <a:avLst/>
          </a:prstGeom>
          <a:solidFill>
            <a:srgbClr val="FFFFFF">
              <a:alpha val="0"/>
            </a:srgbClr>
          </a:solidFill>
        </p:spPr>
      </p:sp>
      <p:sp>
        <p:nvSpPr>
          <p:cNvPr id="15" name="Text 13">
            <a:extLst>
              <a:ext uri="{FF2B5EF4-FFF2-40B4-BE49-F238E27FC236}">
                <a16:creationId xmlns:a16="http://schemas.microsoft.com/office/drawing/2014/main" id="{9634440D-71D5-453F-AABA-5C8F5052711C}"/>
              </a:ext>
            </a:extLst>
          </p:cNvPr>
          <p:cNvSpPr>
            <a:spLocks noGrp="1"/>
          </p:cNvSpPr>
          <p:nvPr/>
        </p:nvSpPr>
        <p:spPr>
          <a:xfrm>
            <a:off x="17827371" y="0"/>
            <a:ext cx="3630549" cy="676275"/>
          </a:xfrm>
          <a:prstGeom prst="rect">
            <a:avLst/>
          </a:prstGeom>
          <a:noFill/>
        </p:spPr>
        <p:txBody>
          <a:bodyPr wrap="none" lIns="0" tIns="0" rIns="0" bIns="0" anchor="ctr">
            <a:noAutofit/>
          </a:bodyPr>
          <a:lstStyle/>
          <a:p>
            <a:pPr algn="ctr">
              <a:lnSpc>
                <a:spcPct val="100000"/>
              </a:lnSpc>
              <a:buNone/>
              <a:defRPr sz="1875" b="1">
                <a:solidFill>
                  <a:srgbClr val="FFFFFF"/>
                </a:solidFill>
                <a:latin typeface="Times New Roman"/>
                <a:ea typeface="Times New Roman"/>
                <a:cs typeface="Times New Roman"/>
              </a:defRPr>
            </a:pPr>
            <a:r>
              <a:rPr sz="1875" b="1">
                <a:solidFill>
                  <a:srgbClr val="FFFFFF"/>
                </a:solidFill>
                <a:latin typeface="Times New Roman"/>
                <a:ea typeface="Times New Roman"/>
                <a:cs typeface="Times New Roman"/>
              </a:rPr>
              <a:t>6. Cải thiện</a:t>
            </a:r>
            <a:endParaRPr sz="1600">
              <a:latin typeface="Times New Roman"/>
              <a:ea typeface="Times New Roman"/>
              <a:cs typeface="Times New Roman"/>
            </a:endParaRPr>
          </a:p>
        </p:txBody>
      </p:sp>
      <p:sp>
        <p:nvSpPr>
          <p:cNvPr id="16" name="Shape 14">
            <a:extLst>
              <a:ext uri="{FF2B5EF4-FFF2-40B4-BE49-F238E27FC236}">
                <a16:creationId xmlns:a16="http://schemas.microsoft.com/office/drawing/2014/main" id="{B1C403E4-FF08-4792-B055-788E7C38C7CD}"/>
              </a:ext>
            </a:extLst>
          </p:cNvPr>
          <p:cNvSpPr>
            <a:spLocks noGrp="1"/>
          </p:cNvSpPr>
          <p:nvPr/>
        </p:nvSpPr>
        <p:spPr>
          <a:xfrm>
            <a:off x="1016000" y="931291"/>
            <a:ext cx="16933291" cy="643509"/>
          </a:xfrm>
          <a:prstGeom prst="rect">
            <a:avLst/>
          </a:prstGeom>
          <a:solidFill>
            <a:srgbClr val="FFFFFF">
              <a:alpha val="0"/>
            </a:srgbClr>
          </a:solidFill>
        </p:spPr>
      </p:sp>
      <p:sp>
        <p:nvSpPr>
          <p:cNvPr id="17" name="Text 15">
            <a:extLst>
              <a:ext uri="{FF2B5EF4-FFF2-40B4-BE49-F238E27FC236}">
                <a16:creationId xmlns:a16="http://schemas.microsoft.com/office/drawing/2014/main" id="{F611A7CD-187C-4551-AA06-52DAE77711C0}"/>
              </a:ext>
            </a:extLst>
          </p:cNvPr>
          <p:cNvSpPr>
            <a:spLocks noGrp="1"/>
          </p:cNvSpPr>
          <p:nvPr/>
        </p:nvSpPr>
        <p:spPr>
          <a:xfrm>
            <a:off x="894080" y="870331"/>
            <a:ext cx="17177131" cy="765429"/>
          </a:xfrm>
          <a:prstGeom prst="rect">
            <a:avLst/>
          </a:prstGeom>
          <a:noFill/>
        </p:spPr>
        <p:txBody>
          <a:bodyPr wrap="none" lIns="0" tIns="0" rIns="0" bIns="0" anchor="ctr">
            <a:noAutofit/>
          </a:bodyPr>
          <a:lstStyle/>
          <a:p>
            <a:pPr>
              <a:lnSpc>
                <a:spcPct val="100000"/>
              </a:lnSpc>
              <a:buNone/>
              <a:defRPr sz="3900" b="1">
                <a:solidFill>
                  <a:srgbClr val="1565C0"/>
                </a:solidFill>
                <a:latin typeface="Times New Roman"/>
                <a:ea typeface="Times New Roman"/>
                <a:cs typeface="Times New Roman"/>
              </a:defRPr>
            </a:pPr>
            <a:r>
              <a:rPr sz="3900" b="1">
                <a:solidFill>
                  <a:srgbClr val="1565C0"/>
                </a:solidFill>
                <a:latin typeface="Times New Roman"/>
                <a:ea typeface="Times New Roman"/>
                <a:cs typeface="Times New Roman"/>
              </a:rPr>
              <a:t>Hạn chế và hướng cải thiện</a:t>
            </a:r>
            <a:endParaRPr sz="1600">
              <a:latin typeface="Times New Roman"/>
              <a:ea typeface="Times New Roman"/>
              <a:cs typeface="Times New Roman"/>
            </a:endParaRPr>
          </a:p>
        </p:txBody>
      </p:sp>
      <p:sp>
        <p:nvSpPr>
          <p:cNvPr id="18" name="Shape 16">
            <a:extLst>
              <a:ext uri="{FF2B5EF4-FFF2-40B4-BE49-F238E27FC236}">
                <a16:creationId xmlns:a16="http://schemas.microsoft.com/office/drawing/2014/main" id="{D83BBB91-EFC2-49F8-9DC6-EB4F4B4FB144}"/>
              </a:ext>
            </a:extLst>
          </p:cNvPr>
          <p:cNvSpPr>
            <a:spLocks noGrp="1"/>
          </p:cNvSpPr>
          <p:nvPr/>
        </p:nvSpPr>
        <p:spPr>
          <a:xfrm>
            <a:off x="1016000" y="1625600"/>
            <a:ext cx="19642709" cy="50800"/>
          </a:xfrm>
          <a:prstGeom prst="rect">
            <a:avLst/>
          </a:prstGeom>
          <a:solidFill>
            <a:srgbClr val="1565C0"/>
          </a:solidFill>
        </p:spPr>
      </p:sp>
      <p:sp>
        <p:nvSpPr>
          <p:cNvPr id="19" name="Shape 17">
            <a:extLst>
              <a:ext uri="{FF2B5EF4-FFF2-40B4-BE49-F238E27FC236}">
                <a16:creationId xmlns:a16="http://schemas.microsoft.com/office/drawing/2014/main" id="{1C3A2234-368D-4C63-8AA4-C77A2EAFB84A}"/>
              </a:ext>
            </a:extLst>
          </p:cNvPr>
          <p:cNvSpPr>
            <a:spLocks noGrp="1"/>
          </p:cNvSpPr>
          <p:nvPr/>
        </p:nvSpPr>
        <p:spPr>
          <a:xfrm>
            <a:off x="1016000" y="1947291"/>
            <a:ext cx="6265291" cy="4741291"/>
          </a:xfrm>
          <a:prstGeom prst="roundRect">
            <a:avLst>
              <a:gd name="adj" fmla="val 8000"/>
            </a:avLst>
          </a:prstGeom>
          <a:solidFill>
            <a:srgbClr val="E3F2FD"/>
          </a:solidFill>
          <a:ln w="25400">
            <a:solidFill>
              <a:srgbClr val="1565C0"/>
            </a:solidFill>
            <a:prstDash val="solid"/>
          </a:ln>
        </p:spPr>
      </p:sp>
      <p:sp>
        <p:nvSpPr>
          <p:cNvPr id="20" name="Shape 18">
            <a:extLst>
              <a:ext uri="{FF2B5EF4-FFF2-40B4-BE49-F238E27FC236}">
                <a16:creationId xmlns:a16="http://schemas.microsoft.com/office/drawing/2014/main" id="{7CF711EC-0C9F-43AC-82A0-B90B04FF0B4E}"/>
              </a:ext>
            </a:extLst>
          </p:cNvPr>
          <p:cNvSpPr>
            <a:spLocks noGrp="1"/>
          </p:cNvSpPr>
          <p:nvPr/>
        </p:nvSpPr>
        <p:spPr>
          <a:xfrm>
            <a:off x="1270000" y="2116709"/>
            <a:ext cx="5757291" cy="508000"/>
          </a:xfrm>
          <a:prstGeom prst="rect">
            <a:avLst/>
          </a:prstGeom>
          <a:solidFill>
            <a:srgbClr val="FFFFFF">
              <a:alpha val="0"/>
            </a:srgbClr>
          </a:solidFill>
        </p:spPr>
      </p:sp>
      <p:sp>
        <p:nvSpPr>
          <p:cNvPr id="21" name="Text 19">
            <a:extLst>
              <a:ext uri="{FF2B5EF4-FFF2-40B4-BE49-F238E27FC236}">
                <a16:creationId xmlns:a16="http://schemas.microsoft.com/office/drawing/2014/main" id="{74F4D98E-D1D2-4D73-AA07-CCF1C7DCA8B8}"/>
              </a:ext>
            </a:extLst>
          </p:cNvPr>
          <p:cNvSpPr>
            <a:spLocks noGrp="1"/>
          </p:cNvSpPr>
          <p:nvPr/>
        </p:nvSpPr>
        <p:spPr>
          <a:xfrm>
            <a:off x="1148080" y="2055749"/>
            <a:ext cx="6001131" cy="629920"/>
          </a:xfrm>
          <a:prstGeom prst="rect">
            <a:avLst/>
          </a:prstGeom>
          <a:noFill/>
        </p:spPr>
        <p:txBody>
          <a:bodyPr wrap="none" lIns="0" tIns="0" rIns="0" bIns="0" anchor="ctr">
            <a:noAutofit/>
          </a:bodyPr>
          <a:lstStyle/>
          <a:p>
            <a:pPr algn="ctr">
              <a:lnSpc>
                <a:spcPct val="100000"/>
              </a:lnSpc>
              <a:buNone/>
              <a:defRPr sz="3000" b="1">
                <a:solidFill>
                  <a:srgbClr val="1565C0"/>
                </a:solidFill>
                <a:latin typeface="Times New Roman"/>
                <a:ea typeface="Times New Roman"/>
                <a:cs typeface="Times New Roman"/>
              </a:defRPr>
            </a:pPr>
            <a:r>
              <a:rPr sz="3000" b="1">
                <a:solidFill>
                  <a:srgbClr val="1565C0"/>
                </a:solidFill>
                <a:latin typeface="Times New Roman"/>
                <a:ea typeface="Times New Roman"/>
                <a:cs typeface="Times New Roman"/>
              </a:rPr>
              <a:t>Từ lóng và viết tắt</a:t>
            </a:r>
            <a:endParaRPr sz="1600">
              <a:latin typeface="Times New Roman"/>
              <a:ea typeface="Times New Roman"/>
              <a:cs typeface="Times New Roman"/>
            </a:endParaRPr>
          </a:p>
        </p:txBody>
      </p:sp>
      <p:sp>
        <p:nvSpPr>
          <p:cNvPr id="22" name="Shape 20">
            <a:extLst>
              <a:ext uri="{FF2B5EF4-FFF2-40B4-BE49-F238E27FC236}">
                <a16:creationId xmlns:a16="http://schemas.microsoft.com/office/drawing/2014/main" id="{A015D5A3-BC09-4473-BD56-4DFAF30F64DA}"/>
              </a:ext>
            </a:extLst>
          </p:cNvPr>
          <p:cNvSpPr>
            <a:spLocks noGrp="1"/>
          </p:cNvSpPr>
          <p:nvPr/>
        </p:nvSpPr>
        <p:spPr>
          <a:xfrm>
            <a:off x="1270000" y="2624709"/>
            <a:ext cx="5757291" cy="372491"/>
          </a:xfrm>
          <a:prstGeom prst="rect">
            <a:avLst/>
          </a:prstGeom>
          <a:solidFill>
            <a:srgbClr val="FFFFFF">
              <a:alpha val="0"/>
            </a:srgbClr>
          </a:solidFill>
        </p:spPr>
      </p:sp>
      <p:sp>
        <p:nvSpPr>
          <p:cNvPr id="23" name="Text 21">
            <a:extLst>
              <a:ext uri="{FF2B5EF4-FFF2-40B4-BE49-F238E27FC236}">
                <a16:creationId xmlns:a16="http://schemas.microsoft.com/office/drawing/2014/main" id="{BBD1017F-DED5-4F8C-909B-5C77ECAF5D45}"/>
              </a:ext>
            </a:extLst>
          </p:cNvPr>
          <p:cNvSpPr>
            <a:spLocks noGrp="1"/>
          </p:cNvSpPr>
          <p:nvPr/>
        </p:nvSpPr>
        <p:spPr>
          <a:xfrm>
            <a:off x="1148080" y="2563749"/>
            <a:ext cx="6001131" cy="494411"/>
          </a:xfrm>
          <a:prstGeom prst="rect">
            <a:avLst/>
          </a:prstGeom>
          <a:noFill/>
        </p:spPr>
        <p:txBody>
          <a:bodyPr wrap="none" lIns="0" tIns="0" rIns="0" bIns="0" anchor="ctr">
            <a:noAutofit/>
          </a:bodyPr>
          <a:lstStyle/>
          <a:p>
            <a:pPr algn="ctr">
              <a:lnSpc>
                <a:spcPct val="100000"/>
              </a:lnSpc>
              <a:buNone/>
              <a:defRPr sz="2100" b="0">
                <a:solidFill>
                  <a:srgbClr val="666666"/>
                </a:solidFill>
                <a:latin typeface="Times New Roman"/>
                <a:ea typeface="Times New Roman"/>
                <a:cs typeface="Times New Roman"/>
              </a:defRPr>
            </a:pPr>
            <a:r>
              <a:rPr sz="2100" b="0">
                <a:solidFill>
                  <a:srgbClr val="666666"/>
                </a:solidFill>
                <a:latin typeface="Times New Roman"/>
                <a:ea typeface="Times New Roman"/>
                <a:cs typeface="Times New Roman"/>
              </a:rPr>
              <a:t>Cách viết mới, từ hiếm</a:t>
            </a:r>
            <a:endParaRPr sz="1600">
              <a:latin typeface="Times New Roman"/>
              <a:ea typeface="Times New Roman"/>
              <a:cs typeface="Times New Roman"/>
            </a:endParaRPr>
          </a:p>
        </p:txBody>
      </p:sp>
      <p:sp>
        <p:nvSpPr>
          <p:cNvPr id="24" name="Shape 22">
            <a:extLst>
              <a:ext uri="{FF2B5EF4-FFF2-40B4-BE49-F238E27FC236}">
                <a16:creationId xmlns:a16="http://schemas.microsoft.com/office/drawing/2014/main" id="{9173E87B-FAC0-4FBB-8C0B-AB324E9828DE}"/>
              </a:ext>
            </a:extLst>
          </p:cNvPr>
          <p:cNvSpPr>
            <a:spLocks noGrp="1"/>
          </p:cNvSpPr>
          <p:nvPr/>
        </p:nvSpPr>
        <p:spPr>
          <a:xfrm>
            <a:off x="1270000" y="3081909"/>
            <a:ext cx="5757291" cy="3386709"/>
          </a:xfrm>
          <a:prstGeom prst="rect">
            <a:avLst/>
          </a:prstGeom>
          <a:solidFill>
            <a:srgbClr val="FFFFFF">
              <a:alpha val="0"/>
            </a:srgbClr>
          </a:solidFill>
        </p:spPr>
      </p:sp>
      <p:sp>
        <p:nvSpPr>
          <p:cNvPr id="25" name="Text 23">
            <a:extLst>
              <a:ext uri="{FF2B5EF4-FFF2-40B4-BE49-F238E27FC236}">
                <a16:creationId xmlns:a16="http://schemas.microsoft.com/office/drawing/2014/main" id="{B453DBCD-96F6-4C7C-AF74-E66AD7FC4D7C}"/>
              </a:ext>
            </a:extLst>
          </p:cNvPr>
          <p:cNvSpPr>
            <a:spLocks noGrp="1"/>
          </p:cNvSpPr>
          <p:nvPr/>
        </p:nvSpPr>
        <p:spPr>
          <a:xfrm>
            <a:off x="1148080" y="3020949"/>
            <a:ext cx="6001131" cy="3508629"/>
          </a:xfrm>
          <a:prstGeom prst="rect">
            <a:avLst/>
          </a:prstGeom>
          <a:noFill/>
        </p:spPr>
        <p:txBody>
          <a:bodyPr wrap="square" lIns="0" tIns="0" rIns="0" bIns="0" anchor="t">
            <a:noAutofit/>
          </a:bodyPr>
          <a:lstStyle/>
          <a:p>
            <a:pPr>
              <a:lnSpc>
                <a:spcPct val="150000"/>
              </a:lnSpc>
              <a:buNone/>
              <a:defRPr sz="2550" b="0">
                <a:solidFill>
                  <a:srgbClr val="151515"/>
                </a:solidFill>
                <a:latin typeface="Times New Roman"/>
                <a:ea typeface="Times New Roman"/>
                <a:cs typeface="Times New Roman"/>
              </a:defRPr>
            </a:pPr>
            <a:r>
              <a:rPr sz="2550" b="0">
                <a:solidFill>
                  <a:srgbClr val="151515"/>
                </a:solidFill>
                <a:latin typeface="Times New Roman"/>
                <a:ea typeface="Times New Roman"/>
                <a:cs typeface="Times New Roman"/>
              </a:rPr>
              <a:t>Thêm ví dụ biến âm và viết tắt.</a:t>
            </a:r>
            <a:endParaRPr sz="1600">
              <a:latin typeface="Times New Roman"/>
              <a:ea typeface="Times New Roman"/>
              <a:cs typeface="Times New Roman"/>
            </a:endParaRPr>
          </a:p>
          <a:p>
            <a:pPr>
              <a:lnSpc>
                <a:spcPct val="150000"/>
              </a:lnSpc>
              <a:buNone/>
              <a:defRPr sz="2550" b="0">
                <a:solidFill>
                  <a:srgbClr val="151515"/>
                </a:solidFill>
                <a:latin typeface="Times New Roman"/>
                <a:ea typeface="Times New Roman"/>
                <a:cs typeface="Times New Roman"/>
              </a:defRPr>
            </a:pPr>
            <a:r>
              <a:rPr sz="2550" b="0">
                <a:solidFill>
                  <a:srgbClr val="151515"/>
                </a:solidFill>
                <a:latin typeface="Times New Roman"/>
                <a:ea typeface="Times New Roman"/>
                <a:cs typeface="Times New Roman"/>
              </a:rPr>
              <a:t>Kiểm tra nhãn sau khi thay từ.</a:t>
            </a:r>
            <a:endParaRPr sz="1600">
              <a:latin typeface="Times New Roman"/>
              <a:ea typeface="Times New Roman"/>
              <a:cs typeface="Times New Roman"/>
            </a:endParaRPr>
          </a:p>
          <a:p>
            <a:pPr>
              <a:lnSpc>
                <a:spcPct val="150000"/>
              </a:lnSpc>
              <a:buNone/>
              <a:defRPr sz="2550" b="0">
                <a:solidFill>
                  <a:srgbClr val="151515"/>
                </a:solidFill>
                <a:latin typeface="Times New Roman"/>
                <a:ea typeface="Times New Roman"/>
                <a:cs typeface="Times New Roman"/>
              </a:defRPr>
            </a:pPr>
            <a:r>
              <a:rPr sz="2550" b="0">
                <a:solidFill>
                  <a:srgbClr val="151515"/>
                </a:solidFill>
                <a:latin typeface="Times New Roman"/>
                <a:ea typeface="Times New Roman"/>
                <a:cs typeface="Times New Roman"/>
              </a:rPr>
              <a:t>Đo số cụm bị bỏ sót trên tập riêng.</a:t>
            </a:r>
            <a:endParaRPr sz="1600">
              <a:latin typeface="Times New Roman"/>
              <a:ea typeface="Times New Roman"/>
              <a:cs typeface="Times New Roman"/>
            </a:endParaRPr>
          </a:p>
        </p:txBody>
      </p:sp>
      <p:sp>
        <p:nvSpPr>
          <p:cNvPr id="26" name="Shape 24">
            <a:extLst>
              <a:ext uri="{FF2B5EF4-FFF2-40B4-BE49-F238E27FC236}">
                <a16:creationId xmlns:a16="http://schemas.microsoft.com/office/drawing/2014/main" id="{0033A720-7336-4294-A452-ED4E80F71E80}"/>
              </a:ext>
            </a:extLst>
          </p:cNvPr>
          <p:cNvSpPr>
            <a:spLocks noGrp="1"/>
          </p:cNvSpPr>
          <p:nvPr/>
        </p:nvSpPr>
        <p:spPr>
          <a:xfrm>
            <a:off x="7704709" y="1947291"/>
            <a:ext cx="6265291" cy="4741291"/>
          </a:xfrm>
          <a:prstGeom prst="roundRect">
            <a:avLst>
              <a:gd name="adj" fmla="val 8000"/>
            </a:avLst>
          </a:prstGeom>
          <a:solidFill>
            <a:srgbClr val="E8F5E9"/>
          </a:solidFill>
          <a:ln w="25400">
            <a:solidFill>
              <a:srgbClr val="2E7D32"/>
            </a:solidFill>
            <a:prstDash val="solid"/>
          </a:ln>
        </p:spPr>
      </p:sp>
      <p:sp>
        <p:nvSpPr>
          <p:cNvPr id="27" name="Shape 25">
            <a:extLst>
              <a:ext uri="{FF2B5EF4-FFF2-40B4-BE49-F238E27FC236}">
                <a16:creationId xmlns:a16="http://schemas.microsoft.com/office/drawing/2014/main" id="{C7D74EC3-2B8D-45B5-B389-8CE8B1EE450D}"/>
              </a:ext>
            </a:extLst>
          </p:cNvPr>
          <p:cNvSpPr>
            <a:spLocks noGrp="1"/>
          </p:cNvSpPr>
          <p:nvPr/>
        </p:nvSpPr>
        <p:spPr>
          <a:xfrm>
            <a:off x="7958709" y="2116709"/>
            <a:ext cx="5757291" cy="508000"/>
          </a:xfrm>
          <a:prstGeom prst="rect">
            <a:avLst/>
          </a:prstGeom>
          <a:solidFill>
            <a:srgbClr val="FFFFFF">
              <a:alpha val="0"/>
            </a:srgbClr>
          </a:solidFill>
        </p:spPr>
      </p:sp>
      <p:sp>
        <p:nvSpPr>
          <p:cNvPr id="28" name="Text 26">
            <a:extLst>
              <a:ext uri="{FF2B5EF4-FFF2-40B4-BE49-F238E27FC236}">
                <a16:creationId xmlns:a16="http://schemas.microsoft.com/office/drawing/2014/main" id="{21F83FCC-5086-4D05-AF7D-58021C8F3722}"/>
              </a:ext>
            </a:extLst>
          </p:cNvPr>
          <p:cNvSpPr>
            <a:spLocks noGrp="1"/>
          </p:cNvSpPr>
          <p:nvPr/>
        </p:nvSpPr>
        <p:spPr>
          <a:xfrm>
            <a:off x="7836789" y="2055749"/>
            <a:ext cx="6001131" cy="629920"/>
          </a:xfrm>
          <a:prstGeom prst="rect">
            <a:avLst/>
          </a:prstGeom>
          <a:noFill/>
        </p:spPr>
        <p:txBody>
          <a:bodyPr wrap="none" lIns="0" tIns="0" rIns="0" bIns="0" anchor="ctr">
            <a:noAutofit/>
          </a:bodyPr>
          <a:lstStyle/>
          <a:p>
            <a:pPr algn="ctr">
              <a:lnSpc>
                <a:spcPct val="100000"/>
              </a:lnSpc>
              <a:buNone/>
              <a:defRPr sz="3000" b="1">
                <a:solidFill>
                  <a:srgbClr val="2E7D32"/>
                </a:solidFill>
                <a:latin typeface="Times New Roman"/>
                <a:ea typeface="Times New Roman"/>
                <a:cs typeface="Times New Roman"/>
              </a:defRPr>
            </a:pPr>
            <a:r>
              <a:rPr sz="3000" b="1">
                <a:solidFill>
                  <a:srgbClr val="2E7D32"/>
                </a:solidFill>
                <a:latin typeface="Times New Roman"/>
                <a:ea typeface="Times New Roman"/>
                <a:cs typeface="Times New Roman"/>
              </a:rPr>
              <a:t>Cổng dual head</a:t>
            </a:r>
            <a:endParaRPr sz="1600">
              <a:latin typeface="Times New Roman"/>
              <a:ea typeface="Times New Roman"/>
              <a:cs typeface="Times New Roman"/>
            </a:endParaRPr>
          </a:p>
        </p:txBody>
      </p:sp>
      <p:sp>
        <p:nvSpPr>
          <p:cNvPr id="29" name="Shape 27">
            <a:extLst>
              <a:ext uri="{FF2B5EF4-FFF2-40B4-BE49-F238E27FC236}">
                <a16:creationId xmlns:a16="http://schemas.microsoft.com/office/drawing/2014/main" id="{E0BD29B6-874D-473E-B29F-E90BF54ACD92}"/>
              </a:ext>
            </a:extLst>
          </p:cNvPr>
          <p:cNvSpPr>
            <a:spLocks noGrp="1"/>
          </p:cNvSpPr>
          <p:nvPr/>
        </p:nvSpPr>
        <p:spPr>
          <a:xfrm>
            <a:off x="7958709" y="2624709"/>
            <a:ext cx="5757291" cy="372491"/>
          </a:xfrm>
          <a:prstGeom prst="rect">
            <a:avLst/>
          </a:prstGeom>
          <a:solidFill>
            <a:srgbClr val="FFFFFF">
              <a:alpha val="0"/>
            </a:srgbClr>
          </a:solidFill>
        </p:spPr>
      </p:sp>
      <p:sp>
        <p:nvSpPr>
          <p:cNvPr id="30" name="Text 28">
            <a:extLst>
              <a:ext uri="{FF2B5EF4-FFF2-40B4-BE49-F238E27FC236}">
                <a16:creationId xmlns:a16="http://schemas.microsoft.com/office/drawing/2014/main" id="{A1909FDC-38A3-42A0-BDD2-7127A8703126}"/>
              </a:ext>
            </a:extLst>
          </p:cNvPr>
          <p:cNvSpPr>
            <a:spLocks noGrp="1"/>
          </p:cNvSpPr>
          <p:nvPr/>
        </p:nvSpPr>
        <p:spPr>
          <a:xfrm>
            <a:off x="7836789" y="2563749"/>
            <a:ext cx="6001131" cy="494411"/>
          </a:xfrm>
          <a:prstGeom prst="rect">
            <a:avLst/>
          </a:prstGeom>
          <a:noFill/>
        </p:spPr>
        <p:txBody>
          <a:bodyPr wrap="none" lIns="0" tIns="0" rIns="0" bIns="0" anchor="ctr">
            <a:noAutofit/>
          </a:bodyPr>
          <a:lstStyle/>
          <a:p>
            <a:pPr algn="ctr">
              <a:lnSpc>
                <a:spcPct val="100000"/>
              </a:lnSpc>
              <a:buNone/>
              <a:defRPr sz="2100" b="0">
                <a:solidFill>
                  <a:srgbClr val="666666"/>
                </a:solidFill>
                <a:latin typeface="Times New Roman"/>
                <a:ea typeface="Times New Roman"/>
                <a:cs typeface="Times New Roman"/>
              </a:defRPr>
            </a:pPr>
            <a:r>
              <a:rPr sz="2100" b="0">
                <a:solidFill>
                  <a:srgbClr val="666666"/>
                </a:solidFill>
                <a:latin typeface="Times New Roman"/>
                <a:ea typeface="Times New Roman"/>
                <a:cs typeface="Times New Roman"/>
              </a:rPr>
              <a:t>Giảm nhầm nhưng có thể bỏ sót</a:t>
            </a:r>
            <a:endParaRPr sz="1600">
              <a:latin typeface="Times New Roman"/>
              <a:ea typeface="Times New Roman"/>
              <a:cs typeface="Times New Roman"/>
            </a:endParaRPr>
          </a:p>
        </p:txBody>
      </p:sp>
      <p:sp>
        <p:nvSpPr>
          <p:cNvPr id="31" name="Shape 29">
            <a:extLst>
              <a:ext uri="{FF2B5EF4-FFF2-40B4-BE49-F238E27FC236}">
                <a16:creationId xmlns:a16="http://schemas.microsoft.com/office/drawing/2014/main" id="{CE03E109-DA15-42AB-ACEA-69EFE06166E1}"/>
              </a:ext>
            </a:extLst>
          </p:cNvPr>
          <p:cNvSpPr>
            <a:spLocks noGrp="1"/>
          </p:cNvSpPr>
          <p:nvPr/>
        </p:nvSpPr>
        <p:spPr>
          <a:xfrm>
            <a:off x="7958709" y="3081909"/>
            <a:ext cx="5757291" cy="3386709"/>
          </a:xfrm>
          <a:prstGeom prst="rect">
            <a:avLst/>
          </a:prstGeom>
          <a:solidFill>
            <a:srgbClr val="FFFFFF">
              <a:alpha val="0"/>
            </a:srgbClr>
          </a:solidFill>
        </p:spPr>
      </p:sp>
      <p:sp>
        <p:nvSpPr>
          <p:cNvPr id="32" name="Text 30">
            <a:extLst>
              <a:ext uri="{FF2B5EF4-FFF2-40B4-BE49-F238E27FC236}">
                <a16:creationId xmlns:a16="http://schemas.microsoft.com/office/drawing/2014/main" id="{94068FBE-A740-49AA-93D9-DCEE880C793D}"/>
              </a:ext>
            </a:extLst>
          </p:cNvPr>
          <p:cNvSpPr>
            <a:spLocks noGrp="1"/>
          </p:cNvSpPr>
          <p:nvPr/>
        </p:nvSpPr>
        <p:spPr>
          <a:xfrm>
            <a:off x="7836789" y="3020949"/>
            <a:ext cx="6001131" cy="3508629"/>
          </a:xfrm>
          <a:prstGeom prst="rect">
            <a:avLst/>
          </a:prstGeom>
          <a:noFill/>
        </p:spPr>
        <p:txBody>
          <a:bodyPr wrap="square" lIns="0" tIns="0" rIns="0" bIns="0" anchor="t">
            <a:noAutofit/>
          </a:bodyPr>
          <a:lstStyle/>
          <a:p>
            <a:pPr>
              <a:lnSpc>
                <a:spcPct val="150000"/>
              </a:lnSpc>
              <a:buNone/>
              <a:defRPr sz="2550" b="0">
                <a:solidFill>
                  <a:srgbClr val="151515"/>
                </a:solidFill>
                <a:latin typeface="Times New Roman"/>
                <a:ea typeface="Times New Roman"/>
                <a:cs typeface="Times New Roman"/>
              </a:defRPr>
            </a:pPr>
            <a:r>
              <a:rPr sz="2550" b="0">
                <a:solidFill>
                  <a:srgbClr val="151515"/>
                </a:solidFill>
                <a:latin typeface="Times New Roman"/>
                <a:ea typeface="Times New Roman"/>
                <a:cs typeface="Times New Roman"/>
              </a:rPr>
              <a:t>Thử ngưỡng trên tập dev.</a:t>
            </a:r>
            <a:endParaRPr sz="1600">
              <a:latin typeface="Times New Roman"/>
              <a:ea typeface="Times New Roman"/>
              <a:cs typeface="Times New Roman"/>
            </a:endParaRPr>
          </a:p>
          <a:p>
            <a:pPr>
              <a:lnSpc>
                <a:spcPct val="150000"/>
              </a:lnSpc>
              <a:buNone/>
              <a:defRPr sz="2550" b="0">
                <a:solidFill>
                  <a:srgbClr val="151515"/>
                </a:solidFill>
                <a:latin typeface="Times New Roman"/>
                <a:ea typeface="Times New Roman"/>
                <a:cs typeface="Times New Roman"/>
              </a:defRPr>
            </a:pPr>
            <a:r>
              <a:rPr sz="2550" b="0">
                <a:solidFill>
                  <a:srgbClr val="151515"/>
                </a:solidFill>
                <a:latin typeface="Times New Roman"/>
                <a:ea typeface="Times New Roman"/>
                <a:cs typeface="Times New Roman"/>
              </a:rPr>
              <a:t>So sánh bật và tắt cổng.</a:t>
            </a:r>
            <a:endParaRPr sz="1600">
              <a:latin typeface="Times New Roman"/>
              <a:ea typeface="Times New Roman"/>
              <a:cs typeface="Times New Roman"/>
            </a:endParaRPr>
          </a:p>
          <a:p>
            <a:pPr>
              <a:lnSpc>
                <a:spcPct val="150000"/>
              </a:lnSpc>
              <a:buNone/>
              <a:defRPr sz="2550" b="0">
                <a:solidFill>
                  <a:srgbClr val="151515"/>
                </a:solidFill>
                <a:latin typeface="Times New Roman"/>
                <a:ea typeface="Times New Roman"/>
                <a:cs typeface="Times New Roman"/>
              </a:defRPr>
            </a:pPr>
            <a:r>
              <a:rPr sz="2550" b="0">
                <a:solidFill>
                  <a:srgbClr val="151515"/>
                </a:solidFill>
                <a:latin typeface="Times New Roman"/>
                <a:ea typeface="Times New Roman"/>
                <a:cs typeface="Times New Roman"/>
              </a:rPr>
              <a:t>Đo cả Precision và Recall, kể cả câu có nhiều vế.</a:t>
            </a:r>
            <a:endParaRPr sz="1600">
              <a:latin typeface="Times New Roman"/>
              <a:ea typeface="Times New Roman"/>
              <a:cs typeface="Times New Roman"/>
            </a:endParaRPr>
          </a:p>
        </p:txBody>
      </p:sp>
      <p:sp>
        <p:nvSpPr>
          <p:cNvPr id="33" name="Shape 31">
            <a:extLst>
              <a:ext uri="{FF2B5EF4-FFF2-40B4-BE49-F238E27FC236}">
                <a16:creationId xmlns:a16="http://schemas.microsoft.com/office/drawing/2014/main" id="{25D87192-A91E-4752-B4D6-2A09D3415760}"/>
              </a:ext>
            </a:extLst>
          </p:cNvPr>
          <p:cNvSpPr>
            <a:spLocks noGrp="1"/>
          </p:cNvSpPr>
          <p:nvPr/>
        </p:nvSpPr>
        <p:spPr>
          <a:xfrm>
            <a:off x="14393291" y="1947291"/>
            <a:ext cx="6265291" cy="4741291"/>
          </a:xfrm>
          <a:prstGeom prst="roundRect">
            <a:avLst>
              <a:gd name="adj" fmla="val 8000"/>
            </a:avLst>
          </a:prstGeom>
          <a:solidFill>
            <a:srgbClr val="FFF3E0"/>
          </a:solidFill>
          <a:ln w="25400">
            <a:solidFill>
              <a:srgbClr val="FF6F00"/>
            </a:solidFill>
            <a:prstDash val="solid"/>
          </a:ln>
        </p:spPr>
      </p:sp>
      <p:sp>
        <p:nvSpPr>
          <p:cNvPr id="34" name="Shape 32">
            <a:extLst>
              <a:ext uri="{FF2B5EF4-FFF2-40B4-BE49-F238E27FC236}">
                <a16:creationId xmlns:a16="http://schemas.microsoft.com/office/drawing/2014/main" id="{C830ABC9-26C7-42CC-A776-F0ABB9FA6C99}"/>
              </a:ext>
            </a:extLst>
          </p:cNvPr>
          <p:cNvSpPr>
            <a:spLocks noGrp="1"/>
          </p:cNvSpPr>
          <p:nvPr/>
        </p:nvSpPr>
        <p:spPr>
          <a:xfrm>
            <a:off x="14647291" y="2116709"/>
            <a:ext cx="5757291" cy="508000"/>
          </a:xfrm>
          <a:prstGeom prst="rect">
            <a:avLst/>
          </a:prstGeom>
          <a:solidFill>
            <a:srgbClr val="FFFFFF">
              <a:alpha val="0"/>
            </a:srgbClr>
          </a:solidFill>
        </p:spPr>
      </p:sp>
      <p:sp>
        <p:nvSpPr>
          <p:cNvPr id="35" name="Text 33">
            <a:extLst>
              <a:ext uri="{FF2B5EF4-FFF2-40B4-BE49-F238E27FC236}">
                <a16:creationId xmlns:a16="http://schemas.microsoft.com/office/drawing/2014/main" id="{E28A5154-3207-42B3-A227-A8C2DB1AA5B9}"/>
              </a:ext>
            </a:extLst>
          </p:cNvPr>
          <p:cNvSpPr>
            <a:spLocks noGrp="1"/>
          </p:cNvSpPr>
          <p:nvPr/>
        </p:nvSpPr>
        <p:spPr>
          <a:xfrm>
            <a:off x="14525371" y="2055749"/>
            <a:ext cx="6001131" cy="629920"/>
          </a:xfrm>
          <a:prstGeom prst="rect">
            <a:avLst/>
          </a:prstGeom>
          <a:noFill/>
        </p:spPr>
        <p:txBody>
          <a:bodyPr wrap="none" lIns="0" tIns="0" rIns="0" bIns="0" anchor="ctr">
            <a:noAutofit/>
          </a:bodyPr>
          <a:lstStyle/>
          <a:p>
            <a:pPr algn="ctr">
              <a:lnSpc>
                <a:spcPct val="100000"/>
              </a:lnSpc>
              <a:buNone/>
              <a:defRPr sz="3000" b="1">
                <a:solidFill>
                  <a:srgbClr val="EF6C00"/>
                </a:solidFill>
                <a:latin typeface="Times New Roman"/>
                <a:ea typeface="Times New Roman"/>
                <a:cs typeface="Times New Roman"/>
              </a:defRPr>
            </a:pPr>
            <a:r>
              <a:rPr sz="3000" b="1">
                <a:solidFill>
                  <a:srgbClr val="EF6C00"/>
                </a:solidFill>
                <a:latin typeface="Times New Roman"/>
                <a:ea typeface="Times New Roman"/>
                <a:cs typeface="Times New Roman"/>
              </a:rPr>
              <a:t>Châm biếm</a:t>
            </a:r>
            <a:endParaRPr sz="1600">
              <a:latin typeface="Times New Roman"/>
              <a:ea typeface="Times New Roman"/>
              <a:cs typeface="Times New Roman"/>
            </a:endParaRPr>
          </a:p>
        </p:txBody>
      </p:sp>
      <p:sp>
        <p:nvSpPr>
          <p:cNvPr id="36" name="Shape 34">
            <a:extLst>
              <a:ext uri="{FF2B5EF4-FFF2-40B4-BE49-F238E27FC236}">
                <a16:creationId xmlns:a16="http://schemas.microsoft.com/office/drawing/2014/main" id="{006FBF83-9768-4A65-92EE-BF93EF48D398}"/>
              </a:ext>
            </a:extLst>
          </p:cNvPr>
          <p:cNvSpPr>
            <a:spLocks noGrp="1"/>
          </p:cNvSpPr>
          <p:nvPr/>
        </p:nvSpPr>
        <p:spPr>
          <a:xfrm>
            <a:off x="14647291" y="2624709"/>
            <a:ext cx="5757291" cy="372491"/>
          </a:xfrm>
          <a:prstGeom prst="rect">
            <a:avLst/>
          </a:prstGeom>
          <a:solidFill>
            <a:srgbClr val="FFFFFF">
              <a:alpha val="0"/>
            </a:srgbClr>
          </a:solidFill>
        </p:spPr>
      </p:sp>
      <p:sp>
        <p:nvSpPr>
          <p:cNvPr id="37" name="Text 35">
            <a:extLst>
              <a:ext uri="{FF2B5EF4-FFF2-40B4-BE49-F238E27FC236}">
                <a16:creationId xmlns:a16="http://schemas.microsoft.com/office/drawing/2014/main" id="{71DE6419-D0DF-4CCA-AF2A-5E1DF15CDB18}"/>
              </a:ext>
            </a:extLst>
          </p:cNvPr>
          <p:cNvSpPr>
            <a:spLocks noGrp="1"/>
          </p:cNvSpPr>
          <p:nvPr/>
        </p:nvSpPr>
        <p:spPr>
          <a:xfrm>
            <a:off x="14525371" y="2563749"/>
            <a:ext cx="6001131" cy="494411"/>
          </a:xfrm>
          <a:prstGeom prst="rect">
            <a:avLst/>
          </a:prstGeom>
          <a:noFill/>
        </p:spPr>
        <p:txBody>
          <a:bodyPr wrap="none" lIns="0" tIns="0" rIns="0" bIns="0" anchor="ctr">
            <a:noAutofit/>
          </a:bodyPr>
          <a:lstStyle/>
          <a:p>
            <a:pPr algn="ctr">
              <a:lnSpc>
                <a:spcPct val="100000"/>
              </a:lnSpc>
              <a:buNone/>
              <a:defRPr sz="2100" b="0">
                <a:solidFill>
                  <a:srgbClr val="666666"/>
                </a:solidFill>
                <a:latin typeface="Times New Roman"/>
                <a:ea typeface="Times New Roman"/>
                <a:cs typeface="Times New Roman"/>
              </a:defRPr>
            </a:pPr>
            <a:r>
              <a:rPr sz="2100" b="0">
                <a:solidFill>
                  <a:srgbClr val="666666"/>
                </a:solidFill>
                <a:latin typeface="Times New Roman"/>
                <a:ea typeface="Times New Roman"/>
                <a:cs typeface="Times New Roman"/>
              </a:rPr>
              <a:t>Thiếu từ khóa trực tiếp</a:t>
            </a:r>
            <a:endParaRPr sz="1600">
              <a:latin typeface="Times New Roman"/>
              <a:ea typeface="Times New Roman"/>
              <a:cs typeface="Times New Roman"/>
            </a:endParaRPr>
          </a:p>
        </p:txBody>
      </p:sp>
      <p:sp>
        <p:nvSpPr>
          <p:cNvPr id="38" name="Shape 36">
            <a:extLst>
              <a:ext uri="{FF2B5EF4-FFF2-40B4-BE49-F238E27FC236}">
                <a16:creationId xmlns:a16="http://schemas.microsoft.com/office/drawing/2014/main" id="{54F14567-BF0C-44E1-A968-6C79D01B306D}"/>
              </a:ext>
            </a:extLst>
          </p:cNvPr>
          <p:cNvSpPr>
            <a:spLocks noGrp="1"/>
          </p:cNvSpPr>
          <p:nvPr/>
        </p:nvSpPr>
        <p:spPr>
          <a:xfrm>
            <a:off x="14647291" y="3081909"/>
            <a:ext cx="5757291" cy="3386709"/>
          </a:xfrm>
          <a:prstGeom prst="rect">
            <a:avLst/>
          </a:prstGeom>
          <a:solidFill>
            <a:srgbClr val="FFFFFF">
              <a:alpha val="0"/>
            </a:srgbClr>
          </a:solidFill>
        </p:spPr>
      </p:sp>
      <p:sp>
        <p:nvSpPr>
          <p:cNvPr id="39" name="Text 37">
            <a:extLst>
              <a:ext uri="{FF2B5EF4-FFF2-40B4-BE49-F238E27FC236}">
                <a16:creationId xmlns:a16="http://schemas.microsoft.com/office/drawing/2014/main" id="{1DF17E00-5E1B-4070-BE5A-1C005633A9E9}"/>
              </a:ext>
            </a:extLst>
          </p:cNvPr>
          <p:cNvSpPr>
            <a:spLocks noGrp="1"/>
          </p:cNvSpPr>
          <p:nvPr/>
        </p:nvSpPr>
        <p:spPr>
          <a:xfrm>
            <a:off x="14525371" y="3020949"/>
            <a:ext cx="6001131" cy="3508629"/>
          </a:xfrm>
          <a:prstGeom prst="rect">
            <a:avLst/>
          </a:prstGeom>
          <a:noFill/>
        </p:spPr>
        <p:txBody>
          <a:bodyPr wrap="square" lIns="0" tIns="0" rIns="0" bIns="0" anchor="t">
            <a:noAutofit/>
          </a:bodyPr>
          <a:lstStyle/>
          <a:p>
            <a:pPr>
              <a:lnSpc>
                <a:spcPct val="150000"/>
              </a:lnSpc>
              <a:buNone/>
              <a:defRPr sz="2550" b="0">
                <a:solidFill>
                  <a:srgbClr val="151515"/>
                </a:solidFill>
                <a:latin typeface="Times New Roman"/>
                <a:ea typeface="Times New Roman"/>
                <a:cs typeface="Times New Roman"/>
              </a:defRPr>
            </a:pPr>
            <a:r>
              <a:rPr sz="2550" b="0">
                <a:solidFill>
                  <a:srgbClr val="151515"/>
                </a:solidFill>
                <a:latin typeface="Times New Roman"/>
                <a:ea typeface="Times New Roman"/>
                <a:cs typeface="Times New Roman"/>
              </a:rPr>
              <a:t>Bổ sung câu khen đểu, mỉa mai.</a:t>
            </a:r>
            <a:endParaRPr sz="1600">
              <a:latin typeface="Times New Roman"/>
              <a:ea typeface="Times New Roman"/>
              <a:cs typeface="Times New Roman"/>
            </a:endParaRPr>
          </a:p>
          <a:p>
            <a:pPr>
              <a:lnSpc>
                <a:spcPct val="150000"/>
              </a:lnSpc>
              <a:buNone/>
              <a:defRPr sz="2550" b="0">
                <a:solidFill>
                  <a:srgbClr val="151515"/>
                </a:solidFill>
                <a:latin typeface="Times New Roman"/>
                <a:ea typeface="Times New Roman"/>
                <a:cs typeface="Times New Roman"/>
              </a:defRPr>
            </a:pPr>
            <a:r>
              <a:rPr sz="2550" b="0">
                <a:solidFill>
                  <a:srgbClr val="151515"/>
                </a:solidFill>
                <a:latin typeface="Times New Roman"/>
                <a:ea typeface="Times New Roman"/>
                <a:cs typeface="Times New Roman"/>
              </a:rPr>
              <a:t>Xem thêm ngữ cảnh khi cần.</a:t>
            </a:r>
            <a:endParaRPr sz="1600">
              <a:latin typeface="Times New Roman"/>
              <a:ea typeface="Times New Roman"/>
              <a:cs typeface="Times New Roman"/>
            </a:endParaRPr>
          </a:p>
          <a:p>
            <a:pPr>
              <a:lnSpc>
                <a:spcPct val="150000"/>
              </a:lnSpc>
              <a:buNone/>
              <a:defRPr sz="2550" b="0">
                <a:solidFill>
                  <a:srgbClr val="151515"/>
                </a:solidFill>
                <a:latin typeface="Times New Roman"/>
                <a:ea typeface="Times New Roman"/>
                <a:cs typeface="Times New Roman"/>
              </a:defRPr>
            </a:pPr>
            <a:r>
              <a:rPr sz="2550" b="0">
                <a:solidFill>
                  <a:srgbClr val="151515"/>
                </a:solidFill>
                <a:latin typeface="Times New Roman"/>
                <a:ea typeface="Times New Roman"/>
                <a:cs typeface="Times New Roman"/>
              </a:rPr>
              <a:t>Thử riêng để biết mô hình có nhận ra đúng hay không.</a:t>
            </a:r>
            <a:endParaRPr sz="1600">
              <a:latin typeface="Times New Roman"/>
              <a:ea typeface="Times New Roman"/>
              <a:cs typeface="Times New Roman"/>
            </a:endParaRPr>
          </a:p>
        </p:txBody>
      </p:sp>
      <p:sp>
        <p:nvSpPr>
          <p:cNvPr id="41" name="Shape 39">
            <a:extLst>
              <a:ext uri="{FF2B5EF4-FFF2-40B4-BE49-F238E27FC236}">
                <a16:creationId xmlns:a16="http://schemas.microsoft.com/office/drawing/2014/main" id="{78614327-20CF-4725-941F-5A73C177E55C}"/>
              </a:ext>
            </a:extLst>
          </p:cNvPr>
          <p:cNvSpPr>
            <a:spLocks noGrp="1"/>
          </p:cNvSpPr>
          <p:nvPr/>
        </p:nvSpPr>
        <p:spPr>
          <a:xfrm>
            <a:off x="1354709" y="7145909"/>
            <a:ext cx="8466709" cy="406400"/>
          </a:xfrm>
          <a:prstGeom prst="rect">
            <a:avLst/>
          </a:prstGeom>
          <a:solidFill>
            <a:srgbClr val="FFFFFF">
              <a:alpha val="0"/>
            </a:srgbClr>
          </a:solidFill>
        </p:spPr>
      </p:sp>
      <p:sp>
        <p:nvSpPr>
          <p:cNvPr id="43" name="Shape 41">
            <a:extLst>
              <a:ext uri="{FF2B5EF4-FFF2-40B4-BE49-F238E27FC236}">
                <a16:creationId xmlns:a16="http://schemas.microsoft.com/office/drawing/2014/main" id="{5F1D5F0A-A178-4EBF-98DB-1BCBB39077D5}"/>
              </a:ext>
            </a:extLst>
          </p:cNvPr>
          <p:cNvSpPr>
            <a:spLocks noGrp="1"/>
          </p:cNvSpPr>
          <p:nvPr/>
        </p:nvSpPr>
        <p:spPr>
          <a:xfrm>
            <a:off x="1016000" y="8890000"/>
            <a:ext cx="19642709" cy="2201291"/>
          </a:xfrm>
          <a:prstGeom prst="rect">
            <a:avLst/>
          </a:prstGeom>
          <a:solidFill>
            <a:srgbClr val="FFFFFF">
              <a:alpha val="0"/>
            </a:srgbClr>
          </a:solidFill>
        </p:spPr>
      </p:sp>
      <p:sp>
        <p:nvSpPr>
          <p:cNvPr id="44" name="Text 42">
            <a:extLst>
              <a:ext uri="{FF2B5EF4-FFF2-40B4-BE49-F238E27FC236}">
                <a16:creationId xmlns:a16="http://schemas.microsoft.com/office/drawing/2014/main" id="{A90FA239-2D9E-413B-95F5-0559C4EDBE9A}"/>
              </a:ext>
            </a:extLst>
          </p:cNvPr>
          <p:cNvSpPr>
            <a:spLocks noGrp="1"/>
          </p:cNvSpPr>
          <p:nvPr/>
        </p:nvSpPr>
        <p:spPr>
          <a:xfrm>
            <a:off x="894080" y="8829040"/>
            <a:ext cx="19886549" cy="2323211"/>
          </a:xfrm>
          <a:prstGeom prst="rect">
            <a:avLst/>
          </a:prstGeom>
          <a:noFill/>
        </p:spPr>
        <p:txBody>
          <a:bodyPr wrap="square" lIns="0" tIns="0" rIns="0" bIns="0" anchor="t">
            <a:noAutofit/>
          </a:bodyPr>
          <a:lstStyle/>
          <a:p>
            <a:pPr>
              <a:lnSpc>
                <a:spcPct val="160000"/>
              </a:lnSpc>
              <a:buNone/>
              <a:defRPr sz="2775" b="0">
                <a:solidFill>
                  <a:srgbClr val="151515"/>
                </a:solidFill>
                <a:latin typeface="Times New Roman"/>
                <a:ea typeface="Times New Roman"/>
                <a:cs typeface="Times New Roman"/>
              </a:defRPr>
            </a:pPr>
            <a:r>
              <a:rPr sz="2775" b="0">
                <a:solidFill>
                  <a:srgbClr val="151515"/>
                </a:solidFill>
                <a:latin typeface="Times New Roman"/>
                <a:ea typeface="Times New Roman"/>
                <a:cs typeface="Times New Roman"/>
              </a:rPr>
              <a:t>Ưu tiên lưu kết quả test của từng mô hình. Tách rõ tác dụng của dual head và bộ lọc luật trên web.</a:t>
            </a:r>
            <a:endParaRPr sz="1600">
              <a:latin typeface="Times New Roman"/>
              <a:ea typeface="Times New Roman"/>
              <a:cs typeface="Times New Roman"/>
            </a:endParaRPr>
          </a:p>
        </p:txBody>
      </p:sp>
      <p:sp>
        <p:nvSpPr>
          <p:cNvPr id="45" name="Shape 43">
            <a:extLst>
              <a:ext uri="{FF2B5EF4-FFF2-40B4-BE49-F238E27FC236}">
                <a16:creationId xmlns:a16="http://schemas.microsoft.com/office/drawing/2014/main" id="{CF4E41E8-DE0C-49CE-881E-41BE6E2C0266}"/>
              </a:ext>
            </a:extLst>
          </p:cNvPr>
          <p:cNvSpPr>
            <a:spLocks noGrp="1"/>
          </p:cNvSpPr>
          <p:nvPr/>
        </p:nvSpPr>
        <p:spPr>
          <a:xfrm>
            <a:off x="19981291" y="11684000"/>
            <a:ext cx="1016000" cy="406400"/>
          </a:xfrm>
          <a:prstGeom prst="rect">
            <a:avLst/>
          </a:prstGeom>
          <a:solidFill>
            <a:srgbClr val="FFFFFF">
              <a:alpha val="0"/>
            </a:srgbClr>
          </a:solidFill>
        </p:spPr>
      </p:sp>
      <p:sp>
        <p:nvSpPr>
          <p:cNvPr id="46" name="Text 44">
            <a:extLst>
              <a:ext uri="{FF2B5EF4-FFF2-40B4-BE49-F238E27FC236}">
                <a16:creationId xmlns:a16="http://schemas.microsoft.com/office/drawing/2014/main" id="{8686BEE7-334A-4115-9F88-12DED17E19FA}"/>
              </a:ext>
            </a:extLst>
          </p:cNvPr>
          <p:cNvSpPr>
            <a:spLocks noGrp="1"/>
          </p:cNvSpPr>
          <p:nvPr/>
        </p:nvSpPr>
        <p:spPr>
          <a:xfrm>
            <a:off x="19859371" y="11623040"/>
            <a:ext cx="1259840" cy="528320"/>
          </a:xfrm>
          <a:prstGeom prst="rect">
            <a:avLst/>
          </a:prstGeom>
          <a:noFill/>
        </p:spPr>
        <p:txBody>
          <a:bodyPr wrap="none" lIns="0" tIns="0" rIns="0" bIns="0" anchor="ctr">
            <a:noAutofit/>
          </a:bodyPr>
          <a:lstStyle/>
          <a:p>
            <a:pPr algn="r">
              <a:lnSpc>
                <a:spcPct val="100000"/>
              </a:lnSpc>
              <a:buNone/>
              <a:defRPr sz="1950">
                <a:solidFill>
                  <a:srgbClr val="666666"/>
                </a:solidFill>
                <a:latin typeface="Times New Roman"/>
                <a:ea typeface="Times New Roman"/>
                <a:cs typeface="Times New Roman"/>
              </a:defRPr>
            </a:pPr>
            <a:r>
              <a:rPr sz="1950">
                <a:solidFill>
                  <a:srgbClr val="666666"/>
                </a:solidFill>
                <a:latin typeface="Times New Roman"/>
                <a:ea typeface="Times New Roman"/>
                <a:cs typeface="Times New Roman"/>
              </a:rPr>
              <a:t>16/18</a:t>
            </a:r>
            <a:endParaRPr sz="1600">
              <a:latin typeface="Times New Roman"/>
              <a:ea typeface="Times New Roman"/>
              <a:cs typeface="Times New Roman"/>
            </a:endParaRPr>
          </a:p>
        </p:txBody>
      </p:sp>
      <p:sp>
        <p:nvSpPr>
          <p:cNvPr id="47" name="Text 24">
            <a:extLst>
              <a:ext uri="{FF2B5EF4-FFF2-40B4-BE49-F238E27FC236}">
                <a16:creationId xmlns:a16="http://schemas.microsoft.com/office/drawing/2014/main" id="{891AEC0D-79F0-739D-93D9-DC4C60E5771D}"/>
              </a:ext>
            </a:extLst>
          </p:cNvPr>
          <p:cNvSpPr>
            <a:spLocks noGrp="1"/>
          </p:cNvSpPr>
          <p:nvPr/>
        </p:nvSpPr>
        <p:spPr>
          <a:xfrm>
            <a:off x="3048127" y="7572893"/>
            <a:ext cx="14224000" cy="609600"/>
          </a:xfrm>
          <a:prstGeom prst="rect">
            <a:avLst/>
          </a:prstGeom>
          <a:noFill/>
        </p:spPr>
        <p:txBody>
          <a:bodyPr wrap="square" lIns="0" tIns="0" rIns="0" bIns="0" anchor="ctr">
            <a:noAutofit/>
          </a:bodyPr>
          <a:lstStyle/>
          <a:p>
            <a:pPr algn="ctr">
              <a:lnSpc>
                <a:spcPct val="100000"/>
              </a:lnSpc>
              <a:buNone/>
            </a:pPr>
            <a:endParaRPr sz="2400">
              <a:latin typeface="Times New Roman"/>
              <a:ea typeface="Times New Roman"/>
              <a:cs typeface="Times New Roman"/>
            </a:endParaRPr>
          </a:p>
        </p:txBody>
      </p:sp>
    </p:spTree>
    <p:extLst>
      <p:ext uri="{BB962C8B-B14F-4D97-AF65-F5344CB8AC3E}">
        <p14:creationId xmlns:p14="http://schemas.microsoft.com/office/powerpoint/2010/main" val="4717927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394ED18D-B056-426D-B4FA-43BB6D69D72D}"/>
              </a:ext>
            </a:extLst>
          </p:cNvPr>
          <p:cNvSpPr>
            <a:spLocks noGrp="1"/>
          </p:cNvSpPr>
          <p:nvPr/>
        </p:nvSpPr>
        <p:spPr>
          <a:xfrm>
            <a:off x="0" y="0"/>
            <a:ext cx="21674709" cy="677291"/>
          </a:xfrm>
          <a:prstGeom prst="rect">
            <a:avLst/>
          </a:prstGeom>
          <a:solidFill>
            <a:srgbClr val="1565C0"/>
          </a:solidFill>
        </p:spPr>
      </p:sp>
      <p:sp>
        <p:nvSpPr>
          <p:cNvPr id="3" name="Shape 1">
            <a:extLst>
              <a:ext uri="{FF2B5EF4-FFF2-40B4-BE49-F238E27FC236}">
                <a16:creationId xmlns:a16="http://schemas.microsoft.com/office/drawing/2014/main" id="{4565A470-C2C8-4226-8FE5-0A1985DCC632}"/>
              </a:ext>
            </a:extLst>
          </p:cNvPr>
          <p:cNvSpPr>
            <a:spLocks noGrp="1"/>
          </p:cNvSpPr>
          <p:nvPr/>
        </p:nvSpPr>
        <p:spPr>
          <a:xfrm>
            <a:off x="17949101" y="84709"/>
            <a:ext cx="3386709" cy="508000"/>
          </a:xfrm>
          <a:prstGeom prst="roundRect">
            <a:avLst>
              <a:gd name="adj" fmla="val 8000"/>
            </a:avLst>
          </a:prstGeom>
          <a:solidFill>
            <a:srgbClr val="FFFFFF">
              <a:alpha val="3576"/>
            </a:srgbClr>
          </a:solidFill>
        </p:spPr>
      </p:sp>
      <p:sp>
        <p:nvSpPr>
          <p:cNvPr id="4" name="Shape 2">
            <a:extLst>
              <a:ext uri="{FF2B5EF4-FFF2-40B4-BE49-F238E27FC236}">
                <a16:creationId xmlns:a16="http://schemas.microsoft.com/office/drawing/2014/main" id="{96AD0E1B-AD29-477D-B46D-4858957E0F66}"/>
              </a:ext>
            </a:extLst>
          </p:cNvPr>
          <p:cNvSpPr>
            <a:spLocks noGrp="1"/>
          </p:cNvSpPr>
          <p:nvPr/>
        </p:nvSpPr>
        <p:spPr>
          <a:xfrm>
            <a:off x="169291" y="0"/>
            <a:ext cx="3386709" cy="677291"/>
          </a:xfrm>
          <a:prstGeom prst="rect">
            <a:avLst/>
          </a:prstGeom>
          <a:solidFill>
            <a:srgbClr val="FFFFFF">
              <a:alpha val="0"/>
            </a:srgbClr>
          </a:solidFill>
        </p:spPr>
      </p:sp>
      <p:sp>
        <p:nvSpPr>
          <p:cNvPr id="5" name="Text 3">
            <a:extLst>
              <a:ext uri="{FF2B5EF4-FFF2-40B4-BE49-F238E27FC236}">
                <a16:creationId xmlns:a16="http://schemas.microsoft.com/office/drawing/2014/main" id="{3DDB79CE-8E1A-4759-856E-FDA5F533C317}"/>
              </a:ext>
            </a:extLst>
          </p:cNvPr>
          <p:cNvSpPr>
            <a:spLocks noGrp="1"/>
          </p:cNvSpPr>
          <p:nvPr/>
        </p:nvSpPr>
        <p:spPr>
          <a:xfrm>
            <a:off x="47339"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1. Bài toán và dữ liệu</a:t>
            </a:r>
            <a:endParaRPr sz="1600">
              <a:latin typeface="Times New Roman"/>
              <a:ea typeface="Times New Roman"/>
              <a:cs typeface="Times New Roman"/>
            </a:endParaRPr>
          </a:p>
        </p:txBody>
      </p:sp>
      <p:sp>
        <p:nvSpPr>
          <p:cNvPr id="6" name="Shape 4">
            <a:extLst>
              <a:ext uri="{FF2B5EF4-FFF2-40B4-BE49-F238E27FC236}">
                <a16:creationId xmlns:a16="http://schemas.microsoft.com/office/drawing/2014/main" id="{ECED247C-2FED-4B1A-BF21-E27053E149B3}"/>
              </a:ext>
            </a:extLst>
          </p:cNvPr>
          <p:cNvSpPr>
            <a:spLocks noGrp="1"/>
          </p:cNvSpPr>
          <p:nvPr/>
        </p:nvSpPr>
        <p:spPr>
          <a:xfrm>
            <a:off x="3725291" y="0"/>
            <a:ext cx="3386709" cy="677291"/>
          </a:xfrm>
          <a:prstGeom prst="rect">
            <a:avLst/>
          </a:prstGeom>
          <a:solidFill>
            <a:srgbClr val="FFFFFF">
              <a:alpha val="0"/>
            </a:srgbClr>
          </a:solidFill>
        </p:spPr>
      </p:sp>
      <p:sp>
        <p:nvSpPr>
          <p:cNvPr id="7" name="Text 5">
            <a:extLst>
              <a:ext uri="{FF2B5EF4-FFF2-40B4-BE49-F238E27FC236}">
                <a16:creationId xmlns:a16="http://schemas.microsoft.com/office/drawing/2014/main" id="{32319E8E-4B9E-49EF-84E4-B89E48E4BB2B}"/>
              </a:ext>
            </a:extLst>
          </p:cNvPr>
          <p:cNvSpPr>
            <a:spLocks noGrp="1"/>
          </p:cNvSpPr>
          <p:nvPr/>
        </p:nvSpPr>
        <p:spPr>
          <a:xfrm>
            <a:off x="3603403"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2. Mô hình và dual head</a:t>
            </a:r>
            <a:endParaRPr sz="1600">
              <a:latin typeface="Times New Roman"/>
              <a:ea typeface="Times New Roman"/>
              <a:cs typeface="Times New Roman"/>
            </a:endParaRPr>
          </a:p>
        </p:txBody>
      </p:sp>
      <p:sp>
        <p:nvSpPr>
          <p:cNvPr id="8" name="Shape 6">
            <a:extLst>
              <a:ext uri="{FF2B5EF4-FFF2-40B4-BE49-F238E27FC236}">
                <a16:creationId xmlns:a16="http://schemas.microsoft.com/office/drawing/2014/main" id="{F15B7043-55C3-4803-8C78-F896426981C3}"/>
              </a:ext>
            </a:extLst>
          </p:cNvPr>
          <p:cNvSpPr>
            <a:spLocks noGrp="1"/>
          </p:cNvSpPr>
          <p:nvPr/>
        </p:nvSpPr>
        <p:spPr>
          <a:xfrm>
            <a:off x="7281291" y="0"/>
            <a:ext cx="3386709" cy="677291"/>
          </a:xfrm>
          <a:prstGeom prst="rect">
            <a:avLst/>
          </a:prstGeom>
          <a:solidFill>
            <a:srgbClr val="FFFFFF">
              <a:alpha val="0"/>
            </a:srgbClr>
          </a:solidFill>
        </p:spPr>
      </p:sp>
      <p:sp>
        <p:nvSpPr>
          <p:cNvPr id="9" name="Text 7">
            <a:extLst>
              <a:ext uri="{FF2B5EF4-FFF2-40B4-BE49-F238E27FC236}">
                <a16:creationId xmlns:a16="http://schemas.microsoft.com/office/drawing/2014/main" id="{B2305E69-E73D-4B54-BA07-88055A0964DC}"/>
              </a:ext>
            </a:extLst>
          </p:cNvPr>
          <p:cNvSpPr>
            <a:spLocks noGrp="1"/>
          </p:cNvSpPr>
          <p:nvPr/>
        </p:nvSpPr>
        <p:spPr>
          <a:xfrm>
            <a:off x="7159371"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3. Kết quả</a:t>
            </a:r>
            <a:endParaRPr sz="1600">
              <a:latin typeface="Times New Roman"/>
              <a:ea typeface="Times New Roman"/>
              <a:cs typeface="Times New Roman"/>
            </a:endParaRPr>
          </a:p>
        </p:txBody>
      </p:sp>
      <p:sp>
        <p:nvSpPr>
          <p:cNvPr id="10" name="Shape 8">
            <a:extLst>
              <a:ext uri="{FF2B5EF4-FFF2-40B4-BE49-F238E27FC236}">
                <a16:creationId xmlns:a16="http://schemas.microsoft.com/office/drawing/2014/main" id="{499EEF33-FEC2-4E69-89F8-717C7AB90AA5}"/>
              </a:ext>
            </a:extLst>
          </p:cNvPr>
          <p:cNvSpPr>
            <a:spLocks noGrp="1"/>
          </p:cNvSpPr>
          <p:nvPr/>
        </p:nvSpPr>
        <p:spPr>
          <a:xfrm>
            <a:off x="10837291" y="0"/>
            <a:ext cx="3386709" cy="677291"/>
          </a:xfrm>
          <a:prstGeom prst="rect">
            <a:avLst/>
          </a:prstGeom>
          <a:solidFill>
            <a:srgbClr val="FFFFFF">
              <a:alpha val="0"/>
            </a:srgbClr>
          </a:solidFill>
        </p:spPr>
      </p:sp>
      <p:sp>
        <p:nvSpPr>
          <p:cNvPr id="11" name="Text 9">
            <a:extLst>
              <a:ext uri="{FF2B5EF4-FFF2-40B4-BE49-F238E27FC236}">
                <a16:creationId xmlns:a16="http://schemas.microsoft.com/office/drawing/2014/main" id="{B5FE0364-FDB3-4E49-A708-CDA667ADB4C0}"/>
              </a:ext>
            </a:extLst>
          </p:cNvPr>
          <p:cNvSpPr>
            <a:spLocks noGrp="1"/>
          </p:cNvSpPr>
          <p:nvPr/>
        </p:nvSpPr>
        <p:spPr>
          <a:xfrm>
            <a:off x="10715339"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4. Phân tích lỗi</a:t>
            </a:r>
            <a:endParaRPr sz="1600">
              <a:latin typeface="Times New Roman"/>
              <a:ea typeface="Times New Roman"/>
              <a:cs typeface="Times New Roman"/>
            </a:endParaRPr>
          </a:p>
        </p:txBody>
      </p:sp>
      <p:sp>
        <p:nvSpPr>
          <p:cNvPr id="12" name="Shape 10">
            <a:extLst>
              <a:ext uri="{FF2B5EF4-FFF2-40B4-BE49-F238E27FC236}">
                <a16:creationId xmlns:a16="http://schemas.microsoft.com/office/drawing/2014/main" id="{731A8EC6-53CF-4382-8338-34345623D16A}"/>
              </a:ext>
            </a:extLst>
          </p:cNvPr>
          <p:cNvSpPr>
            <a:spLocks noGrp="1"/>
          </p:cNvSpPr>
          <p:nvPr/>
        </p:nvSpPr>
        <p:spPr>
          <a:xfrm>
            <a:off x="14393291" y="0"/>
            <a:ext cx="3386709" cy="677291"/>
          </a:xfrm>
          <a:prstGeom prst="rect">
            <a:avLst/>
          </a:prstGeom>
          <a:solidFill>
            <a:srgbClr val="FFFFFF">
              <a:alpha val="0"/>
            </a:srgbClr>
          </a:solidFill>
        </p:spPr>
      </p:sp>
      <p:sp>
        <p:nvSpPr>
          <p:cNvPr id="13" name="Text 11">
            <a:extLst>
              <a:ext uri="{FF2B5EF4-FFF2-40B4-BE49-F238E27FC236}">
                <a16:creationId xmlns:a16="http://schemas.microsoft.com/office/drawing/2014/main" id="{850BAA77-BCDD-4612-8874-F4F5FAB8C49D}"/>
              </a:ext>
            </a:extLst>
          </p:cNvPr>
          <p:cNvSpPr>
            <a:spLocks noGrp="1"/>
          </p:cNvSpPr>
          <p:nvPr/>
        </p:nvSpPr>
        <p:spPr>
          <a:xfrm>
            <a:off x="14271403" y="0"/>
            <a:ext cx="3630549" cy="676275"/>
          </a:xfrm>
          <a:prstGeom prst="rect">
            <a:avLst/>
          </a:prstGeom>
          <a:noFill/>
        </p:spPr>
        <p:txBody>
          <a:bodyPr wrap="none" lIns="0" tIns="0" rIns="0" bIns="0" anchor="ctr">
            <a:noAutofit/>
          </a:bodyPr>
          <a:lstStyle/>
          <a:p>
            <a:pPr algn="ctr">
              <a:lnSpc>
                <a:spcPct val="100000"/>
              </a:lnSpc>
              <a:buNone/>
              <a:defRPr sz="1875" b="0">
                <a:solidFill>
                  <a:srgbClr val="A5CAE8"/>
                </a:solidFill>
                <a:latin typeface="Times New Roman"/>
                <a:ea typeface="Times New Roman"/>
                <a:cs typeface="Times New Roman"/>
              </a:defRPr>
            </a:pPr>
            <a:r>
              <a:rPr sz="1875" b="0">
                <a:solidFill>
                  <a:srgbClr val="A5CAE8"/>
                </a:solidFill>
                <a:latin typeface="Times New Roman"/>
                <a:ea typeface="Times New Roman"/>
                <a:cs typeface="Times New Roman"/>
              </a:rPr>
              <a:t>5. Ứng dụng</a:t>
            </a:r>
            <a:endParaRPr sz="1600">
              <a:latin typeface="Times New Roman"/>
              <a:ea typeface="Times New Roman"/>
              <a:cs typeface="Times New Roman"/>
            </a:endParaRPr>
          </a:p>
        </p:txBody>
      </p:sp>
      <p:sp>
        <p:nvSpPr>
          <p:cNvPr id="14" name="Shape 12">
            <a:extLst>
              <a:ext uri="{FF2B5EF4-FFF2-40B4-BE49-F238E27FC236}">
                <a16:creationId xmlns:a16="http://schemas.microsoft.com/office/drawing/2014/main" id="{7339A038-707F-450E-9759-86E56769B2A0}"/>
              </a:ext>
            </a:extLst>
          </p:cNvPr>
          <p:cNvSpPr>
            <a:spLocks noGrp="1"/>
          </p:cNvSpPr>
          <p:nvPr/>
        </p:nvSpPr>
        <p:spPr>
          <a:xfrm>
            <a:off x="17949291" y="0"/>
            <a:ext cx="3386709" cy="677291"/>
          </a:xfrm>
          <a:prstGeom prst="rect">
            <a:avLst/>
          </a:prstGeom>
          <a:solidFill>
            <a:srgbClr val="FFFFFF">
              <a:alpha val="0"/>
            </a:srgbClr>
          </a:solidFill>
        </p:spPr>
      </p:sp>
      <p:sp>
        <p:nvSpPr>
          <p:cNvPr id="15" name="Text 13">
            <a:extLst>
              <a:ext uri="{FF2B5EF4-FFF2-40B4-BE49-F238E27FC236}">
                <a16:creationId xmlns:a16="http://schemas.microsoft.com/office/drawing/2014/main" id="{31ACDDF1-0253-47CF-973A-55A9789999E3}"/>
              </a:ext>
            </a:extLst>
          </p:cNvPr>
          <p:cNvSpPr>
            <a:spLocks noGrp="1"/>
          </p:cNvSpPr>
          <p:nvPr/>
        </p:nvSpPr>
        <p:spPr>
          <a:xfrm>
            <a:off x="17827371" y="0"/>
            <a:ext cx="3630549" cy="676275"/>
          </a:xfrm>
          <a:prstGeom prst="rect">
            <a:avLst/>
          </a:prstGeom>
          <a:noFill/>
        </p:spPr>
        <p:txBody>
          <a:bodyPr wrap="none" lIns="0" tIns="0" rIns="0" bIns="0" anchor="ctr">
            <a:noAutofit/>
          </a:bodyPr>
          <a:lstStyle/>
          <a:p>
            <a:pPr algn="ctr">
              <a:lnSpc>
                <a:spcPct val="100000"/>
              </a:lnSpc>
              <a:buNone/>
              <a:defRPr sz="1875" b="1">
                <a:solidFill>
                  <a:srgbClr val="FFFFFF"/>
                </a:solidFill>
                <a:latin typeface="Times New Roman"/>
                <a:ea typeface="Times New Roman"/>
                <a:cs typeface="Times New Roman"/>
              </a:defRPr>
            </a:pPr>
            <a:r>
              <a:rPr sz="1875" b="1">
                <a:solidFill>
                  <a:srgbClr val="FFFFFF"/>
                </a:solidFill>
                <a:latin typeface="Times New Roman"/>
                <a:ea typeface="Times New Roman"/>
                <a:cs typeface="Times New Roman"/>
              </a:rPr>
              <a:t>6. Cải thiện</a:t>
            </a:r>
            <a:endParaRPr sz="1600">
              <a:latin typeface="Times New Roman"/>
              <a:ea typeface="Times New Roman"/>
              <a:cs typeface="Times New Roman"/>
            </a:endParaRPr>
          </a:p>
        </p:txBody>
      </p:sp>
      <p:sp>
        <p:nvSpPr>
          <p:cNvPr id="16" name="Shape 14">
            <a:extLst>
              <a:ext uri="{FF2B5EF4-FFF2-40B4-BE49-F238E27FC236}">
                <a16:creationId xmlns:a16="http://schemas.microsoft.com/office/drawing/2014/main" id="{C0757683-823D-4DD3-9A17-1C0275881F73}"/>
              </a:ext>
            </a:extLst>
          </p:cNvPr>
          <p:cNvSpPr>
            <a:spLocks noGrp="1"/>
          </p:cNvSpPr>
          <p:nvPr/>
        </p:nvSpPr>
        <p:spPr>
          <a:xfrm>
            <a:off x="1016000" y="931291"/>
            <a:ext cx="16933291" cy="643509"/>
          </a:xfrm>
          <a:prstGeom prst="rect">
            <a:avLst/>
          </a:prstGeom>
          <a:solidFill>
            <a:srgbClr val="FFFFFF">
              <a:alpha val="0"/>
            </a:srgbClr>
          </a:solidFill>
        </p:spPr>
      </p:sp>
      <p:sp>
        <p:nvSpPr>
          <p:cNvPr id="17" name="Text 15">
            <a:extLst>
              <a:ext uri="{FF2B5EF4-FFF2-40B4-BE49-F238E27FC236}">
                <a16:creationId xmlns:a16="http://schemas.microsoft.com/office/drawing/2014/main" id="{9F098992-DEED-4E22-B17F-FA65D1457408}"/>
              </a:ext>
            </a:extLst>
          </p:cNvPr>
          <p:cNvSpPr>
            <a:spLocks noGrp="1"/>
          </p:cNvSpPr>
          <p:nvPr/>
        </p:nvSpPr>
        <p:spPr>
          <a:xfrm>
            <a:off x="894080" y="870331"/>
            <a:ext cx="17177131" cy="765429"/>
          </a:xfrm>
          <a:prstGeom prst="rect">
            <a:avLst/>
          </a:prstGeom>
          <a:noFill/>
        </p:spPr>
        <p:txBody>
          <a:bodyPr wrap="none" lIns="0" tIns="0" rIns="0" bIns="0" anchor="ctr">
            <a:noAutofit/>
          </a:bodyPr>
          <a:lstStyle/>
          <a:p>
            <a:pPr>
              <a:lnSpc>
                <a:spcPct val="100000"/>
              </a:lnSpc>
              <a:buNone/>
              <a:defRPr sz="3900" b="1">
                <a:solidFill>
                  <a:srgbClr val="1565C0"/>
                </a:solidFill>
                <a:latin typeface="Times New Roman"/>
                <a:ea typeface="Times New Roman"/>
                <a:cs typeface="Times New Roman"/>
              </a:defRPr>
            </a:pPr>
            <a:r>
              <a:rPr sz="3900" b="1">
                <a:solidFill>
                  <a:srgbClr val="1565C0"/>
                </a:solidFill>
                <a:latin typeface="Times New Roman"/>
                <a:ea typeface="Times New Roman"/>
                <a:cs typeface="Times New Roman"/>
              </a:rPr>
              <a:t>Kết luận và thứ tự ưu tiên</a:t>
            </a:r>
            <a:endParaRPr sz="1600">
              <a:latin typeface="Times New Roman"/>
              <a:ea typeface="Times New Roman"/>
              <a:cs typeface="Times New Roman"/>
            </a:endParaRPr>
          </a:p>
        </p:txBody>
      </p:sp>
      <p:sp>
        <p:nvSpPr>
          <p:cNvPr id="18" name="Shape 16">
            <a:extLst>
              <a:ext uri="{FF2B5EF4-FFF2-40B4-BE49-F238E27FC236}">
                <a16:creationId xmlns:a16="http://schemas.microsoft.com/office/drawing/2014/main" id="{F1247DE2-46A1-45D1-9913-7C41C9C30BBD}"/>
              </a:ext>
            </a:extLst>
          </p:cNvPr>
          <p:cNvSpPr>
            <a:spLocks noGrp="1"/>
          </p:cNvSpPr>
          <p:nvPr/>
        </p:nvSpPr>
        <p:spPr>
          <a:xfrm>
            <a:off x="1016000" y="1625600"/>
            <a:ext cx="19642709" cy="50800"/>
          </a:xfrm>
          <a:prstGeom prst="rect">
            <a:avLst/>
          </a:prstGeom>
          <a:solidFill>
            <a:srgbClr val="1565C0"/>
          </a:solidFill>
        </p:spPr>
      </p:sp>
      <p:sp>
        <p:nvSpPr>
          <p:cNvPr id="19" name="Shape 17">
            <a:extLst>
              <a:ext uri="{FF2B5EF4-FFF2-40B4-BE49-F238E27FC236}">
                <a16:creationId xmlns:a16="http://schemas.microsoft.com/office/drawing/2014/main" id="{A7F8E0F5-006B-4978-BC56-BDFDDC0C4802}"/>
              </a:ext>
            </a:extLst>
          </p:cNvPr>
          <p:cNvSpPr>
            <a:spLocks noGrp="1"/>
          </p:cNvSpPr>
          <p:nvPr/>
        </p:nvSpPr>
        <p:spPr>
          <a:xfrm>
            <a:off x="1016000" y="2032000"/>
            <a:ext cx="4233291" cy="508000"/>
          </a:xfrm>
          <a:prstGeom prst="roundRect">
            <a:avLst>
              <a:gd name="adj" fmla="val 12000"/>
            </a:avLst>
          </a:prstGeom>
          <a:solidFill>
            <a:srgbClr val="FF6F00"/>
          </a:solidFill>
        </p:spPr>
      </p:sp>
      <p:sp>
        <p:nvSpPr>
          <p:cNvPr id="20" name="Shape 18">
            <a:extLst>
              <a:ext uri="{FF2B5EF4-FFF2-40B4-BE49-F238E27FC236}">
                <a16:creationId xmlns:a16="http://schemas.microsoft.com/office/drawing/2014/main" id="{A73E51A1-CDBC-4123-9A89-1EFE6676EC87}"/>
              </a:ext>
            </a:extLst>
          </p:cNvPr>
          <p:cNvSpPr>
            <a:spLocks noGrp="1"/>
          </p:cNvSpPr>
          <p:nvPr/>
        </p:nvSpPr>
        <p:spPr>
          <a:xfrm>
            <a:off x="1016000" y="2032000"/>
            <a:ext cx="4233291" cy="508000"/>
          </a:xfrm>
          <a:prstGeom prst="rect">
            <a:avLst/>
          </a:prstGeom>
          <a:solidFill>
            <a:srgbClr val="FFFFFF">
              <a:alpha val="0"/>
            </a:srgbClr>
          </a:solidFill>
        </p:spPr>
      </p:sp>
      <p:sp>
        <p:nvSpPr>
          <p:cNvPr id="21" name="Text 19">
            <a:extLst>
              <a:ext uri="{FF2B5EF4-FFF2-40B4-BE49-F238E27FC236}">
                <a16:creationId xmlns:a16="http://schemas.microsoft.com/office/drawing/2014/main" id="{2AADE062-9F7E-4411-AB98-649DD8F7AA8E}"/>
              </a:ext>
            </a:extLst>
          </p:cNvPr>
          <p:cNvSpPr>
            <a:spLocks noGrp="1"/>
          </p:cNvSpPr>
          <p:nvPr/>
        </p:nvSpPr>
        <p:spPr>
          <a:xfrm>
            <a:off x="894080" y="1971040"/>
            <a:ext cx="4477131" cy="629920"/>
          </a:xfrm>
          <a:prstGeom prst="rect">
            <a:avLst/>
          </a:prstGeom>
          <a:noFill/>
        </p:spPr>
        <p:txBody>
          <a:bodyPr wrap="none" lIns="0" tIns="0" rIns="0" bIns="0" anchor="ctr">
            <a:noAutofit/>
          </a:bodyPr>
          <a:lstStyle/>
          <a:p>
            <a:pPr algn="ctr">
              <a:lnSpc>
                <a:spcPct val="100000"/>
              </a:lnSpc>
              <a:buNone/>
              <a:defRPr sz="2100" b="1">
                <a:solidFill>
                  <a:srgbClr val="FFFFFF"/>
                </a:solidFill>
                <a:latin typeface="Times New Roman"/>
                <a:ea typeface="Times New Roman"/>
                <a:cs typeface="Times New Roman"/>
              </a:defRPr>
            </a:pPr>
            <a:r>
              <a:rPr sz="2100" b="1">
                <a:solidFill>
                  <a:srgbClr val="FFFFFF"/>
                </a:solidFill>
                <a:latin typeface="Times New Roman"/>
                <a:ea typeface="Times New Roman"/>
                <a:cs typeface="Times New Roman"/>
              </a:rPr>
              <a:t>KẾT QUẢ THEO BÁO CÁO</a:t>
            </a:r>
            <a:endParaRPr sz="1600">
              <a:latin typeface="Times New Roman"/>
              <a:ea typeface="Times New Roman"/>
              <a:cs typeface="Times New Roman"/>
            </a:endParaRPr>
          </a:p>
        </p:txBody>
      </p:sp>
      <p:sp>
        <p:nvSpPr>
          <p:cNvPr id="22" name="Shape 20">
            <a:extLst>
              <a:ext uri="{FF2B5EF4-FFF2-40B4-BE49-F238E27FC236}">
                <a16:creationId xmlns:a16="http://schemas.microsoft.com/office/drawing/2014/main" id="{FE245B64-E813-405E-8E43-0BE0EA7E3EA1}"/>
              </a:ext>
            </a:extLst>
          </p:cNvPr>
          <p:cNvSpPr>
            <a:spLocks noGrp="1"/>
          </p:cNvSpPr>
          <p:nvPr/>
        </p:nvSpPr>
        <p:spPr>
          <a:xfrm>
            <a:off x="1016000" y="2624709"/>
            <a:ext cx="9482709" cy="3048000"/>
          </a:xfrm>
          <a:prstGeom prst="roundRect">
            <a:avLst>
              <a:gd name="adj" fmla="val 8000"/>
            </a:avLst>
          </a:prstGeom>
          <a:solidFill>
            <a:srgbClr val="FFF3E0"/>
          </a:solidFill>
          <a:ln w="12700">
            <a:solidFill>
              <a:srgbClr val="FFE0B2"/>
            </a:solidFill>
            <a:prstDash val="solid"/>
          </a:ln>
        </p:spPr>
      </p:sp>
      <p:sp>
        <p:nvSpPr>
          <p:cNvPr id="23" name="Shape 21">
            <a:extLst>
              <a:ext uri="{FF2B5EF4-FFF2-40B4-BE49-F238E27FC236}">
                <a16:creationId xmlns:a16="http://schemas.microsoft.com/office/drawing/2014/main" id="{E6754066-A700-40B5-BA68-4BAE831E830F}"/>
              </a:ext>
            </a:extLst>
          </p:cNvPr>
          <p:cNvSpPr>
            <a:spLocks noGrp="1"/>
          </p:cNvSpPr>
          <p:nvPr/>
        </p:nvSpPr>
        <p:spPr>
          <a:xfrm>
            <a:off x="1270000" y="2794000"/>
            <a:ext cx="8974709" cy="474091"/>
          </a:xfrm>
          <a:prstGeom prst="rect">
            <a:avLst/>
          </a:prstGeom>
          <a:solidFill>
            <a:srgbClr val="FFFFFF">
              <a:alpha val="0"/>
            </a:srgbClr>
          </a:solidFill>
        </p:spPr>
      </p:sp>
      <p:sp>
        <p:nvSpPr>
          <p:cNvPr id="24" name="Text 22">
            <a:extLst>
              <a:ext uri="{FF2B5EF4-FFF2-40B4-BE49-F238E27FC236}">
                <a16:creationId xmlns:a16="http://schemas.microsoft.com/office/drawing/2014/main" id="{395C0940-542B-418C-BB5C-C99B5164D83C}"/>
              </a:ext>
            </a:extLst>
          </p:cNvPr>
          <p:cNvSpPr>
            <a:spLocks noGrp="1"/>
          </p:cNvSpPr>
          <p:nvPr/>
        </p:nvSpPr>
        <p:spPr>
          <a:xfrm>
            <a:off x="1148080" y="2733040"/>
            <a:ext cx="9218549" cy="596011"/>
          </a:xfrm>
          <a:prstGeom prst="rect">
            <a:avLst/>
          </a:prstGeom>
          <a:noFill/>
        </p:spPr>
        <p:txBody>
          <a:bodyPr wrap="none" lIns="0" tIns="0" rIns="0" bIns="0" anchor="ctr">
            <a:noAutofit/>
          </a:bodyPr>
          <a:lstStyle/>
          <a:p>
            <a:pPr>
              <a:lnSpc>
                <a:spcPct val="100000"/>
              </a:lnSpc>
              <a:buNone/>
              <a:defRPr sz="3000" b="1">
                <a:solidFill>
                  <a:srgbClr val="EF6C00"/>
                </a:solidFill>
                <a:latin typeface="Times New Roman"/>
                <a:ea typeface="Times New Roman"/>
                <a:cs typeface="Times New Roman"/>
              </a:defRPr>
            </a:pPr>
            <a:r>
              <a:rPr sz="3000" b="1">
                <a:solidFill>
                  <a:srgbClr val="EF6C00"/>
                </a:solidFill>
                <a:latin typeface="Times New Roman"/>
                <a:ea typeface="Times New Roman"/>
                <a:cs typeface="Times New Roman"/>
              </a:rPr>
              <a:t>Kết quả bộ đối chứng mới</a:t>
            </a:r>
            <a:endParaRPr sz="1600">
              <a:latin typeface="Times New Roman"/>
              <a:ea typeface="Times New Roman"/>
              <a:cs typeface="Times New Roman"/>
            </a:endParaRPr>
          </a:p>
        </p:txBody>
      </p:sp>
      <p:sp>
        <p:nvSpPr>
          <p:cNvPr id="25" name="Shape 23">
            <a:extLst>
              <a:ext uri="{FF2B5EF4-FFF2-40B4-BE49-F238E27FC236}">
                <a16:creationId xmlns:a16="http://schemas.microsoft.com/office/drawing/2014/main" id="{73ED6EA8-A42B-476D-9E68-FB538FBF9271}"/>
              </a:ext>
            </a:extLst>
          </p:cNvPr>
          <p:cNvSpPr>
            <a:spLocks noGrp="1"/>
          </p:cNvSpPr>
          <p:nvPr/>
        </p:nvSpPr>
        <p:spPr>
          <a:xfrm>
            <a:off x="1270000" y="3386709"/>
            <a:ext cx="8974709" cy="2116709"/>
          </a:xfrm>
          <a:prstGeom prst="rect">
            <a:avLst/>
          </a:prstGeom>
          <a:solidFill>
            <a:srgbClr val="FFFFFF">
              <a:alpha val="0"/>
            </a:srgbClr>
          </a:solidFill>
        </p:spPr>
      </p:sp>
      <p:sp>
        <p:nvSpPr>
          <p:cNvPr id="26" name="Text 24">
            <a:extLst>
              <a:ext uri="{FF2B5EF4-FFF2-40B4-BE49-F238E27FC236}">
                <a16:creationId xmlns:a16="http://schemas.microsoft.com/office/drawing/2014/main" id="{4C2541A4-61F9-49ED-BD2E-08C2CA574D42}"/>
              </a:ext>
            </a:extLst>
          </p:cNvPr>
          <p:cNvSpPr>
            <a:spLocks noGrp="1"/>
          </p:cNvSpPr>
          <p:nvPr/>
        </p:nvSpPr>
        <p:spPr>
          <a:xfrm>
            <a:off x="1148080" y="3325749"/>
            <a:ext cx="9218549" cy="2238629"/>
          </a:xfrm>
          <a:prstGeom prst="rect">
            <a:avLst/>
          </a:prstGeom>
          <a:noFill/>
        </p:spPr>
        <p:txBody>
          <a:bodyPr wrap="square" lIns="0" tIns="0" rIns="0" bIns="0" anchor="t">
            <a:noAutofit/>
          </a:bodyPr>
          <a:lstStyle/>
          <a:p>
            <a:pPr>
              <a:lnSpc>
                <a:spcPct val="160000"/>
              </a:lnSpc>
              <a:buNone/>
              <a:defRPr sz="2850" b="0">
                <a:solidFill>
                  <a:srgbClr val="151515"/>
                </a:solidFill>
                <a:latin typeface="Times New Roman"/>
                <a:ea typeface="Times New Roman"/>
                <a:cs typeface="Times New Roman"/>
              </a:defRPr>
            </a:pPr>
            <a:r>
              <a:rPr sz="2850" b="0">
                <a:solidFill>
                  <a:srgbClr val="151515"/>
                </a:solidFill>
                <a:latin typeface="Times New Roman"/>
                <a:ea typeface="Times New Roman"/>
                <a:cs typeface="Times New Roman"/>
              </a:rPr>
              <a:t>DualHead: F1 71,35%.</a:t>
            </a:r>
            <a:endParaRPr sz="1600">
              <a:latin typeface="Times New Roman"/>
              <a:ea typeface="Times New Roman"/>
              <a:cs typeface="Times New Roman"/>
            </a:endParaRPr>
          </a:p>
          <a:p>
            <a:pPr>
              <a:lnSpc>
                <a:spcPct val="160000"/>
              </a:lnSpc>
              <a:buNone/>
              <a:defRPr sz="2850" b="0">
                <a:solidFill>
                  <a:srgbClr val="151515"/>
                </a:solidFill>
                <a:latin typeface="Times New Roman"/>
                <a:ea typeface="Times New Roman"/>
                <a:cs typeface="Times New Roman"/>
              </a:defRPr>
            </a:pPr>
            <a:r>
              <a:rPr sz="2850" b="0">
                <a:solidFill>
                  <a:srgbClr val="151515"/>
                </a:solidFill>
                <a:latin typeface="Times New Roman"/>
                <a:ea typeface="Times New Roman"/>
                <a:cs typeface="Times New Roman"/>
              </a:rPr>
              <a:t>Cao hơn Linear 5,07 điểm F1.</a:t>
            </a:r>
            <a:endParaRPr sz="1600">
              <a:latin typeface="Times New Roman"/>
              <a:ea typeface="Times New Roman"/>
              <a:cs typeface="Times New Roman"/>
            </a:endParaRPr>
          </a:p>
          <a:p>
            <a:pPr>
              <a:lnSpc>
                <a:spcPct val="160000"/>
              </a:lnSpc>
              <a:buNone/>
              <a:defRPr sz="2850" b="0">
                <a:solidFill>
                  <a:srgbClr val="151515"/>
                </a:solidFill>
                <a:latin typeface="Times New Roman"/>
                <a:ea typeface="Times New Roman"/>
                <a:cs typeface="Times New Roman"/>
              </a:defRPr>
            </a:pPr>
            <a:r>
              <a:rPr sz="2850" b="0">
                <a:solidFill>
                  <a:srgbClr val="151515"/>
                </a:solidFill>
                <a:latin typeface="Times New Roman"/>
                <a:ea typeface="Times New Roman"/>
                <a:cs typeface="Times New Roman"/>
              </a:rPr>
              <a:t>Lỗi ranh giới giảm 12,0 điểm phần trăm.</a:t>
            </a:r>
            <a:endParaRPr sz="1600">
              <a:latin typeface="Times New Roman"/>
              <a:ea typeface="Times New Roman"/>
              <a:cs typeface="Times New Roman"/>
            </a:endParaRPr>
          </a:p>
        </p:txBody>
      </p:sp>
      <p:sp>
        <p:nvSpPr>
          <p:cNvPr id="27" name="Shape 25">
            <a:extLst>
              <a:ext uri="{FF2B5EF4-FFF2-40B4-BE49-F238E27FC236}">
                <a16:creationId xmlns:a16="http://schemas.microsoft.com/office/drawing/2014/main" id="{590C01AF-9714-4E11-BCD5-129CAC9C9341}"/>
              </a:ext>
            </a:extLst>
          </p:cNvPr>
          <p:cNvSpPr>
            <a:spLocks noGrp="1"/>
          </p:cNvSpPr>
          <p:nvPr/>
        </p:nvSpPr>
        <p:spPr>
          <a:xfrm>
            <a:off x="11176000" y="2032000"/>
            <a:ext cx="4741291" cy="508000"/>
          </a:xfrm>
          <a:prstGeom prst="roundRect">
            <a:avLst>
              <a:gd name="adj" fmla="val 12000"/>
            </a:avLst>
          </a:prstGeom>
          <a:solidFill>
            <a:srgbClr val="2E7D32"/>
          </a:solidFill>
        </p:spPr>
      </p:sp>
      <p:sp>
        <p:nvSpPr>
          <p:cNvPr id="28" name="Shape 26">
            <a:extLst>
              <a:ext uri="{FF2B5EF4-FFF2-40B4-BE49-F238E27FC236}">
                <a16:creationId xmlns:a16="http://schemas.microsoft.com/office/drawing/2014/main" id="{C6A3ADD1-5E08-4B1C-979A-CEAA2229FBBF}"/>
              </a:ext>
            </a:extLst>
          </p:cNvPr>
          <p:cNvSpPr>
            <a:spLocks noGrp="1"/>
          </p:cNvSpPr>
          <p:nvPr/>
        </p:nvSpPr>
        <p:spPr>
          <a:xfrm>
            <a:off x="11176000" y="2032000"/>
            <a:ext cx="4741291" cy="508000"/>
          </a:xfrm>
          <a:prstGeom prst="rect">
            <a:avLst/>
          </a:prstGeom>
          <a:solidFill>
            <a:srgbClr val="FFFFFF">
              <a:alpha val="0"/>
            </a:srgbClr>
          </a:solidFill>
        </p:spPr>
      </p:sp>
      <p:sp>
        <p:nvSpPr>
          <p:cNvPr id="29" name="Text 27">
            <a:extLst>
              <a:ext uri="{FF2B5EF4-FFF2-40B4-BE49-F238E27FC236}">
                <a16:creationId xmlns:a16="http://schemas.microsoft.com/office/drawing/2014/main" id="{AEC49308-4210-4B48-9435-32DB2EB9E1D9}"/>
              </a:ext>
            </a:extLst>
          </p:cNvPr>
          <p:cNvSpPr>
            <a:spLocks noGrp="1"/>
          </p:cNvSpPr>
          <p:nvPr/>
        </p:nvSpPr>
        <p:spPr>
          <a:xfrm>
            <a:off x="11054080" y="1971040"/>
            <a:ext cx="4985131" cy="629920"/>
          </a:xfrm>
          <a:prstGeom prst="rect">
            <a:avLst/>
          </a:prstGeom>
          <a:noFill/>
        </p:spPr>
        <p:txBody>
          <a:bodyPr wrap="none" lIns="0" tIns="0" rIns="0" bIns="0" anchor="ctr">
            <a:noAutofit/>
          </a:bodyPr>
          <a:lstStyle/>
          <a:p>
            <a:pPr algn="ctr">
              <a:lnSpc>
                <a:spcPct val="100000"/>
              </a:lnSpc>
              <a:buNone/>
              <a:defRPr sz="2100" b="1">
                <a:solidFill>
                  <a:srgbClr val="FFFFFF"/>
                </a:solidFill>
                <a:latin typeface="Times New Roman"/>
                <a:ea typeface="Times New Roman"/>
                <a:cs typeface="Times New Roman"/>
              </a:defRPr>
            </a:pPr>
            <a:r>
              <a:rPr sz="2100" b="1">
                <a:solidFill>
                  <a:srgbClr val="FFFFFF"/>
                </a:solidFill>
                <a:latin typeface="Times New Roman"/>
                <a:ea typeface="Times New Roman"/>
                <a:cs typeface="Times New Roman"/>
              </a:rPr>
              <a:t>CÔNG VIỆC TIẾP THEO</a:t>
            </a:r>
            <a:endParaRPr sz="1600">
              <a:latin typeface="Times New Roman"/>
              <a:ea typeface="Times New Roman"/>
              <a:cs typeface="Times New Roman"/>
            </a:endParaRPr>
          </a:p>
        </p:txBody>
      </p:sp>
      <p:sp>
        <p:nvSpPr>
          <p:cNvPr id="30" name="Shape 28">
            <a:extLst>
              <a:ext uri="{FF2B5EF4-FFF2-40B4-BE49-F238E27FC236}">
                <a16:creationId xmlns:a16="http://schemas.microsoft.com/office/drawing/2014/main" id="{DEA59BAC-A25E-4E0A-A501-1E9E3CF58096}"/>
              </a:ext>
            </a:extLst>
          </p:cNvPr>
          <p:cNvSpPr>
            <a:spLocks noGrp="1"/>
          </p:cNvSpPr>
          <p:nvPr/>
        </p:nvSpPr>
        <p:spPr>
          <a:xfrm>
            <a:off x="11176000" y="2624709"/>
            <a:ext cx="9482709" cy="3048000"/>
          </a:xfrm>
          <a:prstGeom prst="roundRect">
            <a:avLst>
              <a:gd name="adj" fmla="val 8000"/>
            </a:avLst>
          </a:prstGeom>
          <a:solidFill>
            <a:srgbClr val="E8F5E9"/>
          </a:solidFill>
          <a:ln w="25400">
            <a:solidFill>
              <a:srgbClr val="2E7D32"/>
            </a:solidFill>
            <a:prstDash val="solid"/>
          </a:ln>
        </p:spPr>
      </p:sp>
      <p:sp>
        <p:nvSpPr>
          <p:cNvPr id="31" name="Shape 29">
            <a:extLst>
              <a:ext uri="{FF2B5EF4-FFF2-40B4-BE49-F238E27FC236}">
                <a16:creationId xmlns:a16="http://schemas.microsoft.com/office/drawing/2014/main" id="{D16697E5-FF3B-4E84-8C91-C1032C254FEA}"/>
              </a:ext>
            </a:extLst>
          </p:cNvPr>
          <p:cNvSpPr>
            <a:spLocks noGrp="1"/>
          </p:cNvSpPr>
          <p:nvPr/>
        </p:nvSpPr>
        <p:spPr>
          <a:xfrm>
            <a:off x="11430000" y="2794000"/>
            <a:ext cx="8974709" cy="474091"/>
          </a:xfrm>
          <a:prstGeom prst="rect">
            <a:avLst/>
          </a:prstGeom>
          <a:solidFill>
            <a:srgbClr val="FFFFFF">
              <a:alpha val="0"/>
            </a:srgbClr>
          </a:solidFill>
        </p:spPr>
      </p:sp>
      <p:sp>
        <p:nvSpPr>
          <p:cNvPr id="32" name="Text 30">
            <a:extLst>
              <a:ext uri="{FF2B5EF4-FFF2-40B4-BE49-F238E27FC236}">
                <a16:creationId xmlns:a16="http://schemas.microsoft.com/office/drawing/2014/main" id="{4EF83CCD-04EC-4760-903B-CE5EB2DD2246}"/>
              </a:ext>
            </a:extLst>
          </p:cNvPr>
          <p:cNvSpPr>
            <a:spLocks noGrp="1"/>
          </p:cNvSpPr>
          <p:nvPr/>
        </p:nvSpPr>
        <p:spPr>
          <a:xfrm>
            <a:off x="11308080" y="2733040"/>
            <a:ext cx="9218549" cy="596011"/>
          </a:xfrm>
          <a:prstGeom prst="rect">
            <a:avLst/>
          </a:prstGeom>
          <a:noFill/>
        </p:spPr>
        <p:txBody>
          <a:bodyPr wrap="none" lIns="0" tIns="0" rIns="0" bIns="0" anchor="ctr">
            <a:noAutofit/>
          </a:bodyPr>
          <a:lstStyle/>
          <a:p>
            <a:pPr>
              <a:lnSpc>
                <a:spcPct val="100000"/>
              </a:lnSpc>
              <a:buNone/>
              <a:defRPr sz="3000" b="1">
                <a:solidFill>
                  <a:srgbClr val="2E7D32"/>
                </a:solidFill>
                <a:latin typeface="Times New Roman"/>
                <a:ea typeface="Times New Roman"/>
                <a:cs typeface="Times New Roman"/>
              </a:defRPr>
            </a:pPr>
            <a:r>
              <a:rPr sz="3000" b="1">
                <a:solidFill>
                  <a:srgbClr val="2E7D32"/>
                </a:solidFill>
                <a:latin typeface="Times New Roman"/>
                <a:ea typeface="Times New Roman"/>
                <a:cs typeface="Times New Roman"/>
              </a:rPr>
              <a:t>Hoàn thiện bằng thử nghiệm</a:t>
            </a:r>
            <a:endParaRPr sz="1600">
              <a:latin typeface="Times New Roman"/>
              <a:ea typeface="Times New Roman"/>
              <a:cs typeface="Times New Roman"/>
            </a:endParaRPr>
          </a:p>
        </p:txBody>
      </p:sp>
      <p:sp>
        <p:nvSpPr>
          <p:cNvPr id="33" name="Shape 31">
            <a:extLst>
              <a:ext uri="{FF2B5EF4-FFF2-40B4-BE49-F238E27FC236}">
                <a16:creationId xmlns:a16="http://schemas.microsoft.com/office/drawing/2014/main" id="{578A381F-95FE-4ADB-B884-C0EC6781C9BF}"/>
              </a:ext>
            </a:extLst>
          </p:cNvPr>
          <p:cNvSpPr>
            <a:spLocks noGrp="1"/>
          </p:cNvSpPr>
          <p:nvPr/>
        </p:nvSpPr>
        <p:spPr>
          <a:xfrm>
            <a:off x="11430000" y="3386709"/>
            <a:ext cx="8974709" cy="2116709"/>
          </a:xfrm>
          <a:prstGeom prst="rect">
            <a:avLst/>
          </a:prstGeom>
          <a:solidFill>
            <a:srgbClr val="FFFFFF">
              <a:alpha val="0"/>
            </a:srgbClr>
          </a:solidFill>
        </p:spPr>
      </p:sp>
      <p:sp>
        <p:nvSpPr>
          <p:cNvPr id="34" name="Text 32">
            <a:extLst>
              <a:ext uri="{FF2B5EF4-FFF2-40B4-BE49-F238E27FC236}">
                <a16:creationId xmlns:a16="http://schemas.microsoft.com/office/drawing/2014/main" id="{C74D931E-DE4B-4C76-BC65-823629B45B99}"/>
              </a:ext>
            </a:extLst>
          </p:cNvPr>
          <p:cNvSpPr>
            <a:spLocks noGrp="1"/>
          </p:cNvSpPr>
          <p:nvPr/>
        </p:nvSpPr>
        <p:spPr>
          <a:xfrm>
            <a:off x="11308080" y="3325749"/>
            <a:ext cx="9218549" cy="2238629"/>
          </a:xfrm>
          <a:prstGeom prst="rect">
            <a:avLst/>
          </a:prstGeom>
          <a:noFill/>
        </p:spPr>
        <p:txBody>
          <a:bodyPr wrap="square" lIns="0" tIns="0" rIns="0" bIns="0" anchor="t">
            <a:noAutofit/>
          </a:bodyPr>
          <a:lstStyle/>
          <a:p>
            <a:pPr>
              <a:lnSpc>
                <a:spcPct val="160000"/>
              </a:lnSpc>
              <a:buNone/>
              <a:defRPr sz="2850" b="0">
                <a:solidFill>
                  <a:srgbClr val="151515"/>
                </a:solidFill>
                <a:latin typeface="Times New Roman"/>
                <a:ea typeface="Times New Roman"/>
                <a:cs typeface="Times New Roman"/>
              </a:defRPr>
            </a:pPr>
            <a:r>
              <a:rPr sz="2850" b="0">
                <a:solidFill>
                  <a:srgbClr val="151515"/>
                </a:solidFill>
                <a:latin typeface="Times New Roman"/>
                <a:ea typeface="Times New Roman"/>
                <a:cs typeface="Times New Roman"/>
              </a:rPr>
              <a:t>Đối chiếu kết quả với log test.</a:t>
            </a:r>
            <a:endParaRPr sz="1600">
              <a:latin typeface="Times New Roman"/>
              <a:ea typeface="Times New Roman"/>
              <a:cs typeface="Times New Roman"/>
            </a:endParaRPr>
          </a:p>
          <a:p>
            <a:pPr>
              <a:lnSpc>
                <a:spcPct val="160000"/>
              </a:lnSpc>
              <a:buNone/>
              <a:defRPr sz="2850" b="0">
                <a:solidFill>
                  <a:srgbClr val="151515"/>
                </a:solidFill>
                <a:latin typeface="Times New Roman"/>
                <a:ea typeface="Times New Roman"/>
                <a:cs typeface="Times New Roman"/>
              </a:defRPr>
            </a:pPr>
            <a:r>
              <a:rPr sz="2850" b="0">
                <a:solidFill>
                  <a:srgbClr val="151515"/>
                </a:solidFill>
                <a:latin typeface="Times New Roman"/>
                <a:ea typeface="Times New Roman"/>
                <a:cs typeface="Times New Roman"/>
              </a:rPr>
              <a:t>Đo riêng tác dụng của cổng lọc.</a:t>
            </a:r>
            <a:endParaRPr sz="1600">
              <a:latin typeface="Times New Roman"/>
              <a:ea typeface="Times New Roman"/>
              <a:cs typeface="Times New Roman"/>
            </a:endParaRPr>
          </a:p>
          <a:p>
            <a:pPr>
              <a:lnSpc>
                <a:spcPct val="160000"/>
              </a:lnSpc>
              <a:buNone/>
              <a:defRPr sz="2850" b="0">
                <a:solidFill>
                  <a:srgbClr val="151515"/>
                </a:solidFill>
                <a:latin typeface="Times New Roman"/>
                <a:ea typeface="Times New Roman"/>
                <a:cs typeface="Times New Roman"/>
              </a:defRPr>
            </a:pPr>
            <a:r>
              <a:rPr sz="2850" b="0">
                <a:solidFill>
                  <a:srgbClr val="151515"/>
                </a:solidFill>
                <a:latin typeface="Times New Roman"/>
                <a:ea typeface="Times New Roman"/>
                <a:cs typeface="Times New Roman"/>
              </a:rPr>
              <a:t>Bổ sung dữ liệu từ lóng, châm biếm.</a:t>
            </a:r>
            <a:endParaRPr sz="1600">
              <a:latin typeface="Times New Roman"/>
              <a:ea typeface="Times New Roman"/>
              <a:cs typeface="Times New Roman"/>
            </a:endParaRPr>
          </a:p>
        </p:txBody>
      </p:sp>
      <p:sp>
        <p:nvSpPr>
          <p:cNvPr id="35" name="Shape 33">
            <a:extLst>
              <a:ext uri="{FF2B5EF4-FFF2-40B4-BE49-F238E27FC236}">
                <a16:creationId xmlns:a16="http://schemas.microsoft.com/office/drawing/2014/main" id="{0E1E1388-09CF-4D73-B3EF-F5433003632C}"/>
              </a:ext>
            </a:extLst>
          </p:cNvPr>
          <p:cNvSpPr>
            <a:spLocks noGrp="1"/>
          </p:cNvSpPr>
          <p:nvPr/>
        </p:nvSpPr>
        <p:spPr>
          <a:xfrm>
            <a:off x="1016000" y="6180709"/>
            <a:ext cx="19642709" cy="2370709"/>
          </a:xfrm>
          <a:prstGeom prst="roundRect">
            <a:avLst>
              <a:gd name="adj" fmla="val 8000"/>
            </a:avLst>
          </a:prstGeom>
          <a:solidFill>
            <a:srgbClr val="E3F2FD"/>
          </a:solidFill>
          <a:ln w="25400">
            <a:solidFill>
              <a:srgbClr val="1565C0"/>
            </a:solidFill>
            <a:prstDash val="solid"/>
          </a:ln>
        </p:spPr>
      </p:sp>
      <p:sp>
        <p:nvSpPr>
          <p:cNvPr id="36" name="Shape 34">
            <a:extLst>
              <a:ext uri="{FF2B5EF4-FFF2-40B4-BE49-F238E27FC236}">
                <a16:creationId xmlns:a16="http://schemas.microsoft.com/office/drawing/2014/main" id="{1319CF58-AD30-40C5-9FD6-7B5BC4A3DE05}"/>
              </a:ext>
            </a:extLst>
          </p:cNvPr>
          <p:cNvSpPr>
            <a:spLocks noGrp="1"/>
          </p:cNvSpPr>
          <p:nvPr/>
        </p:nvSpPr>
        <p:spPr>
          <a:xfrm>
            <a:off x="1354709" y="6350000"/>
            <a:ext cx="6773291" cy="474091"/>
          </a:xfrm>
          <a:prstGeom prst="rect">
            <a:avLst/>
          </a:prstGeom>
          <a:solidFill>
            <a:srgbClr val="FFFFFF">
              <a:alpha val="0"/>
            </a:srgbClr>
          </a:solidFill>
        </p:spPr>
      </p:sp>
      <p:sp>
        <p:nvSpPr>
          <p:cNvPr id="37" name="Text 35">
            <a:extLst>
              <a:ext uri="{FF2B5EF4-FFF2-40B4-BE49-F238E27FC236}">
                <a16:creationId xmlns:a16="http://schemas.microsoft.com/office/drawing/2014/main" id="{846948F3-6ACA-47E4-A25E-001E454B5C32}"/>
              </a:ext>
            </a:extLst>
          </p:cNvPr>
          <p:cNvSpPr>
            <a:spLocks noGrp="1"/>
          </p:cNvSpPr>
          <p:nvPr/>
        </p:nvSpPr>
        <p:spPr>
          <a:xfrm>
            <a:off x="1232789" y="6289040"/>
            <a:ext cx="7017131" cy="596011"/>
          </a:xfrm>
          <a:prstGeom prst="rect">
            <a:avLst/>
          </a:prstGeom>
          <a:noFill/>
        </p:spPr>
        <p:txBody>
          <a:bodyPr wrap="none" lIns="0" tIns="0" rIns="0" bIns="0" anchor="ctr">
            <a:noAutofit/>
          </a:bodyPr>
          <a:lstStyle/>
          <a:p>
            <a:pPr>
              <a:lnSpc>
                <a:spcPct val="100000"/>
              </a:lnSpc>
              <a:buNone/>
              <a:defRPr sz="3000" b="1">
                <a:solidFill>
                  <a:srgbClr val="1565C0"/>
                </a:solidFill>
                <a:latin typeface="Times New Roman"/>
                <a:ea typeface="Times New Roman"/>
                <a:cs typeface="Times New Roman"/>
              </a:defRPr>
            </a:pPr>
            <a:r>
              <a:rPr sz="3000" b="1">
                <a:solidFill>
                  <a:srgbClr val="1565C0"/>
                </a:solidFill>
                <a:latin typeface="Times New Roman"/>
                <a:ea typeface="Times New Roman"/>
                <a:cs typeface="Times New Roman"/>
              </a:rPr>
              <a:t>Hai ưu tiên thực hiện</a:t>
            </a:r>
            <a:endParaRPr sz="1600">
              <a:latin typeface="Times New Roman"/>
              <a:ea typeface="Times New Roman"/>
              <a:cs typeface="Times New Roman"/>
            </a:endParaRPr>
          </a:p>
        </p:txBody>
      </p:sp>
      <p:sp>
        <p:nvSpPr>
          <p:cNvPr id="38" name="Shape 36">
            <a:extLst>
              <a:ext uri="{FF2B5EF4-FFF2-40B4-BE49-F238E27FC236}">
                <a16:creationId xmlns:a16="http://schemas.microsoft.com/office/drawing/2014/main" id="{A756DF12-1F3C-42CB-83C5-54F8AFC84F97}"/>
              </a:ext>
            </a:extLst>
          </p:cNvPr>
          <p:cNvSpPr>
            <a:spLocks noGrp="1"/>
          </p:cNvSpPr>
          <p:nvPr/>
        </p:nvSpPr>
        <p:spPr>
          <a:xfrm>
            <a:off x="1354709" y="6942709"/>
            <a:ext cx="5926709" cy="1439291"/>
          </a:xfrm>
          <a:prstGeom prst="rect">
            <a:avLst/>
          </a:prstGeom>
          <a:solidFill>
            <a:srgbClr val="FFFFFF">
              <a:alpha val="0"/>
            </a:srgbClr>
          </a:solidFill>
        </p:spPr>
      </p:sp>
      <p:sp>
        <p:nvSpPr>
          <p:cNvPr id="39" name="Text 37">
            <a:extLst>
              <a:ext uri="{FF2B5EF4-FFF2-40B4-BE49-F238E27FC236}">
                <a16:creationId xmlns:a16="http://schemas.microsoft.com/office/drawing/2014/main" id="{CB5C132E-5DE4-4907-8AD3-A3081E65293C}"/>
              </a:ext>
            </a:extLst>
          </p:cNvPr>
          <p:cNvSpPr>
            <a:spLocks noGrp="1"/>
          </p:cNvSpPr>
          <p:nvPr/>
        </p:nvSpPr>
        <p:spPr>
          <a:xfrm>
            <a:off x="1232789" y="6881749"/>
            <a:ext cx="6170549" cy="1561211"/>
          </a:xfrm>
          <a:prstGeom prst="rect">
            <a:avLst/>
          </a:prstGeom>
          <a:noFill/>
        </p:spPr>
        <p:txBody>
          <a:bodyPr wrap="square" lIns="0" tIns="0" rIns="0" bIns="0" anchor="ctr">
            <a:noAutofit/>
          </a:bodyPr>
          <a:lstStyle/>
          <a:p>
            <a:pPr algn="ctr">
              <a:lnSpc>
                <a:spcPct val="140000"/>
              </a:lnSpc>
              <a:buNone/>
              <a:defRPr sz="3675" b="1">
                <a:solidFill>
                  <a:srgbClr val="1565C0"/>
                </a:solidFill>
                <a:latin typeface="Times New Roman"/>
                <a:ea typeface="Times New Roman"/>
                <a:cs typeface="Times New Roman"/>
              </a:defRPr>
            </a:pPr>
            <a:r>
              <a:rPr sz="3675" b="1">
                <a:solidFill>
                  <a:srgbClr val="1565C0"/>
                </a:solidFill>
                <a:latin typeface="Times New Roman"/>
                <a:ea typeface="Times New Roman"/>
                <a:cs typeface="Times New Roman"/>
              </a:rPr>
              <a:t>01</a:t>
            </a:r>
            <a:endParaRPr sz="1600">
              <a:latin typeface="Times New Roman"/>
              <a:ea typeface="Times New Roman"/>
              <a:cs typeface="Times New Roman"/>
            </a:endParaRPr>
          </a:p>
          <a:p>
            <a:pPr algn="ctr">
              <a:lnSpc>
                <a:spcPct val="140000"/>
              </a:lnSpc>
              <a:buNone/>
              <a:defRPr sz="3675" b="1">
                <a:solidFill>
                  <a:srgbClr val="1565C0"/>
                </a:solidFill>
                <a:latin typeface="Times New Roman"/>
                <a:ea typeface="Times New Roman"/>
                <a:cs typeface="Times New Roman"/>
              </a:defRPr>
            </a:pPr>
            <a:r>
              <a:rPr sz="3675" b="1">
                <a:solidFill>
                  <a:srgbClr val="1565C0"/>
                </a:solidFill>
                <a:latin typeface="Times New Roman"/>
                <a:ea typeface="Times New Roman"/>
                <a:cs typeface="Times New Roman"/>
              </a:rPr>
              <a:t>Tái lập kết quả</a:t>
            </a:r>
            <a:endParaRPr sz="1600">
              <a:latin typeface="Times New Roman"/>
              <a:ea typeface="Times New Roman"/>
              <a:cs typeface="Times New Roman"/>
            </a:endParaRPr>
          </a:p>
        </p:txBody>
      </p:sp>
      <p:sp>
        <p:nvSpPr>
          <p:cNvPr id="40" name="Shape 38">
            <a:extLst>
              <a:ext uri="{FF2B5EF4-FFF2-40B4-BE49-F238E27FC236}">
                <a16:creationId xmlns:a16="http://schemas.microsoft.com/office/drawing/2014/main" id="{FAE64AA8-6DC8-4ADE-BEC9-08B47F169FB2}"/>
              </a:ext>
            </a:extLst>
          </p:cNvPr>
          <p:cNvSpPr>
            <a:spLocks noGrp="1"/>
          </p:cNvSpPr>
          <p:nvPr/>
        </p:nvSpPr>
        <p:spPr>
          <a:xfrm>
            <a:off x="7789291" y="6942709"/>
            <a:ext cx="5926709" cy="1439291"/>
          </a:xfrm>
          <a:prstGeom prst="rect">
            <a:avLst/>
          </a:prstGeom>
          <a:solidFill>
            <a:srgbClr val="FFFFFF">
              <a:alpha val="0"/>
            </a:srgbClr>
          </a:solidFill>
        </p:spPr>
      </p:sp>
      <p:sp>
        <p:nvSpPr>
          <p:cNvPr id="41" name="Text 39">
            <a:extLst>
              <a:ext uri="{FF2B5EF4-FFF2-40B4-BE49-F238E27FC236}">
                <a16:creationId xmlns:a16="http://schemas.microsoft.com/office/drawing/2014/main" id="{4FDAE505-E9D4-4187-A42C-E3D2F9B434FC}"/>
              </a:ext>
            </a:extLst>
          </p:cNvPr>
          <p:cNvSpPr>
            <a:spLocks noGrp="1"/>
          </p:cNvSpPr>
          <p:nvPr/>
        </p:nvSpPr>
        <p:spPr>
          <a:xfrm>
            <a:off x="14681136" y="6773291"/>
            <a:ext cx="6170549" cy="1561211"/>
          </a:xfrm>
          <a:prstGeom prst="rect">
            <a:avLst/>
          </a:prstGeom>
          <a:noFill/>
        </p:spPr>
        <p:txBody>
          <a:bodyPr wrap="square" lIns="0" tIns="0" rIns="0" bIns="0" anchor="ctr">
            <a:noAutofit/>
          </a:bodyPr>
          <a:lstStyle/>
          <a:p>
            <a:pPr algn="ctr">
              <a:lnSpc>
                <a:spcPct val="140000"/>
              </a:lnSpc>
              <a:buNone/>
              <a:defRPr sz="3675" b="1">
                <a:solidFill>
                  <a:srgbClr val="1565C0"/>
                </a:solidFill>
                <a:latin typeface="Times New Roman"/>
                <a:ea typeface="Times New Roman"/>
                <a:cs typeface="Times New Roman"/>
              </a:defRPr>
            </a:pPr>
            <a:r>
              <a:rPr sz="3675" b="1">
                <a:solidFill>
                  <a:srgbClr val="1565C0"/>
                </a:solidFill>
                <a:latin typeface="Times New Roman"/>
                <a:ea typeface="Times New Roman"/>
                <a:cs typeface="Times New Roman"/>
              </a:rPr>
              <a:t>02</a:t>
            </a:r>
            <a:endParaRPr sz="1600">
              <a:latin typeface="Times New Roman"/>
              <a:ea typeface="Times New Roman"/>
              <a:cs typeface="Times New Roman"/>
            </a:endParaRPr>
          </a:p>
          <a:p>
            <a:pPr algn="ctr">
              <a:lnSpc>
                <a:spcPct val="140000"/>
              </a:lnSpc>
              <a:buNone/>
              <a:defRPr sz="3675" b="1">
                <a:solidFill>
                  <a:srgbClr val="1565C0"/>
                </a:solidFill>
                <a:latin typeface="Times New Roman"/>
                <a:ea typeface="Times New Roman"/>
                <a:cs typeface="Times New Roman"/>
              </a:defRPr>
            </a:pPr>
            <a:r>
              <a:rPr sz="3675" b="1">
                <a:solidFill>
                  <a:srgbClr val="1565C0"/>
                </a:solidFill>
                <a:latin typeface="Times New Roman"/>
                <a:ea typeface="Times New Roman"/>
                <a:cs typeface="Times New Roman"/>
              </a:rPr>
              <a:t>Cải thiện dữ liệu</a:t>
            </a:r>
            <a:endParaRPr sz="1600">
              <a:latin typeface="Times New Roman"/>
              <a:ea typeface="Times New Roman"/>
              <a:cs typeface="Times New Roman"/>
            </a:endParaRPr>
          </a:p>
        </p:txBody>
      </p:sp>
      <p:sp>
        <p:nvSpPr>
          <p:cNvPr id="42" name="Shape 40">
            <a:extLst>
              <a:ext uri="{FF2B5EF4-FFF2-40B4-BE49-F238E27FC236}">
                <a16:creationId xmlns:a16="http://schemas.microsoft.com/office/drawing/2014/main" id="{4FA13C95-19BC-45DB-85BE-FB8441B235F7}"/>
              </a:ext>
            </a:extLst>
          </p:cNvPr>
          <p:cNvSpPr>
            <a:spLocks noGrp="1"/>
          </p:cNvSpPr>
          <p:nvPr/>
        </p:nvSpPr>
        <p:spPr>
          <a:xfrm>
            <a:off x="14224000" y="6942709"/>
            <a:ext cx="5926709" cy="1439291"/>
          </a:xfrm>
          <a:prstGeom prst="rect">
            <a:avLst/>
          </a:prstGeom>
          <a:solidFill>
            <a:srgbClr val="FFFFFF">
              <a:alpha val="0"/>
            </a:srgbClr>
          </a:solidFill>
        </p:spPr>
      </p:sp>
      <p:sp>
        <p:nvSpPr>
          <p:cNvPr id="45" name="Shape 42">
            <a:extLst>
              <a:ext uri="{FF2B5EF4-FFF2-40B4-BE49-F238E27FC236}">
                <a16:creationId xmlns:a16="http://schemas.microsoft.com/office/drawing/2014/main" id="{7A5B93F5-1D95-4533-B4FF-85BAA9532940}"/>
              </a:ext>
            </a:extLst>
          </p:cNvPr>
          <p:cNvSpPr>
            <a:spLocks noGrp="1"/>
          </p:cNvSpPr>
          <p:nvPr/>
        </p:nvSpPr>
        <p:spPr>
          <a:xfrm>
            <a:off x="19981291" y="11684000"/>
            <a:ext cx="1016000" cy="406400"/>
          </a:xfrm>
          <a:prstGeom prst="rect">
            <a:avLst/>
          </a:prstGeom>
          <a:solidFill>
            <a:srgbClr val="FFFFFF">
              <a:alpha val="0"/>
            </a:srgbClr>
          </a:solidFill>
        </p:spPr>
      </p:sp>
      <p:sp>
        <p:nvSpPr>
          <p:cNvPr id="46" name="Text 43">
            <a:extLst>
              <a:ext uri="{FF2B5EF4-FFF2-40B4-BE49-F238E27FC236}">
                <a16:creationId xmlns:a16="http://schemas.microsoft.com/office/drawing/2014/main" id="{C528B0E3-5E06-46F3-B89B-38AFC36F18E5}"/>
              </a:ext>
            </a:extLst>
          </p:cNvPr>
          <p:cNvSpPr>
            <a:spLocks noGrp="1"/>
          </p:cNvSpPr>
          <p:nvPr/>
        </p:nvSpPr>
        <p:spPr>
          <a:xfrm>
            <a:off x="19859371" y="11623040"/>
            <a:ext cx="1259840" cy="528320"/>
          </a:xfrm>
          <a:prstGeom prst="rect">
            <a:avLst/>
          </a:prstGeom>
          <a:noFill/>
        </p:spPr>
        <p:txBody>
          <a:bodyPr wrap="none" lIns="0" tIns="0" rIns="0" bIns="0" anchor="ctr">
            <a:noAutofit/>
          </a:bodyPr>
          <a:lstStyle/>
          <a:p>
            <a:pPr algn="r">
              <a:lnSpc>
                <a:spcPct val="100000"/>
              </a:lnSpc>
              <a:buNone/>
              <a:defRPr sz="1950">
                <a:solidFill>
                  <a:srgbClr val="666666"/>
                </a:solidFill>
                <a:latin typeface="Times New Roman"/>
                <a:ea typeface="Times New Roman"/>
                <a:cs typeface="Times New Roman"/>
              </a:defRPr>
            </a:pPr>
            <a:r>
              <a:rPr sz="1950">
                <a:solidFill>
                  <a:srgbClr val="666666"/>
                </a:solidFill>
                <a:latin typeface="Times New Roman"/>
                <a:ea typeface="Times New Roman"/>
                <a:cs typeface="Times New Roman"/>
              </a:rPr>
              <a:t>17/18</a:t>
            </a:r>
            <a:endParaRPr sz="1600">
              <a:latin typeface="Times New Roman"/>
              <a:ea typeface="Times New Roman"/>
              <a:cs typeface="Times New Roman"/>
            </a:endParaRPr>
          </a:p>
        </p:txBody>
      </p:sp>
      <p:sp>
        <p:nvSpPr>
          <p:cNvPr id="47" name="Rectangle 46">
            <a:extLst>
              <a:ext uri="{FF2B5EF4-FFF2-40B4-BE49-F238E27FC236}">
                <a16:creationId xmlns:a16="http://schemas.microsoft.com/office/drawing/2014/main" id="{F1406475-87C0-4A14-8449-B44BF7CDB465}"/>
              </a:ext>
            </a:extLst>
          </p:cNvPr>
          <p:cNvSpPr>
            <a:spLocks noGrp="1"/>
          </p:cNvSpPr>
          <p:nvPr/>
        </p:nvSpPr>
        <p:spPr>
          <a:xfrm>
            <a:off x="1047750" y="9334500"/>
            <a:ext cx="19335750" cy="1143000"/>
          </a:xfrm>
          <a:prstGeom prst="rect">
            <a:avLst/>
          </a:prstGeom>
          <a:noFill/>
          <a:ln w="0">
            <a:noFill/>
          </a:ln>
        </p:spPr>
        <p:txBody>
          <a:bodyPr>
            <a:noAutofit/>
          </a:bodyPr>
          <a:lstStyle/>
          <a:p>
            <a:pPr>
              <a:buNone/>
              <a:defRPr sz="2850" b="0">
                <a:solidFill>
                  <a:srgbClr val="151515"/>
                </a:solidFill>
                <a:latin typeface="Times New Roman"/>
                <a:ea typeface="Times New Roman"/>
                <a:cs typeface="Times New Roman"/>
              </a:defRPr>
            </a:pPr>
            <a:r>
              <a:rPr sz="2850" b="0">
                <a:solidFill>
                  <a:srgbClr val="151515"/>
                </a:solidFill>
                <a:latin typeface="Times New Roman"/>
                <a:ea typeface="Times New Roman"/>
                <a:cs typeface="Times New Roman"/>
              </a:rPr>
              <a:t>Mục tiêu: tìm đúng cụm xúc phạm và giảm đánh dấu nhầm để hỗ trợ người kiểm duyệt.</a:t>
            </a:r>
          </a:p>
        </p:txBody>
      </p:sp>
    </p:spTree>
    <p:extLst>
      <p:ext uri="{BB962C8B-B14F-4D97-AF65-F5344CB8AC3E}">
        <p14:creationId xmlns:p14="http://schemas.microsoft.com/office/powerpoint/2010/main" val="17448436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4B54F549-9A7C-E1DD-C96D-217C56561AE2}"/>
              </a:ext>
            </a:extLst>
          </p:cNvPr>
          <p:cNvSpPr>
            <a:spLocks noGrp="1"/>
          </p:cNvSpPr>
          <p:nvPr>
            <p:ph type="body" idx="13"/>
          </p:nvPr>
        </p:nvSpPr>
        <p:spPr>
          <a:xfrm>
            <a:off x="3681758" y="3225693"/>
            <a:ext cx="14315384" cy="1137607"/>
          </a:xfrm>
        </p:spPr>
        <p:txBody>
          <a:bodyPr>
            <a:noAutofit/>
          </a:bodyPr>
          <a:lstStyle/>
          <a:p>
            <a:pPr algn="ctr">
              <a:buNone/>
              <a:defRPr sz="5400" b="1">
                <a:solidFill>
                  <a:srgbClr val="151515"/>
                </a:solidFill>
                <a:latin typeface="Times New Roman"/>
                <a:ea typeface="Times New Roman"/>
                <a:cs typeface="Times New Roman"/>
              </a:defRPr>
            </a:pPr>
            <a:r>
              <a:rPr sz="5400" b="1">
                <a:solidFill>
                  <a:srgbClr val="151515"/>
                </a:solidFill>
                <a:latin typeface="Times New Roman"/>
                <a:ea typeface="Times New Roman"/>
                <a:cs typeface="Times New Roman"/>
              </a:rPr>
              <a:t>CẢM ƠN THẦY VÀ CÁC BẠN</a:t>
            </a:r>
            <a:endParaRPr sz="9600">
              <a:solidFill>
                <a:schemeClr val="tx1"/>
              </a:solidFill>
              <a:latin typeface="Times New Roman"/>
              <a:ea typeface="Times New Roman"/>
              <a:cs typeface="Times New Roman"/>
            </a:endParaRPr>
          </a:p>
        </p:txBody>
      </p:sp>
      <p:sp>
        <p:nvSpPr>
          <p:cNvPr id="2" name="Footer Placeholder 1">
            <a:extLst>
              <a:ext uri="{FF2B5EF4-FFF2-40B4-BE49-F238E27FC236}">
                <a16:creationId xmlns:a16="http://schemas.microsoft.com/office/drawing/2014/main" id="{75906116-94FC-D6DD-09B6-C5E2AA06C849}"/>
              </a:ext>
            </a:extLst>
          </p:cNvPr>
          <p:cNvSpPr>
            <a:spLocks noGrp="1"/>
          </p:cNvSpPr>
          <p:nvPr>
            <p:ph type="ftr" idx="11"/>
          </p:nvPr>
        </p:nvSpPr>
        <p:spPr/>
        <p:txBody>
          <a:bodyPr>
            <a:noAutofit/>
          </a:bodyPr>
          <a:lstStyle/>
          <a:p>
            <a:pPr>
              <a:buNone/>
              <a:defRPr sz="1950" b="0">
                <a:solidFill>
                  <a:srgbClr val="151515"/>
                </a:solidFill>
                <a:latin typeface="Times New Roman"/>
                <a:ea typeface="Times New Roman"/>
                <a:cs typeface="Times New Roman"/>
              </a:defRPr>
            </a:pPr>
            <a:r>
              <a:rPr sz="1950" b="0">
                <a:solidFill>
                  <a:srgbClr val="151515"/>
                </a:solidFill>
                <a:latin typeface="Times New Roman"/>
                <a:ea typeface="Times New Roman"/>
                <a:cs typeface="Times New Roman"/>
              </a:rPr>
              <a:t>ViHOS – Nhóm đồ án NLP</a:t>
            </a:r>
            <a:endParaRPr/>
          </a:p>
        </p:txBody>
      </p:sp>
      <p:sp>
        <p:nvSpPr>
          <p:cNvPr id="3" name="TextBox 2">
            <a:extLst>
              <a:ext uri="{FF2B5EF4-FFF2-40B4-BE49-F238E27FC236}">
                <a16:creationId xmlns:a16="http://schemas.microsoft.com/office/drawing/2014/main" id="{5BDA64B0-23F7-41DB-A236-975CF3C4B75F}"/>
              </a:ext>
            </a:extLst>
          </p:cNvPr>
          <p:cNvSpPr>
            <a:spLocks noGrp="1"/>
          </p:cNvSpPr>
          <p:nvPr/>
        </p:nvSpPr>
        <p:spPr>
          <a:xfrm>
            <a:off x="4341522" y="5467446"/>
            <a:ext cx="12995856" cy="1733936"/>
          </a:xfrm>
          <a:prstGeom prst="rect">
            <a:avLst/>
          </a:prstGeom>
          <a:noFill/>
        </p:spPr>
        <p:txBody>
          <a:bodyPr wrap="square">
            <a:noAutofit/>
          </a:bodyPr>
          <a:lstStyle/>
          <a:p>
            <a:pPr algn="ctr">
              <a:buNone/>
              <a:defRPr sz="3150" b="0">
                <a:solidFill>
                  <a:srgbClr val="151515"/>
                </a:solidFill>
                <a:latin typeface="Times New Roman"/>
                <a:ea typeface="Times New Roman"/>
                <a:cs typeface="Times New Roman"/>
              </a:defRPr>
            </a:pPr>
            <a:r>
              <a:rPr sz="3150" b="0">
                <a:solidFill>
                  <a:srgbClr val="151515"/>
                </a:solidFill>
                <a:latin typeface="Times New Roman"/>
                <a:ea typeface="Times New Roman"/>
                <a:cs typeface="Times New Roman"/>
              </a:rPr>
              <a:t>NHẬN DIỆN CHUỖI XÚC PHẠM TIẾNG VIỆT</a:t>
            </a:r>
          </a:p>
          <a:p>
            <a:pPr algn="ctr">
              <a:buNone/>
              <a:defRPr sz="3150" b="0">
                <a:solidFill>
                  <a:srgbClr val="151515"/>
                </a:solidFill>
                <a:latin typeface="Times New Roman"/>
                <a:ea typeface="Times New Roman"/>
                <a:cs typeface="Times New Roman"/>
              </a:defRPr>
            </a:pPr>
            <a:r>
              <a:rPr sz="3150" b="0" dirty="0" err="1">
                <a:solidFill>
                  <a:srgbClr val="151515"/>
                </a:solidFill>
                <a:latin typeface="Times New Roman"/>
                <a:ea typeface="Times New Roman"/>
                <a:cs typeface="Times New Roman"/>
              </a:rPr>
              <a:t>Nhóm</a:t>
            </a:r>
            <a:r>
              <a:rPr sz="3150" b="0" dirty="0">
                <a:solidFill>
                  <a:srgbClr val="151515"/>
                </a:solidFill>
                <a:latin typeface="Times New Roman"/>
                <a:ea typeface="Times New Roman"/>
                <a:cs typeface="Times New Roman"/>
              </a:rPr>
              <a:t> </a:t>
            </a:r>
            <a:r>
              <a:rPr sz="3150" b="0" dirty="0" err="1">
                <a:solidFill>
                  <a:srgbClr val="151515"/>
                </a:solidFill>
                <a:latin typeface="Times New Roman"/>
                <a:ea typeface="Times New Roman"/>
                <a:cs typeface="Times New Roman"/>
              </a:rPr>
              <a:t>đồ</a:t>
            </a:r>
            <a:r>
              <a:rPr sz="3150" b="0" dirty="0">
                <a:solidFill>
                  <a:srgbClr val="151515"/>
                </a:solidFill>
                <a:latin typeface="Times New Roman"/>
                <a:ea typeface="Times New Roman"/>
                <a:cs typeface="Times New Roman"/>
              </a:rPr>
              <a:t> </a:t>
            </a:r>
            <a:r>
              <a:rPr sz="3150" b="0" dirty="0" err="1">
                <a:solidFill>
                  <a:srgbClr val="151515"/>
                </a:solidFill>
                <a:latin typeface="Times New Roman"/>
                <a:ea typeface="Times New Roman"/>
                <a:cs typeface="Times New Roman"/>
              </a:rPr>
              <a:t>án</a:t>
            </a:r>
            <a:r>
              <a:rPr sz="3150" b="0" dirty="0">
                <a:solidFill>
                  <a:srgbClr val="151515"/>
                </a:solidFill>
                <a:latin typeface="Times New Roman"/>
                <a:ea typeface="Times New Roman"/>
                <a:cs typeface="Times New Roman"/>
              </a:rPr>
              <a:t> </a:t>
            </a:r>
            <a:r>
              <a:rPr sz="3150" b="0" dirty="0" err="1">
                <a:solidFill>
                  <a:srgbClr val="151515"/>
                </a:solidFill>
                <a:latin typeface="Times New Roman"/>
                <a:ea typeface="Times New Roman"/>
                <a:cs typeface="Times New Roman"/>
              </a:rPr>
              <a:t>Xử</a:t>
            </a:r>
            <a:r>
              <a:rPr sz="3150" b="0" dirty="0">
                <a:solidFill>
                  <a:srgbClr val="151515"/>
                </a:solidFill>
                <a:latin typeface="Times New Roman"/>
                <a:ea typeface="Times New Roman"/>
                <a:cs typeface="Times New Roman"/>
              </a:rPr>
              <a:t> </a:t>
            </a:r>
            <a:r>
              <a:rPr sz="3150" b="0" dirty="0" err="1">
                <a:solidFill>
                  <a:srgbClr val="151515"/>
                </a:solidFill>
                <a:latin typeface="Times New Roman"/>
                <a:ea typeface="Times New Roman"/>
                <a:cs typeface="Times New Roman"/>
              </a:rPr>
              <a:t>lý</a:t>
            </a:r>
            <a:r>
              <a:rPr sz="3150" b="0" dirty="0">
                <a:solidFill>
                  <a:srgbClr val="151515"/>
                </a:solidFill>
                <a:latin typeface="Times New Roman"/>
                <a:ea typeface="Times New Roman"/>
                <a:cs typeface="Times New Roman"/>
              </a:rPr>
              <a:t> </a:t>
            </a:r>
            <a:r>
              <a:rPr sz="3150" b="0" dirty="0" err="1">
                <a:solidFill>
                  <a:srgbClr val="151515"/>
                </a:solidFill>
                <a:latin typeface="Times New Roman"/>
                <a:ea typeface="Times New Roman"/>
                <a:cs typeface="Times New Roman"/>
              </a:rPr>
              <a:t>Ngôn</a:t>
            </a:r>
            <a:r>
              <a:rPr sz="3150" b="0" dirty="0">
                <a:solidFill>
                  <a:srgbClr val="151515"/>
                </a:solidFill>
                <a:latin typeface="Times New Roman"/>
                <a:ea typeface="Times New Roman"/>
                <a:cs typeface="Times New Roman"/>
              </a:rPr>
              <a:t> </a:t>
            </a:r>
            <a:r>
              <a:rPr sz="3150" b="0" dirty="0" err="1">
                <a:solidFill>
                  <a:srgbClr val="151515"/>
                </a:solidFill>
                <a:latin typeface="Times New Roman"/>
                <a:ea typeface="Times New Roman"/>
                <a:cs typeface="Times New Roman"/>
              </a:rPr>
              <a:t>ngữ</a:t>
            </a:r>
            <a:r>
              <a:rPr sz="3150" b="0" dirty="0">
                <a:solidFill>
                  <a:srgbClr val="151515"/>
                </a:solidFill>
                <a:latin typeface="Times New Roman"/>
                <a:ea typeface="Times New Roman"/>
                <a:cs typeface="Times New Roman"/>
              </a:rPr>
              <a:t> </a:t>
            </a:r>
            <a:r>
              <a:rPr sz="3150" b="0" dirty="0" err="1">
                <a:solidFill>
                  <a:srgbClr val="151515"/>
                </a:solidFill>
                <a:latin typeface="Times New Roman"/>
                <a:ea typeface="Times New Roman"/>
                <a:cs typeface="Times New Roman"/>
              </a:rPr>
              <a:t>Tự</a:t>
            </a:r>
            <a:r>
              <a:rPr sz="3150" b="0" dirty="0">
                <a:solidFill>
                  <a:srgbClr val="151515"/>
                </a:solidFill>
                <a:latin typeface="Times New Roman"/>
                <a:ea typeface="Times New Roman"/>
                <a:cs typeface="Times New Roman"/>
              </a:rPr>
              <a:t> </a:t>
            </a:r>
            <a:r>
              <a:rPr sz="3150" b="0" dirty="0" err="1">
                <a:solidFill>
                  <a:srgbClr val="151515"/>
                </a:solidFill>
                <a:latin typeface="Times New Roman"/>
                <a:ea typeface="Times New Roman"/>
                <a:cs typeface="Times New Roman"/>
              </a:rPr>
              <a:t>nhiên</a:t>
            </a:r>
            <a:endParaRPr sz="3150" b="0" dirty="0">
              <a:solidFill>
                <a:srgbClr val="151515"/>
              </a:solidFill>
              <a:latin typeface="Times New Roman"/>
              <a:ea typeface="Times New Roman"/>
              <a:cs typeface="Times New Roman"/>
            </a:endParaRPr>
          </a:p>
        </p:txBody>
      </p:sp>
      <p:sp>
        <p:nvSpPr>
          <p:cNvPr id="13" name="Rectangle 5">
            <a:extLst>
              <a:ext uri="{FF2B5EF4-FFF2-40B4-BE49-F238E27FC236}">
                <a16:creationId xmlns:a16="http://schemas.microsoft.com/office/drawing/2014/main" id="{049ED29E-0906-DE66-6D05-BA1E9E2871E4}"/>
              </a:ext>
            </a:extLst>
          </p:cNvPr>
          <p:cNvSpPr>
            <a:spLocks noGrp="1"/>
          </p:cNvSpPr>
          <p:nvPr/>
        </p:nvSpPr>
        <p:spPr>
          <a:xfrm>
            <a:off x="1492252" y="6673642"/>
            <a:ext cx="328360" cy="656590"/>
          </a:xfrm>
          <a:prstGeom prst="rect">
            <a:avLst/>
          </a:prstGeom>
          <a:noFill/>
          <a:ln>
            <a:noFill/>
          </a:ln>
        </p:spPr>
        <p:txBody>
          <a:bodyPr vert="horz" wrap="none" lIns="162560" tIns="81280" rIns="162560" bIns="81280" anchor="ctr">
            <a:spAutoFit/>
          </a:bodyPr>
          <a:lstStyle/>
          <a:p>
            <a:endParaRPr sz="3200"/>
          </a:p>
        </p:txBody>
      </p:sp>
      <p:graphicFrame>
        <p:nvGraphicFramePr>
          <p:cNvPr id="19" name="Table 18"/>
          <p:cNvGraphicFramePr/>
          <p:nvPr/>
        </p:nvGraphicFramePr>
        <p:xfrm>
          <a:off x="6134100" y="7143750"/>
          <a:ext cx="9410700" cy="3714750"/>
        </p:xfrm>
        <a:graphic>
          <a:graphicData uri="http://schemas.openxmlformats.org/drawingml/2006/table">
            <a:tbl>
              <a:tblPr/>
              <a:tblGrid>
                <a:gridCol w="2952750">
                  <a:extLst>
                    <a:ext uri="{9D8B030D-6E8A-4147-A177-3AD203B41FA5}">
                      <a16:colId xmlns:a16="http://schemas.microsoft.com/office/drawing/2014/main" val="20000"/>
                    </a:ext>
                  </a:extLst>
                </a:gridCol>
                <a:gridCol w="6457950">
                  <a:extLst>
                    <a:ext uri="{9D8B030D-6E8A-4147-A177-3AD203B41FA5}">
                      <a16:colId xmlns:a16="http://schemas.microsoft.com/office/drawing/2014/main" val="20001"/>
                    </a:ext>
                  </a:extLst>
                </a:gridCol>
              </a:tblGrid>
              <a:tr h="619125">
                <a:tc>
                  <a:txBody>
                    <a:bodyPr/>
                    <a:lstStyle/>
                    <a:p>
                      <a:r>
                        <a:rPr sz="2550" b="1">
                          <a:solidFill>
                            <a:srgbClr val="FFFFFF"/>
                          </a:solidFill>
                          <a:latin typeface="Times New Roman"/>
                          <a:ea typeface="Times New Roman"/>
                          <a:cs typeface="Times New Roman"/>
                        </a:rPr>
                        <a:t>MSSV</a:t>
                      </a:r>
                    </a:p>
                  </a:txBody>
                  <a:tcPr anchor="ctr">
                    <a:solidFill>
                      <a:srgbClr val="1565C0"/>
                    </a:solidFill>
                  </a:tcPr>
                </a:tc>
                <a:tc>
                  <a:txBody>
                    <a:bodyPr/>
                    <a:lstStyle/>
                    <a:p>
                      <a:r>
                        <a:rPr sz="2550" b="1">
                          <a:solidFill>
                            <a:srgbClr val="FFFFFF"/>
                          </a:solidFill>
                          <a:latin typeface="Times New Roman"/>
                          <a:ea typeface="Times New Roman"/>
                          <a:cs typeface="Times New Roman"/>
                        </a:rPr>
                        <a:t>HỌ VÀ TÊN</a:t>
                      </a:r>
                    </a:p>
                  </a:txBody>
                  <a:tcPr anchor="ctr">
                    <a:solidFill>
                      <a:srgbClr val="1565C0"/>
                    </a:solidFill>
                  </a:tcPr>
                </a:tc>
                <a:extLst>
                  <a:ext uri="{0D108BD9-81ED-4DB2-BD59-A6C34878D82A}">
                    <a16:rowId xmlns:a16="http://schemas.microsoft.com/office/drawing/2014/main" val="10000"/>
                  </a:ext>
                </a:extLst>
              </a:tr>
              <a:tr h="619125">
                <a:tc>
                  <a:txBody>
                    <a:bodyPr/>
                    <a:lstStyle/>
                    <a:p>
                      <a:r>
                        <a:rPr sz="2550" b="0">
                          <a:solidFill>
                            <a:srgbClr val="151515"/>
                          </a:solidFill>
                          <a:latin typeface="Times New Roman"/>
                          <a:ea typeface="Times New Roman"/>
                          <a:cs typeface="Times New Roman"/>
                        </a:rPr>
                        <a:t>26410127</a:t>
                      </a:r>
                    </a:p>
                  </a:txBody>
                  <a:tcPr anchor="ctr">
                    <a:solidFill>
                      <a:srgbClr val="FFFFFF"/>
                    </a:solidFill>
                  </a:tcPr>
                </a:tc>
                <a:tc>
                  <a:txBody>
                    <a:bodyPr/>
                    <a:lstStyle/>
                    <a:p>
                      <a:r>
                        <a:rPr sz="2550" b="0">
                          <a:solidFill>
                            <a:srgbClr val="151515"/>
                          </a:solidFill>
                          <a:latin typeface="Times New Roman"/>
                          <a:ea typeface="Times New Roman"/>
                          <a:cs typeface="Times New Roman"/>
                        </a:rPr>
                        <a:t>Dương Quốc Thương</a:t>
                      </a:r>
                    </a:p>
                  </a:txBody>
                  <a:tcPr anchor="ctr">
                    <a:solidFill>
                      <a:srgbClr val="FFFFFF"/>
                    </a:solidFill>
                  </a:tcPr>
                </a:tc>
                <a:extLst>
                  <a:ext uri="{0D108BD9-81ED-4DB2-BD59-A6C34878D82A}">
                    <a16:rowId xmlns:a16="http://schemas.microsoft.com/office/drawing/2014/main" val="10001"/>
                  </a:ext>
                </a:extLst>
              </a:tr>
              <a:tr h="619125">
                <a:tc>
                  <a:txBody>
                    <a:bodyPr/>
                    <a:lstStyle/>
                    <a:p>
                      <a:r>
                        <a:rPr sz="2550" b="0">
                          <a:solidFill>
                            <a:srgbClr val="151515"/>
                          </a:solidFill>
                          <a:latin typeface="Times New Roman"/>
                          <a:ea typeface="Times New Roman"/>
                          <a:cs typeface="Times New Roman"/>
                        </a:rPr>
                        <a:t>26410115</a:t>
                      </a:r>
                    </a:p>
                  </a:txBody>
                  <a:tcPr anchor="ctr">
                    <a:solidFill>
                      <a:srgbClr val="E3F2FD"/>
                    </a:solidFill>
                  </a:tcPr>
                </a:tc>
                <a:tc>
                  <a:txBody>
                    <a:bodyPr/>
                    <a:lstStyle/>
                    <a:p>
                      <a:r>
                        <a:rPr sz="2550" b="0">
                          <a:solidFill>
                            <a:srgbClr val="151515"/>
                          </a:solidFill>
                          <a:latin typeface="Times New Roman"/>
                          <a:ea typeface="Times New Roman"/>
                          <a:cs typeface="Times New Roman"/>
                        </a:rPr>
                        <a:t>Nông Nguyễn Thành</a:t>
                      </a:r>
                    </a:p>
                  </a:txBody>
                  <a:tcPr anchor="ctr">
                    <a:solidFill>
                      <a:srgbClr val="E3F2FD"/>
                    </a:solidFill>
                  </a:tcPr>
                </a:tc>
                <a:extLst>
                  <a:ext uri="{0D108BD9-81ED-4DB2-BD59-A6C34878D82A}">
                    <a16:rowId xmlns:a16="http://schemas.microsoft.com/office/drawing/2014/main" val="10002"/>
                  </a:ext>
                </a:extLst>
              </a:tr>
              <a:tr h="619125">
                <a:tc>
                  <a:txBody>
                    <a:bodyPr/>
                    <a:lstStyle/>
                    <a:p>
                      <a:r>
                        <a:rPr sz="2550" b="0">
                          <a:solidFill>
                            <a:srgbClr val="151515"/>
                          </a:solidFill>
                          <a:latin typeface="Times New Roman"/>
                          <a:ea typeface="Times New Roman"/>
                          <a:cs typeface="Times New Roman"/>
                        </a:rPr>
                        <a:t>26410146</a:t>
                      </a:r>
                    </a:p>
                  </a:txBody>
                  <a:tcPr anchor="ctr">
                    <a:solidFill>
                      <a:srgbClr val="FFFFFF"/>
                    </a:solidFill>
                  </a:tcPr>
                </a:tc>
                <a:tc>
                  <a:txBody>
                    <a:bodyPr/>
                    <a:lstStyle/>
                    <a:p>
                      <a:r>
                        <a:rPr sz="2550" b="0">
                          <a:solidFill>
                            <a:srgbClr val="151515"/>
                          </a:solidFill>
                          <a:latin typeface="Times New Roman"/>
                          <a:ea typeface="Times New Roman"/>
                          <a:cs typeface="Times New Roman"/>
                        </a:rPr>
                        <a:t>Hoàng Võ Minh Tuấn</a:t>
                      </a:r>
                    </a:p>
                  </a:txBody>
                  <a:tcPr anchor="ctr">
                    <a:solidFill>
                      <a:srgbClr val="FFFFFF"/>
                    </a:solidFill>
                  </a:tcPr>
                </a:tc>
                <a:extLst>
                  <a:ext uri="{0D108BD9-81ED-4DB2-BD59-A6C34878D82A}">
                    <a16:rowId xmlns:a16="http://schemas.microsoft.com/office/drawing/2014/main" val="10003"/>
                  </a:ext>
                </a:extLst>
              </a:tr>
              <a:tr h="619125">
                <a:tc>
                  <a:txBody>
                    <a:bodyPr/>
                    <a:lstStyle/>
                    <a:p>
                      <a:r>
                        <a:rPr sz="2550" b="0">
                          <a:solidFill>
                            <a:srgbClr val="151515"/>
                          </a:solidFill>
                          <a:latin typeface="Times New Roman"/>
                          <a:ea typeface="Times New Roman"/>
                          <a:cs typeface="Times New Roman"/>
                        </a:rPr>
                        <a:t>26410108</a:t>
                      </a:r>
                    </a:p>
                  </a:txBody>
                  <a:tcPr anchor="ctr">
                    <a:solidFill>
                      <a:srgbClr val="E3F2FD"/>
                    </a:solidFill>
                  </a:tcPr>
                </a:tc>
                <a:tc>
                  <a:txBody>
                    <a:bodyPr/>
                    <a:lstStyle/>
                    <a:p>
                      <a:r>
                        <a:rPr sz="2550" b="0">
                          <a:solidFill>
                            <a:srgbClr val="151515"/>
                          </a:solidFill>
                          <a:latin typeface="Times New Roman"/>
                          <a:ea typeface="Times New Roman"/>
                          <a:cs typeface="Times New Roman"/>
                        </a:rPr>
                        <a:t>Bùi Quốc Thịnh</a:t>
                      </a:r>
                    </a:p>
                  </a:txBody>
                  <a:tcPr anchor="ctr">
                    <a:solidFill>
                      <a:srgbClr val="E3F2FD"/>
                    </a:solidFill>
                  </a:tcPr>
                </a:tc>
                <a:extLst>
                  <a:ext uri="{0D108BD9-81ED-4DB2-BD59-A6C34878D82A}">
                    <a16:rowId xmlns:a16="http://schemas.microsoft.com/office/drawing/2014/main" val="10004"/>
                  </a:ext>
                </a:extLst>
              </a:tr>
              <a:tr h="619125">
                <a:tc>
                  <a:txBody>
                    <a:bodyPr/>
                    <a:lstStyle/>
                    <a:p>
                      <a:r>
                        <a:rPr sz="2550" b="0">
                          <a:solidFill>
                            <a:srgbClr val="151515"/>
                          </a:solidFill>
                          <a:latin typeface="Times New Roman"/>
                          <a:ea typeface="Times New Roman"/>
                          <a:cs typeface="Times New Roman"/>
                        </a:rPr>
                        <a:t>26410024</a:t>
                      </a:r>
                    </a:p>
                  </a:txBody>
                  <a:tcPr anchor="ctr">
                    <a:solidFill>
                      <a:srgbClr val="FFFFFF"/>
                    </a:solidFill>
                  </a:tcPr>
                </a:tc>
                <a:tc>
                  <a:txBody>
                    <a:bodyPr/>
                    <a:lstStyle/>
                    <a:p>
                      <a:r>
                        <a:rPr sz="2550" b="0">
                          <a:solidFill>
                            <a:srgbClr val="151515"/>
                          </a:solidFill>
                          <a:latin typeface="Times New Roman"/>
                          <a:ea typeface="Times New Roman"/>
                          <a:cs typeface="Times New Roman"/>
                        </a:rPr>
                        <a:t>Trần Tiến Dũng</a:t>
                      </a:r>
                    </a:p>
                  </a:txBody>
                  <a:tcPr anchor="ct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467791134"/>
      </p:ext>
    </p:extLst>
  </p:cSld>
  <p:clrMapOvr>
    <a:masterClrMapping/>
  </p:clrMapOvr>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Times New Roman"/>
        <a:ea typeface="Times New Roman"/>
        <a:cs typeface="Times New Roman"/>
        <a:font script="Jpan" typeface="Times New Roman"/>
        <a:font script="Hang" typeface="Times New Roman"/>
        <a:font script="Hans" typeface="Times New Roman"/>
        <a:font script="Hant" typeface="Times New Roman"/>
        <a:font script="Arab" typeface="Times New Roman"/>
        <a:font script="Hebr" typeface="Times New Roman"/>
        <a:font script="Thai" typeface="Times New Roman"/>
        <a:font script="Ethi" typeface="Times New Roman"/>
        <a:font script="Beng" typeface="Times New Roman"/>
        <a:font script="Gujr" typeface="Times New Roman"/>
        <a:font script="Khmr" typeface="Times New Roman"/>
        <a:font script="Knda" typeface="Times New Roman"/>
        <a:font script="Guru" typeface="Times New Roman"/>
        <a:font script="Cans" typeface="Times New Roman"/>
        <a:font script="Cher" typeface="Times New Roman"/>
        <a:font script="Yiii" typeface="Times New Roman"/>
        <a:font script="Tibt" typeface="Times New Roman"/>
        <a:font script="Thaa" typeface="Times New Roman"/>
        <a:font script="Deva" typeface="Times New Roman"/>
        <a:font script="Telu" typeface="Times New Roman"/>
        <a:font script="Taml" typeface="Times New Roman"/>
        <a:font script="Syrc" typeface="Times New Roman"/>
        <a:font script="Orya" typeface="Times New Roman"/>
        <a:font script="Mlym" typeface="Times New Roman"/>
        <a:font script="Laoo" typeface="Times New Roman"/>
        <a:font script="Sinh" typeface="Times New Roman"/>
        <a:font script="Mong" typeface="Times New Roman"/>
        <a:font script="Viet" typeface="Times New Roman"/>
        <a:font script="Uigh" typeface="Times New Roman"/>
        <a:font script="Geor" typeface="Times New Roman"/>
        <a:font script="Armn" typeface="Times New Roman"/>
        <a:font script="Bugi" typeface="Times New Roman"/>
        <a:font script="Bopo" typeface="Times New Roman"/>
        <a:font script="Java" typeface="Times New Roman"/>
        <a:font script="Lisu" typeface="Times New Roman"/>
        <a:font script="Mymr" typeface="Times New Roman"/>
        <a:font script="Nkoo" typeface="Times New Roman"/>
        <a:font script="Olck" typeface="Times New Roman"/>
        <a:font script="Osma" typeface="Times New Roman"/>
        <a:font script="Phag" typeface="Times New Roman"/>
        <a:font script="Syrn" typeface="Times New Roman"/>
        <a:font script="Syrj" typeface="Times New Roman"/>
        <a:font script="Syre" typeface="Times New Roman"/>
        <a:font script="Sora" typeface="Times New Roman"/>
        <a:font script="Tale" typeface="Times New Roman"/>
        <a:font script="Talu" typeface="Times New Roman"/>
        <a:font script="Tfng" typeface="Times New Roman"/>
      </a:majorFont>
      <a:minorFont>
        <a:latin typeface="Times New Roman"/>
        <a:ea typeface="Times New Roman"/>
        <a:cs typeface="Times New Roman"/>
        <a:font script="Jpan" typeface="Times New Roman"/>
        <a:font script="Hang" typeface="Times New Roman"/>
        <a:font script="Hans" typeface="Times New Roman"/>
        <a:font script="Hant" typeface="Times New Roman"/>
        <a:font script="Arab" typeface="Times New Roman"/>
        <a:font script="Hebr" typeface="Times New Roman"/>
        <a:font script="Thai" typeface="Times New Roman"/>
        <a:font script="Ethi" typeface="Times New Roman"/>
        <a:font script="Beng" typeface="Times New Roman"/>
        <a:font script="Gujr" typeface="Times New Roman"/>
        <a:font script="Khmr" typeface="Times New Roman"/>
        <a:font script="Knda" typeface="Times New Roman"/>
        <a:font script="Guru" typeface="Times New Roman"/>
        <a:font script="Cans" typeface="Times New Roman"/>
        <a:font script="Cher" typeface="Times New Roman"/>
        <a:font script="Yiii" typeface="Times New Roman"/>
        <a:font script="Tibt" typeface="Times New Roman"/>
        <a:font script="Thaa" typeface="Times New Roman"/>
        <a:font script="Deva" typeface="Times New Roman"/>
        <a:font script="Telu" typeface="Times New Roman"/>
        <a:font script="Taml" typeface="Times New Roman"/>
        <a:font script="Syrc" typeface="Times New Roman"/>
        <a:font script="Orya" typeface="Times New Roman"/>
        <a:font script="Mlym" typeface="Times New Roman"/>
        <a:font script="Laoo" typeface="Times New Roman"/>
        <a:font script="Sinh" typeface="Times New Roman"/>
        <a:font script="Mong" typeface="Times New Roman"/>
        <a:font script="Viet" typeface="Times New Roman"/>
        <a:font script="Uigh" typeface="Times New Roman"/>
        <a:font script="Geor" typeface="Times New Roman"/>
        <a:font script="Armn" typeface="Times New Roman"/>
        <a:font script="Bugi" typeface="Times New Roman"/>
        <a:font script="Bopo" typeface="Times New Roman"/>
        <a:font script="Java" typeface="Times New Roman"/>
        <a:font script="Lisu" typeface="Times New Roman"/>
        <a:font script="Mymr" typeface="Times New Roman"/>
        <a:font script="Nkoo" typeface="Times New Roman"/>
        <a:font script="Olck" typeface="Times New Roman"/>
        <a:font script="Osma" typeface="Times New Roman"/>
        <a:font script="Phag" typeface="Times New Roman"/>
        <a:font script="Syrn" typeface="Times New Roman"/>
        <a:font script="Syrj" typeface="Times New Roman"/>
        <a:font script="Syre" typeface="Times New Roman"/>
        <a:font script="Sora" typeface="Times New Roman"/>
        <a:font script="Tale" typeface="Times New Roman"/>
        <a:font script="Talu" typeface="Times New Roman"/>
        <a:font script="Tfng" typeface="Times New Roman"/>
      </a:minorFont>
    </a:fontScheme>
    <a:fmtScheme name="Custom">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Times New Roman"/>
        <a:ea typeface="Times New Roman"/>
        <a:cs typeface="Times New Roman"/>
        <a:font script="Jpan" typeface="Times New Roman"/>
        <a:font script="Hang" typeface="Times New Roman"/>
        <a:font script="Hans" typeface="Times New Roman"/>
        <a:font script="Hant" typeface="Times New Roman"/>
        <a:font script="Arab" typeface="Times New Roman"/>
        <a:font script="Hebr" typeface="Times New Roman"/>
        <a:font script="Thai" typeface="Times New Roman"/>
        <a:font script="Ethi" typeface="Times New Roman"/>
        <a:font script="Beng" typeface="Times New Roman"/>
        <a:font script="Gujr" typeface="Times New Roman"/>
        <a:font script="Khmr" typeface="Times New Roman"/>
        <a:font script="Knda" typeface="Times New Roman"/>
        <a:font script="Guru" typeface="Times New Roman"/>
        <a:font script="Cans" typeface="Times New Roman"/>
        <a:font script="Cher" typeface="Times New Roman"/>
        <a:font script="Yiii" typeface="Times New Roman"/>
        <a:font script="Tibt" typeface="Times New Roman"/>
        <a:font script="Thaa" typeface="Times New Roman"/>
        <a:font script="Deva" typeface="Times New Roman"/>
        <a:font script="Telu" typeface="Times New Roman"/>
        <a:font script="Taml" typeface="Times New Roman"/>
        <a:font script="Syrc" typeface="Times New Roman"/>
        <a:font script="Orya" typeface="Times New Roman"/>
        <a:font script="Mlym" typeface="Times New Roman"/>
        <a:font script="Laoo" typeface="Times New Roman"/>
        <a:font script="Sinh" typeface="Times New Roman"/>
        <a:font script="Mong" typeface="Times New Roman"/>
        <a:font script="Viet" typeface="Times New Roman"/>
        <a:font script="Uigh" typeface="Times New Roman"/>
        <a:font script="Geor" typeface="Times New Roman"/>
        <a:font script="Armn" typeface="Times New Roman"/>
        <a:font script="Bugi" typeface="Times New Roman"/>
        <a:font script="Bopo" typeface="Times New Roman"/>
        <a:font script="Java" typeface="Times New Roman"/>
        <a:font script="Lisu" typeface="Times New Roman"/>
        <a:font script="Mymr" typeface="Times New Roman"/>
        <a:font script="Nkoo" typeface="Times New Roman"/>
        <a:font script="Olck" typeface="Times New Roman"/>
        <a:font script="Osma" typeface="Times New Roman"/>
        <a:font script="Phag" typeface="Times New Roman"/>
        <a:font script="Syrn" typeface="Times New Roman"/>
        <a:font script="Syrj" typeface="Times New Roman"/>
        <a:font script="Syre" typeface="Times New Roman"/>
        <a:font script="Sora" typeface="Times New Roman"/>
        <a:font script="Tale" typeface="Times New Roman"/>
        <a:font script="Talu" typeface="Times New Roman"/>
        <a:font script="Tfng" typeface="Times New Roman"/>
      </a:majorFont>
      <a:minorFont>
        <a:latin typeface="Times New Roman"/>
        <a:ea typeface="Times New Roman"/>
        <a:cs typeface="Times New Roman"/>
        <a:font script="Jpan" typeface="Times New Roman"/>
        <a:font script="Hang" typeface="Times New Roman"/>
        <a:font script="Hans" typeface="Times New Roman"/>
        <a:font script="Hant" typeface="Times New Roman"/>
        <a:font script="Arab" typeface="Times New Roman"/>
        <a:font script="Hebr" typeface="Times New Roman"/>
        <a:font script="Thai" typeface="Times New Roman"/>
        <a:font script="Ethi" typeface="Times New Roman"/>
        <a:font script="Beng" typeface="Times New Roman"/>
        <a:font script="Gujr" typeface="Times New Roman"/>
        <a:font script="Khmr" typeface="Times New Roman"/>
        <a:font script="Knda" typeface="Times New Roman"/>
        <a:font script="Guru" typeface="Times New Roman"/>
        <a:font script="Cans" typeface="Times New Roman"/>
        <a:font script="Cher" typeface="Times New Roman"/>
        <a:font script="Yiii" typeface="Times New Roman"/>
        <a:font script="Tibt" typeface="Times New Roman"/>
        <a:font script="Thaa" typeface="Times New Roman"/>
        <a:font script="Deva" typeface="Times New Roman"/>
        <a:font script="Telu" typeface="Times New Roman"/>
        <a:font script="Taml" typeface="Times New Roman"/>
        <a:font script="Syrc" typeface="Times New Roman"/>
        <a:font script="Orya" typeface="Times New Roman"/>
        <a:font script="Mlym" typeface="Times New Roman"/>
        <a:font script="Laoo" typeface="Times New Roman"/>
        <a:font script="Sinh" typeface="Times New Roman"/>
        <a:font script="Mong" typeface="Times New Roman"/>
        <a:font script="Viet" typeface="Times New Roman"/>
        <a:font script="Uigh" typeface="Times New Roman"/>
        <a:font script="Geor" typeface="Times New Roman"/>
        <a:font script="Armn" typeface="Times New Roman"/>
        <a:font script="Bugi" typeface="Times New Roman"/>
        <a:font script="Bopo" typeface="Times New Roman"/>
        <a:font script="Java" typeface="Times New Roman"/>
        <a:font script="Lisu" typeface="Times New Roman"/>
        <a:font script="Mymr" typeface="Times New Roman"/>
        <a:font script="Nkoo" typeface="Times New Roman"/>
        <a:font script="Olck" typeface="Times New Roman"/>
        <a:font script="Osma" typeface="Times New Roman"/>
        <a:font script="Phag" typeface="Times New Roman"/>
        <a:font script="Syrn" typeface="Times New Roman"/>
        <a:font script="Syrj" typeface="Times New Roman"/>
        <a:font script="Syre" typeface="Times New Roman"/>
        <a:font script="Sora" typeface="Times New Roman"/>
        <a:font script="Tale" typeface="Times New Roman"/>
        <a:font script="Talu" typeface="Times New Roman"/>
        <a:font script="Tfng" typeface="Times New Roman"/>
      </a:minorFont>
    </a:fontScheme>
    <a:fmtScheme name="Custom">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5528</Words>
  <Application>Microsoft Office PowerPoint</Application>
  <DocSecurity>0</DocSecurity>
  <PresentationFormat>Custom</PresentationFormat>
  <Paragraphs>563</Paragraphs>
  <Slides>18</Slides>
  <Notes>18</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18</vt:i4>
      </vt:variant>
    </vt:vector>
  </HeadingPairs>
  <TitlesOfParts>
    <vt:vector size="20" baseType="lpstr">
      <vt:lpstr>Times New Roman</vt:lpstr>
      <vt:lpstr>Custom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Dương Quốc Thương</cp:lastModifiedBy>
  <cp:revision>1</cp:revision>
  <dcterms:created xsi:type="dcterms:W3CDTF">2026-09-16T08:08:16Z</dcterms:created>
  <dcterms:modified xsi:type="dcterms:W3CDTF">2026-09-16T09:54:20Z</dcterms:modified>
</cp:coreProperties>
</file>